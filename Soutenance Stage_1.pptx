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71" r:id="rId5"/>
    <p:sldId id="269" r:id="rId6"/>
    <p:sldId id="270" r:id="rId7"/>
    <p:sldId id="259" r:id="rId8"/>
    <p:sldId id="260" r:id="rId9"/>
    <p:sldId id="268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6256000" cy="9144000"/>
  <p:notesSz cx="9144000" cy="16256000"/>
  <p:embeddedFontLst>
    <p:embeddedFont>
      <p:font typeface="Liter" charset="0"/>
      <p:regular r:id="rId20"/>
    </p:embeddedFont>
    <p:embeddedFont>
      <p:font typeface="Calibri" pitchFamily="34" charset="0"/>
      <p:regular r:id="rId21"/>
      <p:bold r:id="rId22"/>
      <p:italic r:id="rId23"/>
      <p:boldItalic r:id="rId24"/>
    </p:embeddedFont>
    <p:embeddedFont>
      <p:font typeface="Hedvig Letters Sans" charset="0"/>
      <p:regular r:id="rId25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D21"/>
    <a:srgbClr val="667C8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-84" y="-210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812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812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FDF98-1617-4013-9648-AB97B3F455F4}" type="datetimeFigureOut">
              <a:rPr lang="fr-FR" smtClean="0"/>
              <a:pPr/>
              <a:t>21/04/2026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15440025"/>
            <a:ext cx="3962400" cy="8128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5180013" y="15440025"/>
            <a:ext cx="3962400" cy="8128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7FF84A-ED44-4A04-82BA-C0CE1C898716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5" Type="http://schemas.openxmlformats.org/officeDocument/2006/relationships/slide" Target="slide12.xml"/><Relationship Id="rId4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s://www.transtechnik.fr/product/mini-verins-electriques-mce/" TargetMode="External"/><Relationship Id="rId7" Type="http://schemas.openxmlformats.org/officeDocument/2006/relationships/hyperlink" Target="https://www.nord.com/fr/catalogues-produits/motoreducteurs/reducteurs-a-couple-conique/motoreducteur-a-couple-conique-monobloc.jsp?utm_source=copilot.com" TargetMode="External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hyperlink" Target="https://www.fs.com/fr/products/69078.html?country=FR&amp;currency=EUR&amp;languages=Fran%C3%A7ais&amp;paid=google_shopping&amp;gad_source=1&amp;gad_campaignid=17956897400&amp;gbraid=0AAAAAoz-wfRjJyiFy-9pHw1CFXde09MDZ&amp;gclid=EAIaIQobChMI-uaWo4r8kwMVKpSDBx16lCd7EAQYASABEgLn7vD_BwE" TargetMode="External"/><Relationship Id="rId5" Type="http://schemas.openxmlformats.org/officeDocument/2006/relationships/hyperlink" Target="https://www.directindustry.fr/prod/oriental-motor/product-15581-2450328.html" TargetMode="External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hyperlink" Target="https://www.jc-electronics.com/fr/6es7314-6bf01-0ab0?gad_source=1&amp;gad_campaignid=20983987831&amp;gbraid=0AAAAAC1d6sYD9egUrFmjcEC1t_B6LAMnD&amp;gclid=EAIaIQobChMI_6KR1oj8kwMV-WtBAh0f0SHgEAQYBiABEgLpyPD_BwE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hyperlink" Target="https://fr.rs-online.com/web/p/boites-a-boutons-vides/0546648?cm_mmc=FR-PLA-DS3A-_-google-_-CSS_FR_FR_PMAX_WD_CHAMPION-_--_-546648&amp;matchtype=&amp;&amp;gclsrc=aw.ds&amp;gad_source=1&amp;gad_campaignid=22719610980&amp;gbraid=0AAAAADkeWNNbWtvIWbT0O6HRrKyzLL7sD&amp;gclid=EAIaIQobChMI" TargetMode="External"/><Relationship Id="rId7" Type="http://schemas.openxmlformats.org/officeDocument/2006/relationships/hyperlink" Target="https://fr.rs-online.com/web/p/capteurs-photoelectriques/6956808?cm_mmc=FR-PLA-DS3A-_-google-_-CSS_FR_FR_PMAX_WD_CHALLENGER-_--_-6956808&amp;matchtype=&amp;&amp;gclsrc=aw.ds&amp;gad_source=1&amp;gad_campaignid=22729363849&amp;gbraid=0AAAAADkeWNOIpF0cohJebIq_W3QGd_dW9&amp;gclid=EAIaIQ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hyperlink" Target="https://www.directindustry.fr/prod/repar2/product-20824-831867.html" TargetMode="External"/><Relationship Id="rId10" Type="http://schemas.openxmlformats.org/officeDocument/2006/relationships/image" Target="../media/image31.png"/><Relationship Id="rId4" Type="http://schemas.openxmlformats.org/officeDocument/2006/relationships/image" Target="../media/image28.png"/><Relationship Id="rId9" Type="http://schemas.openxmlformats.org/officeDocument/2006/relationships/hyperlink" Target="https://www.verinelectrique.fr/products/capteur-ou-interrupteur-de-fin-de-course-a-poussoir-a-galet-modele-0010010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puremachinedesign.com/e9dce031486b37bc27083b36020575b7905ce6e6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36" r="36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4A6C8C">
                  <a:alpha val="4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14350" y="2241550"/>
            <a:ext cx="3251200" cy="520700"/>
          </a:xfrm>
          <a:custGeom>
            <a:avLst/>
            <a:gdLst/>
            <a:ahLst/>
            <a:cxnLst/>
            <a:rect l="l" t="t" r="r" b="b"/>
            <a:pathLst>
              <a:path w="3251200" h="520700">
                <a:moveTo>
                  <a:pt x="50799" y="0"/>
                </a:moveTo>
                <a:lnTo>
                  <a:pt x="3200401" y="0"/>
                </a:lnTo>
                <a:cubicBezTo>
                  <a:pt x="3228456" y="0"/>
                  <a:pt x="3251200" y="22744"/>
                  <a:pt x="3251200" y="50799"/>
                </a:cubicBezTo>
                <a:lnTo>
                  <a:pt x="3251200" y="469901"/>
                </a:lnTo>
                <a:cubicBezTo>
                  <a:pt x="3251200" y="497956"/>
                  <a:pt x="3228456" y="520700"/>
                  <a:pt x="3200401" y="520700"/>
                </a:cubicBezTo>
                <a:lnTo>
                  <a:pt x="50799" y="520700"/>
                </a:lnTo>
                <a:cubicBezTo>
                  <a:pt x="22744" y="520700"/>
                  <a:pt x="0" y="497956"/>
                  <a:pt x="0" y="4699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89F5B">
              <a:alpha val="20000"/>
            </a:srgbClr>
          </a:solidFill>
          <a:ln w="12700">
            <a:solidFill>
              <a:srgbClr val="E89F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3100" y="2349500"/>
            <a:ext cx="293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b="1" kern="0" spc="16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SOUTENANCE DE STAGE</a:t>
            </a:r>
            <a:endParaRPr lang="fr-FR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073400"/>
            <a:ext cx="156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fr-FR" sz="60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Banc de Calibration</a:t>
            </a:r>
            <a:endParaRPr lang="fr-FR" sz="1600" dirty="0" smtClean="0"/>
          </a:p>
          <a:p>
            <a:pPr algn="ctr">
              <a:lnSpc>
                <a:spcPct val="100000"/>
              </a:lnSpc>
            </a:pPr>
            <a:r>
              <a:rPr lang="fr-FR" sz="6000" b="1" dirty="0" smtClean="0">
                <a:solidFill>
                  <a:srgbClr val="4A6C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Automatisé</a:t>
            </a:r>
            <a:endParaRPr lang="fr-FR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181600"/>
            <a:ext cx="153924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2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Clés Dynamométriques Mt Alpha V1+</a:t>
            </a:r>
            <a:endParaRPr lang="fr-FR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761365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08000" y="7924800"/>
            <a:ext cx="207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Moussa Hamza</a:t>
            </a:r>
            <a:endParaRPr lang="fr-FR" sz="1600" dirty="0"/>
          </a:p>
        </p:txBody>
      </p:sp>
      <p:sp>
        <p:nvSpPr>
          <p:cNvPr id="10" name="Text 7"/>
          <p:cNvSpPr/>
          <p:nvPr/>
        </p:nvSpPr>
        <p:spPr>
          <a:xfrm>
            <a:off x="508000" y="8331200"/>
            <a:ext cx="204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 chez ONE-TOO</a:t>
            </a:r>
            <a:endParaRPr lang="fr-FR" sz="1600" dirty="0"/>
          </a:p>
        </p:txBody>
      </p:sp>
      <p:sp>
        <p:nvSpPr>
          <p:cNvPr id="11" name="Text 8"/>
          <p:cNvSpPr/>
          <p:nvPr/>
        </p:nvSpPr>
        <p:spPr>
          <a:xfrm>
            <a:off x="11661570" y="7975600"/>
            <a:ext cx="40858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fr-FR" sz="1600" dirty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énie électrique et Informatique </a:t>
            </a:r>
            <a:r>
              <a:rPr lang="fr-FR" sz="1600" dirty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ndustrielle</a:t>
            </a:r>
            <a:endParaRPr lang="fr-FR" sz="1600" dirty="0"/>
          </a:p>
        </p:txBody>
      </p:sp>
      <p:sp>
        <p:nvSpPr>
          <p:cNvPr id="12" name="Text 9"/>
          <p:cNvSpPr/>
          <p:nvPr/>
        </p:nvSpPr>
        <p:spPr>
          <a:xfrm>
            <a:off x="12407305" y="8280400"/>
            <a:ext cx="334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fr-FR" sz="16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fr-FR" sz="1600" dirty="0"/>
          </a:p>
        </p:txBody>
      </p:sp>
      <p:pic>
        <p:nvPicPr>
          <p:cNvPr id="18" name="Image 17" descr="ONE TOO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8911"/>
            <a:ext cx="4100150" cy="1096206"/>
          </a:xfrm>
          <a:prstGeom prst="rect">
            <a:avLst/>
          </a:prstGeom>
        </p:spPr>
      </p:pic>
      <p:pic>
        <p:nvPicPr>
          <p:cNvPr id="20" name="Image 19" descr="IUT 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21971" y="0"/>
            <a:ext cx="2434029" cy="2434029"/>
          </a:xfrm>
          <a:prstGeom prst="rect">
            <a:avLst/>
          </a:prstGeom>
        </p:spPr>
      </p:pic>
      <p:pic>
        <p:nvPicPr>
          <p:cNvPr id="21" name="Image 20" descr="LOGO ONE TOO ALPH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0753" y="7816558"/>
            <a:ext cx="4574494" cy="1327442"/>
          </a:xfrm>
          <a:prstGeom prst="rect">
            <a:avLst/>
          </a:prstGeom>
        </p:spPr>
      </p:pic>
      <p:sp>
        <p:nvSpPr>
          <p:cNvPr id="22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dirty="0" smtClean="0">
                <a:solidFill>
                  <a:srgbClr val="E89F5B"/>
                </a:solidFill>
              </a:rPr>
              <a:t>1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fr-FR" sz="48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Plan de la Présentation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879600"/>
            <a:ext cx="7391400" cy="2120900"/>
          </a:xfrm>
          <a:custGeom>
            <a:avLst/>
            <a:gdLst/>
            <a:ahLst/>
            <a:cxnLst/>
            <a:rect l="l" t="t" r="r" b="b"/>
            <a:pathLst>
              <a:path w="7391400" h="2120900">
                <a:moveTo>
                  <a:pt x="0" y="0"/>
                </a:moveTo>
                <a:lnTo>
                  <a:pt x="7340604" y="0"/>
                </a:lnTo>
                <a:cubicBezTo>
                  <a:pt x="7368658" y="0"/>
                  <a:pt x="7391400" y="22742"/>
                  <a:pt x="7391400" y="50796"/>
                </a:cubicBezTo>
                <a:lnTo>
                  <a:pt x="7391400" y="2070104"/>
                </a:lnTo>
                <a:cubicBezTo>
                  <a:pt x="7391400" y="2098158"/>
                  <a:pt x="7368658" y="2120900"/>
                  <a:pt x="7340604" y="2120900"/>
                </a:cubicBez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879600"/>
            <a:ext cx="50800" cy="2120900"/>
          </a:xfrm>
          <a:custGeom>
            <a:avLst/>
            <a:gdLst/>
            <a:ahLst/>
            <a:cxnLst/>
            <a:rect l="l" t="t" r="r" b="b"/>
            <a:pathLst>
              <a:path w="50800" h="2120900">
                <a:moveTo>
                  <a:pt x="0" y="0"/>
                </a:moveTo>
                <a:lnTo>
                  <a:pt x="50800" y="0"/>
                </a:lnTo>
                <a:lnTo>
                  <a:pt x="50800" y="2120900"/>
                </a:ln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63306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7" name="Text 5"/>
          <p:cNvSpPr/>
          <p:nvPr/>
        </p:nvSpPr>
        <p:spPr>
          <a:xfrm>
            <a:off x="749300" y="2633067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fr-FR" sz="1600" dirty="0"/>
          </a:p>
        </p:txBody>
      </p:sp>
      <p:sp>
        <p:nvSpPr>
          <p:cNvPr id="8" name="Text 6"/>
          <p:cNvSpPr/>
          <p:nvPr/>
        </p:nvSpPr>
        <p:spPr>
          <a:xfrm>
            <a:off x="1625600" y="2582267"/>
            <a:ext cx="299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" action="ppaction://hlinkshowjump?jump=nextslide"/>
              </a:rPr>
              <a:t>Introduction &amp; Contexte</a:t>
            </a:r>
            <a:endParaRPr lang="fr-FR" sz="1600" dirty="0"/>
          </a:p>
        </p:txBody>
      </p:sp>
      <p:sp>
        <p:nvSpPr>
          <p:cNvPr id="9" name="Text 7"/>
          <p:cNvSpPr/>
          <p:nvPr/>
        </p:nvSpPr>
        <p:spPr>
          <a:xfrm>
            <a:off x="1625600" y="2988667"/>
            <a:ext cx="297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Présentation ONE-TOO et projet</a:t>
            </a:r>
            <a:endParaRPr lang="fr-FR" sz="1600" dirty="0"/>
          </a:p>
        </p:txBody>
      </p:sp>
      <p:sp>
        <p:nvSpPr>
          <p:cNvPr id="10" name="Shape 8"/>
          <p:cNvSpPr/>
          <p:nvPr/>
        </p:nvSpPr>
        <p:spPr>
          <a:xfrm>
            <a:off x="8356600" y="1879600"/>
            <a:ext cx="7391400" cy="2120900"/>
          </a:xfrm>
          <a:custGeom>
            <a:avLst/>
            <a:gdLst/>
            <a:ahLst/>
            <a:cxnLst/>
            <a:rect l="l" t="t" r="r" b="b"/>
            <a:pathLst>
              <a:path w="7391400" h="2120900">
                <a:moveTo>
                  <a:pt x="0" y="0"/>
                </a:moveTo>
                <a:lnTo>
                  <a:pt x="7340604" y="0"/>
                </a:lnTo>
                <a:cubicBezTo>
                  <a:pt x="7368658" y="0"/>
                  <a:pt x="7391400" y="22742"/>
                  <a:pt x="7391400" y="50796"/>
                </a:cubicBezTo>
                <a:lnTo>
                  <a:pt x="7391400" y="2070104"/>
                </a:lnTo>
                <a:cubicBezTo>
                  <a:pt x="7391400" y="2098158"/>
                  <a:pt x="7368658" y="2120900"/>
                  <a:pt x="7340604" y="2120900"/>
                </a:cubicBez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356600" y="1879600"/>
            <a:ext cx="50800" cy="2120900"/>
          </a:xfrm>
          <a:custGeom>
            <a:avLst/>
            <a:gdLst/>
            <a:ahLst/>
            <a:cxnLst/>
            <a:rect l="l" t="t" r="r" b="b"/>
            <a:pathLst>
              <a:path w="50800" h="2120900">
                <a:moveTo>
                  <a:pt x="0" y="0"/>
                </a:moveTo>
                <a:lnTo>
                  <a:pt x="50800" y="0"/>
                </a:lnTo>
                <a:lnTo>
                  <a:pt x="50800" y="2120900"/>
                </a:ln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2" name="Shape 10"/>
          <p:cNvSpPr/>
          <p:nvPr/>
        </p:nvSpPr>
        <p:spPr>
          <a:xfrm>
            <a:off x="8636000" y="263306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3" name="Text 11"/>
          <p:cNvSpPr/>
          <p:nvPr/>
        </p:nvSpPr>
        <p:spPr>
          <a:xfrm>
            <a:off x="8572500" y="2633067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dirty="0" smtClean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fr-FR" sz="1600" dirty="0"/>
          </a:p>
        </p:txBody>
      </p:sp>
      <p:sp>
        <p:nvSpPr>
          <p:cNvPr id="14" name="Text 12"/>
          <p:cNvSpPr/>
          <p:nvPr/>
        </p:nvSpPr>
        <p:spPr>
          <a:xfrm>
            <a:off x="9448800" y="2582267"/>
            <a:ext cx="325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3" action="ppaction://hlinksldjump"/>
              </a:rPr>
              <a:t>Problématique &amp; Objectifs</a:t>
            </a:r>
            <a:endParaRPr lang="fr-FR" sz="1600" dirty="0"/>
          </a:p>
        </p:txBody>
      </p:sp>
      <p:sp>
        <p:nvSpPr>
          <p:cNvPr id="15" name="Text 13"/>
          <p:cNvSpPr/>
          <p:nvPr/>
        </p:nvSpPr>
        <p:spPr>
          <a:xfrm>
            <a:off x="9448799" y="2988667"/>
            <a:ext cx="37565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Banc Actuel vs Futur Banc automatisé</a:t>
            </a:r>
            <a:endParaRPr lang="fr-FR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4199334"/>
            <a:ext cx="7391400" cy="2120900"/>
          </a:xfrm>
          <a:custGeom>
            <a:avLst/>
            <a:gdLst/>
            <a:ahLst/>
            <a:cxnLst/>
            <a:rect l="l" t="t" r="r" b="b"/>
            <a:pathLst>
              <a:path w="7391400" h="2120900">
                <a:moveTo>
                  <a:pt x="0" y="0"/>
                </a:moveTo>
                <a:lnTo>
                  <a:pt x="7340604" y="0"/>
                </a:lnTo>
                <a:cubicBezTo>
                  <a:pt x="7368658" y="0"/>
                  <a:pt x="7391400" y="22742"/>
                  <a:pt x="7391400" y="50796"/>
                </a:cubicBezTo>
                <a:lnTo>
                  <a:pt x="7391400" y="2070104"/>
                </a:lnTo>
                <a:cubicBezTo>
                  <a:pt x="7391400" y="2098158"/>
                  <a:pt x="7368658" y="2120900"/>
                  <a:pt x="7340604" y="2120900"/>
                </a:cubicBez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3400" y="4199334"/>
            <a:ext cx="50800" cy="2120900"/>
          </a:xfrm>
          <a:custGeom>
            <a:avLst/>
            <a:gdLst/>
            <a:ahLst/>
            <a:cxnLst/>
            <a:rect l="l" t="t" r="r" b="b"/>
            <a:pathLst>
              <a:path w="50800" h="2120900">
                <a:moveTo>
                  <a:pt x="0" y="0"/>
                </a:moveTo>
                <a:lnTo>
                  <a:pt x="50800" y="0"/>
                </a:lnTo>
                <a:lnTo>
                  <a:pt x="50800" y="2120900"/>
                </a:ln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800" y="495280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9" name="Text 17"/>
          <p:cNvSpPr/>
          <p:nvPr/>
        </p:nvSpPr>
        <p:spPr>
          <a:xfrm>
            <a:off x="749300" y="4952802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fr-FR" sz="1600" dirty="0"/>
          </a:p>
        </p:txBody>
      </p:sp>
      <p:sp>
        <p:nvSpPr>
          <p:cNvPr id="20" name="Text 18"/>
          <p:cNvSpPr/>
          <p:nvPr/>
        </p:nvSpPr>
        <p:spPr>
          <a:xfrm>
            <a:off x="1625600" y="4902002"/>
            <a:ext cx="306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4" action="ppaction://hlinksldjump"/>
              </a:rPr>
              <a:t>Architecture du Système</a:t>
            </a:r>
            <a:endParaRPr lang="fr-FR" sz="1600" dirty="0"/>
          </a:p>
        </p:txBody>
      </p:sp>
      <p:sp>
        <p:nvSpPr>
          <p:cNvPr id="21" name="Text 19"/>
          <p:cNvSpPr/>
          <p:nvPr/>
        </p:nvSpPr>
        <p:spPr>
          <a:xfrm>
            <a:off x="1625600" y="5308402"/>
            <a:ext cx="303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Matériel et logicielle</a:t>
            </a:r>
            <a:endParaRPr lang="fr-FR" sz="1600" dirty="0"/>
          </a:p>
        </p:txBody>
      </p:sp>
      <p:sp>
        <p:nvSpPr>
          <p:cNvPr id="22" name="Shape 20"/>
          <p:cNvSpPr/>
          <p:nvPr/>
        </p:nvSpPr>
        <p:spPr>
          <a:xfrm>
            <a:off x="8356600" y="4199334"/>
            <a:ext cx="7391400" cy="2120900"/>
          </a:xfrm>
          <a:custGeom>
            <a:avLst/>
            <a:gdLst/>
            <a:ahLst/>
            <a:cxnLst/>
            <a:rect l="l" t="t" r="r" b="b"/>
            <a:pathLst>
              <a:path w="7391400" h="2120900">
                <a:moveTo>
                  <a:pt x="0" y="0"/>
                </a:moveTo>
                <a:lnTo>
                  <a:pt x="7340604" y="0"/>
                </a:lnTo>
                <a:cubicBezTo>
                  <a:pt x="7368658" y="0"/>
                  <a:pt x="7391400" y="22742"/>
                  <a:pt x="7391400" y="50796"/>
                </a:cubicBezTo>
                <a:lnTo>
                  <a:pt x="7391400" y="2070104"/>
                </a:lnTo>
                <a:cubicBezTo>
                  <a:pt x="7391400" y="2098158"/>
                  <a:pt x="7368658" y="2120900"/>
                  <a:pt x="7340604" y="2120900"/>
                </a:cubicBez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356600" y="4199334"/>
            <a:ext cx="50800" cy="2120900"/>
          </a:xfrm>
          <a:custGeom>
            <a:avLst/>
            <a:gdLst/>
            <a:ahLst/>
            <a:cxnLst/>
            <a:rect l="l" t="t" r="r" b="b"/>
            <a:pathLst>
              <a:path w="50800" h="2120900">
                <a:moveTo>
                  <a:pt x="0" y="0"/>
                </a:moveTo>
                <a:lnTo>
                  <a:pt x="50800" y="0"/>
                </a:lnTo>
                <a:lnTo>
                  <a:pt x="50800" y="2120900"/>
                </a:ln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24" name="Shape 22"/>
          <p:cNvSpPr/>
          <p:nvPr/>
        </p:nvSpPr>
        <p:spPr>
          <a:xfrm>
            <a:off x="8636000" y="4952802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25" name="Text 23"/>
          <p:cNvSpPr/>
          <p:nvPr/>
        </p:nvSpPr>
        <p:spPr>
          <a:xfrm>
            <a:off x="8572500" y="4952802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dirty="0" smtClean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fr-FR" sz="1600" dirty="0"/>
          </a:p>
        </p:txBody>
      </p:sp>
      <p:sp>
        <p:nvSpPr>
          <p:cNvPr id="26" name="Text 24"/>
          <p:cNvSpPr/>
          <p:nvPr/>
        </p:nvSpPr>
        <p:spPr>
          <a:xfrm>
            <a:off x="9448800" y="4902002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5" action="ppaction://hlinksldjump"/>
              </a:rPr>
              <a:t>Sous-systèmes Clés</a:t>
            </a:r>
            <a:endParaRPr lang="fr-FR" sz="1600" dirty="0"/>
          </a:p>
        </p:txBody>
      </p:sp>
      <p:sp>
        <p:nvSpPr>
          <p:cNvPr id="27" name="Text 25"/>
          <p:cNvSpPr/>
          <p:nvPr/>
        </p:nvSpPr>
        <p:spPr>
          <a:xfrm>
            <a:off x="9448800" y="5308402"/>
            <a:ext cx="307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Mécanique, motorisation, mesure</a:t>
            </a:r>
            <a:endParaRPr lang="fr-FR" sz="1600" dirty="0"/>
          </a:p>
        </p:txBody>
      </p:sp>
      <p:sp>
        <p:nvSpPr>
          <p:cNvPr id="28" name="Shape 26"/>
          <p:cNvSpPr/>
          <p:nvPr/>
        </p:nvSpPr>
        <p:spPr>
          <a:xfrm>
            <a:off x="533400" y="6519069"/>
            <a:ext cx="7391400" cy="2120900"/>
          </a:xfrm>
          <a:custGeom>
            <a:avLst/>
            <a:gdLst/>
            <a:ahLst/>
            <a:cxnLst/>
            <a:rect l="l" t="t" r="r" b="b"/>
            <a:pathLst>
              <a:path w="7391400" h="2120900">
                <a:moveTo>
                  <a:pt x="0" y="0"/>
                </a:moveTo>
                <a:lnTo>
                  <a:pt x="7340604" y="0"/>
                </a:lnTo>
                <a:cubicBezTo>
                  <a:pt x="7368658" y="0"/>
                  <a:pt x="7391400" y="22742"/>
                  <a:pt x="7391400" y="50796"/>
                </a:cubicBezTo>
                <a:lnTo>
                  <a:pt x="7391400" y="2070104"/>
                </a:lnTo>
                <a:cubicBezTo>
                  <a:pt x="7391400" y="2098158"/>
                  <a:pt x="7368658" y="2120900"/>
                  <a:pt x="7340604" y="2120900"/>
                </a:cubicBez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3400" y="6519069"/>
            <a:ext cx="50800" cy="2120900"/>
          </a:xfrm>
          <a:custGeom>
            <a:avLst/>
            <a:gdLst/>
            <a:ahLst/>
            <a:cxnLst/>
            <a:rect l="l" t="t" r="r" b="b"/>
            <a:pathLst>
              <a:path w="50800" h="2120900">
                <a:moveTo>
                  <a:pt x="0" y="0"/>
                </a:moveTo>
                <a:lnTo>
                  <a:pt x="50800" y="0"/>
                </a:lnTo>
                <a:lnTo>
                  <a:pt x="50800" y="2120900"/>
                </a:ln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800" y="727253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Text 29"/>
          <p:cNvSpPr/>
          <p:nvPr/>
        </p:nvSpPr>
        <p:spPr>
          <a:xfrm>
            <a:off x="749300" y="7272536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fr-FR" sz="1600" dirty="0"/>
          </a:p>
        </p:txBody>
      </p:sp>
      <p:sp>
        <p:nvSpPr>
          <p:cNvPr id="32" name="Text 30"/>
          <p:cNvSpPr/>
          <p:nvPr/>
        </p:nvSpPr>
        <p:spPr>
          <a:xfrm>
            <a:off x="1625600" y="7221736"/>
            <a:ext cx="26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6" action="ppaction://hlinksldjump"/>
              </a:rPr>
              <a:t>Sécurités &amp; Cycle</a:t>
            </a:r>
            <a:endParaRPr lang="fr-FR" sz="1600" dirty="0"/>
          </a:p>
        </p:txBody>
      </p:sp>
      <p:sp>
        <p:nvSpPr>
          <p:cNvPr id="33" name="Text 31"/>
          <p:cNvSpPr/>
          <p:nvPr/>
        </p:nvSpPr>
        <p:spPr>
          <a:xfrm>
            <a:off x="1625600" y="7628136"/>
            <a:ext cx="26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Sécurités et fonctionnement</a:t>
            </a:r>
            <a:endParaRPr lang="fr-FR" sz="1600" dirty="0"/>
          </a:p>
        </p:txBody>
      </p:sp>
      <p:sp>
        <p:nvSpPr>
          <p:cNvPr id="34" name="Shape 32"/>
          <p:cNvSpPr/>
          <p:nvPr/>
        </p:nvSpPr>
        <p:spPr>
          <a:xfrm>
            <a:off x="8356600" y="6519069"/>
            <a:ext cx="7391400" cy="2120900"/>
          </a:xfrm>
          <a:custGeom>
            <a:avLst/>
            <a:gdLst/>
            <a:ahLst/>
            <a:cxnLst/>
            <a:rect l="l" t="t" r="r" b="b"/>
            <a:pathLst>
              <a:path w="7391400" h="2120900">
                <a:moveTo>
                  <a:pt x="0" y="0"/>
                </a:moveTo>
                <a:lnTo>
                  <a:pt x="7340604" y="0"/>
                </a:lnTo>
                <a:cubicBezTo>
                  <a:pt x="7368658" y="0"/>
                  <a:pt x="7391400" y="22742"/>
                  <a:pt x="7391400" y="50796"/>
                </a:cubicBezTo>
                <a:lnTo>
                  <a:pt x="7391400" y="2070104"/>
                </a:lnTo>
                <a:cubicBezTo>
                  <a:pt x="7391400" y="2098158"/>
                  <a:pt x="7368658" y="2120900"/>
                  <a:pt x="7340604" y="2120900"/>
                </a:cubicBez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356600" y="6519069"/>
            <a:ext cx="50800" cy="2120900"/>
          </a:xfrm>
          <a:custGeom>
            <a:avLst/>
            <a:gdLst/>
            <a:ahLst/>
            <a:cxnLst/>
            <a:rect l="l" t="t" r="r" b="b"/>
            <a:pathLst>
              <a:path w="50800" h="2120900">
                <a:moveTo>
                  <a:pt x="0" y="0"/>
                </a:moveTo>
                <a:lnTo>
                  <a:pt x="50800" y="0"/>
                </a:lnTo>
                <a:lnTo>
                  <a:pt x="50800" y="2120900"/>
                </a:ln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36" name="Shape 34"/>
          <p:cNvSpPr/>
          <p:nvPr/>
        </p:nvSpPr>
        <p:spPr>
          <a:xfrm>
            <a:off x="8636000" y="727253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37" name="Text 35"/>
          <p:cNvSpPr/>
          <p:nvPr/>
        </p:nvSpPr>
        <p:spPr>
          <a:xfrm>
            <a:off x="8572500" y="7272536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dirty="0" smtClean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fr-FR" sz="1600" dirty="0"/>
          </a:p>
        </p:txBody>
      </p:sp>
      <p:sp>
        <p:nvSpPr>
          <p:cNvPr id="38" name="Text 36"/>
          <p:cNvSpPr/>
          <p:nvPr/>
        </p:nvSpPr>
        <p:spPr>
          <a:xfrm>
            <a:off x="9448800" y="7221736"/>
            <a:ext cx="279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7" action="ppaction://hlinksldjump"/>
              </a:rPr>
              <a:t>Bilan &amp; Conclusion</a:t>
            </a:r>
            <a:endParaRPr lang="fr-FR" sz="1600" dirty="0"/>
          </a:p>
        </p:txBody>
      </p:sp>
      <p:sp>
        <p:nvSpPr>
          <p:cNvPr id="39" name="Text 37"/>
          <p:cNvSpPr/>
          <p:nvPr/>
        </p:nvSpPr>
        <p:spPr>
          <a:xfrm>
            <a:off x="9448800" y="7628136"/>
            <a:ext cx="276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Compétences et perspectives</a:t>
            </a:r>
            <a:endParaRPr lang="fr-FR" sz="1600" dirty="0"/>
          </a:p>
        </p:txBody>
      </p:sp>
      <p:sp>
        <p:nvSpPr>
          <p:cNvPr id="40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dirty="0" smtClean="0">
                <a:solidFill>
                  <a:srgbClr val="E89F5B"/>
                </a:solidFill>
              </a:rPr>
              <a:t>2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01. INTRODUCTION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ONE-TOO : Contexte Industriel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682750"/>
            <a:ext cx="8204200" cy="1866900"/>
          </a:xfrm>
          <a:custGeom>
            <a:avLst/>
            <a:gdLst/>
            <a:ahLst/>
            <a:cxnLst/>
            <a:rect l="l" t="t" r="r" b="b"/>
            <a:pathLst>
              <a:path w="8204200" h="1866900">
                <a:moveTo>
                  <a:pt x="101597" y="0"/>
                </a:moveTo>
                <a:lnTo>
                  <a:pt x="8102603" y="0"/>
                </a:lnTo>
                <a:cubicBezTo>
                  <a:pt x="8158714" y="0"/>
                  <a:pt x="8204200" y="45486"/>
                  <a:pt x="8204200" y="101597"/>
                </a:cubicBezTo>
                <a:lnTo>
                  <a:pt x="8204200" y="1765303"/>
                </a:lnTo>
                <a:cubicBezTo>
                  <a:pt x="8204200" y="1821414"/>
                  <a:pt x="8158714" y="1866900"/>
                  <a:pt x="8102603" y="1866900"/>
                </a:cubicBezTo>
                <a:lnTo>
                  <a:pt x="101597" y="1866900"/>
                </a:lnTo>
                <a:cubicBezTo>
                  <a:pt x="45486" y="1866900"/>
                  <a:pt x="0" y="1821414"/>
                  <a:pt x="0" y="17653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8100" y="1943100"/>
            <a:ext cx="15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L'Entreprise</a:t>
            </a:r>
            <a:endParaRPr lang="fr-FR" sz="1600" dirty="0"/>
          </a:p>
        </p:txBody>
      </p:sp>
      <p:sp>
        <p:nvSpPr>
          <p:cNvPr id="7" name="Text 5"/>
          <p:cNvSpPr/>
          <p:nvPr/>
        </p:nvSpPr>
        <p:spPr>
          <a:xfrm>
            <a:off x="774700" y="2451100"/>
            <a:ext cx="7785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Société industrielle implantée à </a:t>
            </a: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Carros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crée en </a:t>
            </a: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1971</a:t>
            </a:r>
            <a:endParaRPr lang="fr-FR" sz="1600" dirty="0"/>
          </a:p>
        </p:txBody>
      </p:sp>
      <p:sp>
        <p:nvSpPr>
          <p:cNvPr id="8" name="Shape 6"/>
          <p:cNvSpPr/>
          <p:nvPr/>
        </p:nvSpPr>
        <p:spPr>
          <a:xfrm>
            <a:off x="774700" y="2933700"/>
            <a:ext cx="1358900" cy="355600"/>
          </a:xfrm>
          <a:custGeom>
            <a:avLst/>
            <a:gdLst/>
            <a:ahLst/>
            <a:cxnLst/>
            <a:rect l="l" t="t" r="r" b="b"/>
            <a:pathLst>
              <a:path w="1358900" h="355600">
                <a:moveTo>
                  <a:pt x="177800" y="0"/>
                </a:moveTo>
                <a:lnTo>
                  <a:pt x="1181100" y="0"/>
                </a:lnTo>
                <a:cubicBezTo>
                  <a:pt x="1279230" y="0"/>
                  <a:pt x="1358900" y="79670"/>
                  <a:pt x="1358900" y="177800"/>
                </a:cubicBezTo>
                <a:lnTo>
                  <a:pt x="1358900" y="177800"/>
                </a:lnTo>
                <a:cubicBezTo>
                  <a:pt x="1358900" y="275930"/>
                  <a:pt x="1279230" y="355600"/>
                  <a:pt x="11811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74700" y="2933700"/>
            <a:ext cx="14478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Automatisme</a:t>
            </a:r>
            <a:endParaRPr lang="fr-FR" sz="1600" dirty="0"/>
          </a:p>
        </p:txBody>
      </p:sp>
      <p:sp>
        <p:nvSpPr>
          <p:cNvPr id="10" name="Shape 8"/>
          <p:cNvSpPr/>
          <p:nvPr/>
        </p:nvSpPr>
        <p:spPr>
          <a:xfrm>
            <a:off x="2234803" y="2933700"/>
            <a:ext cx="1117600" cy="355600"/>
          </a:xfrm>
          <a:custGeom>
            <a:avLst/>
            <a:gdLst/>
            <a:ahLst/>
            <a:cxnLst/>
            <a:rect l="l" t="t" r="r" b="b"/>
            <a:pathLst>
              <a:path w="1117600" h="355600">
                <a:moveTo>
                  <a:pt x="177800" y="0"/>
                </a:moveTo>
                <a:lnTo>
                  <a:pt x="939800" y="0"/>
                </a:lnTo>
                <a:cubicBezTo>
                  <a:pt x="1037930" y="0"/>
                  <a:pt x="1117600" y="79670"/>
                  <a:pt x="1117600" y="177800"/>
                </a:cubicBezTo>
                <a:lnTo>
                  <a:pt x="1117600" y="177800"/>
                </a:lnTo>
                <a:cubicBezTo>
                  <a:pt x="1117600" y="275930"/>
                  <a:pt x="1037930" y="355600"/>
                  <a:pt x="939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234803" y="2933700"/>
            <a:ext cx="12065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Mécanique</a:t>
            </a:r>
            <a:endParaRPr lang="fr-FR" sz="1600" dirty="0"/>
          </a:p>
        </p:txBody>
      </p:sp>
      <p:sp>
        <p:nvSpPr>
          <p:cNvPr id="12" name="Shape 10"/>
          <p:cNvSpPr/>
          <p:nvPr/>
        </p:nvSpPr>
        <p:spPr>
          <a:xfrm>
            <a:off x="3449042" y="2933700"/>
            <a:ext cx="1155700" cy="355600"/>
          </a:xfrm>
          <a:custGeom>
            <a:avLst/>
            <a:gdLst/>
            <a:ahLst/>
            <a:cxnLst/>
            <a:rect l="l" t="t" r="r" b="b"/>
            <a:pathLst>
              <a:path w="1155700" h="355600">
                <a:moveTo>
                  <a:pt x="177800" y="0"/>
                </a:moveTo>
                <a:lnTo>
                  <a:pt x="977900" y="0"/>
                </a:lnTo>
                <a:cubicBezTo>
                  <a:pt x="1076030" y="0"/>
                  <a:pt x="1155700" y="79670"/>
                  <a:pt x="1155700" y="177800"/>
                </a:cubicBezTo>
                <a:lnTo>
                  <a:pt x="1155700" y="177800"/>
                </a:lnTo>
                <a:cubicBezTo>
                  <a:pt x="1155700" y="275930"/>
                  <a:pt x="1076030" y="355600"/>
                  <a:pt x="9779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49042" y="2933700"/>
            <a:ext cx="12446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Métrologie</a:t>
            </a:r>
            <a:endParaRPr lang="fr-FR" sz="1600" dirty="0"/>
          </a:p>
        </p:txBody>
      </p:sp>
      <p:sp>
        <p:nvSpPr>
          <p:cNvPr id="14" name="Shape 12"/>
          <p:cNvSpPr/>
          <p:nvPr/>
        </p:nvSpPr>
        <p:spPr>
          <a:xfrm>
            <a:off x="502642" y="3765550"/>
            <a:ext cx="8215908" cy="3240892"/>
          </a:xfrm>
          <a:custGeom>
            <a:avLst/>
            <a:gdLst/>
            <a:ahLst/>
            <a:cxnLst/>
            <a:rect l="l" t="t" r="r" b="b"/>
            <a:pathLst>
              <a:path w="8204200" h="1778000">
                <a:moveTo>
                  <a:pt x="101595" y="0"/>
                </a:moveTo>
                <a:lnTo>
                  <a:pt x="8102605" y="0"/>
                </a:lnTo>
                <a:cubicBezTo>
                  <a:pt x="8158714" y="0"/>
                  <a:pt x="8204200" y="45486"/>
                  <a:pt x="8204200" y="101595"/>
                </a:cubicBezTo>
                <a:lnTo>
                  <a:pt x="8204200" y="1676405"/>
                </a:lnTo>
                <a:cubicBezTo>
                  <a:pt x="8204200" y="1732514"/>
                  <a:pt x="8158714" y="1778000"/>
                  <a:pt x="81026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08100" y="4025900"/>
            <a:ext cx="173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Certifications</a:t>
            </a:r>
            <a:endParaRPr lang="fr-FR" sz="1600" dirty="0"/>
          </a:p>
        </p:txBody>
      </p:sp>
      <p:sp>
        <p:nvSpPr>
          <p:cNvPr id="17" name="Shape 15"/>
          <p:cNvSpPr/>
          <p:nvPr/>
        </p:nvSpPr>
        <p:spPr>
          <a:xfrm>
            <a:off x="762992" y="4533899"/>
            <a:ext cx="2475508" cy="2021279"/>
          </a:xfrm>
          <a:custGeom>
            <a:avLst/>
            <a:gdLst/>
            <a:ahLst/>
            <a:cxnLst/>
            <a:rect l="l" t="t" r="r" b="b"/>
            <a:pathLst>
              <a:path w="2463800" h="749300">
                <a:moveTo>
                  <a:pt x="50803" y="0"/>
                </a:moveTo>
                <a:lnTo>
                  <a:pt x="2412997" y="0"/>
                </a:lnTo>
                <a:cubicBezTo>
                  <a:pt x="2441055" y="0"/>
                  <a:pt x="2463800" y="22745"/>
                  <a:pt x="2463800" y="50803"/>
                </a:cubicBezTo>
                <a:lnTo>
                  <a:pt x="2463800" y="698497"/>
                </a:lnTo>
                <a:cubicBezTo>
                  <a:pt x="2463800" y="726555"/>
                  <a:pt x="2441055" y="749300"/>
                  <a:pt x="2412997" y="749300"/>
                </a:cubicBezTo>
                <a:lnTo>
                  <a:pt x="50803" y="749300"/>
                </a:lnTo>
                <a:cubicBezTo>
                  <a:pt x="22745" y="749300"/>
                  <a:pt x="0" y="726555"/>
                  <a:pt x="0" y="6984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812800" y="6305550"/>
            <a:ext cx="233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Qualité</a:t>
            </a:r>
            <a:endParaRPr lang="fr-FR" sz="1600" dirty="0"/>
          </a:p>
        </p:txBody>
      </p:sp>
      <p:sp>
        <p:nvSpPr>
          <p:cNvPr id="20" name="Shape 18"/>
          <p:cNvSpPr/>
          <p:nvPr/>
        </p:nvSpPr>
        <p:spPr>
          <a:xfrm>
            <a:off x="3293028" y="4533900"/>
            <a:ext cx="2497138" cy="2021278"/>
          </a:xfrm>
          <a:custGeom>
            <a:avLst/>
            <a:gdLst/>
            <a:ahLst/>
            <a:cxnLst/>
            <a:rect l="l" t="t" r="r" b="b"/>
            <a:pathLst>
              <a:path w="2463800" h="749300">
                <a:moveTo>
                  <a:pt x="50803" y="0"/>
                </a:moveTo>
                <a:lnTo>
                  <a:pt x="2412997" y="0"/>
                </a:lnTo>
                <a:cubicBezTo>
                  <a:pt x="2441055" y="0"/>
                  <a:pt x="2463800" y="22745"/>
                  <a:pt x="2463800" y="50803"/>
                </a:cubicBezTo>
                <a:lnTo>
                  <a:pt x="2463800" y="698497"/>
                </a:lnTo>
                <a:cubicBezTo>
                  <a:pt x="2463800" y="726555"/>
                  <a:pt x="2441055" y="749300"/>
                  <a:pt x="2412997" y="749300"/>
                </a:cubicBezTo>
                <a:lnTo>
                  <a:pt x="50803" y="749300"/>
                </a:lnTo>
                <a:cubicBezTo>
                  <a:pt x="22745" y="749300"/>
                  <a:pt x="0" y="726555"/>
                  <a:pt x="0" y="6984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3352403" y="6305550"/>
            <a:ext cx="233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Automobile</a:t>
            </a:r>
            <a:endParaRPr lang="fr-FR" sz="1600" dirty="0"/>
          </a:p>
        </p:txBody>
      </p:sp>
      <p:sp>
        <p:nvSpPr>
          <p:cNvPr id="23" name="Shape 21"/>
          <p:cNvSpPr/>
          <p:nvPr/>
        </p:nvSpPr>
        <p:spPr>
          <a:xfrm>
            <a:off x="5849541" y="4533900"/>
            <a:ext cx="2476800" cy="2021278"/>
          </a:xfrm>
          <a:custGeom>
            <a:avLst/>
            <a:gdLst/>
            <a:ahLst/>
            <a:cxnLst/>
            <a:rect l="l" t="t" r="r" b="b"/>
            <a:pathLst>
              <a:path w="2463800" h="749300">
                <a:moveTo>
                  <a:pt x="50803" y="0"/>
                </a:moveTo>
                <a:lnTo>
                  <a:pt x="2412997" y="0"/>
                </a:lnTo>
                <a:cubicBezTo>
                  <a:pt x="2441055" y="0"/>
                  <a:pt x="2463800" y="22745"/>
                  <a:pt x="2463800" y="50803"/>
                </a:cubicBezTo>
                <a:lnTo>
                  <a:pt x="2463800" y="698497"/>
                </a:lnTo>
                <a:cubicBezTo>
                  <a:pt x="2463800" y="726555"/>
                  <a:pt x="2441055" y="749300"/>
                  <a:pt x="2412997" y="749300"/>
                </a:cubicBezTo>
                <a:lnTo>
                  <a:pt x="50803" y="749300"/>
                </a:lnTo>
                <a:cubicBezTo>
                  <a:pt x="22745" y="749300"/>
                  <a:pt x="0" y="726555"/>
                  <a:pt x="0" y="6984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541" y="6305550"/>
            <a:ext cx="233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Couple</a:t>
            </a:r>
            <a:endParaRPr lang="fr-FR" sz="1600" dirty="0"/>
          </a:p>
        </p:txBody>
      </p:sp>
      <p:sp>
        <p:nvSpPr>
          <p:cNvPr id="26" name="Shape 24"/>
          <p:cNvSpPr/>
          <p:nvPr/>
        </p:nvSpPr>
        <p:spPr>
          <a:xfrm>
            <a:off x="502642" y="7188200"/>
            <a:ext cx="8204200" cy="1689100"/>
          </a:xfrm>
          <a:custGeom>
            <a:avLst/>
            <a:gdLst/>
            <a:ahLst/>
            <a:cxnLst/>
            <a:rect l="l" t="t" r="r" b="b"/>
            <a:pathLst>
              <a:path w="8204200" h="1689100">
                <a:moveTo>
                  <a:pt x="101599" y="0"/>
                </a:moveTo>
                <a:lnTo>
                  <a:pt x="8102601" y="0"/>
                </a:lnTo>
                <a:cubicBezTo>
                  <a:pt x="8158712" y="0"/>
                  <a:pt x="8204200" y="45488"/>
                  <a:pt x="8204200" y="101599"/>
                </a:cubicBezTo>
                <a:lnTo>
                  <a:pt x="8204200" y="1587501"/>
                </a:lnTo>
                <a:cubicBezTo>
                  <a:pt x="8204200" y="1643612"/>
                  <a:pt x="8158712" y="1689100"/>
                  <a:pt x="8102601" y="1689100"/>
                </a:cubicBezTo>
                <a:lnTo>
                  <a:pt x="101599" y="1689100"/>
                </a:lnTo>
                <a:cubicBezTo>
                  <a:pt x="45488" y="1689100"/>
                  <a:pt x="0" y="1643612"/>
                  <a:pt x="0" y="15875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96392" y="7448550"/>
            <a:ext cx="1155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 Projet</a:t>
            </a:r>
            <a:endParaRPr lang="fr-FR" sz="1600" dirty="0"/>
          </a:p>
        </p:txBody>
      </p:sp>
      <p:sp>
        <p:nvSpPr>
          <p:cNvPr id="29" name="Text 27"/>
          <p:cNvSpPr/>
          <p:nvPr/>
        </p:nvSpPr>
        <p:spPr>
          <a:xfrm>
            <a:off x="762992" y="7956550"/>
            <a:ext cx="7785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fr-FR" sz="16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Conception d'un </a:t>
            </a:r>
            <a:r>
              <a:rPr lang="fr-FR" sz="16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banc de calibration automatisé</a:t>
            </a:r>
            <a:r>
              <a:rPr lang="fr-FR" sz="16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pour clés dynamométriques Mt Alpha V1+, conforme à la norme </a:t>
            </a:r>
            <a:r>
              <a:rPr lang="fr-FR" sz="16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 6789-1:2017</a:t>
            </a:r>
            <a:endParaRPr lang="fr-FR" sz="1600" dirty="0"/>
          </a:p>
        </p:txBody>
      </p:sp>
      <p:sp>
        <p:nvSpPr>
          <p:cNvPr id="30" name="Shape 28"/>
          <p:cNvSpPr/>
          <p:nvPr/>
        </p:nvSpPr>
        <p:spPr>
          <a:xfrm>
            <a:off x="9017566" y="1714499"/>
            <a:ext cx="6713955" cy="4032526"/>
          </a:xfrm>
          <a:custGeom>
            <a:avLst/>
            <a:gdLst/>
            <a:ahLst/>
            <a:cxnLst/>
            <a:rect l="l" t="t" r="r" b="b"/>
            <a:pathLst>
              <a:path w="6705600" h="6705600">
                <a:moveTo>
                  <a:pt x="101590" y="0"/>
                </a:moveTo>
                <a:lnTo>
                  <a:pt x="6604010" y="0"/>
                </a:lnTo>
                <a:cubicBezTo>
                  <a:pt x="6660117" y="0"/>
                  <a:pt x="6705600" y="45483"/>
                  <a:pt x="6705600" y="101590"/>
                </a:cubicBezTo>
                <a:lnTo>
                  <a:pt x="6705600" y="6604010"/>
                </a:lnTo>
                <a:cubicBezTo>
                  <a:pt x="6705600" y="6660117"/>
                  <a:pt x="6660117" y="6705600"/>
                  <a:pt x="6604010" y="6705600"/>
                </a:cubicBezTo>
                <a:lnTo>
                  <a:pt x="101590" y="6705600"/>
                </a:lnTo>
                <a:cubicBezTo>
                  <a:pt x="45483" y="6705600"/>
                  <a:pt x="0" y="6660117"/>
                  <a:pt x="0" y="66040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pic>
        <p:nvPicPr>
          <p:cNvPr id="31" name="Image 0" descr="https://kimi-web-img.moonshot.cn/img/ex31automation.com/df72385270fe41f87d056e3cc578db39440ba8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566" y="1714499"/>
            <a:ext cx="6727853" cy="4044951"/>
          </a:xfrm>
          <a:prstGeom prst="roundRect">
            <a:avLst>
              <a:gd name="adj" fmla="val 1518"/>
            </a:avLst>
          </a:prstGeom>
        </p:spPr>
      </p:pic>
      <p:sp>
        <p:nvSpPr>
          <p:cNvPr id="32" name="Shape 29"/>
          <p:cNvSpPr/>
          <p:nvPr/>
        </p:nvSpPr>
        <p:spPr>
          <a:xfrm>
            <a:off x="9017566" y="6146800"/>
            <a:ext cx="6705600" cy="1219200"/>
          </a:xfrm>
          <a:custGeom>
            <a:avLst/>
            <a:gdLst/>
            <a:ahLst/>
            <a:cxnLst/>
            <a:rect l="l" t="t" r="r" b="b"/>
            <a:pathLst>
              <a:path w="6705600" h="1219200">
                <a:moveTo>
                  <a:pt x="101596" y="0"/>
                </a:moveTo>
                <a:lnTo>
                  <a:pt x="6604004" y="0"/>
                </a:lnTo>
                <a:cubicBezTo>
                  <a:pt x="6660114" y="0"/>
                  <a:pt x="6705600" y="45486"/>
                  <a:pt x="6705600" y="101596"/>
                </a:cubicBezTo>
                <a:lnTo>
                  <a:pt x="6705600" y="1117604"/>
                </a:lnTo>
                <a:cubicBezTo>
                  <a:pt x="6705600" y="1173714"/>
                  <a:pt x="6660114" y="1219200"/>
                  <a:pt x="66040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27116" y="6400800"/>
            <a:ext cx="72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Équipe</a:t>
            </a:r>
            <a:endParaRPr lang="fr-FR" sz="1600" dirty="0"/>
          </a:p>
        </p:txBody>
      </p:sp>
      <p:sp>
        <p:nvSpPr>
          <p:cNvPr id="34" name="Text 31"/>
          <p:cNvSpPr/>
          <p:nvPr/>
        </p:nvSpPr>
        <p:spPr>
          <a:xfrm>
            <a:off x="15032009" y="6356350"/>
            <a:ext cx="635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24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~15</a:t>
            </a:r>
            <a:endParaRPr lang="fr-FR" sz="1600" dirty="0"/>
          </a:p>
        </p:txBody>
      </p:sp>
      <p:sp>
        <p:nvSpPr>
          <p:cNvPr id="35" name="Text 32"/>
          <p:cNvSpPr/>
          <p:nvPr/>
        </p:nvSpPr>
        <p:spPr>
          <a:xfrm>
            <a:off x="9227116" y="6851650"/>
            <a:ext cx="118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Localisation</a:t>
            </a:r>
            <a:endParaRPr lang="fr-FR" sz="1600" dirty="0"/>
          </a:p>
        </p:txBody>
      </p:sp>
      <p:sp>
        <p:nvSpPr>
          <p:cNvPr id="36" name="Text 33"/>
          <p:cNvSpPr/>
          <p:nvPr/>
        </p:nvSpPr>
        <p:spPr>
          <a:xfrm>
            <a:off x="14409113" y="6851650"/>
            <a:ext cx="120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Carros (06)</a:t>
            </a:r>
            <a:endParaRPr lang="fr-FR" sz="1600" dirty="0"/>
          </a:p>
        </p:txBody>
      </p:sp>
      <p:pic>
        <p:nvPicPr>
          <p:cNvPr id="38" name="Image 37" descr="ISO 9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306" y="4533899"/>
            <a:ext cx="1815971" cy="1790700"/>
          </a:xfrm>
          <a:prstGeom prst="rect">
            <a:avLst/>
          </a:prstGeom>
        </p:spPr>
      </p:pic>
      <p:pic>
        <p:nvPicPr>
          <p:cNvPr id="39" name="Image 38" descr="ISO 6789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763" y="4538519"/>
            <a:ext cx="1889331" cy="1889331"/>
          </a:xfrm>
          <a:prstGeom prst="rect">
            <a:avLst/>
          </a:prstGeom>
        </p:spPr>
      </p:pic>
      <p:pic>
        <p:nvPicPr>
          <p:cNvPr id="40" name="Image 39" descr="ISO TS 1694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0917" y="4550396"/>
            <a:ext cx="1816053" cy="1790780"/>
          </a:xfrm>
          <a:prstGeom prst="rect">
            <a:avLst/>
          </a:prstGeom>
        </p:spPr>
      </p:pic>
      <p:pic>
        <p:nvPicPr>
          <p:cNvPr id="41" name="Image 40" descr="picto-entrepris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048" y="1738249"/>
            <a:ext cx="736927" cy="736927"/>
          </a:xfrm>
          <a:prstGeom prst="rect">
            <a:avLst/>
          </a:prstGeom>
        </p:spPr>
      </p:pic>
      <p:pic>
        <p:nvPicPr>
          <p:cNvPr id="42" name="Image 41" descr="certifica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050" y="3942402"/>
            <a:ext cx="355806" cy="510348"/>
          </a:xfrm>
          <a:prstGeom prst="rect">
            <a:avLst/>
          </a:prstGeom>
        </p:spPr>
      </p:pic>
      <p:pic>
        <p:nvPicPr>
          <p:cNvPr id="43" name="Image 42" descr="picto proj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173" y="7220883"/>
            <a:ext cx="713343" cy="711917"/>
          </a:xfrm>
          <a:prstGeom prst="rect">
            <a:avLst/>
          </a:prstGeom>
        </p:spPr>
      </p:pic>
      <p:sp>
        <p:nvSpPr>
          <p:cNvPr id="46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dirty="0" smtClean="0">
                <a:solidFill>
                  <a:srgbClr val="E89F5B"/>
                </a:solidFill>
              </a:rPr>
              <a:t>3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9925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01. INTRODUCTION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55485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ONE-TOO : Contexte Industriel</a:t>
            </a:r>
            <a:endParaRPr lang="fr-FR" sz="1600" dirty="0"/>
          </a:p>
        </p:txBody>
      </p:sp>
      <p:sp>
        <p:nvSpPr>
          <p:cNvPr id="48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dirty="0" smtClean="0">
                <a:solidFill>
                  <a:srgbClr val="E89F5B"/>
                </a:solidFill>
              </a:rPr>
              <a:t>4</a:t>
            </a:r>
            <a:endParaRPr lang="fr-FR" sz="1400" dirty="0">
              <a:solidFill>
                <a:srgbClr val="E89F5B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3827" y="863601"/>
            <a:ext cx="13588347" cy="8280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3302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01. INTRODUCTION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6858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ONE-TOO : Contexte Industriel</a:t>
            </a:r>
            <a:endParaRPr lang="fr-FR" sz="1600" dirty="0"/>
          </a:p>
        </p:txBody>
      </p:sp>
      <p:pic>
        <p:nvPicPr>
          <p:cNvPr id="37" name="Image 36" descr="CLÉ BT_b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33275">
            <a:off x="4694577" y="528678"/>
            <a:ext cx="5062446" cy="8225941"/>
          </a:xfrm>
          <a:prstGeom prst="rect">
            <a:avLst/>
          </a:prstGeom>
        </p:spPr>
      </p:pic>
      <p:cxnSp>
        <p:nvCxnSpPr>
          <p:cNvPr id="45" name="Connecteur droit 44"/>
          <p:cNvCxnSpPr/>
          <p:nvPr/>
        </p:nvCxnSpPr>
        <p:spPr>
          <a:xfrm rot="10800000">
            <a:off x="9678391" y="1341912"/>
            <a:ext cx="419512" cy="3344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/>
        </p:nvCxnSpPr>
        <p:spPr>
          <a:xfrm rot="10800000">
            <a:off x="7202933" y="1341912"/>
            <a:ext cx="247546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/>
          <p:cNvSpPr txBox="1"/>
          <p:nvPr/>
        </p:nvSpPr>
        <p:spPr>
          <a:xfrm>
            <a:off x="2802688" y="1193798"/>
            <a:ext cx="4400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Accessoires interchangeables avec détection </a:t>
            </a:r>
          </a:p>
          <a:p>
            <a:r>
              <a:rPr lang="fr-FR" dirty="0" smtClean="0">
                <a:solidFill>
                  <a:schemeClr val="bg1"/>
                </a:solidFill>
              </a:rPr>
              <a:t>Automatique (rallonges)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3" name="ZoneTexte 52"/>
          <p:cNvSpPr txBox="1"/>
          <p:nvPr/>
        </p:nvSpPr>
        <p:spPr>
          <a:xfrm>
            <a:off x="4711607" y="1840131"/>
            <a:ext cx="2718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Affichage led (verte/rouge)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54" name="Connecteur droit 53"/>
          <p:cNvCxnSpPr/>
          <p:nvPr/>
        </p:nvCxnSpPr>
        <p:spPr>
          <a:xfrm rot="10800000">
            <a:off x="8929093" y="2024799"/>
            <a:ext cx="749300" cy="4827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/>
          <p:cNvCxnSpPr>
            <a:endCxn id="53" idx="3"/>
          </p:cNvCxnSpPr>
          <p:nvPr/>
        </p:nvCxnSpPr>
        <p:spPr>
          <a:xfrm rot="10800000">
            <a:off x="7430494" y="2024798"/>
            <a:ext cx="148490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 rot="10800000">
            <a:off x="5562600" y="3936999"/>
            <a:ext cx="749300" cy="6674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/>
          <p:cNvCxnSpPr/>
          <p:nvPr/>
        </p:nvCxnSpPr>
        <p:spPr>
          <a:xfrm rot="10800000" flipV="1">
            <a:off x="4038600" y="3936999"/>
            <a:ext cx="14986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/>
          <p:cNvSpPr txBox="1"/>
          <p:nvPr/>
        </p:nvSpPr>
        <p:spPr>
          <a:xfrm>
            <a:off x="1091113" y="3726933"/>
            <a:ext cx="2914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Vibreur et avertisseur sonore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63" name="Connecteur droit 62"/>
          <p:cNvCxnSpPr/>
          <p:nvPr/>
        </p:nvCxnSpPr>
        <p:spPr>
          <a:xfrm>
            <a:off x="9372600" y="2797042"/>
            <a:ext cx="1016000" cy="74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>
            <a:off x="10388600" y="3540679"/>
            <a:ext cx="96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ZoneTexte 66"/>
          <p:cNvSpPr txBox="1"/>
          <p:nvPr/>
        </p:nvSpPr>
        <p:spPr>
          <a:xfrm>
            <a:off x="11353800" y="3357601"/>
            <a:ext cx="1785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Bouton ON / OFF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68" name="Connecteur droit 67"/>
          <p:cNvCxnSpPr/>
          <p:nvPr/>
        </p:nvCxnSpPr>
        <p:spPr>
          <a:xfrm>
            <a:off x="8447974" y="4096265"/>
            <a:ext cx="1016000" cy="74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/>
          <p:cNvCxnSpPr/>
          <p:nvPr/>
        </p:nvCxnSpPr>
        <p:spPr>
          <a:xfrm>
            <a:off x="9463974" y="4839902"/>
            <a:ext cx="96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ZoneTexte 69"/>
          <p:cNvSpPr txBox="1"/>
          <p:nvPr/>
        </p:nvSpPr>
        <p:spPr>
          <a:xfrm>
            <a:off x="10552461" y="4656824"/>
            <a:ext cx="24147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Poignée Ergonomique : </a:t>
            </a:r>
          </a:p>
          <a:p>
            <a:pPr>
              <a:buFontTx/>
              <a:buChar char="-"/>
            </a:pPr>
            <a:r>
              <a:rPr lang="fr-FR" dirty="0" smtClean="0">
                <a:solidFill>
                  <a:schemeClr val="bg1"/>
                </a:solidFill>
              </a:rPr>
              <a:t> Longueur : 200 mm</a:t>
            </a:r>
          </a:p>
          <a:p>
            <a:pPr>
              <a:buFontTx/>
              <a:buChar char="-"/>
            </a:pPr>
            <a:r>
              <a:rPr lang="fr-FR" dirty="0" smtClean="0">
                <a:solidFill>
                  <a:schemeClr val="bg1"/>
                </a:solidFill>
              </a:rPr>
              <a:t>Largeur : 37 mm</a:t>
            </a:r>
          </a:p>
          <a:p>
            <a:r>
              <a:rPr lang="fr-FR" dirty="0" smtClean="0">
                <a:solidFill>
                  <a:schemeClr val="bg1"/>
                </a:solidFill>
              </a:rPr>
              <a:t>- Poids : 365 grammes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71" name="Connecteur droit 70"/>
          <p:cNvCxnSpPr/>
          <p:nvPr/>
        </p:nvCxnSpPr>
        <p:spPr>
          <a:xfrm>
            <a:off x="6732512" y="6176326"/>
            <a:ext cx="1016000" cy="74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/>
          <p:cNvCxnSpPr/>
          <p:nvPr/>
        </p:nvCxnSpPr>
        <p:spPr>
          <a:xfrm>
            <a:off x="7748512" y="6919963"/>
            <a:ext cx="96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ZoneTexte 72"/>
          <p:cNvSpPr txBox="1"/>
          <p:nvPr/>
        </p:nvSpPr>
        <p:spPr>
          <a:xfrm>
            <a:off x="8828012" y="6321386"/>
            <a:ext cx="31211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Batterie Li-ion interchangeable </a:t>
            </a:r>
          </a:p>
          <a:p>
            <a:r>
              <a:rPr lang="fr-FR" dirty="0" smtClean="0">
                <a:solidFill>
                  <a:schemeClr val="bg1"/>
                </a:solidFill>
              </a:rPr>
              <a:t>- Autonomie : Jusqu’ à 6h</a:t>
            </a:r>
          </a:p>
          <a:p>
            <a:r>
              <a:rPr lang="fr-FR" dirty="0" smtClean="0">
                <a:solidFill>
                  <a:schemeClr val="bg1"/>
                </a:solidFill>
              </a:rPr>
              <a:t>- Temps de charge : 1h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>
            <a:off x="12038744" y="7851441"/>
            <a:ext cx="3745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kern="0" spc="140" dirty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2500€ - 3500€ </a:t>
            </a:r>
          </a:p>
          <a:p>
            <a:r>
              <a:rPr lang="fr-FR" dirty="0" smtClean="0">
                <a:solidFill>
                  <a:schemeClr val="bg1"/>
                </a:solidFill>
              </a:rPr>
              <a:t>* Dégressif en fonction de la quantité 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75" name="Image 74" descr="Picto BLUETOO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75" y="6695818"/>
            <a:ext cx="1724025" cy="1519864"/>
          </a:xfrm>
          <a:prstGeom prst="rect">
            <a:avLst/>
          </a:prstGeom>
        </p:spPr>
      </p:pic>
      <p:sp>
        <p:nvSpPr>
          <p:cNvPr id="76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dirty="0" smtClean="0">
                <a:solidFill>
                  <a:srgbClr val="E89F5B"/>
                </a:solidFill>
              </a:rPr>
              <a:t>5</a:t>
            </a:r>
            <a:endParaRPr lang="fr-FR" sz="1400" dirty="0">
              <a:solidFill>
                <a:srgbClr val="E89F5B"/>
              </a:solidFill>
            </a:endParaRPr>
          </a:p>
        </p:txBody>
      </p:sp>
      <p:pic>
        <p:nvPicPr>
          <p:cNvPr id="33" name="Image 32" descr="Rallong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4094" y="2464516"/>
            <a:ext cx="3585150" cy="47802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3302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01. INTRODUCTION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6858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ONE-TOO : Contexte Industriel</a:t>
            </a:r>
            <a:endParaRPr lang="fr-FR" sz="1600" dirty="0"/>
          </a:p>
        </p:txBody>
      </p:sp>
      <p:sp>
        <p:nvSpPr>
          <p:cNvPr id="74" name="ZoneTexte 73"/>
          <p:cNvSpPr txBox="1"/>
          <p:nvPr/>
        </p:nvSpPr>
        <p:spPr>
          <a:xfrm>
            <a:off x="12038744" y="7851441"/>
            <a:ext cx="3745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kern="0" spc="140" dirty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000</a:t>
            </a:r>
            <a:r>
              <a:rPr lang="fr-FR" sz="1400" b="1" kern="0" spc="140" dirty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€ - </a:t>
            </a: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4000</a:t>
            </a:r>
            <a:r>
              <a:rPr lang="fr-FR" sz="1400" b="1" kern="0" spc="140" dirty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€ </a:t>
            </a:r>
          </a:p>
          <a:p>
            <a:r>
              <a:rPr lang="fr-FR" dirty="0" smtClean="0">
                <a:solidFill>
                  <a:schemeClr val="bg1"/>
                </a:solidFill>
              </a:rPr>
              <a:t>* Dégressif en fonction de la quantité 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35" name="Image 34" descr="CLÉ WIFI_b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742" y="-321390"/>
            <a:ext cx="12355722" cy="9263523"/>
          </a:xfrm>
          <a:prstGeom prst="rect">
            <a:avLst/>
          </a:prstGeom>
        </p:spPr>
      </p:pic>
      <p:sp>
        <p:nvSpPr>
          <p:cNvPr id="36" name="ZoneTexte 35"/>
          <p:cNvSpPr txBox="1"/>
          <p:nvPr/>
        </p:nvSpPr>
        <p:spPr>
          <a:xfrm>
            <a:off x="1346470" y="2119023"/>
            <a:ext cx="4482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Bargraph 8 leds 3 couleurs(rouge,orange,vert)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38" name="Connecteur droit 37"/>
          <p:cNvCxnSpPr/>
          <p:nvPr/>
        </p:nvCxnSpPr>
        <p:spPr>
          <a:xfrm rot="10800000">
            <a:off x="7302500" y="2361693"/>
            <a:ext cx="939800" cy="1266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 rot="10800000" flipV="1">
            <a:off x="5829300" y="2361692"/>
            <a:ext cx="14986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/>
        </p:nvSpPr>
        <p:spPr>
          <a:xfrm>
            <a:off x="1352589" y="3443240"/>
            <a:ext cx="2914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Vibreur et avertisseur sonore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41" name="Connecteur droit 40"/>
          <p:cNvCxnSpPr/>
          <p:nvPr/>
        </p:nvCxnSpPr>
        <p:spPr>
          <a:xfrm rot="10800000">
            <a:off x="5790658" y="3678704"/>
            <a:ext cx="954527" cy="870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 rot="10800000" flipV="1">
            <a:off x="4266657" y="3653304"/>
            <a:ext cx="14986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/>
          <p:cNvSpPr txBox="1"/>
          <p:nvPr/>
        </p:nvSpPr>
        <p:spPr>
          <a:xfrm>
            <a:off x="1491746" y="1173127"/>
            <a:ext cx="4273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solidFill>
                  <a:schemeClr val="bg1"/>
                </a:solidFill>
              </a:rPr>
              <a:t>Accessoires interchangeables avec détection automatique (rallonges,cliquets)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44" name="Connecteur droit 43"/>
          <p:cNvCxnSpPr/>
          <p:nvPr/>
        </p:nvCxnSpPr>
        <p:spPr>
          <a:xfrm rot="10800000">
            <a:off x="9215253" y="1353407"/>
            <a:ext cx="510638" cy="1428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/>
        </p:nvCxnSpPr>
        <p:spPr>
          <a:xfrm rot="10800000" flipV="1">
            <a:off x="5829301" y="1353405"/>
            <a:ext cx="3385954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/>
          <p:cNvCxnSpPr/>
          <p:nvPr/>
        </p:nvCxnSpPr>
        <p:spPr>
          <a:xfrm>
            <a:off x="6146800" y="6434486"/>
            <a:ext cx="1016000" cy="74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/>
          <p:cNvCxnSpPr/>
          <p:nvPr/>
        </p:nvCxnSpPr>
        <p:spPr>
          <a:xfrm>
            <a:off x="7162800" y="7178123"/>
            <a:ext cx="96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ZoneTexte 77"/>
          <p:cNvSpPr txBox="1"/>
          <p:nvPr/>
        </p:nvSpPr>
        <p:spPr>
          <a:xfrm>
            <a:off x="8242300" y="6579546"/>
            <a:ext cx="31211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Batterie Li-ion interchangeable </a:t>
            </a:r>
          </a:p>
          <a:p>
            <a:r>
              <a:rPr lang="fr-FR" dirty="0" smtClean="0">
                <a:solidFill>
                  <a:schemeClr val="bg1"/>
                </a:solidFill>
              </a:rPr>
              <a:t>- Autonomie : Jusqu’ à 6h</a:t>
            </a:r>
          </a:p>
          <a:p>
            <a:r>
              <a:rPr lang="fr-FR" dirty="0" smtClean="0">
                <a:solidFill>
                  <a:schemeClr val="bg1"/>
                </a:solidFill>
              </a:rPr>
              <a:t>- Temps de charge : 2h 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79" name="Connecteur droit 78"/>
          <p:cNvCxnSpPr/>
          <p:nvPr/>
        </p:nvCxnSpPr>
        <p:spPr>
          <a:xfrm>
            <a:off x="8051800" y="4549340"/>
            <a:ext cx="1016000" cy="743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/>
          <p:cNvCxnSpPr/>
          <p:nvPr/>
        </p:nvCxnSpPr>
        <p:spPr>
          <a:xfrm>
            <a:off x="9067800" y="5292977"/>
            <a:ext cx="96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ZoneTexte 80"/>
          <p:cNvSpPr txBox="1"/>
          <p:nvPr/>
        </p:nvSpPr>
        <p:spPr>
          <a:xfrm>
            <a:off x="10147300" y="4694400"/>
            <a:ext cx="24147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Poignée Ergonomique : </a:t>
            </a:r>
          </a:p>
          <a:p>
            <a:pPr>
              <a:buFontTx/>
              <a:buChar char="-"/>
            </a:pPr>
            <a:r>
              <a:rPr lang="fr-FR" dirty="0" smtClean="0">
                <a:solidFill>
                  <a:schemeClr val="bg1"/>
                </a:solidFill>
              </a:rPr>
              <a:t> Longueur : 250 mm</a:t>
            </a:r>
          </a:p>
          <a:p>
            <a:pPr>
              <a:buFontTx/>
              <a:buChar char="-"/>
            </a:pPr>
            <a:r>
              <a:rPr lang="fr-FR" dirty="0" smtClean="0">
                <a:solidFill>
                  <a:schemeClr val="bg1"/>
                </a:solidFill>
              </a:rPr>
              <a:t>Largeur :  40 mm</a:t>
            </a:r>
          </a:p>
          <a:p>
            <a:r>
              <a:rPr lang="fr-FR" dirty="0" smtClean="0">
                <a:solidFill>
                  <a:schemeClr val="bg1"/>
                </a:solidFill>
              </a:rPr>
              <a:t>- Poids : 650 grammes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83" name="Connecteur droit 82"/>
          <p:cNvCxnSpPr/>
          <p:nvPr/>
        </p:nvCxnSpPr>
        <p:spPr>
          <a:xfrm rot="16200000" flipH="1">
            <a:off x="9074265" y="3057206"/>
            <a:ext cx="1469176" cy="854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/>
          <p:cNvCxnSpPr/>
          <p:nvPr/>
        </p:nvCxnSpPr>
        <p:spPr>
          <a:xfrm>
            <a:off x="10236200" y="4219141"/>
            <a:ext cx="965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ZoneTexte 84"/>
          <p:cNvSpPr txBox="1"/>
          <p:nvPr/>
        </p:nvSpPr>
        <p:spPr>
          <a:xfrm>
            <a:off x="11363475" y="3903009"/>
            <a:ext cx="2906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Écran Oled 1.4’ associé à </a:t>
            </a:r>
          </a:p>
          <a:p>
            <a:r>
              <a:rPr lang="fr-FR" dirty="0" smtClean="0">
                <a:solidFill>
                  <a:schemeClr val="bg1"/>
                </a:solidFill>
              </a:rPr>
              <a:t>un bouton multi-directionnel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87" name="Connecteur droit 86"/>
          <p:cNvCxnSpPr/>
          <p:nvPr/>
        </p:nvCxnSpPr>
        <p:spPr>
          <a:xfrm rot="10800000">
            <a:off x="8609610" y="3206339"/>
            <a:ext cx="1626590" cy="10128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ZoneTexte 91"/>
          <p:cNvSpPr txBox="1"/>
          <p:nvPr/>
        </p:nvSpPr>
        <p:spPr>
          <a:xfrm>
            <a:off x="11201400" y="2226745"/>
            <a:ext cx="3171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kern="0" spc="140" dirty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Incertitude Couple et Angle </a:t>
            </a:r>
          </a:p>
          <a:p>
            <a:r>
              <a:rPr lang="fr-FR" sz="1400" b="1" kern="0" spc="140" dirty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1% pleine échelle</a:t>
            </a:r>
          </a:p>
        </p:txBody>
      </p:sp>
      <p:pic>
        <p:nvPicPr>
          <p:cNvPr id="93" name="Image 92" descr="picto 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50" y="6434486"/>
            <a:ext cx="1737160" cy="1737160"/>
          </a:xfrm>
          <a:prstGeom prst="rect">
            <a:avLst/>
          </a:prstGeom>
        </p:spPr>
      </p:pic>
      <p:sp>
        <p:nvSpPr>
          <p:cNvPr id="94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dirty="0" smtClean="0">
                <a:solidFill>
                  <a:srgbClr val="E89F5B"/>
                </a:solidFill>
              </a:rPr>
              <a:t>6</a:t>
            </a:r>
            <a:endParaRPr lang="fr-FR" sz="1400" dirty="0">
              <a:solidFill>
                <a:srgbClr val="E89F5B"/>
              </a:solidFill>
            </a:endParaRPr>
          </a:p>
        </p:txBody>
      </p:sp>
      <p:pic>
        <p:nvPicPr>
          <p:cNvPr id="47" name="Image 46" descr="Rallong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78804" y="2638593"/>
            <a:ext cx="3981576" cy="530876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02. PROBLÉMATIQUE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Le Banc Actuel : Limites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2616200"/>
            <a:ext cx="7442200" cy="1117600"/>
          </a:xfrm>
          <a:custGeom>
            <a:avLst/>
            <a:gdLst/>
            <a:ahLst/>
            <a:cxnLst/>
            <a:rect l="l" t="t" r="r" b="b"/>
            <a:pathLst>
              <a:path w="7442200" h="1117600">
                <a:moveTo>
                  <a:pt x="0" y="0"/>
                </a:moveTo>
                <a:lnTo>
                  <a:pt x="7340599" y="0"/>
                </a:lnTo>
                <a:cubicBezTo>
                  <a:pt x="7396712" y="0"/>
                  <a:pt x="7442200" y="45488"/>
                  <a:pt x="7442200" y="101601"/>
                </a:cubicBezTo>
                <a:lnTo>
                  <a:pt x="7442200" y="1015999"/>
                </a:lnTo>
                <a:cubicBezTo>
                  <a:pt x="7442200" y="1072112"/>
                  <a:pt x="7396712" y="1117600"/>
                  <a:pt x="7340599" y="1117600"/>
                </a:cubicBez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26162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819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9F5B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9800" y="2997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8" name="Text 6"/>
          <p:cNvSpPr/>
          <p:nvPr/>
        </p:nvSpPr>
        <p:spPr>
          <a:xfrm>
            <a:off x="1574800" y="2819400"/>
            <a:ext cx="318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Temps de Test Excessif</a:t>
            </a:r>
            <a:endParaRPr lang="fr-FR" sz="1600" dirty="0"/>
          </a:p>
        </p:txBody>
      </p:sp>
      <p:sp>
        <p:nvSpPr>
          <p:cNvPr id="9" name="Text 7"/>
          <p:cNvSpPr/>
          <p:nvPr/>
        </p:nvSpPr>
        <p:spPr>
          <a:xfrm>
            <a:off x="1574800" y="3225800"/>
            <a:ext cx="317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2h25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 clé → Faible productivité</a:t>
            </a:r>
            <a:endParaRPr lang="fr-FR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3937000"/>
            <a:ext cx="7442200" cy="1117600"/>
          </a:xfrm>
          <a:custGeom>
            <a:avLst/>
            <a:gdLst/>
            <a:ahLst/>
            <a:cxnLst/>
            <a:rect l="l" t="t" r="r" b="b"/>
            <a:pathLst>
              <a:path w="7442200" h="1117600">
                <a:moveTo>
                  <a:pt x="0" y="0"/>
                </a:moveTo>
                <a:lnTo>
                  <a:pt x="7340599" y="0"/>
                </a:lnTo>
                <a:cubicBezTo>
                  <a:pt x="7396712" y="0"/>
                  <a:pt x="7442200" y="45488"/>
                  <a:pt x="7442200" y="101601"/>
                </a:cubicBezTo>
                <a:lnTo>
                  <a:pt x="7442200" y="1015999"/>
                </a:lnTo>
                <a:cubicBezTo>
                  <a:pt x="7442200" y="1072112"/>
                  <a:pt x="7396712" y="1117600"/>
                  <a:pt x="7340599" y="1117600"/>
                </a:cubicBez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33400" y="39370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414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9F5B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08050" y="43180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67667" y="63500"/>
                </a:moveTo>
                <a:cubicBezTo>
                  <a:pt x="67667" y="42232"/>
                  <a:pt x="79014" y="22579"/>
                  <a:pt x="97433" y="11944"/>
                </a:cubicBezTo>
                <a:cubicBezTo>
                  <a:pt x="115852" y="1310"/>
                  <a:pt x="138545" y="1310"/>
                  <a:pt x="156964" y="11944"/>
                </a:cubicBezTo>
                <a:cubicBezTo>
                  <a:pt x="175383" y="22579"/>
                  <a:pt x="186730" y="42232"/>
                  <a:pt x="186730" y="63500"/>
                </a:cubicBezTo>
                <a:cubicBezTo>
                  <a:pt x="186730" y="96356"/>
                  <a:pt x="160055" y="123031"/>
                  <a:pt x="127198" y="123031"/>
                </a:cubicBezTo>
                <a:cubicBezTo>
                  <a:pt x="94342" y="123031"/>
                  <a:pt x="67667" y="96356"/>
                  <a:pt x="67667" y="63500"/>
                </a:cubicBezTo>
                <a:close/>
                <a:moveTo>
                  <a:pt x="24011" y="239266"/>
                </a:moveTo>
                <a:cubicBezTo>
                  <a:pt x="24011" y="190401"/>
                  <a:pt x="63599" y="150813"/>
                  <a:pt x="112464" y="150813"/>
                </a:cubicBezTo>
                <a:lnTo>
                  <a:pt x="141932" y="150813"/>
                </a:lnTo>
                <a:cubicBezTo>
                  <a:pt x="190798" y="150813"/>
                  <a:pt x="230386" y="190401"/>
                  <a:pt x="230386" y="239266"/>
                </a:cubicBezTo>
                <a:cubicBezTo>
                  <a:pt x="230386" y="247402"/>
                  <a:pt x="223788" y="254000"/>
                  <a:pt x="215652" y="254000"/>
                </a:cubicBezTo>
                <a:lnTo>
                  <a:pt x="38745" y="254000"/>
                </a:lnTo>
                <a:cubicBezTo>
                  <a:pt x="30609" y="254000"/>
                  <a:pt x="24011" y="247402"/>
                  <a:pt x="24011" y="239266"/>
                </a:cubicBezTo>
                <a:close/>
                <a:moveTo>
                  <a:pt x="303758" y="61565"/>
                </a:moveTo>
                <a:cubicBezTo>
                  <a:pt x="308421" y="66229"/>
                  <a:pt x="308421" y="73769"/>
                  <a:pt x="303758" y="78383"/>
                </a:cubicBezTo>
                <a:lnTo>
                  <a:pt x="286941" y="95200"/>
                </a:lnTo>
                <a:lnTo>
                  <a:pt x="303758" y="112018"/>
                </a:lnTo>
                <a:cubicBezTo>
                  <a:pt x="308421" y="116681"/>
                  <a:pt x="308421" y="124222"/>
                  <a:pt x="303758" y="128836"/>
                </a:cubicBezTo>
                <a:cubicBezTo>
                  <a:pt x="299095" y="133449"/>
                  <a:pt x="291554" y="133499"/>
                  <a:pt x="286941" y="128836"/>
                </a:cubicBezTo>
                <a:lnTo>
                  <a:pt x="270123" y="112018"/>
                </a:lnTo>
                <a:lnTo>
                  <a:pt x="253305" y="128836"/>
                </a:lnTo>
                <a:cubicBezTo>
                  <a:pt x="248642" y="133499"/>
                  <a:pt x="241102" y="133499"/>
                  <a:pt x="236488" y="128836"/>
                </a:cubicBezTo>
                <a:cubicBezTo>
                  <a:pt x="231874" y="124172"/>
                  <a:pt x="231825" y="116632"/>
                  <a:pt x="236488" y="112018"/>
                </a:cubicBezTo>
                <a:lnTo>
                  <a:pt x="253305" y="95200"/>
                </a:lnTo>
                <a:lnTo>
                  <a:pt x="236488" y="78383"/>
                </a:lnTo>
                <a:cubicBezTo>
                  <a:pt x="231825" y="73720"/>
                  <a:pt x="231825" y="66179"/>
                  <a:pt x="236488" y="61565"/>
                </a:cubicBezTo>
                <a:cubicBezTo>
                  <a:pt x="241151" y="56952"/>
                  <a:pt x="248692" y="56902"/>
                  <a:pt x="253305" y="61565"/>
                </a:cubicBezTo>
                <a:lnTo>
                  <a:pt x="270123" y="78383"/>
                </a:lnTo>
                <a:lnTo>
                  <a:pt x="286941" y="61565"/>
                </a:lnTo>
                <a:cubicBezTo>
                  <a:pt x="291604" y="56902"/>
                  <a:pt x="299145" y="56902"/>
                  <a:pt x="303758" y="61565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4" name="Text 12"/>
          <p:cNvSpPr/>
          <p:nvPr/>
        </p:nvSpPr>
        <p:spPr>
          <a:xfrm>
            <a:off x="1574800" y="4140200"/>
            <a:ext cx="483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Dépendance Opérateur</a:t>
            </a:r>
            <a:endParaRPr lang="fr-FR" sz="1600" dirty="0"/>
          </a:p>
        </p:txBody>
      </p:sp>
      <p:sp>
        <p:nvSpPr>
          <p:cNvPr id="15" name="Text 13"/>
          <p:cNvSpPr/>
          <p:nvPr/>
        </p:nvSpPr>
        <p:spPr>
          <a:xfrm>
            <a:off x="1574800" y="4546600"/>
            <a:ext cx="482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Répétabilité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non optimale, variations inter-opérateurs</a:t>
            </a:r>
            <a:endParaRPr lang="fr-FR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5257800"/>
            <a:ext cx="7442200" cy="1117600"/>
          </a:xfrm>
          <a:custGeom>
            <a:avLst/>
            <a:gdLst/>
            <a:ahLst/>
            <a:cxnLst/>
            <a:rect l="l" t="t" r="r" b="b"/>
            <a:pathLst>
              <a:path w="7442200" h="1117600">
                <a:moveTo>
                  <a:pt x="0" y="0"/>
                </a:moveTo>
                <a:lnTo>
                  <a:pt x="7340599" y="0"/>
                </a:lnTo>
                <a:cubicBezTo>
                  <a:pt x="7396712" y="0"/>
                  <a:pt x="7442200" y="45488"/>
                  <a:pt x="7442200" y="101601"/>
                </a:cubicBezTo>
                <a:lnTo>
                  <a:pt x="7442200" y="1015999"/>
                </a:lnTo>
                <a:cubicBezTo>
                  <a:pt x="7442200" y="1072112"/>
                  <a:pt x="7396712" y="1117600"/>
                  <a:pt x="7340599" y="1117600"/>
                </a:cubicBez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3400" y="52578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5461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9F5B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39800" y="5638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20" name="Text 18"/>
          <p:cNvSpPr/>
          <p:nvPr/>
        </p:nvSpPr>
        <p:spPr>
          <a:xfrm>
            <a:off x="1574800" y="5461000"/>
            <a:ext cx="368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Risques d'Erreurs</a:t>
            </a:r>
            <a:endParaRPr lang="fr-FR" sz="1600" dirty="0"/>
          </a:p>
        </p:txBody>
      </p:sp>
      <p:sp>
        <p:nvSpPr>
          <p:cNvPr id="21" name="Text 19"/>
          <p:cNvSpPr/>
          <p:nvPr/>
        </p:nvSpPr>
        <p:spPr>
          <a:xfrm>
            <a:off x="1574800" y="5867400"/>
            <a:ext cx="367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Lecture, saisie, positionnement manuels</a:t>
            </a:r>
            <a:endParaRPr lang="fr-FR" sz="1600" dirty="0"/>
          </a:p>
        </p:txBody>
      </p:sp>
      <p:sp>
        <p:nvSpPr>
          <p:cNvPr id="22" name="Shape 20"/>
          <p:cNvSpPr/>
          <p:nvPr/>
        </p:nvSpPr>
        <p:spPr>
          <a:xfrm>
            <a:off x="533400" y="6578600"/>
            <a:ext cx="7442200" cy="1117600"/>
          </a:xfrm>
          <a:custGeom>
            <a:avLst/>
            <a:gdLst/>
            <a:ahLst/>
            <a:cxnLst/>
            <a:rect l="l" t="t" r="r" b="b"/>
            <a:pathLst>
              <a:path w="7442200" h="1117600">
                <a:moveTo>
                  <a:pt x="0" y="0"/>
                </a:moveTo>
                <a:lnTo>
                  <a:pt x="7340599" y="0"/>
                </a:lnTo>
                <a:cubicBezTo>
                  <a:pt x="7396712" y="0"/>
                  <a:pt x="7442200" y="45488"/>
                  <a:pt x="7442200" y="101601"/>
                </a:cubicBezTo>
                <a:lnTo>
                  <a:pt x="7442200" y="1015999"/>
                </a:lnTo>
                <a:cubicBezTo>
                  <a:pt x="7442200" y="1072112"/>
                  <a:pt x="7396712" y="1117600"/>
                  <a:pt x="7340599" y="1117600"/>
                </a:cubicBez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33400" y="65786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6781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9F5B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71550" y="69596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54484" y="15875"/>
                </a:moveTo>
                <a:lnTo>
                  <a:pt x="158750" y="15875"/>
                </a:lnTo>
                <a:cubicBezTo>
                  <a:pt x="176262" y="15875"/>
                  <a:pt x="190500" y="30113"/>
                  <a:pt x="190500" y="47625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47625"/>
                </a:lnTo>
                <a:cubicBezTo>
                  <a:pt x="0" y="30113"/>
                  <a:pt x="14238" y="15875"/>
                  <a:pt x="31750" y="15875"/>
                </a:cubicBezTo>
                <a:lnTo>
                  <a:pt x="36016" y="15875"/>
                </a:lnTo>
                <a:cubicBezTo>
                  <a:pt x="41473" y="6400"/>
                  <a:pt x="51743" y="0"/>
                  <a:pt x="63500" y="0"/>
                </a:cubicBezTo>
                <a:lnTo>
                  <a:pt x="127000" y="0"/>
                </a:lnTo>
                <a:cubicBezTo>
                  <a:pt x="138757" y="0"/>
                  <a:pt x="149027" y="6400"/>
                  <a:pt x="154484" y="15875"/>
                </a:cubicBezTo>
                <a:close/>
                <a:moveTo>
                  <a:pt x="123031" y="55563"/>
                </a:moveTo>
                <a:cubicBezTo>
                  <a:pt x="129629" y="55563"/>
                  <a:pt x="134938" y="50254"/>
                  <a:pt x="134938" y="43656"/>
                </a:cubicBezTo>
                <a:cubicBezTo>
                  <a:pt x="134938" y="37058"/>
                  <a:pt x="129629" y="31750"/>
                  <a:pt x="123031" y="31750"/>
                </a:cubicBezTo>
                <a:lnTo>
                  <a:pt x="67469" y="31750"/>
                </a:lnTo>
                <a:cubicBezTo>
                  <a:pt x="60871" y="31750"/>
                  <a:pt x="55563" y="37058"/>
                  <a:pt x="55563" y="43656"/>
                </a:cubicBezTo>
                <a:cubicBezTo>
                  <a:pt x="55563" y="50254"/>
                  <a:pt x="60871" y="55563"/>
                  <a:pt x="67469" y="55563"/>
                </a:cubicBezTo>
                <a:lnTo>
                  <a:pt x="123031" y="55563"/>
                </a:lnTo>
                <a:close/>
                <a:moveTo>
                  <a:pt x="63500" y="127000"/>
                </a:moveTo>
                <a:cubicBezTo>
                  <a:pt x="63500" y="118238"/>
                  <a:pt x="56387" y="111125"/>
                  <a:pt x="47625" y="111125"/>
                </a:cubicBezTo>
                <a:cubicBezTo>
                  <a:pt x="38863" y="111125"/>
                  <a:pt x="31750" y="118238"/>
                  <a:pt x="31750" y="127000"/>
                </a:cubicBezTo>
                <a:cubicBezTo>
                  <a:pt x="31750" y="135762"/>
                  <a:pt x="38863" y="142875"/>
                  <a:pt x="47625" y="142875"/>
                </a:cubicBezTo>
                <a:cubicBezTo>
                  <a:pt x="56387" y="142875"/>
                  <a:pt x="63500" y="135762"/>
                  <a:pt x="63500" y="127000"/>
                </a:cubicBezTo>
                <a:close/>
                <a:moveTo>
                  <a:pt x="79375" y="127000"/>
                </a:moveTo>
                <a:cubicBezTo>
                  <a:pt x="79375" y="133598"/>
                  <a:pt x="84683" y="138906"/>
                  <a:pt x="91281" y="138906"/>
                </a:cubicBezTo>
                <a:lnTo>
                  <a:pt x="146844" y="138906"/>
                </a:lnTo>
                <a:cubicBezTo>
                  <a:pt x="153442" y="138906"/>
                  <a:pt x="158750" y="133598"/>
                  <a:pt x="158750" y="127000"/>
                </a:cubicBezTo>
                <a:cubicBezTo>
                  <a:pt x="158750" y="120402"/>
                  <a:pt x="153442" y="115094"/>
                  <a:pt x="146844" y="115094"/>
                </a:cubicBezTo>
                <a:lnTo>
                  <a:pt x="91281" y="115094"/>
                </a:lnTo>
                <a:cubicBezTo>
                  <a:pt x="84683" y="115094"/>
                  <a:pt x="79375" y="120402"/>
                  <a:pt x="79375" y="127000"/>
                </a:cubicBezTo>
                <a:close/>
                <a:moveTo>
                  <a:pt x="79375" y="190500"/>
                </a:moveTo>
                <a:cubicBezTo>
                  <a:pt x="79375" y="197098"/>
                  <a:pt x="84683" y="202406"/>
                  <a:pt x="91281" y="202406"/>
                </a:cubicBezTo>
                <a:lnTo>
                  <a:pt x="146844" y="202406"/>
                </a:lnTo>
                <a:cubicBezTo>
                  <a:pt x="153442" y="202406"/>
                  <a:pt x="158750" y="197098"/>
                  <a:pt x="158750" y="190500"/>
                </a:cubicBezTo>
                <a:cubicBezTo>
                  <a:pt x="158750" y="183902"/>
                  <a:pt x="153442" y="178594"/>
                  <a:pt x="146844" y="178594"/>
                </a:cubicBezTo>
                <a:lnTo>
                  <a:pt x="91281" y="178594"/>
                </a:lnTo>
                <a:cubicBezTo>
                  <a:pt x="84683" y="178594"/>
                  <a:pt x="79375" y="183902"/>
                  <a:pt x="79375" y="190500"/>
                </a:cubicBezTo>
                <a:close/>
                <a:moveTo>
                  <a:pt x="47625" y="206375"/>
                </a:moveTo>
                <a:cubicBezTo>
                  <a:pt x="56387" y="206375"/>
                  <a:pt x="63500" y="199262"/>
                  <a:pt x="63500" y="190500"/>
                </a:cubicBezTo>
                <a:cubicBezTo>
                  <a:pt x="63500" y="181738"/>
                  <a:pt x="56387" y="174625"/>
                  <a:pt x="47625" y="174625"/>
                </a:cubicBezTo>
                <a:cubicBezTo>
                  <a:pt x="38863" y="174625"/>
                  <a:pt x="31750" y="181738"/>
                  <a:pt x="31750" y="190500"/>
                </a:cubicBezTo>
                <a:cubicBezTo>
                  <a:pt x="31750" y="199262"/>
                  <a:pt x="38863" y="206375"/>
                  <a:pt x="47625" y="206375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26" name="Text 24"/>
          <p:cNvSpPr/>
          <p:nvPr/>
        </p:nvSpPr>
        <p:spPr>
          <a:xfrm>
            <a:off x="1574800" y="6781800"/>
            <a:ext cx="351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Traçabilité Limitée</a:t>
            </a:r>
            <a:endParaRPr lang="fr-FR" sz="1600" dirty="0"/>
          </a:p>
        </p:txBody>
      </p:sp>
      <p:sp>
        <p:nvSpPr>
          <p:cNvPr id="27" name="Text 25"/>
          <p:cNvSpPr/>
          <p:nvPr/>
        </p:nvSpPr>
        <p:spPr>
          <a:xfrm>
            <a:off x="1574800" y="71882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Enregistrements partiels, suivi difficile</a:t>
            </a:r>
            <a:endParaRPr lang="fr-FR" sz="1600" dirty="0"/>
          </a:p>
        </p:txBody>
      </p:sp>
      <p:sp>
        <p:nvSpPr>
          <p:cNvPr id="28" name="Shape 26"/>
          <p:cNvSpPr/>
          <p:nvPr/>
        </p:nvSpPr>
        <p:spPr>
          <a:xfrm>
            <a:off x="8504719" y="1689100"/>
            <a:ext cx="7020000" cy="4679950"/>
          </a:xfrm>
          <a:custGeom>
            <a:avLst/>
            <a:gdLst/>
            <a:ahLst/>
            <a:cxnLst/>
            <a:rect l="l" t="t" r="r" b="b"/>
            <a:pathLst>
              <a:path w="7454900" h="4686300">
                <a:moveTo>
                  <a:pt x="101599" y="0"/>
                </a:moveTo>
                <a:lnTo>
                  <a:pt x="7353301" y="0"/>
                </a:lnTo>
                <a:cubicBezTo>
                  <a:pt x="7409413" y="0"/>
                  <a:pt x="7454900" y="45487"/>
                  <a:pt x="7454900" y="101599"/>
                </a:cubicBezTo>
                <a:lnTo>
                  <a:pt x="7454900" y="4584701"/>
                </a:lnTo>
                <a:cubicBezTo>
                  <a:pt x="7454900" y="4640813"/>
                  <a:pt x="7409413" y="4686300"/>
                  <a:pt x="7353301" y="4686300"/>
                </a:cubicBezTo>
                <a:lnTo>
                  <a:pt x="101599" y="4686300"/>
                </a:lnTo>
                <a:cubicBezTo>
                  <a:pt x="45487" y="4686300"/>
                  <a:pt x="0" y="4640813"/>
                  <a:pt x="0" y="45847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pic>
        <p:nvPicPr>
          <p:cNvPr id="29" name="Image 0" descr="https://kimi-web-img.moonshot.cn/img/larsonsystems.com/a2e0428f4cf921eca0abd79f8a5e98451422b6c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718" y="1689100"/>
            <a:ext cx="7020000" cy="4674293"/>
          </a:xfrm>
          <a:prstGeom prst="roundRect">
            <a:avLst>
              <a:gd name="adj" fmla="val 2174"/>
            </a:avLst>
          </a:prstGeom>
        </p:spPr>
      </p:pic>
      <p:sp>
        <p:nvSpPr>
          <p:cNvPr id="30" name="Shape 27"/>
          <p:cNvSpPr/>
          <p:nvPr/>
        </p:nvSpPr>
        <p:spPr>
          <a:xfrm>
            <a:off x="8286750" y="6584950"/>
            <a:ext cx="7454900" cy="2044700"/>
          </a:xfrm>
          <a:custGeom>
            <a:avLst/>
            <a:gdLst/>
            <a:ahLst/>
            <a:cxnLst/>
            <a:rect l="l" t="t" r="r" b="b"/>
            <a:pathLst>
              <a:path w="7454900" h="2044700">
                <a:moveTo>
                  <a:pt x="101601" y="0"/>
                </a:moveTo>
                <a:lnTo>
                  <a:pt x="7353299" y="0"/>
                </a:lnTo>
                <a:cubicBezTo>
                  <a:pt x="7409412" y="0"/>
                  <a:pt x="7454900" y="45488"/>
                  <a:pt x="7454900" y="101601"/>
                </a:cubicBezTo>
                <a:lnTo>
                  <a:pt x="7454900" y="1943099"/>
                </a:lnTo>
                <a:cubicBezTo>
                  <a:pt x="7454900" y="1999212"/>
                  <a:pt x="7409412" y="2044700"/>
                  <a:pt x="7353299" y="2044700"/>
                </a:cubicBezTo>
                <a:lnTo>
                  <a:pt x="101601" y="2044700"/>
                </a:lnTo>
                <a:cubicBezTo>
                  <a:pt x="45488" y="2044700"/>
                  <a:pt x="0" y="1999212"/>
                  <a:pt x="0" y="19430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483600" y="68453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Productivité Actuelle</a:t>
            </a:r>
            <a:endParaRPr lang="fr-FR" sz="1600" dirty="0"/>
          </a:p>
        </p:txBody>
      </p:sp>
      <p:sp>
        <p:nvSpPr>
          <p:cNvPr id="32" name="Text 29"/>
          <p:cNvSpPr/>
          <p:nvPr/>
        </p:nvSpPr>
        <p:spPr>
          <a:xfrm>
            <a:off x="9161264" y="7404100"/>
            <a:ext cx="107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fr-FR" sz="48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fr-FR" sz="1600" dirty="0"/>
          </a:p>
        </p:txBody>
      </p:sp>
      <p:sp>
        <p:nvSpPr>
          <p:cNvPr id="33" name="Text 30"/>
          <p:cNvSpPr/>
          <p:nvPr/>
        </p:nvSpPr>
        <p:spPr>
          <a:xfrm>
            <a:off x="9262864" y="8064500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clés/jour</a:t>
            </a:r>
            <a:endParaRPr lang="fr-FR" sz="1600" dirty="0"/>
          </a:p>
        </p:txBody>
      </p:sp>
      <p:sp>
        <p:nvSpPr>
          <p:cNvPr id="34" name="Shape 31"/>
          <p:cNvSpPr/>
          <p:nvPr/>
        </p:nvSpPr>
        <p:spPr>
          <a:xfrm>
            <a:off x="11670109" y="7696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5" name="Text 32"/>
          <p:cNvSpPr/>
          <p:nvPr/>
        </p:nvSpPr>
        <p:spPr>
          <a:xfrm>
            <a:off x="13476486" y="7404100"/>
            <a:ext cx="1384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fr-FR" sz="4800" b="1" dirty="0" smtClean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~8</a:t>
            </a:r>
            <a:endParaRPr lang="fr-FR" sz="1600" dirty="0"/>
          </a:p>
        </p:txBody>
      </p:sp>
      <p:sp>
        <p:nvSpPr>
          <p:cNvPr id="36" name="Text 33"/>
          <p:cNvSpPr/>
          <p:nvPr/>
        </p:nvSpPr>
        <p:spPr>
          <a:xfrm>
            <a:off x="13578086" y="8064500"/>
            <a:ext cx="118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objectif/jour</a:t>
            </a:r>
            <a:endParaRPr lang="fr-FR" sz="1600" dirty="0"/>
          </a:p>
        </p:txBody>
      </p:sp>
      <p:sp>
        <p:nvSpPr>
          <p:cNvPr id="38" name="Rectangle 37"/>
          <p:cNvSpPr/>
          <p:nvPr/>
        </p:nvSpPr>
        <p:spPr>
          <a:xfrm>
            <a:off x="8504720" y="1689100"/>
            <a:ext cx="7019999" cy="4674293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9" name="Image 38" descr="décomposition banc S-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3363" y="1177636"/>
            <a:ext cx="8288287" cy="5231240"/>
          </a:xfrm>
          <a:prstGeom prst="rect">
            <a:avLst/>
          </a:prstGeom>
        </p:spPr>
      </p:pic>
      <p:sp>
        <p:nvSpPr>
          <p:cNvPr id="40" name="ZoneTexte 39"/>
          <p:cNvSpPr txBox="1"/>
          <p:nvPr/>
        </p:nvSpPr>
        <p:spPr>
          <a:xfrm>
            <a:off x="8483600" y="4888468"/>
            <a:ext cx="1410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Capteur VISA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1" name="ZoneTexte 40"/>
          <p:cNvSpPr txBox="1"/>
          <p:nvPr/>
        </p:nvSpPr>
        <p:spPr>
          <a:xfrm>
            <a:off x="14291750" y="1371600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Support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 torsion</a:t>
            </a:r>
            <a:endParaRPr lang="fr-FR" dirty="0">
              <a:solidFill>
                <a:srgbClr val="FF0000"/>
              </a:solidFill>
            </a:endParaRPr>
          </a:p>
        </p:txBody>
      </p:sp>
      <p:cxnSp>
        <p:nvCxnSpPr>
          <p:cNvPr id="43" name="Connecteur droit avec flèche 42"/>
          <p:cNvCxnSpPr/>
          <p:nvPr/>
        </p:nvCxnSpPr>
        <p:spPr>
          <a:xfrm rot="16200000" flipH="1">
            <a:off x="9393822" y="2496843"/>
            <a:ext cx="596900" cy="4038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/>
          <p:cNvSpPr txBox="1"/>
          <p:nvPr/>
        </p:nvSpPr>
        <p:spPr>
          <a:xfrm>
            <a:off x="8221136" y="1694765"/>
            <a:ext cx="2083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Chariot transversal 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pour le chargement 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504720" y="4098635"/>
            <a:ext cx="4726371" cy="2264758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8" name="Image 47" descr="capteur vi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720" y="4054475"/>
            <a:ext cx="4598269" cy="2308918"/>
          </a:xfrm>
          <a:prstGeom prst="rect">
            <a:avLst/>
          </a:prstGeom>
        </p:spPr>
      </p:pic>
      <p:cxnSp>
        <p:nvCxnSpPr>
          <p:cNvPr id="50" name="Connecteur droit 49"/>
          <p:cNvCxnSpPr/>
          <p:nvPr/>
        </p:nvCxnSpPr>
        <p:spPr>
          <a:xfrm rot="10800000">
            <a:off x="10304591" y="4098635"/>
            <a:ext cx="806754" cy="3163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/>
          <p:cNvCxnSpPr/>
          <p:nvPr/>
        </p:nvCxnSpPr>
        <p:spPr>
          <a:xfrm rot="5400000" flipH="1" flipV="1">
            <a:off x="9997895" y="4239905"/>
            <a:ext cx="447965" cy="1654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ZoneTexte 53"/>
          <p:cNvSpPr txBox="1"/>
          <p:nvPr/>
        </p:nvSpPr>
        <p:spPr>
          <a:xfrm>
            <a:off x="8809045" y="3729303"/>
            <a:ext cx="1705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Corps d’épreuve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55" name="ZoneTexte 54"/>
          <p:cNvSpPr txBox="1"/>
          <p:nvPr/>
        </p:nvSpPr>
        <p:spPr>
          <a:xfrm>
            <a:off x="8328315" y="5248870"/>
            <a:ext cx="13102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Boitier 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(traitement 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du signal)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56" name="ZoneTexte 55"/>
          <p:cNvSpPr txBox="1"/>
          <p:nvPr/>
        </p:nvSpPr>
        <p:spPr>
          <a:xfrm>
            <a:off x="11995689" y="4655130"/>
            <a:ext cx="1046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Afficheur</a:t>
            </a: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57" name="Picture 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291750" y="3839140"/>
            <a:ext cx="1221597" cy="2514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" name="Ellipse 57"/>
          <p:cNvSpPr/>
          <p:nvPr/>
        </p:nvSpPr>
        <p:spPr>
          <a:xfrm>
            <a:off x="11097490" y="4279900"/>
            <a:ext cx="558764" cy="431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0" name="Connecteur droit avec flèche 59"/>
          <p:cNvCxnSpPr/>
          <p:nvPr/>
        </p:nvCxnSpPr>
        <p:spPr>
          <a:xfrm>
            <a:off x="11628544" y="4412670"/>
            <a:ext cx="2663206" cy="60049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dirty="0" smtClean="0">
                <a:solidFill>
                  <a:srgbClr val="E89F5B"/>
                </a:solidFill>
              </a:rPr>
              <a:t>7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0" grpId="0"/>
      <p:bldP spid="41" grpId="0"/>
      <p:bldP spid="44" grpId="0"/>
      <p:bldP spid="47" grpId="0" animBg="1"/>
      <p:bldP spid="54" grpId="0"/>
      <p:bldP spid="55" grpId="0"/>
      <p:bldP spid="56" grpId="0"/>
      <p:bldP spid="5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6985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02. OBJECTIFS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14350" y="42545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Objectifs du Futur Banc Automatisé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20700" y="1244600"/>
            <a:ext cx="4902200" cy="3721100"/>
          </a:xfrm>
          <a:custGeom>
            <a:avLst/>
            <a:gdLst/>
            <a:ahLst/>
            <a:cxnLst/>
            <a:rect l="l" t="t" r="r" b="b"/>
            <a:pathLst>
              <a:path w="4902200" h="3721100">
                <a:moveTo>
                  <a:pt x="101586" y="0"/>
                </a:moveTo>
                <a:lnTo>
                  <a:pt x="4800614" y="0"/>
                </a:lnTo>
                <a:cubicBezTo>
                  <a:pt x="4856718" y="0"/>
                  <a:pt x="4902200" y="45482"/>
                  <a:pt x="4902200" y="101586"/>
                </a:cubicBezTo>
                <a:lnTo>
                  <a:pt x="4902200" y="3619514"/>
                </a:lnTo>
                <a:cubicBezTo>
                  <a:pt x="4902200" y="3675618"/>
                  <a:pt x="4856718" y="3721100"/>
                  <a:pt x="4800614" y="3721100"/>
                </a:cubicBezTo>
                <a:lnTo>
                  <a:pt x="101586" y="3721100"/>
                </a:lnTo>
                <a:cubicBezTo>
                  <a:pt x="45482" y="3721100"/>
                  <a:pt x="0" y="3675618"/>
                  <a:pt x="0" y="36195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050" y="150495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" name="Shape 4"/>
          <p:cNvSpPr/>
          <p:nvPr/>
        </p:nvSpPr>
        <p:spPr>
          <a:xfrm>
            <a:off x="984250" y="1708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152400" y="247650"/>
                </a:moveTo>
                <a:cubicBezTo>
                  <a:pt x="173415" y="247650"/>
                  <a:pt x="190500" y="230565"/>
                  <a:pt x="190500" y="209550"/>
                </a:cubicBezTo>
                <a:cubicBezTo>
                  <a:pt x="190500" y="199906"/>
                  <a:pt x="186928" y="191036"/>
                  <a:pt x="180975" y="184368"/>
                </a:cubicBezTo>
                <a:lnTo>
                  <a:pt x="222349" y="101679"/>
                </a:lnTo>
                <a:cubicBezTo>
                  <a:pt x="225862" y="94595"/>
                  <a:pt x="223004" y="86023"/>
                  <a:pt x="215979" y="82510"/>
                </a:cubicBezTo>
                <a:cubicBezTo>
                  <a:pt x="208955" y="78998"/>
                  <a:pt x="200323" y="81855"/>
                  <a:pt x="196810" y="88880"/>
                </a:cubicBezTo>
                <a:lnTo>
                  <a:pt x="155436" y="171569"/>
                </a:lnTo>
                <a:cubicBezTo>
                  <a:pt x="154424" y="171510"/>
                  <a:pt x="153412" y="171450"/>
                  <a:pt x="152400" y="171450"/>
                </a:cubicBezTo>
                <a:cubicBezTo>
                  <a:pt x="131385" y="171450"/>
                  <a:pt x="114300" y="188535"/>
                  <a:pt x="114300" y="209550"/>
                </a:cubicBezTo>
                <a:cubicBezTo>
                  <a:pt x="114300" y="230565"/>
                  <a:pt x="131385" y="247650"/>
                  <a:pt x="152400" y="247650"/>
                </a:cubicBezTo>
                <a:close/>
                <a:moveTo>
                  <a:pt x="104775" y="85725"/>
                </a:moveTo>
                <a:cubicBezTo>
                  <a:pt x="104775" y="75211"/>
                  <a:pt x="96239" y="66675"/>
                  <a:pt x="85725" y="66675"/>
                </a:cubicBezTo>
                <a:cubicBezTo>
                  <a:pt x="75211" y="66675"/>
                  <a:pt x="66675" y="75211"/>
                  <a:pt x="66675" y="85725"/>
                </a:cubicBezTo>
                <a:cubicBezTo>
                  <a:pt x="66675" y="96239"/>
                  <a:pt x="75211" y="104775"/>
                  <a:pt x="85725" y="104775"/>
                </a:cubicBezTo>
                <a:cubicBezTo>
                  <a:pt x="96239" y="104775"/>
                  <a:pt x="104775" y="96239"/>
                  <a:pt x="104775" y="85725"/>
                </a:cubicBezTo>
                <a:close/>
                <a:moveTo>
                  <a:pt x="57150" y="171450"/>
                </a:moveTo>
                <a:cubicBezTo>
                  <a:pt x="67664" y="171450"/>
                  <a:pt x="76200" y="162914"/>
                  <a:pt x="76200" y="152400"/>
                </a:cubicBez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lose/>
                <a:moveTo>
                  <a:pt x="266700" y="152400"/>
                </a:moveTo>
                <a:cubicBezTo>
                  <a:pt x="266700" y="141886"/>
                  <a:pt x="258164" y="133350"/>
                  <a:pt x="247650" y="133350"/>
                </a:cubicBezTo>
                <a:cubicBezTo>
                  <a:pt x="237136" y="133350"/>
                  <a:pt x="228600" y="141886"/>
                  <a:pt x="228600" y="152400"/>
                </a:cubicBezTo>
                <a:cubicBezTo>
                  <a:pt x="228600" y="162914"/>
                  <a:pt x="237136" y="171450"/>
                  <a:pt x="247650" y="171450"/>
                </a:cubicBezTo>
                <a:cubicBezTo>
                  <a:pt x="258164" y="171450"/>
                  <a:pt x="266700" y="162914"/>
                  <a:pt x="266700" y="152400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7" name="Text 5"/>
          <p:cNvSpPr/>
          <p:nvPr/>
        </p:nvSpPr>
        <p:spPr>
          <a:xfrm>
            <a:off x="781050" y="2419350"/>
            <a:ext cx="450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Gain de Temps</a:t>
            </a:r>
            <a:endParaRPr lang="fr-FR" sz="1600" dirty="0"/>
          </a:p>
        </p:txBody>
      </p:sp>
      <p:sp>
        <p:nvSpPr>
          <p:cNvPr id="8" name="Text 6"/>
          <p:cNvSpPr/>
          <p:nvPr/>
        </p:nvSpPr>
        <p:spPr>
          <a:xfrm>
            <a:off x="781050" y="2927350"/>
            <a:ext cx="4483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Réduire le temps de test de </a:t>
            </a:r>
            <a:r>
              <a:rPr lang="fr-FR" sz="16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2h25 à ~1h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par clé</a:t>
            </a:r>
            <a:endParaRPr lang="fr-FR" sz="1600" dirty="0"/>
          </a:p>
        </p:txBody>
      </p:sp>
      <p:sp>
        <p:nvSpPr>
          <p:cNvPr id="9" name="Shape 7"/>
          <p:cNvSpPr/>
          <p:nvPr/>
        </p:nvSpPr>
        <p:spPr>
          <a:xfrm>
            <a:off x="781050" y="3689350"/>
            <a:ext cx="4381500" cy="1016000"/>
          </a:xfrm>
          <a:custGeom>
            <a:avLst/>
            <a:gdLst/>
            <a:ahLst/>
            <a:cxnLst/>
            <a:rect l="l" t="t" r="r" b="b"/>
            <a:pathLst>
              <a:path w="4381500" h="1016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965200"/>
                </a:lnTo>
                <a:cubicBezTo>
                  <a:pt x="4381500" y="993237"/>
                  <a:pt x="4358737" y="1016000"/>
                  <a:pt x="43307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" y="3841750"/>
            <a:ext cx="426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fr-FR" sz="30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-70%</a:t>
            </a:r>
            <a:endParaRPr lang="fr-FR" sz="1600" dirty="0"/>
          </a:p>
        </p:txBody>
      </p:sp>
      <p:sp>
        <p:nvSpPr>
          <p:cNvPr id="11" name="Text 9"/>
          <p:cNvSpPr/>
          <p:nvPr/>
        </p:nvSpPr>
        <p:spPr>
          <a:xfrm>
            <a:off x="889000" y="429895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temps gagné</a:t>
            </a:r>
            <a:endParaRPr lang="fr-FR" sz="1600" dirty="0"/>
          </a:p>
        </p:txBody>
      </p:sp>
      <p:sp>
        <p:nvSpPr>
          <p:cNvPr id="12" name="Shape 10"/>
          <p:cNvSpPr/>
          <p:nvPr/>
        </p:nvSpPr>
        <p:spPr>
          <a:xfrm>
            <a:off x="5685234" y="1244600"/>
            <a:ext cx="4902200" cy="3721100"/>
          </a:xfrm>
          <a:custGeom>
            <a:avLst/>
            <a:gdLst/>
            <a:ahLst/>
            <a:cxnLst/>
            <a:rect l="l" t="t" r="r" b="b"/>
            <a:pathLst>
              <a:path w="4902200" h="3721100">
                <a:moveTo>
                  <a:pt x="101586" y="0"/>
                </a:moveTo>
                <a:lnTo>
                  <a:pt x="4800614" y="0"/>
                </a:lnTo>
                <a:cubicBezTo>
                  <a:pt x="4856718" y="0"/>
                  <a:pt x="4902200" y="45482"/>
                  <a:pt x="4902200" y="101586"/>
                </a:cubicBezTo>
                <a:lnTo>
                  <a:pt x="4902200" y="3619514"/>
                </a:lnTo>
                <a:cubicBezTo>
                  <a:pt x="4902200" y="3675618"/>
                  <a:pt x="4856718" y="3721100"/>
                  <a:pt x="4800614" y="3721100"/>
                </a:cubicBezTo>
                <a:lnTo>
                  <a:pt x="101586" y="3721100"/>
                </a:lnTo>
                <a:cubicBezTo>
                  <a:pt x="45482" y="3721100"/>
                  <a:pt x="0" y="3675618"/>
                  <a:pt x="0" y="36195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E89F5B">
                  <a:alpha val="5000"/>
                </a:srgbClr>
              </a:gs>
            </a:gsLst>
            <a:lin ang="270000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5584" y="150495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9734" y="170815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2399" y="-4762"/>
                </a:moveTo>
                <a:cubicBezTo>
                  <a:pt x="138767" y="-8453"/>
                  <a:pt x="133469" y="-9942"/>
                  <a:pt x="128468" y="-8573"/>
                </a:cubicBezTo>
                <a:cubicBezTo>
                  <a:pt x="123468" y="-7203"/>
                  <a:pt x="119598" y="-3334"/>
                  <a:pt x="118348" y="1667"/>
                </a:cubicBezTo>
                <a:lnTo>
                  <a:pt x="109240" y="37505"/>
                </a:lnTo>
                <a:cubicBezTo>
                  <a:pt x="108585" y="40124"/>
                  <a:pt x="105906" y="41672"/>
                  <a:pt x="103346" y="40898"/>
                </a:cubicBezTo>
                <a:lnTo>
                  <a:pt x="67747" y="30897"/>
                </a:lnTo>
                <a:cubicBezTo>
                  <a:pt x="62746" y="29468"/>
                  <a:pt x="57388" y="30897"/>
                  <a:pt x="53757" y="34528"/>
                </a:cubicBezTo>
                <a:cubicBezTo>
                  <a:pt x="50125" y="38160"/>
                  <a:pt x="48697" y="43517"/>
                  <a:pt x="50125" y="48518"/>
                </a:cubicBezTo>
                <a:lnTo>
                  <a:pt x="60186" y="84118"/>
                </a:lnTo>
                <a:cubicBezTo>
                  <a:pt x="60900" y="86678"/>
                  <a:pt x="59353" y="89356"/>
                  <a:pt x="56793" y="90011"/>
                </a:cubicBezTo>
                <a:lnTo>
                  <a:pt x="20895" y="99120"/>
                </a:lnTo>
                <a:cubicBezTo>
                  <a:pt x="15895" y="100370"/>
                  <a:pt x="11966" y="104299"/>
                  <a:pt x="10597" y="109299"/>
                </a:cubicBezTo>
                <a:cubicBezTo>
                  <a:pt x="9227" y="114300"/>
                  <a:pt x="10716" y="119598"/>
                  <a:pt x="14407" y="123230"/>
                </a:cubicBezTo>
                <a:lnTo>
                  <a:pt x="40898" y="149007"/>
                </a:lnTo>
                <a:cubicBezTo>
                  <a:pt x="42803" y="150852"/>
                  <a:pt x="42803" y="153948"/>
                  <a:pt x="40898" y="155853"/>
                </a:cubicBezTo>
                <a:lnTo>
                  <a:pt x="14466" y="181630"/>
                </a:lnTo>
                <a:cubicBezTo>
                  <a:pt x="10775" y="185261"/>
                  <a:pt x="9287" y="190560"/>
                  <a:pt x="10656" y="195560"/>
                </a:cubicBezTo>
                <a:cubicBezTo>
                  <a:pt x="12025" y="200561"/>
                  <a:pt x="15954" y="204430"/>
                  <a:pt x="20955" y="205740"/>
                </a:cubicBezTo>
                <a:lnTo>
                  <a:pt x="56793" y="214848"/>
                </a:lnTo>
                <a:cubicBezTo>
                  <a:pt x="59412" y="215503"/>
                  <a:pt x="60960" y="218182"/>
                  <a:pt x="60186" y="220742"/>
                </a:cubicBezTo>
                <a:lnTo>
                  <a:pt x="50125" y="256282"/>
                </a:lnTo>
                <a:cubicBezTo>
                  <a:pt x="48697" y="261283"/>
                  <a:pt x="50125" y="266640"/>
                  <a:pt x="53757" y="270272"/>
                </a:cubicBezTo>
                <a:cubicBezTo>
                  <a:pt x="57388" y="273903"/>
                  <a:pt x="62746" y="275332"/>
                  <a:pt x="67747" y="273903"/>
                </a:cubicBezTo>
                <a:lnTo>
                  <a:pt x="103346" y="263843"/>
                </a:lnTo>
                <a:cubicBezTo>
                  <a:pt x="105906" y="263128"/>
                  <a:pt x="108585" y="264676"/>
                  <a:pt x="109240" y="267236"/>
                </a:cubicBezTo>
                <a:lnTo>
                  <a:pt x="118348" y="303074"/>
                </a:lnTo>
                <a:cubicBezTo>
                  <a:pt x="119598" y="308074"/>
                  <a:pt x="123527" y="312003"/>
                  <a:pt x="128528" y="313373"/>
                </a:cubicBezTo>
                <a:cubicBezTo>
                  <a:pt x="133529" y="314742"/>
                  <a:pt x="138827" y="313253"/>
                  <a:pt x="142458" y="309563"/>
                </a:cubicBezTo>
                <a:lnTo>
                  <a:pt x="168235" y="283071"/>
                </a:lnTo>
                <a:cubicBezTo>
                  <a:pt x="170081" y="281166"/>
                  <a:pt x="173176" y="281166"/>
                  <a:pt x="175081" y="283071"/>
                </a:cubicBezTo>
                <a:lnTo>
                  <a:pt x="200799" y="309563"/>
                </a:lnTo>
                <a:cubicBezTo>
                  <a:pt x="204430" y="313253"/>
                  <a:pt x="209729" y="314742"/>
                  <a:pt x="214729" y="313373"/>
                </a:cubicBezTo>
                <a:cubicBezTo>
                  <a:pt x="219730" y="312003"/>
                  <a:pt x="223599" y="308074"/>
                  <a:pt x="224909" y="303074"/>
                </a:cubicBezTo>
                <a:lnTo>
                  <a:pt x="234017" y="267295"/>
                </a:lnTo>
                <a:cubicBezTo>
                  <a:pt x="234672" y="264676"/>
                  <a:pt x="237351" y="263128"/>
                  <a:pt x="239911" y="263902"/>
                </a:cubicBezTo>
                <a:lnTo>
                  <a:pt x="275511" y="273963"/>
                </a:lnTo>
                <a:cubicBezTo>
                  <a:pt x="280511" y="275392"/>
                  <a:pt x="285869" y="273963"/>
                  <a:pt x="289500" y="270331"/>
                </a:cubicBezTo>
                <a:cubicBezTo>
                  <a:pt x="293132" y="266700"/>
                  <a:pt x="294561" y="261342"/>
                  <a:pt x="293132" y="256342"/>
                </a:cubicBezTo>
                <a:lnTo>
                  <a:pt x="283071" y="220742"/>
                </a:lnTo>
                <a:cubicBezTo>
                  <a:pt x="282357" y="218182"/>
                  <a:pt x="283905" y="215503"/>
                  <a:pt x="286464" y="214848"/>
                </a:cubicBezTo>
                <a:lnTo>
                  <a:pt x="322302" y="205740"/>
                </a:lnTo>
                <a:cubicBezTo>
                  <a:pt x="327303" y="204490"/>
                  <a:pt x="331232" y="200561"/>
                  <a:pt x="332601" y="195560"/>
                </a:cubicBezTo>
                <a:cubicBezTo>
                  <a:pt x="333970" y="190560"/>
                  <a:pt x="332482" y="185202"/>
                  <a:pt x="328791" y="181630"/>
                </a:cubicBezTo>
                <a:lnTo>
                  <a:pt x="302300" y="155853"/>
                </a:lnTo>
                <a:cubicBezTo>
                  <a:pt x="300395" y="154007"/>
                  <a:pt x="300395" y="150912"/>
                  <a:pt x="302300" y="149007"/>
                </a:cubicBezTo>
                <a:lnTo>
                  <a:pt x="328791" y="123230"/>
                </a:lnTo>
                <a:cubicBezTo>
                  <a:pt x="332482" y="119598"/>
                  <a:pt x="333970" y="114300"/>
                  <a:pt x="332601" y="109299"/>
                </a:cubicBezTo>
                <a:cubicBezTo>
                  <a:pt x="331232" y="104299"/>
                  <a:pt x="327303" y="100429"/>
                  <a:pt x="322302" y="99120"/>
                </a:cubicBezTo>
                <a:lnTo>
                  <a:pt x="286464" y="90011"/>
                </a:lnTo>
                <a:cubicBezTo>
                  <a:pt x="283845" y="89356"/>
                  <a:pt x="282297" y="86677"/>
                  <a:pt x="283071" y="84118"/>
                </a:cubicBezTo>
                <a:lnTo>
                  <a:pt x="293132" y="48518"/>
                </a:lnTo>
                <a:cubicBezTo>
                  <a:pt x="294561" y="43517"/>
                  <a:pt x="293132" y="38160"/>
                  <a:pt x="289500" y="34528"/>
                </a:cubicBezTo>
                <a:cubicBezTo>
                  <a:pt x="285869" y="30897"/>
                  <a:pt x="280511" y="29468"/>
                  <a:pt x="275511" y="30897"/>
                </a:cubicBezTo>
                <a:lnTo>
                  <a:pt x="239911" y="40957"/>
                </a:lnTo>
                <a:cubicBezTo>
                  <a:pt x="237351" y="41672"/>
                  <a:pt x="234672" y="40124"/>
                  <a:pt x="234017" y="37564"/>
                </a:cubicBezTo>
                <a:lnTo>
                  <a:pt x="224909" y="1667"/>
                </a:lnTo>
                <a:cubicBezTo>
                  <a:pt x="223659" y="-3334"/>
                  <a:pt x="219730" y="-7263"/>
                  <a:pt x="214729" y="-8632"/>
                </a:cubicBezTo>
                <a:cubicBezTo>
                  <a:pt x="209729" y="-10001"/>
                  <a:pt x="204430" y="-8513"/>
                  <a:pt x="200799" y="-4822"/>
                </a:cubicBezTo>
                <a:lnTo>
                  <a:pt x="175022" y="21729"/>
                </a:lnTo>
                <a:cubicBezTo>
                  <a:pt x="173176" y="23634"/>
                  <a:pt x="170081" y="23634"/>
                  <a:pt x="168176" y="21729"/>
                </a:cubicBezTo>
                <a:lnTo>
                  <a:pt x="142399" y="-4762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5584" y="2419350"/>
            <a:ext cx="450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Conformité ISO</a:t>
            </a:r>
            <a:endParaRPr lang="fr-FR" sz="1600" dirty="0"/>
          </a:p>
        </p:txBody>
      </p:sp>
      <p:sp>
        <p:nvSpPr>
          <p:cNvPr id="16" name="Text 14"/>
          <p:cNvSpPr/>
          <p:nvPr/>
        </p:nvSpPr>
        <p:spPr>
          <a:xfrm>
            <a:off x="5945584" y="2927350"/>
            <a:ext cx="4483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Respect strict de la norme </a:t>
            </a:r>
            <a:r>
              <a:rPr lang="fr-FR" sz="16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 6789-1:2017</a:t>
            </a:r>
            <a:endParaRPr lang="fr-FR" sz="1600" dirty="0"/>
          </a:p>
        </p:txBody>
      </p:sp>
      <p:sp>
        <p:nvSpPr>
          <p:cNvPr id="17" name="Shape 15"/>
          <p:cNvSpPr/>
          <p:nvPr/>
        </p:nvSpPr>
        <p:spPr>
          <a:xfrm>
            <a:off x="5945584" y="379095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50804" y="0"/>
                </a:moveTo>
                <a:lnTo>
                  <a:pt x="4330696" y="0"/>
                </a:lnTo>
                <a:cubicBezTo>
                  <a:pt x="4358754" y="0"/>
                  <a:pt x="4381500" y="22746"/>
                  <a:pt x="4381500" y="50804"/>
                </a:cubicBezTo>
                <a:lnTo>
                  <a:pt x="4381500" y="863596"/>
                </a:lnTo>
                <a:cubicBezTo>
                  <a:pt x="4381500" y="891654"/>
                  <a:pt x="4358754" y="914400"/>
                  <a:pt x="43306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Text 16"/>
          <p:cNvSpPr/>
          <p:nvPr/>
        </p:nvSpPr>
        <p:spPr>
          <a:xfrm>
            <a:off x="6040834" y="394335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fr-FR" sz="1600" dirty="0"/>
          </a:p>
        </p:txBody>
      </p:sp>
      <p:sp>
        <p:nvSpPr>
          <p:cNvPr id="19" name="Text 17"/>
          <p:cNvSpPr/>
          <p:nvPr/>
        </p:nvSpPr>
        <p:spPr>
          <a:xfrm>
            <a:off x="6053534" y="429895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conforme</a:t>
            </a:r>
            <a:endParaRPr lang="fr-FR" sz="1600" dirty="0"/>
          </a:p>
        </p:txBody>
      </p:sp>
      <p:sp>
        <p:nvSpPr>
          <p:cNvPr id="20" name="Shape 18"/>
          <p:cNvSpPr/>
          <p:nvPr/>
        </p:nvSpPr>
        <p:spPr>
          <a:xfrm>
            <a:off x="10849967" y="1244600"/>
            <a:ext cx="4902200" cy="3721100"/>
          </a:xfrm>
          <a:custGeom>
            <a:avLst/>
            <a:gdLst/>
            <a:ahLst/>
            <a:cxnLst/>
            <a:rect l="l" t="t" r="r" b="b"/>
            <a:pathLst>
              <a:path w="4902200" h="3721100">
                <a:moveTo>
                  <a:pt x="101586" y="0"/>
                </a:moveTo>
                <a:lnTo>
                  <a:pt x="4800614" y="0"/>
                </a:lnTo>
                <a:cubicBezTo>
                  <a:pt x="4856718" y="0"/>
                  <a:pt x="4902200" y="45482"/>
                  <a:pt x="4902200" y="101586"/>
                </a:cubicBezTo>
                <a:lnTo>
                  <a:pt x="4902200" y="3619514"/>
                </a:lnTo>
                <a:cubicBezTo>
                  <a:pt x="4902200" y="3675618"/>
                  <a:pt x="4856718" y="3721100"/>
                  <a:pt x="4800614" y="3721100"/>
                </a:cubicBezTo>
                <a:lnTo>
                  <a:pt x="101586" y="3721100"/>
                </a:lnTo>
                <a:cubicBezTo>
                  <a:pt x="45482" y="3721100"/>
                  <a:pt x="0" y="3675618"/>
                  <a:pt x="0" y="3619514"/>
                </a:cubicBezTo>
                <a:lnTo>
                  <a:pt x="0" y="101586"/>
                </a:lnTo>
                <a:cubicBezTo>
                  <a:pt x="0" y="45519"/>
                  <a:pt x="45519" y="0"/>
                  <a:pt x="10158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10317" y="150495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13517" y="1708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59973" y="44470"/>
                </a:moveTo>
                <a:lnTo>
                  <a:pt x="266700" y="50840"/>
                </a:lnTo>
                <a:lnTo>
                  <a:pt x="266700" y="19050"/>
                </a:lnTo>
                <a:cubicBezTo>
                  <a:pt x="266700" y="8513"/>
                  <a:pt x="275213" y="0"/>
                  <a:pt x="285750" y="0"/>
                </a:cubicBezTo>
                <a:cubicBezTo>
                  <a:pt x="296287" y="0"/>
                  <a:pt x="304800" y="8513"/>
                  <a:pt x="304800" y="19050"/>
                </a:cubicBezTo>
                <a:lnTo>
                  <a:pt x="304800" y="95250"/>
                </a:lnTo>
                <a:cubicBezTo>
                  <a:pt x="304800" y="105787"/>
                  <a:pt x="296287" y="114300"/>
                  <a:pt x="285750" y="114300"/>
                </a:cubicBezTo>
                <a:lnTo>
                  <a:pt x="209550" y="114300"/>
                </a:lnTo>
                <a:cubicBezTo>
                  <a:pt x="199013" y="114300"/>
                  <a:pt x="190500" y="105787"/>
                  <a:pt x="190500" y="95250"/>
                </a:cubicBezTo>
                <a:cubicBezTo>
                  <a:pt x="190500" y="84713"/>
                  <a:pt x="199013" y="76200"/>
                  <a:pt x="209550" y="76200"/>
                </a:cubicBezTo>
                <a:lnTo>
                  <a:pt x="238065" y="76200"/>
                </a:lnTo>
                <a:lnTo>
                  <a:pt x="233541" y="71914"/>
                </a:lnTo>
                <a:cubicBezTo>
                  <a:pt x="233422" y="71795"/>
                  <a:pt x="233303" y="71676"/>
                  <a:pt x="233184" y="71557"/>
                </a:cubicBezTo>
                <a:cubicBezTo>
                  <a:pt x="188535" y="26908"/>
                  <a:pt x="116205" y="26908"/>
                  <a:pt x="71557" y="71557"/>
                </a:cubicBezTo>
                <a:cubicBezTo>
                  <a:pt x="26908" y="116205"/>
                  <a:pt x="26908" y="188535"/>
                  <a:pt x="71557" y="233184"/>
                </a:cubicBezTo>
                <a:cubicBezTo>
                  <a:pt x="116205" y="277832"/>
                  <a:pt x="188535" y="277832"/>
                  <a:pt x="233184" y="233184"/>
                </a:cubicBezTo>
                <a:cubicBezTo>
                  <a:pt x="238065" y="228302"/>
                  <a:pt x="242411" y="223123"/>
                  <a:pt x="246221" y="217646"/>
                </a:cubicBezTo>
                <a:cubicBezTo>
                  <a:pt x="252234" y="209014"/>
                  <a:pt x="264140" y="206931"/>
                  <a:pt x="272772" y="212943"/>
                </a:cubicBezTo>
                <a:cubicBezTo>
                  <a:pt x="281404" y="218956"/>
                  <a:pt x="283488" y="230862"/>
                  <a:pt x="277475" y="239494"/>
                </a:cubicBezTo>
                <a:cubicBezTo>
                  <a:pt x="272415" y="246757"/>
                  <a:pt x="266640" y="253663"/>
                  <a:pt x="260152" y="260152"/>
                </a:cubicBezTo>
                <a:cubicBezTo>
                  <a:pt x="200620" y="319683"/>
                  <a:pt x="104120" y="319683"/>
                  <a:pt x="44648" y="260152"/>
                </a:cubicBezTo>
                <a:cubicBezTo>
                  <a:pt x="-14823" y="200620"/>
                  <a:pt x="-14883" y="104180"/>
                  <a:pt x="44648" y="44648"/>
                </a:cubicBezTo>
                <a:cubicBezTo>
                  <a:pt x="104120" y="-14823"/>
                  <a:pt x="200442" y="-14883"/>
                  <a:pt x="259973" y="44470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23" name="Text 21"/>
          <p:cNvSpPr/>
          <p:nvPr/>
        </p:nvSpPr>
        <p:spPr>
          <a:xfrm>
            <a:off x="11110317" y="2419350"/>
            <a:ext cx="450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Répétabilité</a:t>
            </a:r>
            <a:endParaRPr lang="fr-FR" sz="1600" dirty="0"/>
          </a:p>
        </p:txBody>
      </p:sp>
      <p:sp>
        <p:nvSpPr>
          <p:cNvPr id="24" name="Text 22"/>
          <p:cNvSpPr/>
          <p:nvPr/>
        </p:nvSpPr>
        <p:spPr>
          <a:xfrm>
            <a:off x="11110317" y="2927350"/>
            <a:ext cx="4483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Mesures reproductibles, indépendantes de l'opérateur</a:t>
            </a:r>
            <a:endParaRPr lang="fr-FR" sz="1600" dirty="0"/>
          </a:p>
        </p:txBody>
      </p:sp>
      <p:sp>
        <p:nvSpPr>
          <p:cNvPr id="25" name="Shape 23"/>
          <p:cNvSpPr/>
          <p:nvPr/>
        </p:nvSpPr>
        <p:spPr>
          <a:xfrm>
            <a:off x="11110317" y="379095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50804" y="0"/>
                </a:moveTo>
                <a:lnTo>
                  <a:pt x="4330696" y="0"/>
                </a:lnTo>
                <a:cubicBezTo>
                  <a:pt x="4358754" y="0"/>
                  <a:pt x="4381500" y="22746"/>
                  <a:pt x="4381500" y="50804"/>
                </a:cubicBezTo>
                <a:lnTo>
                  <a:pt x="4381500" y="863596"/>
                </a:lnTo>
                <a:cubicBezTo>
                  <a:pt x="4381500" y="891654"/>
                  <a:pt x="4358754" y="914400"/>
                  <a:pt x="43306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11205567" y="394335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dirty="0" smtClean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±0.5%</a:t>
            </a:r>
            <a:endParaRPr lang="fr-FR" sz="1600" dirty="0"/>
          </a:p>
        </p:txBody>
      </p:sp>
      <p:sp>
        <p:nvSpPr>
          <p:cNvPr id="27" name="Text 25"/>
          <p:cNvSpPr/>
          <p:nvPr/>
        </p:nvSpPr>
        <p:spPr>
          <a:xfrm>
            <a:off x="11218267" y="429895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précision</a:t>
            </a:r>
            <a:endParaRPr lang="fr-FR" sz="1600" dirty="0"/>
          </a:p>
        </p:txBody>
      </p:sp>
      <p:sp>
        <p:nvSpPr>
          <p:cNvPr id="28" name="Shape 26"/>
          <p:cNvSpPr/>
          <p:nvPr/>
        </p:nvSpPr>
        <p:spPr>
          <a:xfrm>
            <a:off x="520700" y="5232400"/>
            <a:ext cx="4902200" cy="3822700"/>
          </a:xfrm>
          <a:custGeom>
            <a:avLst/>
            <a:gdLst/>
            <a:ahLst/>
            <a:cxnLst/>
            <a:rect l="l" t="t" r="r" b="b"/>
            <a:pathLst>
              <a:path w="4902200" h="3822700">
                <a:moveTo>
                  <a:pt x="101607" y="0"/>
                </a:moveTo>
                <a:lnTo>
                  <a:pt x="4800593" y="0"/>
                </a:lnTo>
                <a:cubicBezTo>
                  <a:pt x="4856709" y="0"/>
                  <a:pt x="4902200" y="45491"/>
                  <a:pt x="4902200" y="101607"/>
                </a:cubicBezTo>
                <a:lnTo>
                  <a:pt x="4902200" y="3721093"/>
                </a:lnTo>
                <a:cubicBezTo>
                  <a:pt x="4902200" y="3777209"/>
                  <a:pt x="4856709" y="3822700"/>
                  <a:pt x="4800593" y="3822700"/>
                </a:cubicBezTo>
                <a:lnTo>
                  <a:pt x="101607" y="3822700"/>
                </a:lnTo>
                <a:cubicBezTo>
                  <a:pt x="45491" y="3822700"/>
                  <a:pt x="0" y="3777209"/>
                  <a:pt x="0" y="3721093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E89F5B">
                  <a:alpha val="5000"/>
                </a:srgbClr>
              </a:gs>
            </a:gsLst>
            <a:lin ang="270000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050" y="549275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22350" y="569595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Text 29"/>
          <p:cNvSpPr/>
          <p:nvPr/>
        </p:nvSpPr>
        <p:spPr>
          <a:xfrm>
            <a:off x="781050" y="6407150"/>
            <a:ext cx="450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Traçabilité</a:t>
            </a:r>
            <a:endParaRPr lang="fr-FR" sz="1600" dirty="0"/>
          </a:p>
        </p:txBody>
      </p:sp>
      <p:sp>
        <p:nvSpPr>
          <p:cNvPr id="32" name="Text 30"/>
          <p:cNvSpPr/>
          <p:nvPr/>
        </p:nvSpPr>
        <p:spPr>
          <a:xfrm>
            <a:off x="781050" y="6915150"/>
            <a:ext cx="4483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Rapports automatiques avec horodatage complet</a:t>
            </a:r>
            <a:endParaRPr lang="fr-FR" sz="1600" dirty="0"/>
          </a:p>
        </p:txBody>
      </p:sp>
      <p:sp>
        <p:nvSpPr>
          <p:cNvPr id="33" name="Shape 31"/>
          <p:cNvSpPr/>
          <p:nvPr/>
        </p:nvSpPr>
        <p:spPr>
          <a:xfrm>
            <a:off x="781050" y="788035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50804" y="0"/>
                </a:moveTo>
                <a:lnTo>
                  <a:pt x="4330696" y="0"/>
                </a:lnTo>
                <a:cubicBezTo>
                  <a:pt x="4358754" y="0"/>
                  <a:pt x="4381500" y="22746"/>
                  <a:pt x="4381500" y="50804"/>
                </a:cubicBezTo>
                <a:lnTo>
                  <a:pt x="4381500" y="863596"/>
                </a:lnTo>
                <a:cubicBezTo>
                  <a:pt x="4381500" y="891654"/>
                  <a:pt x="4358754" y="914400"/>
                  <a:pt x="43306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Text 32"/>
          <p:cNvSpPr/>
          <p:nvPr/>
        </p:nvSpPr>
        <p:spPr>
          <a:xfrm>
            <a:off x="876300" y="803275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</a:t>
            </a:r>
            <a:endParaRPr lang="fr-FR" sz="1600" dirty="0"/>
          </a:p>
        </p:txBody>
      </p:sp>
      <p:sp>
        <p:nvSpPr>
          <p:cNvPr id="35" name="Text 33"/>
          <p:cNvSpPr/>
          <p:nvPr/>
        </p:nvSpPr>
        <p:spPr>
          <a:xfrm>
            <a:off x="889000" y="838835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génération</a:t>
            </a:r>
            <a:endParaRPr lang="fr-FR" sz="1600" dirty="0"/>
          </a:p>
        </p:txBody>
      </p:sp>
      <p:sp>
        <p:nvSpPr>
          <p:cNvPr id="36" name="Shape 34"/>
          <p:cNvSpPr/>
          <p:nvPr/>
        </p:nvSpPr>
        <p:spPr>
          <a:xfrm>
            <a:off x="5685234" y="5232400"/>
            <a:ext cx="4902200" cy="3822700"/>
          </a:xfrm>
          <a:custGeom>
            <a:avLst/>
            <a:gdLst/>
            <a:ahLst/>
            <a:cxnLst/>
            <a:rect l="l" t="t" r="r" b="b"/>
            <a:pathLst>
              <a:path w="4902200" h="3822700">
                <a:moveTo>
                  <a:pt x="101607" y="0"/>
                </a:moveTo>
                <a:lnTo>
                  <a:pt x="4800593" y="0"/>
                </a:lnTo>
                <a:cubicBezTo>
                  <a:pt x="4856709" y="0"/>
                  <a:pt x="4902200" y="45491"/>
                  <a:pt x="4902200" y="101607"/>
                </a:cubicBezTo>
                <a:lnTo>
                  <a:pt x="4902200" y="3721093"/>
                </a:lnTo>
                <a:cubicBezTo>
                  <a:pt x="4902200" y="3777209"/>
                  <a:pt x="4856709" y="3822700"/>
                  <a:pt x="4800593" y="3822700"/>
                </a:cubicBezTo>
                <a:lnTo>
                  <a:pt x="101607" y="3822700"/>
                </a:lnTo>
                <a:cubicBezTo>
                  <a:pt x="45491" y="3822700"/>
                  <a:pt x="0" y="3777209"/>
                  <a:pt x="0" y="3721093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5584" y="549275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8" name="Shape 36"/>
          <p:cNvSpPr/>
          <p:nvPr/>
        </p:nvSpPr>
        <p:spPr>
          <a:xfrm>
            <a:off x="6129734" y="569595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350" y="147638"/>
                </a:moveTo>
                <a:cubicBezTo>
                  <a:pt x="172777" y="147638"/>
                  <a:pt x="204787" y="115627"/>
                  <a:pt x="204787" y="76200"/>
                </a:cubicBezTo>
                <a:cubicBezTo>
                  <a:pt x="204787" y="36773"/>
                  <a:pt x="172777" y="4763"/>
                  <a:pt x="133350" y="4763"/>
                </a:cubicBezTo>
                <a:cubicBezTo>
                  <a:pt x="93923" y="4763"/>
                  <a:pt x="61913" y="36773"/>
                  <a:pt x="61912" y="76200"/>
                </a:cubicBezTo>
                <a:cubicBezTo>
                  <a:pt x="61912" y="115627"/>
                  <a:pt x="93923" y="147638"/>
                  <a:pt x="133350" y="147638"/>
                </a:cubicBezTo>
                <a:close/>
                <a:moveTo>
                  <a:pt x="115669" y="180975"/>
                </a:moveTo>
                <a:cubicBezTo>
                  <a:pt x="57031" y="180975"/>
                  <a:pt x="9525" y="228481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176927" y="304800"/>
                </a:lnTo>
                <a:cubicBezTo>
                  <a:pt x="155377" y="279440"/>
                  <a:pt x="142875" y="246757"/>
                  <a:pt x="142875" y="212169"/>
                </a:cubicBezTo>
                <a:lnTo>
                  <a:pt x="142875" y="193655"/>
                </a:lnTo>
                <a:cubicBezTo>
                  <a:pt x="142875" y="189309"/>
                  <a:pt x="143470" y="185023"/>
                  <a:pt x="144601" y="180975"/>
                </a:cubicBezTo>
                <a:lnTo>
                  <a:pt x="115669" y="180975"/>
                </a:lnTo>
                <a:close/>
                <a:moveTo>
                  <a:pt x="265093" y="290810"/>
                </a:moveTo>
                <a:lnTo>
                  <a:pt x="257175" y="294561"/>
                </a:lnTo>
                <a:lnTo>
                  <a:pt x="257175" y="182582"/>
                </a:lnTo>
                <a:lnTo>
                  <a:pt x="314325" y="201632"/>
                </a:lnTo>
                <a:lnTo>
                  <a:pt x="314325" y="213300"/>
                </a:lnTo>
                <a:cubicBezTo>
                  <a:pt x="314325" y="246519"/>
                  <a:pt x="295156" y="276701"/>
                  <a:pt x="265093" y="290870"/>
                </a:cubicBezTo>
                <a:close/>
                <a:moveTo>
                  <a:pt x="251162" y="154484"/>
                </a:moveTo>
                <a:lnTo>
                  <a:pt x="184487" y="176689"/>
                </a:lnTo>
                <a:cubicBezTo>
                  <a:pt x="176689" y="179308"/>
                  <a:pt x="171450" y="186571"/>
                  <a:pt x="171450" y="194786"/>
                </a:cubicBezTo>
                <a:lnTo>
                  <a:pt x="171450" y="213300"/>
                </a:lnTo>
                <a:cubicBezTo>
                  <a:pt x="171450" y="257592"/>
                  <a:pt x="197048" y="297894"/>
                  <a:pt x="237053" y="316706"/>
                </a:cubicBezTo>
                <a:lnTo>
                  <a:pt x="248067" y="321885"/>
                </a:lnTo>
                <a:cubicBezTo>
                  <a:pt x="250924" y="323195"/>
                  <a:pt x="254020" y="323910"/>
                  <a:pt x="257115" y="323910"/>
                </a:cubicBezTo>
                <a:cubicBezTo>
                  <a:pt x="260211" y="323910"/>
                  <a:pt x="263366" y="323195"/>
                  <a:pt x="266164" y="321885"/>
                </a:cubicBezTo>
                <a:lnTo>
                  <a:pt x="277178" y="316706"/>
                </a:lnTo>
                <a:cubicBezTo>
                  <a:pt x="317302" y="297835"/>
                  <a:pt x="342900" y="257532"/>
                  <a:pt x="342900" y="213241"/>
                </a:cubicBezTo>
                <a:lnTo>
                  <a:pt x="342900" y="194727"/>
                </a:lnTo>
                <a:cubicBezTo>
                  <a:pt x="342900" y="186511"/>
                  <a:pt x="337661" y="179249"/>
                  <a:pt x="329863" y="176629"/>
                </a:cubicBezTo>
                <a:lnTo>
                  <a:pt x="263188" y="154424"/>
                </a:lnTo>
                <a:cubicBezTo>
                  <a:pt x="259259" y="153114"/>
                  <a:pt x="255032" y="153114"/>
                  <a:pt x="251162" y="154424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39" name="Text 37"/>
          <p:cNvSpPr/>
          <p:nvPr/>
        </p:nvSpPr>
        <p:spPr>
          <a:xfrm>
            <a:off x="5945584" y="6407150"/>
            <a:ext cx="450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</a:t>
            </a:r>
            <a:endParaRPr lang="fr-FR" sz="1600" dirty="0"/>
          </a:p>
        </p:txBody>
      </p:sp>
      <p:sp>
        <p:nvSpPr>
          <p:cNvPr id="40" name="Text 38"/>
          <p:cNvSpPr/>
          <p:nvPr/>
        </p:nvSpPr>
        <p:spPr>
          <a:xfrm>
            <a:off x="5945584" y="6915150"/>
            <a:ext cx="4483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Protection complète de l'opérateur et du matériel</a:t>
            </a:r>
            <a:endParaRPr lang="fr-FR" sz="1600" dirty="0"/>
          </a:p>
        </p:txBody>
      </p:sp>
      <p:sp>
        <p:nvSpPr>
          <p:cNvPr id="41" name="Shape 39"/>
          <p:cNvSpPr/>
          <p:nvPr/>
        </p:nvSpPr>
        <p:spPr>
          <a:xfrm>
            <a:off x="5945584" y="7880350"/>
            <a:ext cx="4381500" cy="914400"/>
          </a:xfrm>
          <a:custGeom>
            <a:avLst/>
            <a:gdLst/>
            <a:ahLst/>
            <a:cxnLst/>
            <a:rect l="l" t="t" r="r" b="b"/>
            <a:pathLst>
              <a:path w="4381500" h="914400">
                <a:moveTo>
                  <a:pt x="50804" y="0"/>
                </a:moveTo>
                <a:lnTo>
                  <a:pt x="4330696" y="0"/>
                </a:lnTo>
                <a:cubicBezTo>
                  <a:pt x="4358754" y="0"/>
                  <a:pt x="4381500" y="22746"/>
                  <a:pt x="4381500" y="50804"/>
                </a:cubicBezTo>
                <a:lnTo>
                  <a:pt x="4381500" y="863596"/>
                </a:lnTo>
                <a:cubicBezTo>
                  <a:pt x="4381500" y="891654"/>
                  <a:pt x="4358754" y="914400"/>
                  <a:pt x="43306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Text 40"/>
          <p:cNvSpPr/>
          <p:nvPr/>
        </p:nvSpPr>
        <p:spPr>
          <a:xfrm>
            <a:off x="6040834" y="8032750"/>
            <a:ext cx="419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dirty="0" smtClean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</a:t>
            </a:r>
            <a:endParaRPr lang="fr-FR" sz="1600" dirty="0"/>
          </a:p>
        </p:txBody>
      </p:sp>
      <p:sp>
        <p:nvSpPr>
          <p:cNvPr id="43" name="Text 41"/>
          <p:cNvSpPr/>
          <p:nvPr/>
        </p:nvSpPr>
        <p:spPr>
          <a:xfrm>
            <a:off x="6053534" y="838835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sécurités</a:t>
            </a:r>
            <a:endParaRPr lang="fr-FR" sz="1600" dirty="0"/>
          </a:p>
        </p:txBody>
      </p:sp>
      <p:sp>
        <p:nvSpPr>
          <p:cNvPr id="44" name="Shape 42"/>
          <p:cNvSpPr/>
          <p:nvPr/>
        </p:nvSpPr>
        <p:spPr>
          <a:xfrm>
            <a:off x="10849967" y="5232400"/>
            <a:ext cx="4902200" cy="3822700"/>
          </a:xfrm>
          <a:custGeom>
            <a:avLst/>
            <a:gdLst/>
            <a:ahLst/>
            <a:cxnLst/>
            <a:rect l="l" t="t" r="r" b="b"/>
            <a:pathLst>
              <a:path w="4902200" h="3822700">
                <a:moveTo>
                  <a:pt x="101607" y="0"/>
                </a:moveTo>
                <a:lnTo>
                  <a:pt x="4800593" y="0"/>
                </a:lnTo>
                <a:cubicBezTo>
                  <a:pt x="4856709" y="0"/>
                  <a:pt x="4902200" y="45491"/>
                  <a:pt x="4902200" y="101607"/>
                </a:cubicBezTo>
                <a:lnTo>
                  <a:pt x="4902200" y="3721093"/>
                </a:lnTo>
                <a:cubicBezTo>
                  <a:pt x="4902200" y="3777209"/>
                  <a:pt x="4856709" y="3822700"/>
                  <a:pt x="4800593" y="3822700"/>
                </a:cubicBezTo>
                <a:lnTo>
                  <a:pt x="101607" y="3822700"/>
                </a:lnTo>
                <a:cubicBezTo>
                  <a:pt x="45491" y="3822700"/>
                  <a:pt x="0" y="3777209"/>
                  <a:pt x="0" y="3721093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E89F5B">
                  <a:alpha val="5000"/>
                </a:srgbClr>
              </a:gs>
            </a:gsLst>
            <a:lin ang="270000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110317" y="549275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6" name="Shape 44"/>
          <p:cNvSpPr/>
          <p:nvPr/>
        </p:nvSpPr>
        <p:spPr>
          <a:xfrm>
            <a:off x="11313517" y="56959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7" name="Text 45"/>
          <p:cNvSpPr/>
          <p:nvPr/>
        </p:nvSpPr>
        <p:spPr>
          <a:xfrm>
            <a:off x="11110317" y="6407150"/>
            <a:ext cx="450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Productivité</a:t>
            </a:r>
            <a:endParaRPr lang="fr-FR" sz="1600" dirty="0"/>
          </a:p>
        </p:txBody>
      </p:sp>
      <p:sp>
        <p:nvSpPr>
          <p:cNvPr id="48" name="Text 46"/>
          <p:cNvSpPr/>
          <p:nvPr/>
        </p:nvSpPr>
        <p:spPr>
          <a:xfrm>
            <a:off x="11110317" y="6915150"/>
            <a:ext cx="44831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Augmenter le nombre de clés traitées quotidiennement</a:t>
            </a:r>
            <a:endParaRPr lang="fr-FR" sz="1600" dirty="0"/>
          </a:p>
        </p:txBody>
      </p:sp>
      <p:sp>
        <p:nvSpPr>
          <p:cNvPr id="49" name="Shape 47"/>
          <p:cNvSpPr/>
          <p:nvPr/>
        </p:nvSpPr>
        <p:spPr>
          <a:xfrm>
            <a:off x="11110317" y="7778750"/>
            <a:ext cx="4381500" cy="1016000"/>
          </a:xfrm>
          <a:custGeom>
            <a:avLst/>
            <a:gdLst/>
            <a:ahLst/>
            <a:cxnLst/>
            <a:rect l="l" t="t" r="r" b="b"/>
            <a:pathLst>
              <a:path w="4381500" h="1016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965200"/>
                </a:lnTo>
                <a:cubicBezTo>
                  <a:pt x="4381500" y="993237"/>
                  <a:pt x="4358737" y="1016000"/>
                  <a:pt x="43307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0" name="Text 48"/>
          <p:cNvSpPr/>
          <p:nvPr/>
        </p:nvSpPr>
        <p:spPr>
          <a:xfrm>
            <a:off x="11167467" y="7931150"/>
            <a:ext cx="426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fr-FR" sz="30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x4</a:t>
            </a:r>
            <a:endParaRPr lang="fr-FR" sz="1600" dirty="0"/>
          </a:p>
        </p:txBody>
      </p:sp>
      <p:sp>
        <p:nvSpPr>
          <p:cNvPr id="51" name="Text 49"/>
          <p:cNvSpPr/>
          <p:nvPr/>
        </p:nvSpPr>
        <p:spPr>
          <a:xfrm>
            <a:off x="11218267" y="8388350"/>
            <a:ext cx="416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productivité</a:t>
            </a:r>
            <a:endParaRPr lang="fr-FR" sz="1600" dirty="0"/>
          </a:p>
        </p:txBody>
      </p:sp>
      <p:sp>
        <p:nvSpPr>
          <p:cNvPr id="52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dirty="0" smtClean="0">
                <a:solidFill>
                  <a:srgbClr val="E89F5B"/>
                </a:solidFill>
              </a:rPr>
              <a:t>8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1" descr="esquisse banc fin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541" y="933450"/>
            <a:ext cx="12040918" cy="802727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14350" y="6985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02. OBJECTIFS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14350" y="42545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Objectifs du Futur Banc Automatisé</a:t>
            </a:r>
            <a:endParaRPr lang="fr-FR" sz="1600" dirty="0"/>
          </a:p>
        </p:txBody>
      </p:sp>
      <p:sp>
        <p:nvSpPr>
          <p:cNvPr id="53" name="Rectangle 52"/>
          <p:cNvSpPr/>
          <p:nvPr/>
        </p:nvSpPr>
        <p:spPr>
          <a:xfrm>
            <a:off x="2354921" y="7825842"/>
            <a:ext cx="7508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dirty="0">
                <a:solidFill>
                  <a:schemeClr val="bg1"/>
                </a:solidFill>
              </a:rPr>
              <a:t>Schéma de principe du banc : côté 4-40 Nm à gauche, côté 20-200Nm à droite.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4" name="ZoneTexte 53"/>
          <p:cNvSpPr txBox="1"/>
          <p:nvPr/>
        </p:nvSpPr>
        <p:spPr>
          <a:xfrm>
            <a:off x="3408218" y="8360229"/>
            <a:ext cx="352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1" u="sng" dirty="0" smtClean="0">
                <a:solidFill>
                  <a:schemeClr val="bg1"/>
                </a:solidFill>
              </a:rPr>
              <a:t>NB : image généré par un outil d’IA</a:t>
            </a:r>
            <a:endParaRPr lang="fr-FR" b="1" i="1" u="sng" dirty="0">
              <a:solidFill>
                <a:schemeClr val="bg1"/>
              </a:solidFill>
            </a:endParaRPr>
          </a:p>
        </p:txBody>
      </p:sp>
      <p:sp>
        <p:nvSpPr>
          <p:cNvPr id="55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dirty="0" smtClean="0">
                <a:solidFill>
                  <a:srgbClr val="E89F5B"/>
                </a:solidFill>
              </a:rPr>
              <a:t>9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1650" y="1905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03. ARCHITECTURE MATÉRIELLE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1650" y="5461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Architecture du Système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263650"/>
            <a:ext cx="8978900" cy="1231900"/>
          </a:xfrm>
          <a:custGeom>
            <a:avLst/>
            <a:gdLst/>
            <a:ahLst/>
            <a:cxnLst/>
            <a:rect l="l" t="t" r="r" b="b"/>
            <a:pathLst>
              <a:path w="8978900" h="1231900">
                <a:moveTo>
                  <a:pt x="101595" y="0"/>
                </a:moveTo>
                <a:lnTo>
                  <a:pt x="8877305" y="0"/>
                </a:lnTo>
                <a:cubicBezTo>
                  <a:pt x="8933414" y="0"/>
                  <a:pt x="8978900" y="45486"/>
                  <a:pt x="8978900" y="101595"/>
                </a:cubicBezTo>
                <a:lnTo>
                  <a:pt x="8978900" y="1130305"/>
                </a:lnTo>
                <a:cubicBezTo>
                  <a:pt x="8978900" y="1186414"/>
                  <a:pt x="8933414" y="1231900"/>
                  <a:pt x="88773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6750" y="1422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6" name="Shape 4"/>
          <p:cNvSpPr/>
          <p:nvPr/>
        </p:nvSpPr>
        <p:spPr>
          <a:xfrm>
            <a:off x="809625" y="156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327150" y="1498600"/>
            <a:ext cx="212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 Siemens</a:t>
            </a:r>
            <a:endParaRPr lang="fr-FR" sz="1600" dirty="0"/>
          </a:p>
        </p:txBody>
      </p:sp>
      <p:sp>
        <p:nvSpPr>
          <p:cNvPr id="8" name="Text 6"/>
          <p:cNvSpPr/>
          <p:nvPr/>
        </p:nvSpPr>
        <p:spPr>
          <a:xfrm>
            <a:off x="666750" y="2032000"/>
            <a:ext cx="876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Cœur du pilotage : gestion cycle, sécurités, communication PC</a:t>
            </a:r>
            <a:endParaRPr lang="fr-FR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2660650"/>
            <a:ext cx="4406900" cy="1536700"/>
          </a:xfrm>
          <a:custGeom>
            <a:avLst/>
            <a:gdLst/>
            <a:ahLst/>
            <a:cxnLst/>
            <a:rect l="l" t="t" r="r" b="b"/>
            <a:pathLst>
              <a:path w="4406900" h="1536700">
                <a:moveTo>
                  <a:pt x="101607" y="0"/>
                </a:moveTo>
                <a:lnTo>
                  <a:pt x="4305293" y="0"/>
                </a:lnTo>
                <a:cubicBezTo>
                  <a:pt x="4361409" y="0"/>
                  <a:pt x="4406900" y="45491"/>
                  <a:pt x="4406900" y="101607"/>
                </a:cubicBezTo>
                <a:lnTo>
                  <a:pt x="4406900" y="1435093"/>
                </a:lnTo>
                <a:cubicBezTo>
                  <a:pt x="4406900" y="1491209"/>
                  <a:pt x="4361409" y="1536700"/>
                  <a:pt x="43052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6750" y="2819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Shape 9"/>
          <p:cNvSpPr/>
          <p:nvPr/>
        </p:nvSpPr>
        <p:spPr>
          <a:xfrm>
            <a:off x="809625" y="2959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7109" y="4242"/>
                </a:moveTo>
                <a:cubicBezTo>
                  <a:pt x="88449" y="-2366"/>
                  <a:pt x="94298" y="-7144"/>
                  <a:pt x="101084" y="-7144"/>
                </a:cubicBezTo>
                <a:lnTo>
                  <a:pt x="127784" y="-7144"/>
                </a:lnTo>
                <a:cubicBezTo>
                  <a:pt x="134570" y="-7144"/>
                  <a:pt x="140419" y="-2366"/>
                  <a:pt x="141759" y="4242"/>
                </a:cubicBezTo>
                <a:lnTo>
                  <a:pt x="148233" y="35496"/>
                </a:lnTo>
                <a:cubicBezTo>
                  <a:pt x="154528" y="38174"/>
                  <a:pt x="160422" y="41612"/>
                  <a:pt x="165780" y="45675"/>
                </a:cubicBezTo>
                <a:lnTo>
                  <a:pt x="196051" y="35629"/>
                </a:lnTo>
                <a:cubicBezTo>
                  <a:pt x="202481" y="33486"/>
                  <a:pt x="209535" y="36165"/>
                  <a:pt x="212928" y="42059"/>
                </a:cubicBezTo>
                <a:lnTo>
                  <a:pt x="226278" y="65187"/>
                </a:lnTo>
                <a:cubicBezTo>
                  <a:pt x="229672" y="71080"/>
                  <a:pt x="228466" y="78492"/>
                  <a:pt x="223376" y="83001"/>
                </a:cubicBezTo>
                <a:lnTo>
                  <a:pt x="199579" y="104165"/>
                </a:lnTo>
                <a:cubicBezTo>
                  <a:pt x="199980" y="107469"/>
                  <a:pt x="200159" y="110862"/>
                  <a:pt x="200159" y="114300"/>
                </a:cubicBezTo>
                <a:cubicBezTo>
                  <a:pt x="200159" y="117738"/>
                  <a:pt x="199936" y="121131"/>
                  <a:pt x="199579" y="124435"/>
                </a:cubicBezTo>
                <a:lnTo>
                  <a:pt x="223421" y="145643"/>
                </a:lnTo>
                <a:cubicBezTo>
                  <a:pt x="228511" y="150153"/>
                  <a:pt x="229672" y="157609"/>
                  <a:pt x="226323" y="163458"/>
                </a:cubicBezTo>
                <a:lnTo>
                  <a:pt x="212973" y="186586"/>
                </a:lnTo>
                <a:cubicBezTo>
                  <a:pt x="209580" y="192435"/>
                  <a:pt x="202525" y="195158"/>
                  <a:pt x="196096" y="193015"/>
                </a:cubicBezTo>
                <a:lnTo>
                  <a:pt x="165824" y="182969"/>
                </a:lnTo>
                <a:cubicBezTo>
                  <a:pt x="160422" y="187032"/>
                  <a:pt x="154528" y="190426"/>
                  <a:pt x="148277" y="193149"/>
                </a:cubicBezTo>
                <a:lnTo>
                  <a:pt x="141848" y="224358"/>
                </a:lnTo>
                <a:cubicBezTo>
                  <a:pt x="140464" y="231011"/>
                  <a:pt x="134615" y="235744"/>
                  <a:pt x="127873" y="235744"/>
                </a:cubicBezTo>
                <a:lnTo>
                  <a:pt x="101173" y="235744"/>
                </a:lnTo>
                <a:cubicBezTo>
                  <a:pt x="94387" y="235744"/>
                  <a:pt x="88538" y="230966"/>
                  <a:pt x="87198" y="224358"/>
                </a:cubicBezTo>
                <a:lnTo>
                  <a:pt x="80769" y="193149"/>
                </a:lnTo>
                <a:cubicBezTo>
                  <a:pt x="74474" y="190470"/>
                  <a:pt x="68625" y="187032"/>
                  <a:pt x="63222" y="182969"/>
                </a:cubicBezTo>
                <a:lnTo>
                  <a:pt x="32817" y="193015"/>
                </a:lnTo>
                <a:cubicBezTo>
                  <a:pt x="26387" y="195158"/>
                  <a:pt x="19333" y="192479"/>
                  <a:pt x="15939" y="186586"/>
                </a:cubicBezTo>
                <a:lnTo>
                  <a:pt x="2590" y="163458"/>
                </a:lnTo>
                <a:cubicBezTo>
                  <a:pt x="-804" y="157564"/>
                  <a:pt x="402" y="150153"/>
                  <a:pt x="5492" y="145643"/>
                </a:cubicBezTo>
                <a:lnTo>
                  <a:pt x="29334" y="124435"/>
                </a:lnTo>
                <a:cubicBezTo>
                  <a:pt x="28932" y="121131"/>
                  <a:pt x="28754" y="117738"/>
                  <a:pt x="28754" y="114300"/>
                </a:cubicBezTo>
                <a:cubicBezTo>
                  <a:pt x="28754" y="110862"/>
                  <a:pt x="28977" y="107469"/>
                  <a:pt x="29334" y="104165"/>
                </a:cubicBezTo>
                <a:lnTo>
                  <a:pt x="5492" y="82957"/>
                </a:lnTo>
                <a:cubicBezTo>
                  <a:pt x="402" y="78447"/>
                  <a:pt x="-759" y="70991"/>
                  <a:pt x="2590" y="65142"/>
                </a:cubicBezTo>
                <a:lnTo>
                  <a:pt x="15939" y="42014"/>
                </a:lnTo>
                <a:cubicBezTo>
                  <a:pt x="19333" y="36121"/>
                  <a:pt x="26387" y="33442"/>
                  <a:pt x="32817" y="35585"/>
                </a:cubicBezTo>
                <a:lnTo>
                  <a:pt x="63088" y="45631"/>
                </a:lnTo>
                <a:cubicBezTo>
                  <a:pt x="68491" y="41568"/>
                  <a:pt x="74384" y="38174"/>
                  <a:pt x="80635" y="35451"/>
                </a:cubicBezTo>
                <a:lnTo>
                  <a:pt x="87109" y="4242"/>
                </a:lnTo>
                <a:close/>
                <a:moveTo>
                  <a:pt x="114434" y="150019"/>
                </a:moveTo>
                <a:cubicBezTo>
                  <a:pt x="127195" y="149971"/>
                  <a:pt x="138961" y="143119"/>
                  <a:pt x="145300" y="132043"/>
                </a:cubicBezTo>
                <a:cubicBezTo>
                  <a:pt x="151639" y="120968"/>
                  <a:pt x="151588" y="107352"/>
                  <a:pt x="145166" y="96325"/>
                </a:cubicBezTo>
                <a:cubicBezTo>
                  <a:pt x="138744" y="85297"/>
                  <a:pt x="126927" y="78533"/>
                  <a:pt x="114166" y="78581"/>
                </a:cubicBezTo>
                <a:cubicBezTo>
                  <a:pt x="101405" y="78629"/>
                  <a:pt x="89639" y="85481"/>
                  <a:pt x="83300" y="96557"/>
                </a:cubicBezTo>
                <a:cubicBezTo>
                  <a:pt x="76961" y="107632"/>
                  <a:pt x="77012" y="121248"/>
                  <a:pt x="83434" y="132275"/>
                </a:cubicBezTo>
                <a:cubicBezTo>
                  <a:pt x="89856" y="143303"/>
                  <a:pt x="101673" y="150067"/>
                  <a:pt x="114434" y="150019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2" name="Text 10"/>
          <p:cNvSpPr/>
          <p:nvPr/>
        </p:nvSpPr>
        <p:spPr>
          <a:xfrm>
            <a:off x="1327150" y="2921000"/>
            <a:ext cx="213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Moteur Faible Couple</a:t>
            </a:r>
            <a:endParaRPr lang="fr-FR" sz="1600" dirty="0"/>
          </a:p>
        </p:txBody>
      </p:sp>
      <p:sp>
        <p:nvSpPr>
          <p:cNvPr id="13" name="Text 11"/>
          <p:cNvSpPr/>
          <p:nvPr/>
        </p:nvSpPr>
        <p:spPr>
          <a:xfrm>
            <a:off x="666750" y="342900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Plage : </a:t>
            </a:r>
            <a:r>
              <a:rPr lang="fr-FR" sz="16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4 - 40 Nm</a:t>
            </a:r>
            <a:endParaRPr lang="fr-FR" sz="1600" dirty="0"/>
          </a:p>
        </p:txBody>
      </p:sp>
      <p:sp>
        <p:nvSpPr>
          <p:cNvPr id="14" name="Text 12"/>
          <p:cNvSpPr/>
          <p:nvPr/>
        </p:nvSpPr>
        <p:spPr>
          <a:xfrm>
            <a:off x="666750" y="3784600"/>
            <a:ext cx="417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Haute précision petite plage</a:t>
            </a:r>
            <a:endParaRPr lang="fr-FR" sz="1600" dirty="0"/>
          </a:p>
        </p:txBody>
      </p:sp>
      <p:sp>
        <p:nvSpPr>
          <p:cNvPr id="15" name="Shape 13"/>
          <p:cNvSpPr/>
          <p:nvPr/>
        </p:nvSpPr>
        <p:spPr>
          <a:xfrm>
            <a:off x="5080000" y="2660650"/>
            <a:ext cx="4406900" cy="1536700"/>
          </a:xfrm>
          <a:custGeom>
            <a:avLst/>
            <a:gdLst/>
            <a:ahLst/>
            <a:cxnLst/>
            <a:rect l="l" t="t" r="r" b="b"/>
            <a:pathLst>
              <a:path w="4406900" h="1536700">
                <a:moveTo>
                  <a:pt x="101607" y="0"/>
                </a:moveTo>
                <a:lnTo>
                  <a:pt x="4305293" y="0"/>
                </a:lnTo>
                <a:cubicBezTo>
                  <a:pt x="4361409" y="0"/>
                  <a:pt x="4406900" y="45491"/>
                  <a:pt x="4406900" y="101607"/>
                </a:cubicBezTo>
                <a:lnTo>
                  <a:pt x="4406900" y="1435093"/>
                </a:lnTo>
                <a:cubicBezTo>
                  <a:pt x="4406900" y="1491209"/>
                  <a:pt x="4361409" y="1536700"/>
                  <a:pt x="43052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8750" y="2819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53050" y="29591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5899150" y="2921000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Moteur Fort Couple</a:t>
            </a:r>
            <a:endParaRPr lang="fr-FR" sz="1600" dirty="0"/>
          </a:p>
        </p:txBody>
      </p:sp>
      <p:sp>
        <p:nvSpPr>
          <p:cNvPr id="19" name="Text 17"/>
          <p:cNvSpPr/>
          <p:nvPr/>
        </p:nvSpPr>
        <p:spPr>
          <a:xfrm>
            <a:off x="5238750" y="342900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Plage : </a:t>
            </a:r>
            <a:r>
              <a:rPr lang="fr-FR" sz="16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20 - 200 Nm</a:t>
            </a:r>
            <a:endParaRPr lang="fr-FR" sz="1600" dirty="0"/>
          </a:p>
        </p:txBody>
      </p:sp>
      <p:sp>
        <p:nvSpPr>
          <p:cNvPr id="20" name="Text 18"/>
          <p:cNvSpPr/>
          <p:nvPr/>
        </p:nvSpPr>
        <p:spPr>
          <a:xfrm>
            <a:off x="5238750" y="3784600"/>
            <a:ext cx="417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Couples élevés</a:t>
            </a:r>
            <a:endParaRPr lang="fr-FR" sz="1600" dirty="0"/>
          </a:p>
        </p:txBody>
      </p:sp>
      <p:sp>
        <p:nvSpPr>
          <p:cNvPr id="21" name="Shape 19"/>
          <p:cNvSpPr/>
          <p:nvPr/>
        </p:nvSpPr>
        <p:spPr>
          <a:xfrm>
            <a:off x="508000" y="4362450"/>
            <a:ext cx="8978900" cy="1231900"/>
          </a:xfrm>
          <a:custGeom>
            <a:avLst/>
            <a:gdLst/>
            <a:ahLst/>
            <a:cxnLst/>
            <a:rect l="l" t="t" r="r" b="b"/>
            <a:pathLst>
              <a:path w="8978900" h="1231900">
                <a:moveTo>
                  <a:pt x="101595" y="0"/>
                </a:moveTo>
                <a:lnTo>
                  <a:pt x="8877305" y="0"/>
                </a:lnTo>
                <a:cubicBezTo>
                  <a:pt x="8933414" y="0"/>
                  <a:pt x="8978900" y="45486"/>
                  <a:pt x="8978900" y="101595"/>
                </a:cubicBezTo>
                <a:lnTo>
                  <a:pt x="8978900" y="1130305"/>
                </a:lnTo>
                <a:cubicBezTo>
                  <a:pt x="8978900" y="1186414"/>
                  <a:pt x="8933414" y="1231900"/>
                  <a:pt x="8877305" y="1231900"/>
                </a:cubicBezTo>
                <a:lnTo>
                  <a:pt x="101595" y="1231900"/>
                </a:lnTo>
                <a:cubicBezTo>
                  <a:pt x="45486" y="1231900"/>
                  <a:pt x="0" y="1186414"/>
                  <a:pt x="0" y="11303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6750" y="4521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23" name="Shape 21"/>
          <p:cNvSpPr/>
          <p:nvPr/>
        </p:nvSpPr>
        <p:spPr>
          <a:xfrm>
            <a:off x="809625" y="4660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81541"/>
                </a:moveTo>
                <a:lnTo>
                  <a:pt x="181541" y="224403"/>
                </a:lnTo>
                <a:cubicBezTo>
                  <a:pt x="177433" y="228511"/>
                  <a:pt x="171316" y="229716"/>
                  <a:pt x="165958" y="227484"/>
                </a:cubicBezTo>
                <a:cubicBezTo>
                  <a:pt x="160600" y="225251"/>
                  <a:pt x="157163" y="220072"/>
                  <a:pt x="157163" y="214313"/>
                </a:cubicBezTo>
                <a:lnTo>
                  <a:pt x="157163" y="185738"/>
                </a:ln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157163" y="157163"/>
                </a:lnTo>
                <a:lnTo>
                  <a:pt x="157163" y="128588"/>
                </a:lnTo>
                <a:cubicBezTo>
                  <a:pt x="157163" y="122828"/>
                  <a:pt x="160645" y="117604"/>
                  <a:pt x="166003" y="115372"/>
                </a:cubicBezTo>
                <a:cubicBezTo>
                  <a:pt x="171361" y="113139"/>
                  <a:pt x="177478" y="114389"/>
                  <a:pt x="181585" y="118452"/>
                </a:cubicBezTo>
                <a:lnTo>
                  <a:pt x="224448" y="161315"/>
                </a:lnTo>
                <a:cubicBezTo>
                  <a:pt x="230029" y="166896"/>
                  <a:pt x="230029" y="175959"/>
                  <a:pt x="224448" y="181541"/>
                </a:cubicBezTo>
                <a:close/>
                <a:moveTo>
                  <a:pt x="4197" y="67241"/>
                </a:moveTo>
                <a:cubicBezTo>
                  <a:pt x="-1384" y="61659"/>
                  <a:pt x="-1384" y="52596"/>
                  <a:pt x="4197" y="47015"/>
                </a:cubicBezTo>
                <a:lnTo>
                  <a:pt x="47059" y="4152"/>
                </a:lnTo>
                <a:cubicBezTo>
                  <a:pt x="51167" y="45"/>
                  <a:pt x="57284" y="-1161"/>
                  <a:pt x="62642" y="1072"/>
                </a:cubicBezTo>
                <a:cubicBezTo>
                  <a:pt x="68000" y="3304"/>
                  <a:pt x="71438" y="8528"/>
                  <a:pt x="71438" y="14288"/>
                </a:cubicBezTo>
                <a:lnTo>
                  <a:pt x="71438" y="42863"/>
                </a:lnTo>
                <a:lnTo>
                  <a:pt x="214313" y="42863"/>
                </a:lnTo>
                <a:cubicBezTo>
                  <a:pt x="222215" y="42863"/>
                  <a:pt x="228600" y="49247"/>
                  <a:pt x="228600" y="57150"/>
                </a:cubicBezTo>
                <a:cubicBezTo>
                  <a:pt x="228600" y="65053"/>
                  <a:pt x="222215" y="71438"/>
                  <a:pt x="214313" y="71438"/>
                </a:cubicBezTo>
                <a:lnTo>
                  <a:pt x="71438" y="71438"/>
                </a:lnTo>
                <a:lnTo>
                  <a:pt x="71438" y="100013"/>
                </a:lnTo>
                <a:cubicBezTo>
                  <a:pt x="71438" y="105772"/>
                  <a:pt x="67955" y="110996"/>
                  <a:pt x="62597" y="113228"/>
                </a:cubicBezTo>
                <a:cubicBezTo>
                  <a:pt x="57239" y="115461"/>
                  <a:pt x="51122" y="114211"/>
                  <a:pt x="47015" y="110148"/>
                </a:cubicBezTo>
                <a:lnTo>
                  <a:pt x="4152" y="6728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Text 22"/>
          <p:cNvSpPr/>
          <p:nvPr/>
        </p:nvSpPr>
        <p:spPr>
          <a:xfrm>
            <a:off x="1327150" y="4597400"/>
            <a:ext cx="181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Vérin Électrique</a:t>
            </a:r>
            <a:endParaRPr lang="fr-FR" sz="1600" dirty="0"/>
          </a:p>
        </p:txBody>
      </p:sp>
      <p:sp>
        <p:nvSpPr>
          <p:cNvPr id="25" name="Text 23"/>
          <p:cNvSpPr/>
          <p:nvPr/>
        </p:nvSpPr>
        <p:spPr>
          <a:xfrm>
            <a:off x="666750" y="5130800"/>
            <a:ext cx="876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Positionnement butée : 3 positions (AV, MIL, AR) avec fins de course</a:t>
            </a:r>
            <a:endParaRPr lang="fr-FR" sz="1600" dirty="0"/>
          </a:p>
        </p:txBody>
      </p:sp>
      <p:sp>
        <p:nvSpPr>
          <p:cNvPr id="26" name="Shape 24"/>
          <p:cNvSpPr/>
          <p:nvPr/>
        </p:nvSpPr>
        <p:spPr>
          <a:xfrm>
            <a:off x="508000" y="5759450"/>
            <a:ext cx="4406900" cy="1181100"/>
          </a:xfrm>
          <a:custGeom>
            <a:avLst/>
            <a:gdLst/>
            <a:ahLst/>
            <a:cxnLst/>
            <a:rect l="l" t="t" r="r" b="b"/>
            <a:pathLst>
              <a:path w="4406900" h="1181100">
                <a:moveTo>
                  <a:pt x="101598" y="0"/>
                </a:moveTo>
                <a:lnTo>
                  <a:pt x="4305302" y="0"/>
                </a:lnTo>
                <a:cubicBezTo>
                  <a:pt x="4361413" y="0"/>
                  <a:pt x="4406900" y="45487"/>
                  <a:pt x="4406900" y="101598"/>
                </a:cubicBezTo>
                <a:lnTo>
                  <a:pt x="4406900" y="1079502"/>
                </a:lnTo>
                <a:cubicBezTo>
                  <a:pt x="4406900" y="1135613"/>
                  <a:pt x="4361413" y="1181100"/>
                  <a:pt x="43053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6750" y="5918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Shape 26"/>
          <p:cNvSpPr/>
          <p:nvPr/>
        </p:nvSpPr>
        <p:spPr>
          <a:xfrm>
            <a:off x="809625" y="6057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42863"/>
                </a:moveTo>
                <a:cubicBezTo>
                  <a:pt x="28575" y="34960"/>
                  <a:pt x="34960" y="28575"/>
                  <a:pt x="42863" y="28575"/>
                </a:cubicBezTo>
                <a:lnTo>
                  <a:pt x="114300" y="28575"/>
                </a:lnTo>
                <a:cubicBezTo>
                  <a:pt x="122203" y="28575"/>
                  <a:pt x="128588" y="34960"/>
                  <a:pt x="128588" y="42863"/>
                </a:cubicBezTo>
                <a:lnTo>
                  <a:pt x="128588" y="171450"/>
                </a:lnTo>
                <a:lnTo>
                  <a:pt x="171450" y="171450"/>
                </a:lnTo>
                <a:lnTo>
                  <a:pt x="171450" y="114300"/>
                </a:lnTo>
                <a:cubicBezTo>
                  <a:pt x="171450" y="106397"/>
                  <a:pt x="177835" y="100013"/>
                  <a:pt x="185738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200025" y="128588"/>
                </a:lnTo>
                <a:lnTo>
                  <a:pt x="200025" y="185738"/>
                </a:lnTo>
                <a:cubicBezTo>
                  <a:pt x="200025" y="193640"/>
                  <a:pt x="193640" y="200025"/>
                  <a:pt x="185738" y="200025"/>
                </a:cubicBezTo>
                <a:lnTo>
                  <a:pt x="114300" y="200025"/>
                </a:lnTo>
                <a:cubicBezTo>
                  <a:pt x="106397" y="200025"/>
                  <a:pt x="100013" y="193640"/>
                  <a:pt x="100013" y="185738"/>
                </a:cubicBezTo>
                <a:lnTo>
                  <a:pt x="100013" y="57150"/>
                </a:lnTo>
                <a:lnTo>
                  <a:pt x="57150" y="57150"/>
                </a:lnTo>
                <a:lnTo>
                  <a:pt x="57150" y="114300"/>
                </a:lnTo>
                <a:cubicBezTo>
                  <a:pt x="57150" y="122203"/>
                  <a:pt x="50765" y="128588"/>
                  <a:pt x="42863" y="128588"/>
                </a:cubicBezTo>
                <a:lnTo>
                  <a:pt x="14288" y="128588"/>
                </a:lnTo>
                <a:cubicBezTo>
                  <a:pt x="6385" y="128588"/>
                  <a:pt x="0" y="122203"/>
                  <a:pt x="0" y="114300"/>
                </a:cubicBezTo>
                <a:cubicBezTo>
                  <a:pt x="0" y="106397"/>
                  <a:pt x="6385" y="100013"/>
                  <a:pt x="14288" y="100013"/>
                </a:cubicBezTo>
                <a:lnTo>
                  <a:pt x="28575" y="100013"/>
                </a:lnTo>
                <a:lnTo>
                  <a:pt x="28575" y="42863"/>
                </a:ln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29" name="Text 27"/>
          <p:cNvSpPr/>
          <p:nvPr/>
        </p:nvSpPr>
        <p:spPr>
          <a:xfrm>
            <a:off x="1327150" y="601980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Capteurs TOR</a:t>
            </a:r>
            <a:endParaRPr lang="fr-FR" sz="1600" dirty="0"/>
          </a:p>
        </p:txBody>
      </p:sp>
      <p:sp>
        <p:nvSpPr>
          <p:cNvPr id="30" name="Text 28"/>
          <p:cNvSpPr/>
          <p:nvPr/>
        </p:nvSpPr>
        <p:spPr>
          <a:xfrm>
            <a:off x="666750" y="6527800"/>
            <a:ext cx="417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Capot, AU, clé, FDC, température</a:t>
            </a:r>
            <a:endParaRPr lang="fr-FR" sz="1600" dirty="0"/>
          </a:p>
        </p:txBody>
      </p:sp>
      <p:sp>
        <p:nvSpPr>
          <p:cNvPr id="31" name="Shape 29"/>
          <p:cNvSpPr/>
          <p:nvPr/>
        </p:nvSpPr>
        <p:spPr>
          <a:xfrm>
            <a:off x="5080000" y="5759450"/>
            <a:ext cx="4406900" cy="1181100"/>
          </a:xfrm>
          <a:custGeom>
            <a:avLst/>
            <a:gdLst/>
            <a:ahLst/>
            <a:cxnLst/>
            <a:rect l="l" t="t" r="r" b="b"/>
            <a:pathLst>
              <a:path w="4406900" h="1181100">
                <a:moveTo>
                  <a:pt x="101598" y="0"/>
                </a:moveTo>
                <a:lnTo>
                  <a:pt x="4305302" y="0"/>
                </a:lnTo>
                <a:cubicBezTo>
                  <a:pt x="4361413" y="0"/>
                  <a:pt x="4406900" y="45487"/>
                  <a:pt x="4406900" y="101598"/>
                </a:cubicBezTo>
                <a:lnTo>
                  <a:pt x="4406900" y="1079502"/>
                </a:lnTo>
                <a:cubicBezTo>
                  <a:pt x="4406900" y="1135613"/>
                  <a:pt x="4361413" y="1181100"/>
                  <a:pt x="43053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38750" y="5918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0"/>
                </a:moveTo>
                <a:lnTo>
                  <a:pt x="457200" y="0"/>
                </a:lnTo>
                <a:cubicBezTo>
                  <a:pt x="485237" y="0"/>
                  <a:pt x="508000" y="22763"/>
                  <a:pt x="508000" y="50800"/>
                </a:cubicBezTo>
                <a:lnTo>
                  <a:pt x="508000" y="457200"/>
                </a:lnTo>
                <a:cubicBezTo>
                  <a:pt x="508000" y="485237"/>
                  <a:pt x="485237" y="508000"/>
                  <a:pt x="457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3" name="Shape 31"/>
          <p:cNvSpPr/>
          <p:nvPr/>
        </p:nvSpPr>
        <p:spPr>
          <a:xfrm>
            <a:off x="5381625" y="6057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34" name="Text 32"/>
          <p:cNvSpPr/>
          <p:nvPr/>
        </p:nvSpPr>
        <p:spPr>
          <a:xfrm>
            <a:off x="5899150" y="601980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Capteurs Analogiques</a:t>
            </a:r>
            <a:endParaRPr lang="fr-FR" sz="1600" dirty="0"/>
          </a:p>
        </p:txBody>
      </p:sp>
      <p:sp>
        <p:nvSpPr>
          <p:cNvPr id="35" name="Text 33"/>
          <p:cNvSpPr/>
          <p:nvPr/>
        </p:nvSpPr>
        <p:spPr>
          <a:xfrm>
            <a:off x="5238750" y="6527800"/>
            <a:ext cx="417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Couplemètres</a:t>
            </a: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(0-10V)</a:t>
            </a:r>
            <a:endParaRPr lang="fr-FR" sz="1600" dirty="0"/>
          </a:p>
        </p:txBody>
      </p:sp>
      <p:sp>
        <p:nvSpPr>
          <p:cNvPr id="36" name="Shape 34"/>
          <p:cNvSpPr/>
          <p:nvPr/>
        </p:nvSpPr>
        <p:spPr>
          <a:xfrm>
            <a:off x="9848850" y="2635250"/>
            <a:ext cx="5981700" cy="2882900"/>
          </a:xfrm>
          <a:custGeom>
            <a:avLst/>
            <a:gdLst/>
            <a:ahLst/>
            <a:cxnLst/>
            <a:rect l="l" t="t" r="r" b="b"/>
            <a:pathLst>
              <a:path w="5981700" h="5981700">
                <a:moveTo>
                  <a:pt x="101629" y="0"/>
                </a:moveTo>
                <a:lnTo>
                  <a:pt x="5880071" y="0"/>
                </a:lnTo>
                <a:cubicBezTo>
                  <a:pt x="5936199" y="0"/>
                  <a:pt x="5981700" y="45501"/>
                  <a:pt x="5981700" y="101629"/>
                </a:cubicBezTo>
                <a:lnTo>
                  <a:pt x="5981700" y="5880071"/>
                </a:lnTo>
                <a:cubicBezTo>
                  <a:pt x="5981700" y="5936199"/>
                  <a:pt x="5936199" y="5981700"/>
                  <a:pt x="5880071" y="5981700"/>
                </a:cubicBezTo>
                <a:lnTo>
                  <a:pt x="101629" y="5981700"/>
                </a:lnTo>
                <a:cubicBezTo>
                  <a:pt x="45501" y="5981700"/>
                  <a:pt x="0" y="5936199"/>
                  <a:pt x="0" y="5880071"/>
                </a:cubicBezTo>
                <a:lnTo>
                  <a:pt x="0" y="101629"/>
                </a:lnTo>
                <a:cubicBezTo>
                  <a:pt x="0" y="45538"/>
                  <a:pt x="45538" y="0"/>
                  <a:pt x="10162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848850" y="2635250"/>
            <a:ext cx="5981700" cy="1587500"/>
          </a:xfrm>
          <a:custGeom>
            <a:avLst/>
            <a:gdLst/>
            <a:ahLst/>
            <a:cxnLst/>
            <a:rect l="l" t="t" r="r" b="b"/>
            <a:pathLst>
              <a:path w="5981700" h="1587500">
                <a:moveTo>
                  <a:pt x="101600" y="0"/>
                </a:moveTo>
                <a:lnTo>
                  <a:pt x="5880100" y="0"/>
                </a:lnTo>
                <a:cubicBezTo>
                  <a:pt x="5936175" y="0"/>
                  <a:pt x="5981700" y="45525"/>
                  <a:pt x="5981700" y="101600"/>
                </a:cubicBezTo>
                <a:lnTo>
                  <a:pt x="5981700" y="1485900"/>
                </a:lnTo>
                <a:cubicBezTo>
                  <a:pt x="5981700" y="1541975"/>
                  <a:pt x="5936175" y="1587500"/>
                  <a:pt x="5880100" y="1587500"/>
                </a:cubicBezTo>
                <a:lnTo>
                  <a:pt x="101600" y="1587500"/>
                </a:lnTo>
                <a:cubicBezTo>
                  <a:pt x="45525" y="1587500"/>
                  <a:pt x="0" y="1541975"/>
                  <a:pt x="0" y="14859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077450" y="2870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7638" y="52388"/>
                </a:moveTo>
                <a:lnTo>
                  <a:pt x="195263" y="52388"/>
                </a:lnTo>
                <a:lnTo>
                  <a:pt x="195263" y="80962"/>
                </a:lnTo>
                <a:lnTo>
                  <a:pt x="147638" y="80962"/>
                </a:lnTo>
                <a:lnTo>
                  <a:pt x="147638" y="52388"/>
                </a:lnTo>
                <a:close/>
                <a:moveTo>
                  <a:pt x="142875" y="19050"/>
                </a:moveTo>
                <a:cubicBezTo>
                  <a:pt x="127099" y="19050"/>
                  <a:pt x="114300" y="31849"/>
                  <a:pt x="114300" y="47625"/>
                </a:cubicBezTo>
                <a:lnTo>
                  <a:pt x="114300" y="85725"/>
                </a:lnTo>
                <a:cubicBezTo>
                  <a:pt x="114300" y="101501"/>
                  <a:pt x="127099" y="114300"/>
                  <a:pt x="142875" y="114300"/>
                </a:cubicBezTo>
                <a:lnTo>
                  <a:pt x="152400" y="114300"/>
                </a:lnTo>
                <a:lnTo>
                  <a:pt x="152400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76200" y="171450"/>
                </a:lnTo>
                <a:lnTo>
                  <a:pt x="76200" y="190500"/>
                </a:lnTo>
                <a:lnTo>
                  <a:pt x="66675" y="190500"/>
                </a:lnTo>
                <a:cubicBezTo>
                  <a:pt x="50899" y="190500"/>
                  <a:pt x="38100" y="203299"/>
                  <a:pt x="38100" y="219075"/>
                </a:cubicBezTo>
                <a:lnTo>
                  <a:pt x="38100" y="257175"/>
                </a:lnTo>
                <a:cubicBezTo>
                  <a:pt x="38100" y="272951"/>
                  <a:pt x="50899" y="285750"/>
                  <a:pt x="66675" y="285750"/>
                </a:cubicBezTo>
                <a:lnTo>
                  <a:pt x="123825" y="285750"/>
                </a:lnTo>
                <a:cubicBezTo>
                  <a:pt x="139601" y="285750"/>
                  <a:pt x="152400" y="272951"/>
                  <a:pt x="152400" y="257175"/>
                </a:cubicBezTo>
                <a:lnTo>
                  <a:pt x="152400" y="219075"/>
                </a:lnTo>
                <a:cubicBezTo>
                  <a:pt x="152400" y="203299"/>
                  <a:pt x="139601" y="190500"/>
                  <a:pt x="123825" y="190500"/>
                </a:cubicBezTo>
                <a:lnTo>
                  <a:pt x="114300" y="190500"/>
                </a:lnTo>
                <a:lnTo>
                  <a:pt x="114300" y="171450"/>
                </a:lnTo>
                <a:lnTo>
                  <a:pt x="228600" y="171450"/>
                </a:lnTo>
                <a:lnTo>
                  <a:pt x="228600" y="190500"/>
                </a:lnTo>
                <a:lnTo>
                  <a:pt x="219075" y="190500"/>
                </a:lnTo>
                <a:cubicBezTo>
                  <a:pt x="203299" y="190500"/>
                  <a:pt x="190500" y="203299"/>
                  <a:pt x="190500" y="219075"/>
                </a:cubicBezTo>
                <a:lnTo>
                  <a:pt x="190500" y="257175"/>
                </a:lnTo>
                <a:cubicBezTo>
                  <a:pt x="190500" y="272951"/>
                  <a:pt x="203299" y="285750"/>
                  <a:pt x="2190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219075"/>
                </a:lnTo>
                <a:cubicBezTo>
                  <a:pt x="304800" y="203299"/>
                  <a:pt x="292001" y="190500"/>
                  <a:pt x="276225" y="190500"/>
                </a:cubicBezTo>
                <a:lnTo>
                  <a:pt x="266700" y="190500"/>
                </a:lnTo>
                <a:lnTo>
                  <a:pt x="266700" y="171450"/>
                </a:lnTo>
                <a:lnTo>
                  <a:pt x="323850" y="171450"/>
                </a:lnTo>
                <a:cubicBezTo>
                  <a:pt x="334387" y="171450"/>
                  <a:pt x="342900" y="162937"/>
                  <a:pt x="342900" y="152400"/>
                </a:cubicBezTo>
                <a:cubicBezTo>
                  <a:pt x="342900" y="141863"/>
                  <a:pt x="334387" y="133350"/>
                  <a:pt x="323850" y="133350"/>
                </a:cubicBezTo>
                <a:lnTo>
                  <a:pt x="190500" y="133350"/>
                </a:lnTo>
                <a:lnTo>
                  <a:pt x="190500" y="114300"/>
                </a:lnTo>
                <a:lnTo>
                  <a:pt x="200025" y="114300"/>
                </a:lnTo>
                <a:cubicBezTo>
                  <a:pt x="215801" y="114300"/>
                  <a:pt x="228600" y="101501"/>
                  <a:pt x="228600" y="85725"/>
                </a:cubicBezTo>
                <a:lnTo>
                  <a:pt x="228600" y="47625"/>
                </a:lnTo>
                <a:cubicBezTo>
                  <a:pt x="228600" y="31849"/>
                  <a:pt x="215801" y="19050"/>
                  <a:pt x="200025" y="19050"/>
                </a:cubicBezTo>
                <a:lnTo>
                  <a:pt x="142875" y="19050"/>
                </a:lnTo>
                <a:close/>
                <a:moveTo>
                  <a:pt x="266700" y="223838"/>
                </a:moveTo>
                <a:lnTo>
                  <a:pt x="271463" y="223838"/>
                </a:lnTo>
                <a:lnTo>
                  <a:pt x="271463" y="252413"/>
                </a:lnTo>
                <a:lnTo>
                  <a:pt x="223838" y="252413"/>
                </a:lnTo>
                <a:lnTo>
                  <a:pt x="223838" y="223838"/>
                </a:lnTo>
                <a:lnTo>
                  <a:pt x="266700" y="223838"/>
                </a:lnTo>
                <a:close/>
                <a:moveTo>
                  <a:pt x="114300" y="223838"/>
                </a:moveTo>
                <a:lnTo>
                  <a:pt x="119062" y="223838"/>
                </a:lnTo>
                <a:lnTo>
                  <a:pt x="119062" y="252413"/>
                </a:lnTo>
                <a:lnTo>
                  <a:pt x="71438" y="252413"/>
                </a:lnTo>
                <a:lnTo>
                  <a:pt x="71438" y="223838"/>
                </a:lnTo>
                <a:lnTo>
                  <a:pt x="114300" y="223838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0" name="Text 37"/>
          <p:cNvSpPr/>
          <p:nvPr/>
        </p:nvSpPr>
        <p:spPr>
          <a:xfrm>
            <a:off x="10591800" y="2844800"/>
            <a:ext cx="180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fr-FR" sz="1600" dirty="0"/>
          </a:p>
        </p:txBody>
      </p:sp>
      <p:sp>
        <p:nvSpPr>
          <p:cNvPr id="41" name="Text 38"/>
          <p:cNvSpPr/>
          <p:nvPr/>
        </p:nvSpPr>
        <p:spPr>
          <a:xfrm>
            <a:off x="10058400" y="3352800"/>
            <a:ext cx="16196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Ethernet TCP/IP</a:t>
            </a:r>
            <a:endParaRPr lang="fr-FR" sz="1600" dirty="0"/>
          </a:p>
        </p:txBody>
      </p:sp>
      <p:sp>
        <p:nvSpPr>
          <p:cNvPr id="42" name="Text 39"/>
          <p:cNvSpPr/>
          <p:nvPr/>
        </p:nvSpPr>
        <p:spPr>
          <a:xfrm>
            <a:off x="10058400" y="3759200"/>
            <a:ext cx="565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Échange rapide données, supervision PC, génération rapports</a:t>
            </a:r>
            <a:endParaRPr lang="fr-FR" sz="1600" dirty="0"/>
          </a:p>
        </p:txBody>
      </p:sp>
      <p:sp>
        <p:nvSpPr>
          <p:cNvPr id="43" name="Shape 40"/>
          <p:cNvSpPr/>
          <p:nvPr/>
        </p:nvSpPr>
        <p:spPr>
          <a:xfrm>
            <a:off x="9848850" y="4387850"/>
            <a:ext cx="5981700" cy="1130300"/>
          </a:xfrm>
          <a:custGeom>
            <a:avLst/>
            <a:gdLst/>
            <a:ahLst/>
            <a:cxnLst/>
            <a:rect l="l" t="t" r="r" b="b"/>
            <a:pathLst>
              <a:path w="5981700" h="1130300">
                <a:moveTo>
                  <a:pt x="101603" y="0"/>
                </a:moveTo>
                <a:lnTo>
                  <a:pt x="5880097" y="0"/>
                </a:lnTo>
                <a:cubicBezTo>
                  <a:pt x="5936211" y="0"/>
                  <a:pt x="5981700" y="45489"/>
                  <a:pt x="5981700" y="101603"/>
                </a:cubicBezTo>
                <a:lnTo>
                  <a:pt x="5981700" y="1028697"/>
                </a:lnTo>
                <a:cubicBezTo>
                  <a:pt x="5981700" y="1084811"/>
                  <a:pt x="5936211" y="1130300"/>
                  <a:pt x="5880097" y="1130300"/>
                </a:cubicBezTo>
                <a:lnTo>
                  <a:pt x="101603" y="1130300"/>
                </a:lnTo>
                <a:cubicBezTo>
                  <a:pt x="45489" y="1130300"/>
                  <a:pt x="0" y="1084811"/>
                  <a:pt x="0" y="1028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007600" y="4572000"/>
            <a:ext cx="219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Alimentation Puissance</a:t>
            </a:r>
            <a:endParaRPr lang="fr-FR" sz="1600" dirty="0"/>
          </a:p>
        </p:txBody>
      </p:sp>
      <p:sp>
        <p:nvSpPr>
          <p:cNvPr id="45" name="Text 42"/>
          <p:cNvSpPr/>
          <p:nvPr/>
        </p:nvSpPr>
        <p:spPr>
          <a:xfrm>
            <a:off x="15080059" y="45466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230V</a:t>
            </a:r>
            <a:endParaRPr lang="fr-FR" sz="1600" dirty="0"/>
          </a:p>
        </p:txBody>
      </p:sp>
      <p:sp>
        <p:nvSpPr>
          <p:cNvPr id="46" name="Text 43"/>
          <p:cNvSpPr/>
          <p:nvPr/>
        </p:nvSpPr>
        <p:spPr>
          <a:xfrm>
            <a:off x="10007600" y="502920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Alimentation Commande</a:t>
            </a:r>
            <a:endParaRPr lang="fr-FR" sz="1600" dirty="0"/>
          </a:p>
        </p:txBody>
      </p:sp>
      <p:sp>
        <p:nvSpPr>
          <p:cNvPr id="47" name="Text 44"/>
          <p:cNvSpPr/>
          <p:nvPr/>
        </p:nvSpPr>
        <p:spPr>
          <a:xfrm>
            <a:off x="14849872" y="5003800"/>
            <a:ext cx="93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800" b="1" dirty="0" smtClean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24V DC</a:t>
            </a:r>
            <a:endParaRPr lang="fr-FR" sz="1600" dirty="0"/>
          </a:p>
        </p:txBody>
      </p:sp>
      <p:pic>
        <p:nvPicPr>
          <p:cNvPr id="48" name="Image 47" descr="Mini-vérins-électriques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7155872"/>
            <a:ext cx="2591345" cy="1622157"/>
          </a:xfrm>
          <a:prstGeom prst="rect">
            <a:avLst/>
          </a:prstGeom>
        </p:spPr>
      </p:pic>
      <p:pic>
        <p:nvPicPr>
          <p:cNvPr id="49" name="Image 48" descr="motoréducteur 4-40Nm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9704" y="7079100"/>
            <a:ext cx="2306971" cy="1892300"/>
          </a:xfrm>
          <a:prstGeom prst="rect">
            <a:avLst/>
          </a:prstGeom>
        </p:spPr>
      </p:pic>
      <p:pic>
        <p:nvPicPr>
          <p:cNvPr id="50" name="Image 49" descr="motoréducteur 20-200Nm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7613" y="7009825"/>
            <a:ext cx="2509837" cy="1983477"/>
          </a:xfrm>
          <a:prstGeom prst="rect">
            <a:avLst/>
          </a:prstGeom>
        </p:spPr>
      </p:pic>
      <p:pic>
        <p:nvPicPr>
          <p:cNvPr id="51" name="Image 50" descr="S7-300.png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40850" y="6057900"/>
            <a:ext cx="6915150" cy="3276600"/>
          </a:xfrm>
          <a:prstGeom prst="rect">
            <a:avLst/>
          </a:prstGeom>
        </p:spPr>
      </p:pic>
      <p:pic>
        <p:nvPicPr>
          <p:cNvPr id="52" name="Image 51" descr="Ethernet TCP_IP.png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24381" y="91281"/>
            <a:ext cx="2941637" cy="2941637"/>
          </a:xfrm>
          <a:prstGeom prst="rect">
            <a:avLst/>
          </a:prstGeom>
        </p:spPr>
      </p:pic>
      <p:sp>
        <p:nvSpPr>
          <p:cNvPr id="53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dirty="0" smtClean="0">
                <a:solidFill>
                  <a:srgbClr val="E89F5B"/>
                </a:solidFill>
              </a:rPr>
              <a:t>10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4" grpId="0" animBg="1"/>
      <p:bldP spid="18" grpId="0" animBg="1"/>
      <p:bldP spid="19" grpId="0" animBg="1"/>
      <p:bldP spid="20" grpId="0" animBg="1"/>
      <p:bldP spid="24" grpId="0" animBg="1"/>
      <p:bldP spid="25" grpId="0" animBg="1"/>
      <p:bldP spid="29" grpId="0" animBg="1"/>
      <p:bldP spid="30" grpId="0" animBg="1"/>
      <p:bldP spid="34" grpId="0" animBg="1"/>
      <p:bldP spid="35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04. ANALYSE FONCTIONNELLE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Décomposition Fonctionnelle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20700" y="1689100"/>
            <a:ext cx="15214600" cy="2209800"/>
          </a:xfrm>
          <a:custGeom>
            <a:avLst/>
            <a:gdLst/>
            <a:ahLst/>
            <a:cxnLst/>
            <a:rect l="l" t="t" r="r" b="b"/>
            <a:pathLst>
              <a:path w="15214600" h="2209800">
                <a:moveTo>
                  <a:pt x="101607" y="0"/>
                </a:moveTo>
                <a:lnTo>
                  <a:pt x="15112993" y="0"/>
                </a:lnTo>
                <a:cubicBezTo>
                  <a:pt x="15169109" y="0"/>
                  <a:pt x="15214600" y="45491"/>
                  <a:pt x="15214600" y="101607"/>
                </a:cubicBezTo>
                <a:lnTo>
                  <a:pt x="15214600" y="2108193"/>
                </a:lnTo>
                <a:cubicBezTo>
                  <a:pt x="15214600" y="2164309"/>
                  <a:pt x="15169109" y="2209800"/>
                  <a:pt x="15112993" y="2209800"/>
                </a:cubicBezTo>
                <a:lnTo>
                  <a:pt x="101607" y="2209800"/>
                </a:lnTo>
                <a:cubicBezTo>
                  <a:pt x="45491" y="2209800"/>
                  <a:pt x="0" y="2164309"/>
                  <a:pt x="0" y="21081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30000"/>
                </a:srgbClr>
              </a:gs>
              <a:gs pos="100000">
                <a:srgbClr val="E89F5B">
                  <a:alpha val="10000"/>
                </a:srgbClr>
              </a:gs>
            </a:gsLst>
            <a:lin ang="0" scaled="1"/>
          </a:gradFill>
          <a:ln w="25400">
            <a:solidFill>
              <a:srgbClr val="E89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7400" y="1955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215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701800" y="2114550"/>
            <a:ext cx="2552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24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 Globale</a:t>
            </a:r>
            <a:endParaRPr lang="fr-FR" sz="1600" dirty="0"/>
          </a:p>
        </p:txBody>
      </p:sp>
      <p:sp>
        <p:nvSpPr>
          <p:cNvPr id="8" name="Text 6"/>
          <p:cNvSpPr/>
          <p:nvPr/>
        </p:nvSpPr>
        <p:spPr>
          <a:xfrm>
            <a:off x="723900" y="2819400"/>
            <a:ext cx="14808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fr-FR" sz="20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Assurer automatiquement la </a:t>
            </a:r>
            <a:r>
              <a:rPr lang="fr-FR" sz="20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vérification</a:t>
            </a:r>
            <a:r>
              <a:rPr lang="fr-FR" sz="20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et la </a:t>
            </a:r>
            <a:r>
              <a:rPr lang="fr-FR" sz="20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calibration</a:t>
            </a:r>
            <a:r>
              <a:rPr lang="fr-FR" sz="20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d'une clé dynamométrique Mt Alpha V1+, dans des conditions sécurisées et conformes à la norme </a:t>
            </a:r>
            <a:r>
              <a:rPr lang="fr-FR" sz="20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 6789-1:2017</a:t>
            </a:r>
            <a:endParaRPr lang="fr-FR" sz="1600" dirty="0"/>
          </a:p>
        </p:txBody>
      </p:sp>
      <p:sp>
        <p:nvSpPr>
          <p:cNvPr id="9" name="Shape 7"/>
          <p:cNvSpPr/>
          <p:nvPr/>
        </p:nvSpPr>
        <p:spPr>
          <a:xfrm>
            <a:off x="514350" y="4171950"/>
            <a:ext cx="4902200" cy="4457700"/>
          </a:xfrm>
          <a:custGeom>
            <a:avLst/>
            <a:gdLst/>
            <a:ahLst/>
            <a:cxnLst/>
            <a:rect l="l" t="t" r="r" b="b"/>
            <a:pathLst>
              <a:path w="4902200" h="4457700">
                <a:moveTo>
                  <a:pt x="101591" y="0"/>
                </a:moveTo>
                <a:lnTo>
                  <a:pt x="4800609" y="0"/>
                </a:lnTo>
                <a:cubicBezTo>
                  <a:pt x="4856716" y="0"/>
                  <a:pt x="4902200" y="45484"/>
                  <a:pt x="4902200" y="101591"/>
                </a:cubicBezTo>
                <a:lnTo>
                  <a:pt x="4902200" y="4356109"/>
                </a:lnTo>
                <a:cubicBezTo>
                  <a:pt x="4902200" y="4412216"/>
                  <a:pt x="4856716" y="4457700"/>
                  <a:pt x="4800609" y="4457700"/>
                </a:cubicBezTo>
                <a:lnTo>
                  <a:pt x="101591" y="4457700"/>
                </a:lnTo>
                <a:cubicBezTo>
                  <a:pt x="45484" y="4457700"/>
                  <a:pt x="0" y="4412216"/>
                  <a:pt x="0" y="4356109"/>
                </a:cubicBezTo>
                <a:lnTo>
                  <a:pt x="0" y="101591"/>
                </a:lnTo>
                <a:cubicBezTo>
                  <a:pt x="0" y="45521"/>
                  <a:pt x="45521" y="0"/>
                  <a:pt x="10159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4700" y="4432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4610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27000" y="67469"/>
                </a:moveTo>
                <a:cubicBezTo>
                  <a:pt x="133598" y="67469"/>
                  <a:pt x="138906" y="72777"/>
                  <a:pt x="138906" y="79375"/>
                </a:cubicBezTo>
                <a:lnTo>
                  <a:pt x="138906" y="134938"/>
                </a:lnTo>
                <a:cubicBezTo>
                  <a:pt x="138906" y="141536"/>
                  <a:pt x="133598" y="146844"/>
                  <a:pt x="127000" y="146844"/>
                </a:cubicBezTo>
                <a:cubicBezTo>
                  <a:pt x="120402" y="146844"/>
                  <a:pt x="115094" y="141536"/>
                  <a:pt x="115094" y="134938"/>
                </a:cubicBezTo>
                <a:lnTo>
                  <a:pt x="115094" y="79375"/>
                </a:lnTo>
                <a:cubicBezTo>
                  <a:pt x="115094" y="72777"/>
                  <a:pt x="120402" y="67469"/>
                  <a:pt x="127000" y="67469"/>
                </a:cubicBezTo>
                <a:close/>
                <a:moveTo>
                  <a:pt x="113754" y="174625"/>
                </a:moveTo>
                <a:cubicBezTo>
                  <a:pt x="113453" y="169708"/>
                  <a:pt x="115905" y="165031"/>
                  <a:pt x="120120" y="162481"/>
                </a:cubicBezTo>
                <a:cubicBezTo>
                  <a:pt x="124334" y="159932"/>
                  <a:pt x="129616" y="159932"/>
                  <a:pt x="133831" y="162481"/>
                </a:cubicBezTo>
                <a:cubicBezTo>
                  <a:pt x="138045" y="165031"/>
                  <a:pt x="140497" y="169708"/>
                  <a:pt x="140196" y="174625"/>
                </a:cubicBezTo>
                <a:cubicBezTo>
                  <a:pt x="140497" y="179542"/>
                  <a:pt x="138045" y="184219"/>
                  <a:pt x="133831" y="186769"/>
                </a:cubicBezTo>
                <a:cubicBezTo>
                  <a:pt x="129616" y="189318"/>
                  <a:pt x="124334" y="189318"/>
                  <a:pt x="120120" y="186769"/>
                </a:cubicBezTo>
                <a:cubicBezTo>
                  <a:pt x="115905" y="184219"/>
                  <a:pt x="113453" y="179542"/>
                  <a:pt x="113754" y="17462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1536700" y="4559300"/>
            <a:ext cx="2438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Critiques</a:t>
            </a:r>
            <a:endParaRPr lang="fr-FR" sz="1600" dirty="0"/>
          </a:p>
        </p:txBody>
      </p:sp>
      <p:sp>
        <p:nvSpPr>
          <p:cNvPr id="13" name="Shape 11"/>
          <p:cNvSpPr/>
          <p:nvPr/>
        </p:nvSpPr>
        <p:spPr>
          <a:xfrm>
            <a:off x="774700" y="55118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4" name="Shape 12"/>
          <p:cNvSpPr/>
          <p:nvPr/>
        </p:nvSpPr>
        <p:spPr>
          <a:xfrm>
            <a:off x="901700" y="5664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5" name="Text 13"/>
          <p:cNvSpPr/>
          <p:nvPr/>
        </p:nvSpPr>
        <p:spPr>
          <a:xfrm>
            <a:off x="1282700" y="561340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Sécuriser le banc</a:t>
            </a:r>
            <a:endParaRPr lang="fr-FR" sz="1600" dirty="0"/>
          </a:p>
        </p:txBody>
      </p:sp>
      <p:sp>
        <p:nvSpPr>
          <p:cNvPr id="16" name="Shape 14"/>
          <p:cNvSpPr/>
          <p:nvPr/>
        </p:nvSpPr>
        <p:spPr>
          <a:xfrm>
            <a:off x="774700" y="65532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Shape 15"/>
          <p:cNvSpPr/>
          <p:nvPr/>
        </p:nvSpPr>
        <p:spPr>
          <a:xfrm>
            <a:off x="901700" y="6705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0540" y="76200"/>
                </a:moveTo>
                <a:lnTo>
                  <a:pt x="193675" y="76200"/>
                </a:lnTo>
                <a:cubicBezTo>
                  <a:pt x="198953" y="76200"/>
                  <a:pt x="203200" y="71953"/>
                  <a:pt x="203200" y="66675"/>
                </a:cubicBezTo>
                <a:lnTo>
                  <a:pt x="203200" y="9525"/>
                </a:lnTo>
                <a:cubicBezTo>
                  <a:pt x="203200" y="5675"/>
                  <a:pt x="200898" y="2183"/>
                  <a:pt x="197326" y="714"/>
                </a:cubicBezTo>
                <a:cubicBezTo>
                  <a:pt x="193754" y="-754"/>
                  <a:pt x="189667" y="79"/>
                  <a:pt x="186928" y="2778"/>
                </a:cubicBezTo>
                <a:lnTo>
                  <a:pt x="166410" y="23336"/>
                </a:lnTo>
                <a:cubicBezTo>
                  <a:pt x="148828" y="8771"/>
                  <a:pt x="126206" y="0"/>
                  <a:pt x="101600" y="0"/>
                </a:cubicBezTo>
                <a:cubicBezTo>
                  <a:pt x="50403" y="0"/>
                  <a:pt x="8057" y="37862"/>
                  <a:pt x="1032" y="87114"/>
                </a:cubicBezTo>
                <a:cubicBezTo>
                  <a:pt x="40" y="94059"/>
                  <a:pt x="4842" y="100489"/>
                  <a:pt x="11787" y="101481"/>
                </a:cubicBezTo>
                <a:cubicBezTo>
                  <a:pt x="18733" y="102473"/>
                  <a:pt x="25162" y="97631"/>
                  <a:pt x="26154" y="90726"/>
                </a:cubicBezTo>
                <a:cubicBezTo>
                  <a:pt x="31433" y="53777"/>
                  <a:pt x="63222" y="25400"/>
                  <a:pt x="101600" y="25400"/>
                </a:cubicBezTo>
                <a:cubicBezTo>
                  <a:pt x="119221" y="25400"/>
                  <a:pt x="135414" y="31353"/>
                  <a:pt x="148312" y="41394"/>
                </a:cubicBezTo>
                <a:lnTo>
                  <a:pt x="129778" y="59928"/>
                </a:lnTo>
                <a:cubicBezTo>
                  <a:pt x="127040" y="62667"/>
                  <a:pt x="126246" y="66754"/>
                  <a:pt x="127714" y="70326"/>
                </a:cubicBezTo>
                <a:cubicBezTo>
                  <a:pt x="129183" y="73898"/>
                  <a:pt x="132675" y="76200"/>
                  <a:pt x="136525" y="76200"/>
                </a:cubicBezTo>
                <a:lnTo>
                  <a:pt x="190540" y="76200"/>
                </a:lnTo>
                <a:close/>
                <a:moveTo>
                  <a:pt x="202208" y="116086"/>
                </a:moveTo>
                <a:cubicBezTo>
                  <a:pt x="203200" y="109141"/>
                  <a:pt x="198358" y="102711"/>
                  <a:pt x="191452" y="101719"/>
                </a:cubicBezTo>
                <a:cubicBezTo>
                  <a:pt x="184547" y="100727"/>
                  <a:pt x="178078" y="105569"/>
                  <a:pt x="177086" y="112474"/>
                </a:cubicBezTo>
                <a:cubicBezTo>
                  <a:pt x="171807" y="149384"/>
                  <a:pt x="140017" y="177760"/>
                  <a:pt x="101640" y="177760"/>
                </a:cubicBezTo>
                <a:cubicBezTo>
                  <a:pt x="84018" y="177760"/>
                  <a:pt x="67826" y="171807"/>
                  <a:pt x="54928" y="161766"/>
                </a:cubicBezTo>
                <a:lnTo>
                  <a:pt x="73422" y="143272"/>
                </a:lnTo>
                <a:cubicBezTo>
                  <a:pt x="76160" y="140533"/>
                  <a:pt x="76954" y="136446"/>
                  <a:pt x="75486" y="132874"/>
                </a:cubicBezTo>
                <a:cubicBezTo>
                  <a:pt x="74017" y="129302"/>
                  <a:pt x="70525" y="127000"/>
                  <a:pt x="66675" y="127000"/>
                </a:cubicBezTo>
                <a:lnTo>
                  <a:pt x="9525" y="127000"/>
                </a:lnTo>
                <a:cubicBezTo>
                  <a:pt x="4247" y="127000"/>
                  <a:pt x="0" y="131247"/>
                  <a:pt x="0" y="136525"/>
                </a:cubicBezTo>
                <a:lnTo>
                  <a:pt x="0" y="193675"/>
                </a:lnTo>
                <a:cubicBezTo>
                  <a:pt x="0" y="197525"/>
                  <a:pt x="2302" y="201017"/>
                  <a:pt x="5874" y="202486"/>
                </a:cubicBezTo>
                <a:cubicBezTo>
                  <a:pt x="9446" y="203954"/>
                  <a:pt x="13533" y="203121"/>
                  <a:pt x="16272" y="200422"/>
                </a:cubicBezTo>
                <a:lnTo>
                  <a:pt x="36830" y="179864"/>
                </a:lnTo>
                <a:cubicBezTo>
                  <a:pt x="54372" y="194429"/>
                  <a:pt x="76994" y="203200"/>
                  <a:pt x="101600" y="203200"/>
                </a:cubicBezTo>
                <a:cubicBezTo>
                  <a:pt x="152797" y="203200"/>
                  <a:pt x="195143" y="165338"/>
                  <a:pt x="202168" y="116086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8" name="Text 16"/>
          <p:cNvSpPr/>
          <p:nvPr/>
        </p:nvSpPr>
        <p:spPr>
          <a:xfrm>
            <a:off x="1282700" y="6654800"/>
            <a:ext cx="181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Appliquer le couple</a:t>
            </a:r>
            <a:endParaRPr lang="fr-FR" sz="1600" dirty="0"/>
          </a:p>
        </p:txBody>
      </p:sp>
      <p:sp>
        <p:nvSpPr>
          <p:cNvPr id="19" name="Shape 17"/>
          <p:cNvSpPr/>
          <p:nvPr/>
        </p:nvSpPr>
        <p:spPr>
          <a:xfrm>
            <a:off x="774700" y="75946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Shape 18"/>
          <p:cNvSpPr/>
          <p:nvPr/>
        </p:nvSpPr>
        <p:spPr>
          <a:xfrm>
            <a:off x="889000" y="77470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82987" y="204867"/>
                </a:moveTo>
                <a:cubicBezTo>
                  <a:pt x="75565" y="212288"/>
                  <a:pt x="63500" y="212288"/>
                  <a:pt x="56039" y="204867"/>
                </a:cubicBezTo>
                <a:lnTo>
                  <a:pt x="11152" y="159980"/>
                </a:lnTo>
                <a:cubicBezTo>
                  <a:pt x="3731" y="152559"/>
                  <a:pt x="3731" y="140494"/>
                  <a:pt x="11152" y="133033"/>
                </a:cubicBezTo>
                <a:lnTo>
                  <a:pt x="17899" y="126286"/>
                </a:lnTo>
                <a:lnTo>
                  <a:pt x="47069" y="155456"/>
                </a:lnTo>
                <a:cubicBezTo>
                  <a:pt x="50800" y="159187"/>
                  <a:pt x="56832" y="159187"/>
                  <a:pt x="60523" y="155456"/>
                </a:cubicBezTo>
                <a:cubicBezTo>
                  <a:pt x="64214" y="151725"/>
                  <a:pt x="64254" y="145693"/>
                  <a:pt x="60523" y="142002"/>
                </a:cubicBezTo>
                <a:lnTo>
                  <a:pt x="31353" y="112832"/>
                </a:lnTo>
                <a:lnTo>
                  <a:pt x="44807" y="99378"/>
                </a:lnTo>
                <a:lnTo>
                  <a:pt x="65008" y="119578"/>
                </a:lnTo>
                <a:cubicBezTo>
                  <a:pt x="68739" y="123309"/>
                  <a:pt x="74771" y="123309"/>
                  <a:pt x="78462" y="119578"/>
                </a:cubicBezTo>
                <a:cubicBezTo>
                  <a:pt x="82153" y="115848"/>
                  <a:pt x="82193" y="109815"/>
                  <a:pt x="78462" y="106124"/>
                </a:cubicBezTo>
                <a:lnTo>
                  <a:pt x="58261" y="85923"/>
                </a:lnTo>
                <a:lnTo>
                  <a:pt x="71715" y="72469"/>
                </a:lnTo>
                <a:lnTo>
                  <a:pt x="100886" y="101640"/>
                </a:lnTo>
                <a:cubicBezTo>
                  <a:pt x="104616" y="105370"/>
                  <a:pt x="110649" y="105370"/>
                  <a:pt x="114340" y="101640"/>
                </a:cubicBezTo>
                <a:cubicBezTo>
                  <a:pt x="118031" y="97909"/>
                  <a:pt x="118070" y="91877"/>
                  <a:pt x="114340" y="88186"/>
                </a:cubicBezTo>
                <a:lnTo>
                  <a:pt x="85169" y="59015"/>
                </a:lnTo>
                <a:lnTo>
                  <a:pt x="98623" y="45561"/>
                </a:lnTo>
                <a:lnTo>
                  <a:pt x="118824" y="65762"/>
                </a:lnTo>
                <a:cubicBezTo>
                  <a:pt x="122555" y="69493"/>
                  <a:pt x="128588" y="69493"/>
                  <a:pt x="132278" y="65762"/>
                </a:cubicBezTo>
                <a:cubicBezTo>
                  <a:pt x="135969" y="62032"/>
                  <a:pt x="136009" y="55999"/>
                  <a:pt x="132278" y="52308"/>
                </a:cubicBezTo>
                <a:lnTo>
                  <a:pt x="112078" y="32107"/>
                </a:lnTo>
                <a:lnTo>
                  <a:pt x="125532" y="18653"/>
                </a:lnTo>
                <a:lnTo>
                  <a:pt x="154702" y="47823"/>
                </a:lnTo>
                <a:cubicBezTo>
                  <a:pt x="158433" y="51554"/>
                  <a:pt x="164465" y="51554"/>
                  <a:pt x="168156" y="47823"/>
                </a:cubicBezTo>
                <a:cubicBezTo>
                  <a:pt x="171847" y="44093"/>
                  <a:pt x="171887" y="38060"/>
                  <a:pt x="168156" y="34369"/>
                </a:cubicBezTo>
                <a:lnTo>
                  <a:pt x="138986" y="5199"/>
                </a:lnTo>
                <a:lnTo>
                  <a:pt x="145733" y="-1548"/>
                </a:lnTo>
                <a:cubicBezTo>
                  <a:pt x="153154" y="-8969"/>
                  <a:pt x="165219" y="-8969"/>
                  <a:pt x="172680" y="-1548"/>
                </a:cubicBezTo>
                <a:lnTo>
                  <a:pt x="217686" y="43220"/>
                </a:lnTo>
                <a:cubicBezTo>
                  <a:pt x="225108" y="50641"/>
                  <a:pt x="225108" y="62706"/>
                  <a:pt x="217686" y="70168"/>
                </a:cubicBezTo>
                <a:lnTo>
                  <a:pt x="82987" y="204867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21" name="Text 19"/>
          <p:cNvSpPr/>
          <p:nvPr/>
        </p:nvSpPr>
        <p:spPr>
          <a:xfrm>
            <a:off x="1282700" y="7696200"/>
            <a:ext cx="168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Mesurer le couple</a:t>
            </a:r>
            <a:endParaRPr lang="fr-FR" sz="1600" dirty="0"/>
          </a:p>
        </p:txBody>
      </p:sp>
      <p:sp>
        <p:nvSpPr>
          <p:cNvPr id="22" name="Shape 20"/>
          <p:cNvSpPr/>
          <p:nvPr/>
        </p:nvSpPr>
        <p:spPr>
          <a:xfrm>
            <a:off x="5678884" y="4171950"/>
            <a:ext cx="4902200" cy="4457700"/>
          </a:xfrm>
          <a:custGeom>
            <a:avLst/>
            <a:gdLst/>
            <a:ahLst/>
            <a:cxnLst/>
            <a:rect l="l" t="t" r="r" b="b"/>
            <a:pathLst>
              <a:path w="4902200" h="4457700">
                <a:moveTo>
                  <a:pt x="101591" y="0"/>
                </a:moveTo>
                <a:lnTo>
                  <a:pt x="4800609" y="0"/>
                </a:lnTo>
                <a:cubicBezTo>
                  <a:pt x="4856716" y="0"/>
                  <a:pt x="4902200" y="45484"/>
                  <a:pt x="4902200" y="101591"/>
                </a:cubicBezTo>
                <a:lnTo>
                  <a:pt x="4902200" y="4356109"/>
                </a:lnTo>
                <a:cubicBezTo>
                  <a:pt x="4902200" y="4412216"/>
                  <a:pt x="4856716" y="4457700"/>
                  <a:pt x="4800609" y="4457700"/>
                </a:cubicBezTo>
                <a:lnTo>
                  <a:pt x="101591" y="4457700"/>
                </a:lnTo>
                <a:cubicBezTo>
                  <a:pt x="45484" y="4457700"/>
                  <a:pt x="0" y="4412216"/>
                  <a:pt x="0" y="4356109"/>
                </a:cubicBezTo>
                <a:lnTo>
                  <a:pt x="0" y="101591"/>
                </a:lnTo>
                <a:cubicBezTo>
                  <a:pt x="0" y="45521"/>
                  <a:pt x="45521" y="0"/>
                  <a:pt x="10159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39234" y="4432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4" name="Shape 22"/>
          <p:cNvSpPr/>
          <p:nvPr/>
        </p:nvSpPr>
        <p:spPr>
          <a:xfrm>
            <a:off x="6101159" y="46101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53541" y="-9376"/>
                </a:moveTo>
                <a:cubicBezTo>
                  <a:pt x="151507" y="-13345"/>
                  <a:pt x="147389" y="-15875"/>
                  <a:pt x="142925" y="-15875"/>
                </a:cubicBezTo>
                <a:cubicBezTo>
                  <a:pt x="138460" y="-15875"/>
                  <a:pt x="134342" y="-13345"/>
                  <a:pt x="132308" y="-9376"/>
                </a:cubicBezTo>
                <a:lnTo>
                  <a:pt x="95796" y="62161"/>
                </a:lnTo>
                <a:lnTo>
                  <a:pt x="16470" y="74761"/>
                </a:lnTo>
                <a:cubicBezTo>
                  <a:pt x="12055" y="75456"/>
                  <a:pt x="8384" y="78581"/>
                  <a:pt x="6995" y="82848"/>
                </a:cubicBezTo>
                <a:cubicBezTo>
                  <a:pt x="5606" y="87114"/>
                  <a:pt x="6747" y="91777"/>
                  <a:pt x="9872" y="94952"/>
                </a:cubicBezTo>
                <a:lnTo>
                  <a:pt x="66625" y="151755"/>
                </a:lnTo>
                <a:lnTo>
                  <a:pt x="54124" y="231080"/>
                </a:lnTo>
                <a:cubicBezTo>
                  <a:pt x="53429" y="235496"/>
                  <a:pt x="55265" y="239961"/>
                  <a:pt x="58886" y="242590"/>
                </a:cubicBezTo>
                <a:cubicBezTo>
                  <a:pt x="62508" y="245219"/>
                  <a:pt x="67270" y="245616"/>
                  <a:pt x="71289" y="243582"/>
                </a:cubicBezTo>
                <a:lnTo>
                  <a:pt x="142925" y="207169"/>
                </a:lnTo>
                <a:lnTo>
                  <a:pt x="214511" y="243582"/>
                </a:lnTo>
                <a:cubicBezTo>
                  <a:pt x="218480" y="245616"/>
                  <a:pt x="223292" y="245219"/>
                  <a:pt x="226913" y="242590"/>
                </a:cubicBezTo>
                <a:cubicBezTo>
                  <a:pt x="230535" y="239961"/>
                  <a:pt x="232370" y="235545"/>
                  <a:pt x="231676" y="231080"/>
                </a:cubicBezTo>
                <a:lnTo>
                  <a:pt x="219125" y="151755"/>
                </a:lnTo>
                <a:lnTo>
                  <a:pt x="275878" y="94952"/>
                </a:lnTo>
                <a:cubicBezTo>
                  <a:pt x="279053" y="91777"/>
                  <a:pt x="280144" y="87114"/>
                  <a:pt x="278755" y="82848"/>
                </a:cubicBezTo>
                <a:cubicBezTo>
                  <a:pt x="277366" y="78581"/>
                  <a:pt x="273745" y="75456"/>
                  <a:pt x="269280" y="74761"/>
                </a:cubicBezTo>
                <a:lnTo>
                  <a:pt x="190004" y="62161"/>
                </a:lnTo>
                <a:lnTo>
                  <a:pt x="153541" y="-9376"/>
                </a:ln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25" name="Text 23"/>
          <p:cNvSpPr/>
          <p:nvPr/>
        </p:nvSpPr>
        <p:spPr>
          <a:xfrm>
            <a:off x="6701234" y="4559300"/>
            <a:ext cx="2654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Principales</a:t>
            </a:r>
            <a:endParaRPr lang="fr-FR" sz="1600" dirty="0"/>
          </a:p>
        </p:txBody>
      </p:sp>
      <p:sp>
        <p:nvSpPr>
          <p:cNvPr id="26" name="Shape 24"/>
          <p:cNvSpPr/>
          <p:nvPr/>
        </p:nvSpPr>
        <p:spPr>
          <a:xfrm>
            <a:off x="5939234" y="55118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Shape 25"/>
          <p:cNvSpPr/>
          <p:nvPr/>
        </p:nvSpPr>
        <p:spPr>
          <a:xfrm>
            <a:off x="6066234" y="5664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Text 26"/>
          <p:cNvSpPr/>
          <p:nvPr/>
        </p:nvSpPr>
        <p:spPr>
          <a:xfrm>
            <a:off x="6447234" y="5613400"/>
            <a:ext cx="177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Vérifier la clé (ISO)</a:t>
            </a:r>
            <a:endParaRPr lang="fr-FR" sz="1600" dirty="0"/>
          </a:p>
        </p:txBody>
      </p:sp>
      <p:sp>
        <p:nvSpPr>
          <p:cNvPr id="29" name="Shape 27"/>
          <p:cNvSpPr/>
          <p:nvPr/>
        </p:nvSpPr>
        <p:spPr>
          <a:xfrm>
            <a:off x="5939234" y="65532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Shape 28"/>
          <p:cNvSpPr/>
          <p:nvPr/>
        </p:nvSpPr>
        <p:spPr>
          <a:xfrm>
            <a:off x="6066234" y="6705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2700" y="25400"/>
                </a:moveTo>
                <a:cubicBezTo>
                  <a:pt x="5675" y="25400"/>
                  <a:pt x="0" y="31075"/>
                  <a:pt x="0" y="38100"/>
                </a:cubicBezTo>
                <a:cubicBezTo>
                  <a:pt x="0" y="45125"/>
                  <a:pt x="5675" y="50800"/>
                  <a:pt x="12700" y="50800"/>
                </a:cubicBezTo>
                <a:lnTo>
                  <a:pt x="47109" y="50800"/>
                </a:lnTo>
                <a:cubicBezTo>
                  <a:pt x="51991" y="62032"/>
                  <a:pt x="63182" y="69850"/>
                  <a:pt x="76200" y="69850"/>
                </a:cubicBezTo>
                <a:cubicBezTo>
                  <a:pt x="89218" y="69850"/>
                  <a:pt x="100409" y="62032"/>
                  <a:pt x="105291" y="50800"/>
                </a:cubicBezTo>
                <a:lnTo>
                  <a:pt x="190500" y="50800"/>
                </a:lnTo>
                <a:cubicBezTo>
                  <a:pt x="197525" y="50800"/>
                  <a:pt x="203200" y="45125"/>
                  <a:pt x="203200" y="38100"/>
                </a:cubicBezTo>
                <a:cubicBezTo>
                  <a:pt x="203200" y="31075"/>
                  <a:pt x="197525" y="25400"/>
                  <a:pt x="190500" y="25400"/>
                </a:cubicBezTo>
                <a:lnTo>
                  <a:pt x="105291" y="25400"/>
                </a:lnTo>
                <a:cubicBezTo>
                  <a:pt x="100409" y="14168"/>
                  <a:pt x="89218" y="6350"/>
                  <a:pt x="76200" y="6350"/>
                </a:cubicBezTo>
                <a:cubicBezTo>
                  <a:pt x="63182" y="6350"/>
                  <a:pt x="51991" y="14168"/>
                  <a:pt x="47109" y="25400"/>
                </a:cubicBezTo>
                <a:lnTo>
                  <a:pt x="12700" y="25400"/>
                </a:lnTo>
                <a:close/>
                <a:moveTo>
                  <a:pt x="12700" y="88900"/>
                </a:move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10609" y="114300"/>
                </a:lnTo>
                <a:cubicBezTo>
                  <a:pt x="115491" y="125532"/>
                  <a:pt x="126683" y="133350"/>
                  <a:pt x="139700" y="133350"/>
                </a:cubicBezTo>
                <a:cubicBezTo>
                  <a:pt x="152718" y="133350"/>
                  <a:pt x="163909" y="125532"/>
                  <a:pt x="168791" y="114300"/>
                </a:cubicBezTo>
                <a:lnTo>
                  <a:pt x="190500" y="114300"/>
                </a:lnTo>
                <a:cubicBezTo>
                  <a:pt x="197525" y="114300"/>
                  <a:pt x="203200" y="108625"/>
                  <a:pt x="203200" y="101600"/>
                </a:cubicBezTo>
                <a:cubicBezTo>
                  <a:pt x="203200" y="94575"/>
                  <a:pt x="197525" y="88900"/>
                  <a:pt x="190500" y="88900"/>
                </a:cubicBezTo>
                <a:lnTo>
                  <a:pt x="168791" y="88900"/>
                </a:lnTo>
                <a:cubicBezTo>
                  <a:pt x="163909" y="77668"/>
                  <a:pt x="152718" y="69850"/>
                  <a:pt x="139700" y="69850"/>
                </a:cubicBezTo>
                <a:cubicBezTo>
                  <a:pt x="126683" y="69850"/>
                  <a:pt x="115491" y="77668"/>
                  <a:pt x="110609" y="88900"/>
                </a:cubicBezTo>
                <a:lnTo>
                  <a:pt x="12700" y="88900"/>
                </a:lnTo>
                <a:close/>
                <a:moveTo>
                  <a:pt x="12700" y="152400"/>
                </a:moveTo>
                <a:cubicBezTo>
                  <a:pt x="5675" y="152400"/>
                  <a:pt x="0" y="158075"/>
                  <a:pt x="0" y="165100"/>
                </a:cubicBezTo>
                <a:cubicBezTo>
                  <a:pt x="0" y="172125"/>
                  <a:pt x="5675" y="177800"/>
                  <a:pt x="12700" y="177800"/>
                </a:cubicBezTo>
                <a:lnTo>
                  <a:pt x="34409" y="177800"/>
                </a:lnTo>
                <a:cubicBezTo>
                  <a:pt x="39291" y="189032"/>
                  <a:pt x="50483" y="196850"/>
                  <a:pt x="63500" y="196850"/>
                </a:cubicBezTo>
                <a:cubicBezTo>
                  <a:pt x="76518" y="196850"/>
                  <a:pt x="87709" y="189032"/>
                  <a:pt x="92591" y="177800"/>
                </a:cubicBezTo>
                <a:lnTo>
                  <a:pt x="190500" y="177800"/>
                </a:lnTo>
                <a:cubicBezTo>
                  <a:pt x="197525" y="177800"/>
                  <a:pt x="203200" y="172125"/>
                  <a:pt x="203200" y="165100"/>
                </a:cubicBezTo>
                <a:cubicBezTo>
                  <a:pt x="203200" y="158075"/>
                  <a:pt x="197525" y="152400"/>
                  <a:pt x="190500" y="152400"/>
                </a:cubicBezTo>
                <a:lnTo>
                  <a:pt x="92591" y="152400"/>
                </a:lnTo>
                <a:cubicBezTo>
                  <a:pt x="87709" y="141168"/>
                  <a:pt x="76518" y="133350"/>
                  <a:pt x="63500" y="133350"/>
                </a:cubicBezTo>
                <a:cubicBezTo>
                  <a:pt x="50483" y="133350"/>
                  <a:pt x="39291" y="141168"/>
                  <a:pt x="34409" y="152400"/>
                </a:cubicBezTo>
                <a:lnTo>
                  <a:pt x="12700" y="15240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Text 29"/>
          <p:cNvSpPr/>
          <p:nvPr/>
        </p:nvSpPr>
        <p:spPr>
          <a:xfrm>
            <a:off x="6447234" y="6654800"/>
            <a:ext cx="219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Calibrer la clé (BT/Wifi)</a:t>
            </a:r>
            <a:endParaRPr lang="fr-FR" sz="1600" dirty="0"/>
          </a:p>
        </p:txBody>
      </p:sp>
      <p:sp>
        <p:nvSpPr>
          <p:cNvPr id="32" name="Shape 30"/>
          <p:cNvSpPr/>
          <p:nvPr/>
        </p:nvSpPr>
        <p:spPr>
          <a:xfrm>
            <a:off x="5939234" y="75946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Shape 31"/>
          <p:cNvSpPr/>
          <p:nvPr/>
        </p:nvSpPr>
        <p:spPr>
          <a:xfrm>
            <a:off x="6066234" y="7747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2700" y="12700"/>
                </a:moveTo>
                <a:cubicBezTo>
                  <a:pt x="19725" y="12700"/>
                  <a:pt x="25400" y="18375"/>
                  <a:pt x="25400" y="25400"/>
                </a:cubicBezTo>
                <a:lnTo>
                  <a:pt x="25400" y="158750"/>
                </a:lnTo>
                <a:cubicBezTo>
                  <a:pt x="25400" y="162243"/>
                  <a:pt x="28258" y="165100"/>
                  <a:pt x="31750" y="165100"/>
                </a:cubicBezTo>
                <a:lnTo>
                  <a:pt x="190500" y="165100"/>
                </a:lnTo>
                <a:cubicBezTo>
                  <a:pt x="197525" y="165100"/>
                  <a:pt x="203200" y="170775"/>
                  <a:pt x="203200" y="177800"/>
                </a:cubicBezTo>
                <a:cubicBezTo>
                  <a:pt x="203200" y="184825"/>
                  <a:pt x="197525" y="190500"/>
                  <a:pt x="190500" y="190500"/>
                </a:cubicBezTo>
                <a:lnTo>
                  <a:pt x="31750" y="190500"/>
                </a:lnTo>
                <a:cubicBezTo>
                  <a:pt x="14208" y="190500"/>
                  <a:pt x="0" y="176292"/>
                  <a:pt x="0" y="158750"/>
                </a:cubicBezTo>
                <a:lnTo>
                  <a:pt x="0" y="25400"/>
                </a:lnTo>
                <a:cubicBezTo>
                  <a:pt x="0" y="18375"/>
                  <a:pt x="5675" y="12700"/>
                  <a:pt x="12700" y="12700"/>
                </a:cubicBezTo>
                <a:close/>
                <a:moveTo>
                  <a:pt x="50800" y="38100"/>
                </a:moveTo>
                <a:cubicBezTo>
                  <a:pt x="50800" y="31075"/>
                  <a:pt x="56475" y="25400"/>
                  <a:pt x="63500" y="25400"/>
                </a:cubicBezTo>
                <a:lnTo>
                  <a:pt x="139700" y="25400"/>
                </a:lnTo>
                <a:cubicBezTo>
                  <a:pt x="146725" y="25400"/>
                  <a:pt x="152400" y="31075"/>
                  <a:pt x="152400" y="38100"/>
                </a:cubicBezTo>
                <a:cubicBezTo>
                  <a:pt x="152400" y="45125"/>
                  <a:pt x="146725" y="50800"/>
                  <a:pt x="139700" y="50800"/>
                </a:cubicBezTo>
                <a:lnTo>
                  <a:pt x="63500" y="50800"/>
                </a:lnTo>
                <a:cubicBezTo>
                  <a:pt x="56475" y="50800"/>
                  <a:pt x="50800" y="45125"/>
                  <a:pt x="50800" y="38100"/>
                </a:cubicBezTo>
                <a:close/>
                <a:moveTo>
                  <a:pt x="63500" y="69850"/>
                </a:moveTo>
                <a:lnTo>
                  <a:pt x="114300" y="69850"/>
                </a:lnTo>
                <a:cubicBezTo>
                  <a:pt x="121325" y="69850"/>
                  <a:pt x="127000" y="75525"/>
                  <a:pt x="127000" y="82550"/>
                </a:cubicBezTo>
                <a:cubicBezTo>
                  <a:pt x="127000" y="89575"/>
                  <a:pt x="121325" y="95250"/>
                  <a:pt x="114300" y="95250"/>
                </a:cubicBezTo>
                <a:lnTo>
                  <a:pt x="63500" y="95250"/>
                </a:lnTo>
                <a:cubicBezTo>
                  <a:pt x="56475" y="95250"/>
                  <a:pt x="50800" y="89575"/>
                  <a:pt x="50800" y="82550"/>
                </a:cubicBezTo>
                <a:cubicBezTo>
                  <a:pt x="50800" y="75525"/>
                  <a:pt x="56475" y="69850"/>
                  <a:pt x="63500" y="69850"/>
                </a:cubicBezTo>
                <a:close/>
                <a:moveTo>
                  <a:pt x="63500" y="114300"/>
                </a:moveTo>
                <a:lnTo>
                  <a:pt x="165100" y="114300"/>
                </a:lnTo>
                <a:cubicBezTo>
                  <a:pt x="172125" y="114300"/>
                  <a:pt x="177800" y="119975"/>
                  <a:pt x="177800" y="127000"/>
                </a:cubicBezTo>
                <a:cubicBezTo>
                  <a:pt x="177800" y="134025"/>
                  <a:pt x="172125" y="139700"/>
                  <a:pt x="165100" y="139700"/>
                </a:cubicBezTo>
                <a:lnTo>
                  <a:pt x="63500" y="139700"/>
                </a:lnTo>
                <a:cubicBezTo>
                  <a:pt x="56475" y="139700"/>
                  <a:pt x="50800" y="134025"/>
                  <a:pt x="50800" y="127000"/>
                </a:cubicBezTo>
                <a:cubicBezTo>
                  <a:pt x="50800" y="119975"/>
                  <a:pt x="56475" y="114300"/>
                  <a:pt x="63500" y="11430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4" name="Text 32"/>
          <p:cNvSpPr/>
          <p:nvPr/>
        </p:nvSpPr>
        <p:spPr>
          <a:xfrm>
            <a:off x="6447234" y="7696200"/>
            <a:ext cx="200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Analyser les résultats</a:t>
            </a:r>
            <a:endParaRPr lang="fr-FR" sz="1600" dirty="0"/>
          </a:p>
        </p:txBody>
      </p:sp>
      <p:sp>
        <p:nvSpPr>
          <p:cNvPr id="35" name="Shape 33"/>
          <p:cNvSpPr/>
          <p:nvPr/>
        </p:nvSpPr>
        <p:spPr>
          <a:xfrm>
            <a:off x="10843617" y="4171950"/>
            <a:ext cx="4902200" cy="4457700"/>
          </a:xfrm>
          <a:custGeom>
            <a:avLst/>
            <a:gdLst/>
            <a:ahLst/>
            <a:cxnLst/>
            <a:rect l="l" t="t" r="r" b="b"/>
            <a:pathLst>
              <a:path w="4902200" h="4457700">
                <a:moveTo>
                  <a:pt x="101591" y="0"/>
                </a:moveTo>
                <a:lnTo>
                  <a:pt x="4800609" y="0"/>
                </a:lnTo>
                <a:cubicBezTo>
                  <a:pt x="4856716" y="0"/>
                  <a:pt x="4902200" y="45484"/>
                  <a:pt x="4902200" y="101591"/>
                </a:cubicBezTo>
                <a:lnTo>
                  <a:pt x="4902200" y="4356109"/>
                </a:lnTo>
                <a:cubicBezTo>
                  <a:pt x="4902200" y="4412216"/>
                  <a:pt x="4856716" y="4457700"/>
                  <a:pt x="4800609" y="4457700"/>
                </a:cubicBezTo>
                <a:lnTo>
                  <a:pt x="101591" y="4457700"/>
                </a:lnTo>
                <a:cubicBezTo>
                  <a:pt x="45484" y="4457700"/>
                  <a:pt x="0" y="4412216"/>
                  <a:pt x="0" y="4356109"/>
                </a:cubicBezTo>
                <a:lnTo>
                  <a:pt x="0" y="101591"/>
                </a:lnTo>
                <a:cubicBezTo>
                  <a:pt x="0" y="45521"/>
                  <a:pt x="45521" y="0"/>
                  <a:pt x="10159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03967" y="4432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81767" y="4610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15094" y="170656"/>
                </a:moveTo>
                <a:lnTo>
                  <a:pt x="115094" y="138906"/>
                </a:lnTo>
                <a:lnTo>
                  <a:pt x="83344" y="138906"/>
                </a:lnTo>
                <a:cubicBezTo>
                  <a:pt x="76746" y="138906"/>
                  <a:pt x="71438" y="133598"/>
                  <a:pt x="71438" y="127000"/>
                </a:cubicBezTo>
                <a:cubicBezTo>
                  <a:pt x="71438" y="120402"/>
                  <a:pt x="76746" y="115094"/>
                  <a:pt x="83344" y="115094"/>
                </a:cubicBezTo>
                <a:lnTo>
                  <a:pt x="115094" y="115094"/>
                </a:lnTo>
                <a:lnTo>
                  <a:pt x="115094" y="83344"/>
                </a:lnTo>
                <a:cubicBezTo>
                  <a:pt x="115094" y="76746"/>
                  <a:pt x="120402" y="71438"/>
                  <a:pt x="127000" y="71438"/>
                </a:cubicBezTo>
                <a:cubicBezTo>
                  <a:pt x="133598" y="71438"/>
                  <a:pt x="138906" y="76746"/>
                  <a:pt x="138906" y="83344"/>
                </a:cubicBezTo>
                <a:lnTo>
                  <a:pt x="138906" y="115094"/>
                </a:lnTo>
                <a:lnTo>
                  <a:pt x="170656" y="115094"/>
                </a:lnTo>
                <a:cubicBezTo>
                  <a:pt x="177254" y="115094"/>
                  <a:pt x="182563" y="120402"/>
                  <a:pt x="182563" y="127000"/>
                </a:cubicBezTo>
                <a:cubicBezTo>
                  <a:pt x="182563" y="133598"/>
                  <a:pt x="177254" y="138906"/>
                  <a:pt x="170656" y="138906"/>
                </a:cubicBezTo>
                <a:lnTo>
                  <a:pt x="138906" y="138906"/>
                </a:lnTo>
                <a:lnTo>
                  <a:pt x="138906" y="170656"/>
                </a:lnTo>
                <a:cubicBezTo>
                  <a:pt x="138906" y="177254"/>
                  <a:pt x="133598" y="182563"/>
                  <a:pt x="127000" y="182563"/>
                </a:cubicBezTo>
                <a:cubicBezTo>
                  <a:pt x="120402" y="182563"/>
                  <a:pt x="115094" y="177254"/>
                  <a:pt x="115094" y="170656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38" name="Text 36"/>
          <p:cNvSpPr/>
          <p:nvPr/>
        </p:nvSpPr>
        <p:spPr>
          <a:xfrm>
            <a:off x="11865967" y="4559300"/>
            <a:ext cx="345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Complémentaires</a:t>
            </a:r>
            <a:endParaRPr lang="fr-FR" sz="1600" dirty="0"/>
          </a:p>
        </p:txBody>
      </p:sp>
      <p:sp>
        <p:nvSpPr>
          <p:cNvPr id="39" name="Shape 37"/>
          <p:cNvSpPr/>
          <p:nvPr/>
        </p:nvSpPr>
        <p:spPr>
          <a:xfrm>
            <a:off x="11103967" y="55118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Shape 38"/>
          <p:cNvSpPr/>
          <p:nvPr/>
        </p:nvSpPr>
        <p:spPr>
          <a:xfrm>
            <a:off x="11230967" y="5664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139700"/>
                </a:lnTo>
                <a:cubicBezTo>
                  <a:pt x="0" y="153710"/>
                  <a:pt x="11390" y="165100"/>
                  <a:pt x="25400" y="165100"/>
                </a:cubicBezTo>
                <a:lnTo>
                  <a:pt x="82550" y="165100"/>
                </a:lnTo>
                <a:lnTo>
                  <a:pt x="76200" y="184150"/>
                </a:lnTo>
                <a:lnTo>
                  <a:pt x="47625" y="184150"/>
                </a:lnTo>
                <a:cubicBezTo>
                  <a:pt x="42347" y="184150"/>
                  <a:pt x="38100" y="188397"/>
                  <a:pt x="38100" y="193675"/>
                </a:cubicBezTo>
                <a:cubicBezTo>
                  <a:pt x="38100" y="198953"/>
                  <a:pt x="42347" y="203200"/>
                  <a:pt x="47625" y="203200"/>
                </a:cubicBezTo>
                <a:lnTo>
                  <a:pt x="155575" y="203200"/>
                </a:lnTo>
                <a:cubicBezTo>
                  <a:pt x="160853" y="203200"/>
                  <a:pt x="165100" y="198953"/>
                  <a:pt x="165100" y="193675"/>
                </a:cubicBezTo>
                <a:cubicBezTo>
                  <a:pt x="165100" y="188397"/>
                  <a:pt x="160853" y="184150"/>
                  <a:pt x="155575" y="184150"/>
                </a:cubicBezTo>
                <a:lnTo>
                  <a:pt x="127000" y="184150"/>
                </a:lnTo>
                <a:lnTo>
                  <a:pt x="120650" y="165100"/>
                </a:lnTo>
                <a:lnTo>
                  <a:pt x="177800" y="165100"/>
                </a:lnTo>
                <a:cubicBezTo>
                  <a:pt x="191810" y="165100"/>
                  <a:pt x="203200" y="153710"/>
                  <a:pt x="203200" y="139700"/>
                </a:cubicBezTo>
                <a:lnTo>
                  <a:pt x="203200" y="38100"/>
                </a:lnTo>
                <a:cubicBezTo>
                  <a:pt x="203200" y="24090"/>
                  <a:pt x="191810" y="12700"/>
                  <a:pt x="177800" y="12700"/>
                </a:cubicBezTo>
                <a:lnTo>
                  <a:pt x="25400" y="12700"/>
                </a:lnTo>
                <a:close/>
                <a:moveTo>
                  <a:pt x="38100" y="38100"/>
                </a:moveTo>
                <a:lnTo>
                  <a:pt x="165100" y="38100"/>
                </a:lnTo>
                <a:cubicBezTo>
                  <a:pt x="172125" y="38100"/>
                  <a:pt x="177800" y="43775"/>
                  <a:pt x="177800" y="50800"/>
                </a:cubicBezTo>
                <a:lnTo>
                  <a:pt x="177800" y="114300"/>
                </a:lnTo>
                <a:cubicBezTo>
                  <a:pt x="177800" y="121325"/>
                  <a:pt x="172125" y="127000"/>
                  <a:pt x="165100" y="127000"/>
                </a:cubicBezTo>
                <a:lnTo>
                  <a:pt x="38100" y="127000"/>
                </a:lnTo>
                <a:cubicBezTo>
                  <a:pt x="31075" y="127000"/>
                  <a:pt x="25400" y="121325"/>
                  <a:pt x="25400" y="114300"/>
                </a:cubicBezTo>
                <a:lnTo>
                  <a:pt x="25400" y="50800"/>
                </a:lnTo>
                <a:cubicBezTo>
                  <a:pt x="25400" y="43775"/>
                  <a:pt x="31075" y="38100"/>
                  <a:pt x="38100" y="38100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41" name="Text 39"/>
          <p:cNvSpPr/>
          <p:nvPr/>
        </p:nvSpPr>
        <p:spPr>
          <a:xfrm>
            <a:off x="11611967" y="5613400"/>
            <a:ext cx="214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Communiquer avec PC</a:t>
            </a:r>
            <a:endParaRPr lang="fr-FR" sz="1600" dirty="0"/>
          </a:p>
        </p:txBody>
      </p:sp>
      <p:sp>
        <p:nvSpPr>
          <p:cNvPr id="42" name="Shape 40"/>
          <p:cNvSpPr/>
          <p:nvPr/>
        </p:nvSpPr>
        <p:spPr>
          <a:xfrm>
            <a:off x="11103967" y="65532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3" name="Shape 41"/>
          <p:cNvSpPr/>
          <p:nvPr/>
        </p:nvSpPr>
        <p:spPr>
          <a:xfrm>
            <a:off x="11243667" y="6705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44" name="Text 42"/>
          <p:cNvSpPr/>
          <p:nvPr/>
        </p:nvSpPr>
        <p:spPr>
          <a:xfrm>
            <a:off x="11611967" y="6654800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Enregistrer mesures</a:t>
            </a:r>
            <a:endParaRPr lang="fr-FR" sz="1600" dirty="0"/>
          </a:p>
        </p:txBody>
      </p:sp>
      <p:sp>
        <p:nvSpPr>
          <p:cNvPr id="45" name="Shape 43"/>
          <p:cNvSpPr/>
          <p:nvPr/>
        </p:nvSpPr>
        <p:spPr>
          <a:xfrm>
            <a:off x="11103967" y="7594600"/>
            <a:ext cx="4381500" cy="508000"/>
          </a:xfrm>
          <a:custGeom>
            <a:avLst/>
            <a:gdLst/>
            <a:ahLst/>
            <a:cxnLst/>
            <a:rect l="l" t="t" r="r" b="b"/>
            <a:pathLst>
              <a:path w="4381500" h="508000">
                <a:moveTo>
                  <a:pt x="50800" y="0"/>
                </a:moveTo>
                <a:lnTo>
                  <a:pt x="4330700" y="0"/>
                </a:lnTo>
                <a:cubicBezTo>
                  <a:pt x="4358737" y="0"/>
                  <a:pt x="4381500" y="22763"/>
                  <a:pt x="4381500" y="50800"/>
                </a:cubicBezTo>
                <a:lnTo>
                  <a:pt x="4381500" y="457200"/>
                </a:lnTo>
                <a:cubicBezTo>
                  <a:pt x="4381500" y="485237"/>
                  <a:pt x="4358737" y="508000"/>
                  <a:pt x="43307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6" name="Shape 44"/>
          <p:cNvSpPr/>
          <p:nvPr/>
        </p:nvSpPr>
        <p:spPr>
          <a:xfrm>
            <a:off x="11230967" y="7747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139700"/>
                </a:lnTo>
                <a:cubicBezTo>
                  <a:pt x="0" y="153710"/>
                  <a:pt x="11390" y="165100"/>
                  <a:pt x="25400" y="165100"/>
                </a:cubicBezTo>
                <a:lnTo>
                  <a:pt x="82550" y="165100"/>
                </a:lnTo>
                <a:lnTo>
                  <a:pt x="76200" y="184150"/>
                </a:lnTo>
                <a:lnTo>
                  <a:pt x="47625" y="184150"/>
                </a:lnTo>
                <a:cubicBezTo>
                  <a:pt x="42347" y="184150"/>
                  <a:pt x="38100" y="188397"/>
                  <a:pt x="38100" y="193675"/>
                </a:cubicBezTo>
                <a:cubicBezTo>
                  <a:pt x="38100" y="198953"/>
                  <a:pt x="42347" y="203200"/>
                  <a:pt x="47625" y="203200"/>
                </a:cubicBezTo>
                <a:lnTo>
                  <a:pt x="155575" y="203200"/>
                </a:lnTo>
                <a:cubicBezTo>
                  <a:pt x="160853" y="203200"/>
                  <a:pt x="165100" y="198953"/>
                  <a:pt x="165100" y="193675"/>
                </a:cubicBezTo>
                <a:cubicBezTo>
                  <a:pt x="165100" y="188397"/>
                  <a:pt x="160853" y="184150"/>
                  <a:pt x="155575" y="184150"/>
                </a:cubicBezTo>
                <a:lnTo>
                  <a:pt x="127000" y="184150"/>
                </a:lnTo>
                <a:lnTo>
                  <a:pt x="120650" y="165100"/>
                </a:lnTo>
                <a:lnTo>
                  <a:pt x="177800" y="165100"/>
                </a:lnTo>
                <a:cubicBezTo>
                  <a:pt x="191810" y="165100"/>
                  <a:pt x="203200" y="153710"/>
                  <a:pt x="203200" y="139700"/>
                </a:cubicBezTo>
                <a:lnTo>
                  <a:pt x="203200" y="38100"/>
                </a:lnTo>
                <a:cubicBezTo>
                  <a:pt x="203200" y="24090"/>
                  <a:pt x="191810" y="12700"/>
                  <a:pt x="177800" y="12700"/>
                </a:cubicBezTo>
                <a:lnTo>
                  <a:pt x="25400" y="12700"/>
                </a:lnTo>
                <a:close/>
                <a:moveTo>
                  <a:pt x="38100" y="38100"/>
                </a:moveTo>
                <a:lnTo>
                  <a:pt x="165100" y="38100"/>
                </a:lnTo>
                <a:cubicBezTo>
                  <a:pt x="172125" y="38100"/>
                  <a:pt x="177800" y="43775"/>
                  <a:pt x="177800" y="50800"/>
                </a:cubicBezTo>
                <a:lnTo>
                  <a:pt x="177800" y="114300"/>
                </a:lnTo>
                <a:cubicBezTo>
                  <a:pt x="177800" y="121325"/>
                  <a:pt x="172125" y="127000"/>
                  <a:pt x="165100" y="127000"/>
                </a:cubicBezTo>
                <a:lnTo>
                  <a:pt x="38100" y="127000"/>
                </a:lnTo>
                <a:cubicBezTo>
                  <a:pt x="31075" y="127000"/>
                  <a:pt x="25400" y="121325"/>
                  <a:pt x="25400" y="114300"/>
                </a:cubicBezTo>
                <a:lnTo>
                  <a:pt x="25400" y="50800"/>
                </a:lnTo>
                <a:cubicBezTo>
                  <a:pt x="25400" y="43775"/>
                  <a:pt x="31075" y="38100"/>
                  <a:pt x="38100" y="38100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47" name="Text 45"/>
          <p:cNvSpPr/>
          <p:nvPr/>
        </p:nvSpPr>
        <p:spPr>
          <a:xfrm>
            <a:off x="11611967" y="7696200"/>
            <a:ext cx="199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Afficher informations</a:t>
            </a:r>
            <a:endParaRPr lang="fr-FR" sz="1600" dirty="0"/>
          </a:p>
        </p:txBody>
      </p:sp>
      <p:sp>
        <p:nvSpPr>
          <p:cNvPr id="48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dirty="0" smtClean="0">
                <a:solidFill>
                  <a:srgbClr val="E89F5B"/>
                </a:solidFill>
              </a:rPr>
              <a:t>11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04. SOUS-SYSTÈMES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Sous-systèmes Clés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81150"/>
            <a:ext cx="7505700" cy="4305300"/>
          </a:xfrm>
          <a:custGeom>
            <a:avLst/>
            <a:gdLst/>
            <a:ahLst/>
            <a:cxnLst/>
            <a:rect l="l" t="t" r="r" b="b"/>
            <a:pathLst>
              <a:path w="7505700" h="4305300">
                <a:moveTo>
                  <a:pt x="101605" y="0"/>
                </a:moveTo>
                <a:lnTo>
                  <a:pt x="7404095" y="0"/>
                </a:lnTo>
                <a:cubicBezTo>
                  <a:pt x="7460210" y="0"/>
                  <a:pt x="7505700" y="45490"/>
                  <a:pt x="7505700" y="101605"/>
                </a:cubicBezTo>
                <a:lnTo>
                  <a:pt x="7505700" y="4203695"/>
                </a:lnTo>
                <a:cubicBezTo>
                  <a:pt x="7505700" y="4259810"/>
                  <a:pt x="7460210" y="4305300"/>
                  <a:pt x="7404095" y="4305300"/>
                </a:cubicBezTo>
                <a:lnTo>
                  <a:pt x="101605" y="4305300"/>
                </a:lnTo>
                <a:cubicBezTo>
                  <a:pt x="45490" y="4305300"/>
                  <a:pt x="0" y="4259810"/>
                  <a:pt x="0" y="42036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3900" y="1790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6" name="Shape 4"/>
          <p:cNvSpPr/>
          <p:nvPr/>
        </p:nvSpPr>
        <p:spPr>
          <a:xfrm>
            <a:off x="885825" y="19685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52710" y="48915"/>
                </a:moveTo>
                <a:cubicBezTo>
                  <a:pt x="256480" y="45145"/>
                  <a:pt x="262781" y="46087"/>
                  <a:pt x="264666" y="51048"/>
                </a:cubicBezTo>
                <a:cubicBezTo>
                  <a:pt x="268039" y="59829"/>
                  <a:pt x="269875" y="69404"/>
                  <a:pt x="269875" y="79375"/>
                </a:cubicBezTo>
                <a:cubicBezTo>
                  <a:pt x="269875" y="123230"/>
                  <a:pt x="234355" y="158750"/>
                  <a:pt x="190500" y="158750"/>
                </a:cubicBezTo>
                <a:cubicBezTo>
                  <a:pt x="181818" y="158750"/>
                  <a:pt x="173434" y="157361"/>
                  <a:pt x="165596" y="154781"/>
                </a:cubicBezTo>
                <a:lnTo>
                  <a:pt x="72876" y="247501"/>
                </a:lnTo>
                <a:cubicBezTo>
                  <a:pt x="58936" y="261441"/>
                  <a:pt x="36314" y="261441"/>
                  <a:pt x="22374" y="247501"/>
                </a:cubicBezTo>
                <a:cubicBezTo>
                  <a:pt x="8434" y="233561"/>
                  <a:pt x="8434" y="210939"/>
                  <a:pt x="22374" y="196999"/>
                </a:cubicBezTo>
                <a:lnTo>
                  <a:pt x="115094" y="104279"/>
                </a:lnTo>
                <a:cubicBezTo>
                  <a:pt x="112514" y="96441"/>
                  <a:pt x="111125" y="88106"/>
                  <a:pt x="111125" y="79375"/>
                </a:cubicBezTo>
                <a:cubicBezTo>
                  <a:pt x="111125" y="35520"/>
                  <a:pt x="146645" y="0"/>
                  <a:pt x="190500" y="0"/>
                </a:cubicBezTo>
                <a:cubicBezTo>
                  <a:pt x="200471" y="0"/>
                  <a:pt x="210046" y="1836"/>
                  <a:pt x="218827" y="5209"/>
                </a:cubicBezTo>
                <a:cubicBezTo>
                  <a:pt x="223788" y="7094"/>
                  <a:pt x="224681" y="13395"/>
                  <a:pt x="220960" y="17165"/>
                </a:cubicBezTo>
                <a:lnTo>
                  <a:pt x="176957" y="61168"/>
                </a:lnTo>
                <a:cubicBezTo>
                  <a:pt x="175468" y="62657"/>
                  <a:pt x="174625" y="64691"/>
                  <a:pt x="174625" y="66774"/>
                </a:cubicBezTo>
                <a:lnTo>
                  <a:pt x="174625" y="87313"/>
                </a:lnTo>
                <a:cubicBezTo>
                  <a:pt x="174625" y="91678"/>
                  <a:pt x="178197" y="95250"/>
                  <a:pt x="182563" y="95250"/>
                </a:cubicBezTo>
                <a:lnTo>
                  <a:pt x="203101" y="95250"/>
                </a:lnTo>
                <a:cubicBezTo>
                  <a:pt x="205184" y="95250"/>
                  <a:pt x="207218" y="94407"/>
                  <a:pt x="208707" y="92918"/>
                </a:cubicBezTo>
                <a:lnTo>
                  <a:pt x="252710" y="48915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1917700"/>
            <a:ext cx="143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Mécanique</a:t>
            </a:r>
            <a:endParaRPr lang="fr-FR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7717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2720975"/>
            <a:ext cx="224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Maintenir la clé </a:t>
            </a: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sans jeu</a:t>
            </a:r>
            <a:endParaRPr lang="fr-FR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41312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3362325"/>
            <a:ext cx="189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Positionner la </a:t>
            </a: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butée</a:t>
            </a:r>
            <a:endParaRPr lang="fr-FR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0544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3" name="Text 11"/>
          <p:cNvSpPr/>
          <p:nvPr/>
        </p:nvSpPr>
        <p:spPr>
          <a:xfrm>
            <a:off x="1079500" y="4003675"/>
            <a:ext cx="231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Limiter </a:t>
            </a: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efforts parasites</a:t>
            </a:r>
            <a:endParaRPr lang="fr-FR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69582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4645025"/>
            <a:ext cx="219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Gérer </a:t>
            </a: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positions vérin</a:t>
            </a:r>
            <a:endParaRPr lang="fr-FR" sz="1600" dirty="0"/>
          </a:p>
        </p:txBody>
      </p:sp>
      <p:sp>
        <p:nvSpPr>
          <p:cNvPr id="16" name="Shape 14"/>
          <p:cNvSpPr/>
          <p:nvPr/>
        </p:nvSpPr>
        <p:spPr>
          <a:xfrm>
            <a:off x="723900" y="5219700"/>
            <a:ext cx="7086600" cy="457200"/>
          </a:xfrm>
          <a:custGeom>
            <a:avLst/>
            <a:gdLst/>
            <a:ahLst/>
            <a:cxnLst/>
            <a:rect l="l" t="t" r="r" b="b"/>
            <a:pathLst>
              <a:path w="7086600" h="457200">
                <a:moveTo>
                  <a:pt x="50799" y="0"/>
                </a:moveTo>
                <a:lnTo>
                  <a:pt x="7035801" y="0"/>
                </a:lnTo>
                <a:cubicBezTo>
                  <a:pt x="7063856" y="0"/>
                  <a:pt x="7086600" y="22744"/>
                  <a:pt x="7086600" y="50799"/>
                </a:cubicBezTo>
                <a:lnTo>
                  <a:pt x="7086600" y="406401"/>
                </a:lnTo>
                <a:cubicBezTo>
                  <a:pt x="7086600" y="434456"/>
                  <a:pt x="7063856" y="457200"/>
                  <a:pt x="70358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781050" y="5321300"/>
            <a:ext cx="697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Positions: </a:t>
            </a:r>
            <a:r>
              <a:rPr lang="fr-FR" sz="14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AV+AR</a:t>
            </a: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</a:t>
            </a: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</a:t>
            </a: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</a:t>
            </a:r>
            <a:r>
              <a:rPr lang="fr-FR" sz="1400" b="1" dirty="0" smtClean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</a:t>
            </a: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</a:t>
            </a: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Vérif</a:t>
            </a:r>
            <a:endParaRPr lang="fr-FR" sz="1600" dirty="0"/>
          </a:p>
        </p:txBody>
      </p:sp>
      <p:sp>
        <p:nvSpPr>
          <p:cNvPr id="18" name="Shape 16"/>
          <p:cNvSpPr/>
          <p:nvPr/>
        </p:nvSpPr>
        <p:spPr>
          <a:xfrm>
            <a:off x="8235950" y="1581150"/>
            <a:ext cx="7505700" cy="4305300"/>
          </a:xfrm>
          <a:custGeom>
            <a:avLst/>
            <a:gdLst/>
            <a:ahLst/>
            <a:cxnLst/>
            <a:rect l="l" t="t" r="r" b="b"/>
            <a:pathLst>
              <a:path w="7505700" h="4305300">
                <a:moveTo>
                  <a:pt x="101605" y="0"/>
                </a:moveTo>
                <a:lnTo>
                  <a:pt x="7404095" y="0"/>
                </a:lnTo>
                <a:cubicBezTo>
                  <a:pt x="7460210" y="0"/>
                  <a:pt x="7505700" y="45490"/>
                  <a:pt x="7505700" y="101605"/>
                </a:cubicBezTo>
                <a:lnTo>
                  <a:pt x="7505700" y="4203695"/>
                </a:lnTo>
                <a:cubicBezTo>
                  <a:pt x="7505700" y="4259810"/>
                  <a:pt x="7460210" y="4305300"/>
                  <a:pt x="7404095" y="4305300"/>
                </a:cubicBezTo>
                <a:lnTo>
                  <a:pt x="101605" y="4305300"/>
                </a:lnTo>
                <a:cubicBezTo>
                  <a:pt x="45490" y="4305300"/>
                  <a:pt x="0" y="4259810"/>
                  <a:pt x="0" y="42036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45500" y="1790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0" name="Shape 18"/>
          <p:cNvSpPr/>
          <p:nvPr/>
        </p:nvSpPr>
        <p:spPr>
          <a:xfrm>
            <a:off x="8591550" y="19685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21" name="Text 19"/>
          <p:cNvSpPr/>
          <p:nvPr/>
        </p:nvSpPr>
        <p:spPr>
          <a:xfrm>
            <a:off x="9207500" y="1917700"/>
            <a:ext cx="16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Motorisation</a:t>
            </a:r>
            <a:endParaRPr lang="fr-FR" sz="1600" dirty="0"/>
          </a:p>
        </p:txBody>
      </p:sp>
      <p:sp>
        <p:nvSpPr>
          <p:cNvPr id="22" name="Shape 20"/>
          <p:cNvSpPr/>
          <p:nvPr/>
        </p:nvSpPr>
        <p:spPr>
          <a:xfrm>
            <a:off x="8445500" y="2573734"/>
            <a:ext cx="7086600" cy="812800"/>
          </a:xfrm>
          <a:custGeom>
            <a:avLst/>
            <a:gdLst/>
            <a:ahLst/>
            <a:cxnLst/>
            <a:rect l="l" t="t" r="r" b="b"/>
            <a:pathLst>
              <a:path w="7086600" h="812800">
                <a:moveTo>
                  <a:pt x="50800" y="0"/>
                </a:moveTo>
                <a:lnTo>
                  <a:pt x="7035800" y="0"/>
                </a:lnTo>
                <a:cubicBezTo>
                  <a:pt x="7063837" y="0"/>
                  <a:pt x="7086600" y="22763"/>
                  <a:pt x="7086600" y="50800"/>
                </a:cubicBezTo>
                <a:lnTo>
                  <a:pt x="7086600" y="762000"/>
                </a:lnTo>
                <a:cubicBezTo>
                  <a:pt x="7086600" y="790037"/>
                  <a:pt x="7063837" y="812800"/>
                  <a:pt x="7035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Text 21"/>
          <p:cNvSpPr/>
          <p:nvPr/>
        </p:nvSpPr>
        <p:spPr>
          <a:xfrm>
            <a:off x="8547100" y="2675334"/>
            <a:ext cx="698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Faible Couple</a:t>
            </a:r>
            <a:endParaRPr lang="fr-FR" sz="1600" dirty="0"/>
          </a:p>
        </p:txBody>
      </p:sp>
      <p:sp>
        <p:nvSpPr>
          <p:cNvPr id="24" name="Text 22"/>
          <p:cNvSpPr/>
          <p:nvPr/>
        </p:nvSpPr>
        <p:spPr>
          <a:xfrm>
            <a:off x="8547100" y="3030934"/>
            <a:ext cx="697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4 - 40 Nm</a:t>
            </a: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(BT/Wifi)</a:t>
            </a:r>
            <a:endParaRPr lang="fr-FR" sz="1600" dirty="0"/>
          </a:p>
        </p:txBody>
      </p:sp>
      <p:sp>
        <p:nvSpPr>
          <p:cNvPr id="25" name="Shape 23"/>
          <p:cNvSpPr/>
          <p:nvPr/>
        </p:nvSpPr>
        <p:spPr>
          <a:xfrm>
            <a:off x="8445500" y="3530402"/>
            <a:ext cx="7086600" cy="812800"/>
          </a:xfrm>
          <a:custGeom>
            <a:avLst/>
            <a:gdLst/>
            <a:ahLst/>
            <a:cxnLst/>
            <a:rect l="l" t="t" r="r" b="b"/>
            <a:pathLst>
              <a:path w="7086600" h="812800">
                <a:moveTo>
                  <a:pt x="50800" y="0"/>
                </a:moveTo>
                <a:lnTo>
                  <a:pt x="7035800" y="0"/>
                </a:lnTo>
                <a:cubicBezTo>
                  <a:pt x="7063837" y="0"/>
                  <a:pt x="7086600" y="22763"/>
                  <a:pt x="7086600" y="50800"/>
                </a:cubicBezTo>
                <a:lnTo>
                  <a:pt x="7086600" y="762000"/>
                </a:lnTo>
                <a:cubicBezTo>
                  <a:pt x="7086600" y="790037"/>
                  <a:pt x="7063837" y="812800"/>
                  <a:pt x="7035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8547100" y="3632002"/>
            <a:ext cx="698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Fort Couple BT</a:t>
            </a:r>
            <a:endParaRPr lang="fr-FR" sz="1600" dirty="0"/>
          </a:p>
        </p:txBody>
      </p:sp>
      <p:sp>
        <p:nvSpPr>
          <p:cNvPr id="27" name="Text 25"/>
          <p:cNvSpPr/>
          <p:nvPr/>
        </p:nvSpPr>
        <p:spPr>
          <a:xfrm>
            <a:off x="8547100" y="3974902"/>
            <a:ext cx="1150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40 - 200 Nm</a:t>
            </a:r>
            <a:endParaRPr lang="fr-FR" sz="1600" dirty="0"/>
          </a:p>
        </p:txBody>
      </p:sp>
      <p:sp>
        <p:nvSpPr>
          <p:cNvPr id="28" name="Shape 26"/>
          <p:cNvSpPr/>
          <p:nvPr/>
        </p:nvSpPr>
        <p:spPr>
          <a:xfrm>
            <a:off x="8445500" y="4487069"/>
            <a:ext cx="7086600" cy="812800"/>
          </a:xfrm>
          <a:custGeom>
            <a:avLst/>
            <a:gdLst/>
            <a:ahLst/>
            <a:cxnLst/>
            <a:rect l="l" t="t" r="r" b="b"/>
            <a:pathLst>
              <a:path w="7086600" h="812800">
                <a:moveTo>
                  <a:pt x="50800" y="0"/>
                </a:moveTo>
                <a:lnTo>
                  <a:pt x="7035800" y="0"/>
                </a:lnTo>
                <a:cubicBezTo>
                  <a:pt x="7063837" y="0"/>
                  <a:pt x="7086600" y="22763"/>
                  <a:pt x="7086600" y="50800"/>
                </a:cubicBezTo>
                <a:lnTo>
                  <a:pt x="7086600" y="762000"/>
                </a:lnTo>
                <a:cubicBezTo>
                  <a:pt x="7086600" y="790037"/>
                  <a:pt x="7063837" y="812800"/>
                  <a:pt x="70358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Text 27"/>
          <p:cNvSpPr/>
          <p:nvPr/>
        </p:nvSpPr>
        <p:spPr>
          <a:xfrm>
            <a:off x="8547100" y="4588669"/>
            <a:ext cx="698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Fort Couple Wifi</a:t>
            </a:r>
            <a:endParaRPr lang="fr-FR" sz="1600" dirty="0"/>
          </a:p>
        </p:txBody>
      </p:sp>
      <p:sp>
        <p:nvSpPr>
          <p:cNvPr id="30" name="Text 28"/>
          <p:cNvSpPr/>
          <p:nvPr/>
        </p:nvSpPr>
        <p:spPr>
          <a:xfrm>
            <a:off x="8547100" y="4931569"/>
            <a:ext cx="11488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20 - 200 Nm</a:t>
            </a:r>
            <a:endParaRPr lang="fr-FR" sz="1600" dirty="0"/>
          </a:p>
        </p:txBody>
      </p:sp>
      <p:sp>
        <p:nvSpPr>
          <p:cNvPr id="31" name="Shape 29"/>
          <p:cNvSpPr/>
          <p:nvPr/>
        </p:nvSpPr>
        <p:spPr>
          <a:xfrm>
            <a:off x="8493125" y="54610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74523" y="6042"/>
                </a:moveTo>
                <a:cubicBezTo>
                  <a:pt x="70182" y="1702"/>
                  <a:pt x="63133" y="1702"/>
                  <a:pt x="58792" y="6042"/>
                </a:cubicBezTo>
                <a:lnTo>
                  <a:pt x="3230" y="61605"/>
                </a:lnTo>
                <a:cubicBezTo>
                  <a:pt x="-1111" y="65946"/>
                  <a:pt x="-1111" y="72995"/>
                  <a:pt x="3230" y="77336"/>
                </a:cubicBezTo>
                <a:cubicBezTo>
                  <a:pt x="7570" y="81677"/>
                  <a:pt x="14620" y="81677"/>
                  <a:pt x="18961" y="77336"/>
                </a:cubicBezTo>
                <a:lnTo>
                  <a:pt x="55563" y="40734"/>
                </a:lnTo>
                <a:lnTo>
                  <a:pt x="55563" y="169466"/>
                </a:lnTo>
                <a:cubicBezTo>
                  <a:pt x="55563" y="175612"/>
                  <a:pt x="60528" y="180578"/>
                  <a:pt x="66675" y="180578"/>
                </a:cubicBezTo>
                <a:cubicBezTo>
                  <a:pt x="72822" y="180578"/>
                  <a:pt x="77788" y="175612"/>
                  <a:pt x="77788" y="169466"/>
                </a:cubicBezTo>
                <a:lnTo>
                  <a:pt x="77788" y="40734"/>
                </a:lnTo>
                <a:lnTo>
                  <a:pt x="114389" y="77336"/>
                </a:lnTo>
                <a:cubicBezTo>
                  <a:pt x="118730" y="81677"/>
                  <a:pt x="125780" y="81677"/>
                  <a:pt x="130120" y="77336"/>
                </a:cubicBezTo>
                <a:cubicBezTo>
                  <a:pt x="134461" y="72995"/>
                  <a:pt x="134461" y="65946"/>
                  <a:pt x="130120" y="61605"/>
                </a:cubicBezTo>
                <a:lnTo>
                  <a:pt x="74558" y="6042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Text 30"/>
          <p:cNvSpPr/>
          <p:nvPr/>
        </p:nvSpPr>
        <p:spPr>
          <a:xfrm>
            <a:off x="8769350" y="54229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Montée progressive</a:t>
            </a:r>
            <a:endParaRPr lang="fr-FR" sz="1600" dirty="0"/>
          </a:p>
        </p:txBody>
      </p:sp>
      <p:sp>
        <p:nvSpPr>
          <p:cNvPr id="33" name="Shape 31"/>
          <p:cNvSpPr/>
          <p:nvPr/>
        </p:nvSpPr>
        <p:spPr>
          <a:xfrm>
            <a:off x="10561439" y="5461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51651" y="25941"/>
                </a:moveTo>
                <a:lnTo>
                  <a:pt x="155575" y="29656"/>
                </a:lnTo>
                <a:lnTo>
                  <a:pt x="155575" y="11112"/>
                </a:lnTo>
                <a:cubicBezTo>
                  <a:pt x="155575" y="4966"/>
                  <a:pt x="160541" y="0"/>
                  <a:pt x="166688" y="0"/>
                </a:cubicBezTo>
                <a:cubicBezTo>
                  <a:pt x="172834" y="0"/>
                  <a:pt x="177800" y="4966"/>
                  <a:pt x="177800" y="11112"/>
                </a:cubicBezTo>
                <a:lnTo>
                  <a:pt x="177800" y="55563"/>
                </a:lnTo>
                <a:cubicBezTo>
                  <a:pt x="177800" y="61709"/>
                  <a:pt x="172834" y="66675"/>
                  <a:pt x="166688" y="66675"/>
                </a:cubicBezTo>
                <a:lnTo>
                  <a:pt x="122238" y="66675"/>
                </a:lnTo>
                <a:cubicBezTo>
                  <a:pt x="116091" y="66675"/>
                  <a:pt x="111125" y="61709"/>
                  <a:pt x="111125" y="55563"/>
                </a:cubicBezTo>
                <a:cubicBezTo>
                  <a:pt x="111125" y="49416"/>
                  <a:pt x="116091" y="44450"/>
                  <a:pt x="122238" y="44450"/>
                </a:cubicBezTo>
                <a:lnTo>
                  <a:pt x="138872" y="44450"/>
                </a:lnTo>
                <a:lnTo>
                  <a:pt x="136232" y="41950"/>
                </a:lnTo>
                <a:cubicBezTo>
                  <a:pt x="136163" y="41880"/>
                  <a:pt x="136093" y="41811"/>
                  <a:pt x="136024" y="41741"/>
                </a:cubicBezTo>
                <a:cubicBezTo>
                  <a:pt x="109979" y="15696"/>
                  <a:pt x="67786" y="15696"/>
                  <a:pt x="41741" y="41741"/>
                </a:cubicBezTo>
                <a:cubicBezTo>
                  <a:pt x="15696" y="67786"/>
                  <a:pt x="15696" y="109979"/>
                  <a:pt x="41741" y="136024"/>
                </a:cubicBezTo>
                <a:cubicBezTo>
                  <a:pt x="67786" y="162069"/>
                  <a:pt x="109979" y="162069"/>
                  <a:pt x="136024" y="136024"/>
                </a:cubicBezTo>
                <a:cubicBezTo>
                  <a:pt x="138872" y="133176"/>
                  <a:pt x="141407" y="130155"/>
                  <a:pt x="143629" y="126960"/>
                </a:cubicBezTo>
                <a:cubicBezTo>
                  <a:pt x="147136" y="121925"/>
                  <a:pt x="154082" y="120710"/>
                  <a:pt x="159117" y="124217"/>
                </a:cubicBezTo>
                <a:cubicBezTo>
                  <a:pt x="164152" y="127724"/>
                  <a:pt x="165368" y="134670"/>
                  <a:pt x="161861" y="139705"/>
                </a:cubicBezTo>
                <a:cubicBezTo>
                  <a:pt x="158909" y="143942"/>
                  <a:pt x="155540" y="147970"/>
                  <a:pt x="151755" y="151755"/>
                </a:cubicBezTo>
                <a:cubicBezTo>
                  <a:pt x="117029" y="186482"/>
                  <a:pt x="60737" y="186482"/>
                  <a:pt x="26045" y="151755"/>
                </a:cubicBezTo>
                <a:cubicBezTo>
                  <a:pt x="-8647" y="117029"/>
                  <a:pt x="-8682" y="60771"/>
                  <a:pt x="26045" y="26045"/>
                </a:cubicBezTo>
                <a:cubicBezTo>
                  <a:pt x="60737" y="-8647"/>
                  <a:pt x="116924" y="-8682"/>
                  <a:pt x="151651" y="2594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4" name="Text 32"/>
          <p:cNvSpPr/>
          <p:nvPr/>
        </p:nvSpPr>
        <p:spPr>
          <a:xfrm>
            <a:off x="10859889" y="54229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Retour zéro</a:t>
            </a:r>
            <a:endParaRPr lang="fr-FR" sz="1600" dirty="0"/>
          </a:p>
        </p:txBody>
      </p:sp>
      <p:sp>
        <p:nvSpPr>
          <p:cNvPr id="35" name="Shape 33"/>
          <p:cNvSpPr/>
          <p:nvPr/>
        </p:nvSpPr>
        <p:spPr>
          <a:xfrm>
            <a:off x="514350" y="6102350"/>
            <a:ext cx="7505700" cy="2527300"/>
          </a:xfrm>
          <a:custGeom>
            <a:avLst/>
            <a:gdLst/>
            <a:ahLst/>
            <a:cxnLst/>
            <a:rect l="l" t="t" r="r" b="b"/>
            <a:pathLst>
              <a:path w="7505700" h="2527300">
                <a:moveTo>
                  <a:pt x="101597" y="0"/>
                </a:moveTo>
                <a:lnTo>
                  <a:pt x="7404103" y="0"/>
                </a:lnTo>
                <a:cubicBezTo>
                  <a:pt x="7460213" y="0"/>
                  <a:pt x="7505700" y="45487"/>
                  <a:pt x="7505700" y="101597"/>
                </a:cubicBezTo>
                <a:lnTo>
                  <a:pt x="7505700" y="2425703"/>
                </a:lnTo>
                <a:cubicBezTo>
                  <a:pt x="7505700" y="2481813"/>
                  <a:pt x="7460213" y="2527300"/>
                  <a:pt x="7404103" y="2527300"/>
                </a:cubicBezTo>
                <a:lnTo>
                  <a:pt x="101597" y="2527300"/>
                </a:lnTo>
                <a:cubicBezTo>
                  <a:pt x="45487" y="2527300"/>
                  <a:pt x="0" y="2481813"/>
                  <a:pt x="0" y="24257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3900" y="6311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7" name="Shape 35"/>
          <p:cNvSpPr/>
          <p:nvPr/>
        </p:nvSpPr>
        <p:spPr>
          <a:xfrm>
            <a:off x="917575" y="64897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496" y="219125"/>
                </a:moveTo>
                <a:cubicBezTo>
                  <a:pt x="2729" y="229939"/>
                  <a:pt x="12303" y="238125"/>
                  <a:pt x="23812" y="238125"/>
                </a:cubicBezTo>
                <a:lnTo>
                  <a:pt x="198438" y="238125"/>
                </a:lnTo>
                <a:cubicBezTo>
                  <a:pt x="211584" y="238125"/>
                  <a:pt x="222250" y="227459"/>
                  <a:pt x="222250" y="214313"/>
                </a:cubicBezTo>
                <a:lnTo>
                  <a:pt x="222250" y="166688"/>
                </a:lnTo>
                <a:cubicBezTo>
                  <a:pt x="222250" y="153541"/>
                  <a:pt x="211584" y="142875"/>
                  <a:pt x="198438" y="142875"/>
                </a:cubicBezTo>
                <a:lnTo>
                  <a:pt x="174625" y="142875"/>
                </a:lnTo>
                <a:lnTo>
                  <a:pt x="174625" y="178594"/>
                </a:lnTo>
                <a:cubicBezTo>
                  <a:pt x="174625" y="185192"/>
                  <a:pt x="169317" y="190500"/>
                  <a:pt x="162719" y="190500"/>
                </a:cubicBezTo>
                <a:cubicBezTo>
                  <a:pt x="156121" y="190500"/>
                  <a:pt x="150813" y="185192"/>
                  <a:pt x="150813" y="178594"/>
                </a:cubicBezTo>
                <a:lnTo>
                  <a:pt x="150813" y="142875"/>
                </a:lnTo>
                <a:lnTo>
                  <a:pt x="119063" y="142875"/>
                </a:lnTo>
                <a:lnTo>
                  <a:pt x="119063" y="178594"/>
                </a:lnTo>
                <a:cubicBezTo>
                  <a:pt x="119063" y="185192"/>
                  <a:pt x="113754" y="190500"/>
                  <a:pt x="107156" y="190500"/>
                </a:cubicBezTo>
                <a:cubicBezTo>
                  <a:pt x="100558" y="190500"/>
                  <a:pt x="95250" y="185192"/>
                  <a:pt x="95250" y="178594"/>
                </a:cubicBezTo>
                <a:lnTo>
                  <a:pt x="95250" y="142875"/>
                </a:lnTo>
                <a:lnTo>
                  <a:pt x="59531" y="142875"/>
                </a:lnTo>
                <a:cubicBezTo>
                  <a:pt x="52933" y="142875"/>
                  <a:pt x="47625" y="137567"/>
                  <a:pt x="47625" y="130969"/>
                </a:cubicBezTo>
                <a:cubicBezTo>
                  <a:pt x="47625" y="124371"/>
                  <a:pt x="52933" y="119063"/>
                  <a:pt x="59531" y="119063"/>
                </a:cubicBezTo>
                <a:lnTo>
                  <a:pt x="95250" y="119063"/>
                </a:lnTo>
                <a:lnTo>
                  <a:pt x="95250" y="87313"/>
                </a:lnTo>
                <a:lnTo>
                  <a:pt x="59531" y="87313"/>
                </a:lnTo>
                <a:cubicBezTo>
                  <a:pt x="52933" y="87313"/>
                  <a:pt x="47625" y="82004"/>
                  <a:pt x="47625" y="75406"/>
                </a:cubicBezTo>
                <a:cubicBezTo>
                  <a:pt x="47625" y="68808"/>
                  <a:pt x="52933" y="63500"/>
                  <a:pt x="59531" y="63500"/>
                </a:cubicBezTo>
                <a:lnTo>
                  <a:pt x="95250" y="63500"/>
                </a:lnTo>
                <a:lnTo>
                  <a:pt x="95250" y="39688"/>
                </a:lnTo>
                <a:cubicBezTo>
                  <a:pt x="95250" y="26541"/>
                  <a:pt x="84584" y="15875"/>
                  <a:pt x="71438" y="15875"/>
                </a:cubicBezTo>
                <a:lnTo>
                  <a:pt x="23812" y="15875"/>
                </a:lnTo>
                <a:cubicBezTo>
                  <a:pt x="10666" y="15875"/>
                  <a:pt x="0" y="26541"/>
                  <a:pt x="0" y="39688"/>
                </a:cubicBezTo>
                <a:lnTo>
                  <a:pt x="0" y="214313"/>
                </a:lnTo>
                <a:cubicBezTo>
                  <a:pt x="0" y="215950"/>
                  <a:pt x="149" y="217587"/>
                  <a:pt x="496" y="219125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38" name="Text 36"/>
          <p:cNvSpPr/>
          <p:nvPr/>
        </p:nvSpPr>
        <p:spPr>
          <a:xfrm>
            <a:off x="1485900" y="64389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Mesure</a:t>
            </a:r>
            <a:endParaRPr lang="fr-FR" sz="1600" dirty="0"/>
          </a:p>
        </p:txBody>
      </p:sp>
      <p:sp>
        <p:nvSpPr>
          <p:cNvPr id="39" name="Shape 37"/>
          <p:cNvSpPr/>
          <p:nvPr/>
        </p:nvSpPr>
        <p:spPr>
          <a:xfrm>
            <a:off x="762000" y="71405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0" name="Text 38"/>
          <p:cNvSpPr/>
          <p:nvPr/>
        </p:nvSpPr>
        <p:spPr>
          <a:xfrm>
            <a:off x="1079500" y="7089775"/>
            <a:ext cx="227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Lire couple réel </a:t>
            </a: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(en Nm)</a:t>
            </a:r>
            <a:endParaRPr lang="fr-FR" sz="1600" dirty="0"/>
          </a:p>
        </p:txBody>
      </p:sp>
      <p:sp>
        <p:nvSpPr>
          <p:cNvPr id="41" name="Shape 39"/>
          <p:cNvSpPr/>
          <p:nvPr/>
        </p:nvSpPr>
        <p:spPr>
          <a:xfrm>
            <a:off x="762000" y="747712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2" name="Text 40"/>
          <p:cNvSpPr/>
          <p:nvPr/>
        </p:nvSpPr>
        <p:spPr>
          <a:xfrm>
            <a:off x="1079500" y="7426325"/>
            <a:ext cx="189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Stabiliser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 mesure</a:t>
            </a:r>
            <a:endParaRPr lang="fr-FR" sz="1600" dirty="0"/>
          </a:p>
        </p:txBody>
      </p:sp>
      <p:sp>
        <p:nvSpPr>
          <p:cNvPr id="43" name="Shape 41"/>
          <p:cNvSpPr/>
          <p:nvPr/>
        </p:nvSpPr>
        <p:spPr>
          <a:xfrm>
            <a:off x="762000" y="78136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4" name="Text 42"/>
          <p:cNvSpPr/>
          <p:nvPr/>
        </p:nvSpPr>
        <p:spPr>
          <a:xfrm>
            <a:off x="1079500" y="7762875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Détecter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incohérences</a:t>
            </a:r>
            <a:endParaRPr lang="fr-FR" sz="1600" dirty="0"/>
          </a:p>
        </p:txBody>
      </p:sp>
      <p:sp>
        <p:nvSpPr>
          <p:cNvPr id="45" name="Shape 43"/>
          <p:cNvSpPr/>
          <p:nvPr/>
        </p:nvSpPr>
        <p:spPr>
          <a:xfrm>
            <a:off x="762000" y="815022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6" name="Text 44"/>
          <p:cNvSpPr/>
          <p:nvPr/>
        </p:nvSpPr>
        <p:spPr>
          <a:xfrm>
            <a:off x="1079500" y="8099425"/>
            <a:ext cx="180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Stocker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les valeurs</a:t>
            </a:r>
            <a:endParaRPr lang="fr-FR" sz="1600" dirty="0"/>
          </a:p>
        </p:txBody>
      </p:sp>
      <p:sp>
        <p:nvSpPr>
          <p:cNvPr id="47" name="Shape 45"/>
          <p:cNvSpPr/>
          <p:nvPr/>
        </p:nvSpPr>
        <p:spPr>
          <a:xfrm>
            <a:off x="8235950" y="6102350"/>
            <a:ext cx="7505700" cy="2527300"/>
          </a:xfrm>
          <a:custGeom>
            <a:avLst/>
            <a:gdLst/>
            <a:ahLst/>
            <a:cxnLst/>
            <a:rect l="l" t="t" r="r" b="b"/>
            <a:pathLst>
              <a:path w="7505700" h="2527300">
                <a:moveTo>
                  <a:pt x="101597" y="0"/>
                </a:moveTo>
                <a:lnTo>
                  <a:pt x="7404103" y="0"/>
                </a:lnTo>
                <a:cubicBezTo>
                  <a:pt x="7460213" y="0"/>
                  <a:pt x="7505700" y="45487"/>
                  <a:pt x="7505700" y="101597"/>
                </a:cubicBezTo>
                <a:lnTo>
                  <a:pt x="7505700" y="2425703"/>
                </a:lnTo>
                <a:cubicBezTo>
                  <a:pt x="7505700" y="2481813"/>
                  <a:pt x="7460213" y="2527300"/>
                  <a:pt x="7404103" y="2527300"/>
                </a:cubicBezTo>
                <a:lnTo>
                  <a:pt x="101597" y="2527300"/>
                </a:lnTo>
                <a:cubicBezTo>
                  <a:pt x="45487" y="2527300"/>
                  <a:pt x="0" y="2481813"/>
                  <a:pt x="0" y="242570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45500" y="6311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0798" y="0"/>
                </a:moveTo>
                <a:lnTo>
                  <a:pt x="558802" y="0"/>
                </a:lnTo>
                <a:cubicBezTo>
                  <a:pt x="586857" y="0"/>
                  <a:pt x="609600" y="22743"/>
                  <a:pt x="609600" y="50798"/>
                </a:cubicBezTo>
                <a:lnTo>
                  <a:pt x="609600" y="558802"/>
                </a:lnTo>
                <a:cubicBezTo>
                  <a:pt x="609600" y="586857"/>
                  <a:pt x="586857" y="609600"/>
                  <a:pt x="5588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62"/>
                  <a:pt x="22762" y="0"/>
                  <a:pt x="50798" y="0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49" name="Shape 47"/>
          <p:cNvSpPr/>
          <p:nvPr/>
        </p:nvSpPr>
        <p:spPr>
          <a:xfrm>
            <a:off x="8623300" y="6489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174625"/>
                </a:lnTo>
                <a:cubicBezTo>
                  <a:pt x="0" y="192137"/>
                  <a:pt x="14238" y="206375"/>
                  <a:pt x="31750" y="206375"/>
                </a:cubicBezTo>
                <a:lnTo>
                  <a:pt x="103188" y="206375"/>
                </a:lnTo>
                <a:lnTo>
                  <a:pt x="95250" y="230188"/>
                </a:lnTo>
                <a:lnTo>
                  <a:pt x="59531" y="230188"/>
                </a:lnTo>
                <a:cubicBezTo>
                  <a:pt x="52933" y="230188"/>
                  <a:pt x="47625" y="235496"/>
                  <a:pt x="47625" y="242094"/>
                </a:cubicBezTo>
                <a:cubicBezTo>
                  <a:pt x="47625" y="248692"/>
                  <a:pt x="52933" y="254000"/>
                  <a:pt x="59531" y="254000"/>
                </a:cubicBezTo>
                <a:lnTo>
                  <a:pt x="194469" y="254000"/>
                </a:lnTo>
                <a:cubicBezTo>
                  <a:pt x="201067" y="254000"/>
                  <a:pt x="206375" y="248692"/>
                  <a:pt x="206375" y="242094"/>
                </a:cubicBezTo>
                <a:cubicBezTo>
                  <a:pt x="206375" y="235496"/>
                  <a:pt x="201067" y="230188"/>
                  <a:pt x="194469" y="230188"/>
                </a:cubicBezTo>
                <a:lnTo>
                  <a:pt x="158750" y="230188"/>
                </a:lnTo>
                <a:lnTo>
                  <a:pt x="150813" y="206375"/>
                </a:lnTo>
                <a:lnTo>
                  <a:pt x="222250" y="206375"/>
                </a:lnTo>
                <a:cubicBezTo>
                  <a:pt x="239762" y="206375"/>
                  <a:pt x="254000" y="192137"/>
                  <a:pt x="254000" y="174625"/>
                </a:cubicBezTo>
                <a:lnTo>
                  <a:pt x="254000" y="47625"/>
                </a:lnTo>
                <a:cubicBezTo>
                  <a:pt x="254000" y="30113"/>
                  <a:pt x="239762" y="15875"/>
                  <a:pt x="222250" y="15875"/>
                </a:cubicBezTo>
                <a:lnTo>
                  <a:pt x="31750" y="15875"/>
                </a:lnTo>
                <a:close/>
                <a:moveTo>
                  <a:pt x="47625" y="47625"/>
                </a:moveTo>
                <a:lnTo>
                  <a:pt x="206375" y="47625"/>
                </a:lnTo>
                <a:cubicBezTo>
                  <a:pt x="215156" y="47625"/>
                  <a:pt x="222250" y="54719"/>
                  <a:pt x="222250" y="63500"/>
                </a:cubicBezTo>
                <a:lnTo>
                  <a:pt x="222250" y="142875"/>
                </a:lnTo>
                <a:cubicBezTo>
                  <a:pt x="222250" y="151656"/>
                  <a:pt x="215156" y="158750"/>
                  <a:pt x="206375" y="158750"/>
                </a:cubicBezTo>
                <a:lnTo>
                  <a:pt x="47625" y="158750"/>
                </a:lnTo>
                <a:cubicBezTo>
                  <a:pt x="38844" y="158750"/>
                  <a:pt x="31750" y="151656"/>
                  <a:pt x="31750" y="142875"/>
                </a:cubicBezTo>
                <a:lnTo>
                  <a:pt x="31750" y="63500"/>
                </a:lnTo>
                <a:cubicBezTo>
                  <a:pt x="31750" y="54719"/>
                  <a:pt x="38844" y="47625"/>
                  <a:pt x="47625" y="47625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50" name="Text 48"/>
          <p:cNvSpPr/>
          <p:nvPr/>
        </p:nvSpPr>
        <p:spPr>
          <a:xfrm>
            <a:off x="9207500" y="6438900"/>
            <a:ext cx="149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</a:t>
            </a:r>
            <a:endParaRPr lang="fr-FR" sz="1600" dirty="0"/>
          </a:p>
        </p:txBody>
      </p:sp>
      <p:sp>
        <p:nvSpPr>
          <p:cNvPr id="51" name="Shape 49"/>
          <p:cNvSpPr/>
          <p:nvPr/>
        </p:nvSpPr>
        <p:spPr>
          <a:xfrm>
            <a:off x="8483600" y="71405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52" name="Text 50"/>
          <p:cNvSpPr/>
          <p:nvPr/>
        </p:nvSpPr>
        <p:spPr>
          <a:xfrm>
            <a:off x="8801100" y="7089775"/>
            <a:ext cx="215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IHM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opérateur intuitive</a:t>
            </a:r>
            <a:endParaRPr lang="fr-FR" sz="1600" dirty="0"/>
          </a:p>
        </p:txBody>
      </p:sp>
      <p:sp>
        <p:nvSpPr>
          <p:cNvPr id="53" name="Shape 51"/>
          <p:cNvSpPr/>
          <p:nvPr/>
        </p:nvSpPr>
        <p:spPr>
          <a:xfrm>
            <a:off x="8483600" y="747712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54" name="Text 52"/>
          <p:cNvSpPr/>
          <p:nvPr/>
        </p:nvSpPr>
        <p:spPr>
          <a:xfrm>
            <a:off x="8801100" y="742632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PC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supervision</a:t>
            </a:r>
            <a:endParaRPr lang="fr-FR" sz="1600" dirty="0"/>
          </a:p>
        </p:txBody>
      </p:sp>
      <p:sp>
        <p:nvSpPr>
          <p:cNvPr id="55" name="Shape 53"/>
          <p:cNvSpPr/>
          <p:nvPr/>
        </p:nvSpPr>
        <p:spPr>
          <a:xfrm>
            <a:off x="8483600" y="78136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56" name="Text 54"/>
          <p:cNvSpPr/>
          <p:nvPr/>
        </p:nvSpPr>
        <p:spPr>
          <a:xfrm>
            <a:off x="8801100" y="7762875"/>
            <a:ext cx="207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Transmission </a:t>
            </a: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BT/Wifi</a:t>
            </a:r>
            <a:endParaRPr lang="fr-FR" sz="1600" dirty="0"/>
          </a:p>
        </p:txBody>
      </p:sp>
      <p:sp>
        <p:nvSpPr>
          <p:cNvPr id="57" name="Shape 55"/>
          <p:cNvSpPr/>
          <p:nvPr/>
        </p:nvSpPr>
        <p:spPr>
          <a:xfrm>
            <a:off x="8483600" y="815022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58" name="Text 56"/>
          <p:cNvSpPr/>
          <p:nvPr/>
        </p:nvSpPr>
        <p:spPr>
          <a:xfrm>
            <a:off x="8801100" y="8099425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Rapports</a:t>
            </a: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automatiques</a:t>
            </a:r>
            <a:endParaRPr lang="fr-FR" sz="1600" dirty="0"/>
          </a:p>
        </p:txBody>
      </p:sp>
      <p:sp>
        <p:nvSpPr>
          <p:cNvPr id="59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dirty="0" smtClean="0">
                <a:solidFill>
                  <a:srgbClr val="E89F5B"/>
                </a:solidFill>
              </a:rPr>
              <a:t>12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05. SÉCURITÉS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Système de Sécurité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81150"/>
            <a:ext cx="4064000" cy="1435100"/>
          </a:xfrm>
          <a:custGeom>
            <a:avLst/>
            <a:gdLst/>
            <a:ahLst/>
            <a:cxnLst/>
            <a:rect l="l" t="t" r="r" b="b"/>
            <a:pathLst>
              <a:path w="4064000" h="1435100">
                <a:moveTo>
                  <a:pt x="101605" y="0"/>
                </a:moveTo>
                <a:lnTo>
                  <a:pt x="3962395" y="0"/>
                </a:lnTo>
                <a:cubicBezTo>
                  <a:pt x="4018510" y="0"/>
                  <a:pt x="4064000" y="45490"/>
                  <a:pt x="4064000" y="101605"/>
                </a:cubicBezTo>
                <a:lnTo>
                  <a:pt x="4064000" y="1333495"/>
                </a:lnTo>
                <a:cubicBezTo>
                  <a:pt x="4064000" y="1389610"/>
                  <a:pt x="4018510" y="1435100"/>
                  <a:pt x="3962395" y="1435100"/>
                </a:cubicBezTo>
                <a:lnTo>
                  <a:pt x="101605" y="1435100"/>
                </a:lnTo>
                <a:cubicBezTo>
                  <a:pt x="45490" y="1435100"/>
                  <a:pt x="0" y="1389610"/>
                  <a:pt x="0" y="13334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E89F5B">
              <a:alpha val="10196"/>
            </a:srgbClr>
          </a:soli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3100" y="17399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6" name="Shape 4"/>
          <p:cNvSpPr/>
          <p:nvPr/>
        </p:nvSpPr>
        <p:spPr>
          <a:xfrm>
            <a:off x="815975" y="187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8588" y="14288"/>
                </a:moveTo>
                <a:cubicBezTo>
                  <a:pt x="128588" y="6385"/>
                  <a:pt x="122203" y="0"/>
                  <a:pt x="114300" y="0"/>
                </a:cubicBezTo>
                <a:cubicBezTo>
                  <a:pt x="106397" y="0"/>
                  <a:pt x="100013" y="6385"/>
                  <a:pt x="100013" y="14288"/>
                </a:cubicBezTo>
                <a:lnTo>
                  <a:pt x="100013" y="107156"/>
                </a:lnTo>
                <a:cubicBezTo>
                  <a:pt x="100013" y="111085"/>
                  <a:pt x="96798" y="114300"/>
                  <a:pt x="92869" y="114300"/>
                </a:cubicBezTo>
                <a:cubicBezTo>
                  <a:pt x="88940" y="114300"/>
                  <a:pt x="85725" y="111085"/>
                  <a:pt x="85725" y="107156"/>
                </a:cubicBezTo>
                <a:lnTo>
                  <a:pt x="85725" y="28575"/>
                </a:lnTo>
                <a:cubicBezTo>
                  <a:pt x="85725" y="20672"/>
                  <a:pt x="79340" y="14288"/>
                  <a:pt x="71438" y="14288"/>
                </a:cubicBezTo>
                <a:cubicBezTo>
                  <a:pt x="63535" y="14288"/>
                  <a:pt x="57150" y="20672"/>
                  <a:pt x="57150" y="28575"/>
                </a:cubicBezTo>
                <a:lnTo>
                  <a:pt x="57150" y="150019"/>
                </a:lnTo>
                <a:cubicBezTo>
                  <a:pt x="57150" y="150688"/>
                  <a:pt x="57150" y="151403"/>
                  <a:pt x="57195" y="152073"/>
                </a:cubicBezTo>
                <a:lnTo>
                  <a:pt x="30182" y="126355"/>
                </a:lnTo>
                <a:cubicBezTo>
                  <a:pt x="23039" y="119569"/>
                  <a:pt x="11743" y="119836"/>
                  <a:pt x="4911" y="126980"/>
                </a:cubicBezTo>
                <a:cubicBezTo>
                  <a:pt x="-1920" y="134124"/>
                  <a:pt x="-1607" y="145420"/>
                  <a:pt x="5536" y="152251"/>
                </a:cubicBezTo>
                <a:lnTo>
                  <a:pt x="55721" y="200025"/>
                </a:lnTo>
                <a:cubicBezTo>
                  <a:pt x="74965" y="218376"/>
                  <a:pt x="100548" y="228600"/>
                  <a:pt x="127159" y="228600"/>
                </a:cubicBezTo>
                <a:lnTo>
                  <a:pt x="135731" y="228600"/>
                </a:lnTo>
                <a:cubicBezTo>
                  <a:pt x="179130" y="228600"/>
                  <a:pt x="214313" y="193417"/>
                  <a:pt x="214313" y="150019"/>
                </a:cubicBezTo>
                <a:lnTo>
                  <a:pt x="214313" y="57150"/>
                </a:lnTo>
                <a:cubicBezTo>
                  <a:pt x="214313" y="49247"/>
                  <a:pt x="207928" y="42863"/>
                  <a:pt x="200025" y="42863"/>
                </a:cubicBezTo>
                <a:cubicBezTo>
                  <a:pt x="192122" y="42863"/>
                  <a:pt x="185738" y="49247"/>
                  <a:pt x="185738" y="57150"/>
                </a:cubicBezTo>
                <a:lnTo>
                  <a:pt x="185738" y="107156"/>
                </a:lnTo>
                <a:cubicBezTo>
                  <a:pt x="185738" y="111085"/>
                  <a:pt x="182523" y="114300"/>
                  <a:pt x="178594" y="114300"/>
                </a:cubicBezTo>
                <a:cubicBezTo>
                  <a:pt x="174665" y="114300"/>
                  <a:pt x="171450" y="111085"/>
                  <a:pt x="171450" y="107156"/>
                </a:cubicBezTo>
                <a:lnTo>
                  <a:pt x="171450" y="28575"/>
                </a:lnTo>
                <a:cubicBezTo>
                  <a:pt x="171450" y="20672"/>
                  <a:pt x="165065" y="14288"/>
                  <a:pt x="157163" y="14288"/>
                </a:cubicBezTo>
                <a:cubicBezTo>
                  <a:pt x="149260" y="14288"/>
                  <a:pt x="142875" y="20672"/>
                  <a:pt x="142875" y="28575"/>
                </a:cubicBezTo>
                <a:lnTo>
                  <a:pt x="142875" y="107156"/>
                </a:lnTo>
                <a:cubicBezTo>
                  <a:pt x="142875" y="111085"/>
                  <a:pt x="139660" y="114300"/>
                  <a:pt x="135731" y="114300"/>
                </a:cubicBezTo>
                <a:cubicBezTo>
                  <a:pt x="131802" y="114300"/>
                  <a:pt x="128588" y="111085"/>
                  <a:pt x="128588" y="107156"/>
                </a:cubicBezTo>
                <a:lnTo>
                  <a:pt x="128588" y="1428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282700" y="1841500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Arrêt d'Urgence</a:t>
            </a:r>
            <a:endParaRPr lang="fr-FR" sz="1600" dirty="0"/>
          </a:p>
        </p:txBody>
      </p:sp>
      <p:sp>
        <p:nvSpPr>
          <p:cNvPr id="8" name="Text 6"/>
          <p:cNvSpPr/>
          <p:nvPr/>
        </p:nvSpPr>
        <p:spPr>
          <a:xfrm>
            <a:off x="673100" y="2349500"/>
            <a:ext cx="3835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Coupure immédiate alimentation moteurs et vérin</a:t>
            </a:r>
            <a:endParaRPr lang="fr-FR" sz="1600" dirty="0"/>
          </a:p>
        </p:txBody>
      </p:sp>
      <p:sp>
        <p:nvSpPr>
          <p:cNvPr id="9" name="Shape 7"/>
          <p:cNvSpPr/>
          <p:nvPr/>
        </p:nvSpPr>
        <p:spPr>
          <a:xfrm>
            <a:off x="4686300" y="1581150"/>
            <a:ext cx="4064000" cy="1435100"/>
          </a:xfrm>
          <a:custGeom>
            <a:avLst/>
            <a:gdLst/>
            <a:ahLst/>
            <a:cxnLst/>
            <a:rect l="l" t="t" r="r" b="b"/>
            <a:pathLst>
              <a:path w="4064000" h="1435100">
                <a:moveTo>
                  <a:pt x="101605" y="0"/>
                </a:moveTo>
                <a:lnTo>
                  <a:pt x="3962395" y="0"/>
                </a:lnTo>
                <a:cubicBezTo>
                  <a:pt x="4018510" y="0"/>
                  <a:pt x="4064000" y="45490"/>
                  <a:pt x="4064000" y="101605"/>
                </a:cubicBezTo>
                <a:lnTo>
                  <a:pt x="4064000" y="1333495"/>
                </a:lnTo>
                <a:cubicBezTo>
                  <a:pt x="4064000" y="1389610"/>
                  <a:pt x="4018510" y="1435100"/>
                  <a:pt x="3962395" y="1435100"/>
                </a:cubicBezTo>
                <a:lnTo>
                  <a:pt x="101605" y="1435100"/>
                </a:lnTo>
                <a:cubicBezTo>
                  <a:pt x="45490" y="1435100"/>
                  <a:pt x="0" y="1389610"/>
                  <a:pt x="0" y="13334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5050" y="17399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Shape 9"/>
          <p:cNvSpPr/>
          <p:nvPr/>
        </p:nvSpPr>
        <p:spPr>
          <a:xfrm>
            <a:off x="4987925" y="187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2" name="Text 10"/>
          <p:cNvSpPr/>
          <p:nvPr/>
        </p:nvSpPr>
        <p:spPr>
          <a:xfrm>
            <a:off x="5454650" y="1841500"/>
            <a:ext cx="199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Capot de Protection</a:t>
            </a:r>
            <a:endParaRPr lang="fr-FR" sz="1600" dirty="0"/>
          </a:p>
        </p:txBody>
      </p:sp>
      <p:sp>
        <p:nvSpPr>
          <p:cNvPr id="13" name="Text 11"/>
          <p:cNvSpPr/>
          <p:nvPr/>
        </p:nvSpPr>
        <p:spPr>
          <a:xfrm>
            <a:off x="4845050" y="2349500"/>
            <a:ext cx="383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Bloquage</a:t>
            </a: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cycle si capot ouvert</a:t>
            </a:r>
            <a:endParaRPr lang="fr-FR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3130550"/>
            <a:ext cx="4064000" cy="1181100"/>
          </a:xfrm>
          <a:custGeom>
            <a:avLst/>
            <a:gdLst/>
            <a:ahLst/>
            <a:cxnLst/>
            <a:rect l="l" t="t" r="r" b="b"/>
            <a:pathLst>
              <a:path w="4064000" h="1181100">
                <a:moveTo>
                  <a:pt x="101598" y="0"/>
                </a:moveTo>
                <a:lnTo>
                  <a:pt x="3962402" y="0"/>
                </a:lnTo>
                <a:cubicBezTo>
                  <a:pt x="4018513" y="0"/>
                  <a:pt x="4064000" y="45487"/>
                  <a:pt x="4064000" y="101598"/>
                </a:cubicBezTo>
                <a:lnTo>
                  <a:pt x="4064000" y="1079502"/>
                </a:lnTo>
                <a:cubicBezTo>
                  <a:pt x="4064000" y="1135613"/>
                  <a:pt x="4018513" y="1181100"/>
                  <a:pt x="39624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3100" y="32893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6" name="Shape 14"/>
          <p:cNvSpPr/>
          <p:nvPr/>
        </p:nvSpPr>
        <p:spPr>
          <a:xfrm>
            <a:off x="815975" y="3429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0019" y="157163"/>
                </a:moveTo>
                <a:cubicBezTo>
                  <a:pt x="193417" y="157163"/>
                  <a:pt x="228600" y="121980"/>
                  <a:pt x="228600" y="78581"/>
                </a:cubicBezTo>
                <a:cubicBezTo>
                  <a:pt x="228600" y="35183"/>
                  <a:pt x="193417" y="0"/>
                  <a:pt x="150019" y="0"/>
                </a:cubicBezTo>
                <a:cubicBezTo>
                  <a:pt x="106620" y="0"/>
                  <a:pt x="71438" y="35183"/>
                  <a:pt x="71438" y="78581"/>
                </a:cubicBezTo>
                <a:cubicBezTo>
                  <a:pt x="71438" y="86931"/>
                  <a:pt x="72732" y="95012"/>
                  <a:pt x="75143" y="102557"/>
                </a:cubicBezTo>
                <a:lnTo>
                  <a:pt x="3125" y="174575"/>
                </a:lnTo>
                <a:cubicBezTo>
                  <a:pt x="1116" y="176585"/>
                  <a:pt x="0" y="179308"/>
                  <a:pt x="0" y="182166"/>
                </a:cubicBezTo>
                <a:lnTo>
                  <a:pt x="0" y="217884"/>
                </a:lnTo>
                <a:cubicBezTo>
                  <a:pt x="0" y="223823"/>
                  <a:pt x="4777" y="228600"/>
                  <a:pt x="10716" y="228600"/>
                </a:cubicBezTo>
                <a:lnTo>
                  <a:pt x="46434" y="228600"/>
                </a:lnTo>
                <a:cubicBezTo>
                  <a:pt x="52373" y="228600"/>
                  <a:pt x="57150" y="223823"/>
                  <a:pt x="57150" y="217884"/>
                </a:cubicBezTo>
                <a:lnTo>
                  <a:pt x="57150" y="200025"/>
                </a:lnTo>
                <a:lnTo>
                  <a:pt x="75009" y="200025"/>
                </a:lnTo>
                <a:cubicBezTo>
                  <a:pt x="80948" y="200025"/>
                  <a:pt x="85725" y="195248"/>
                  <a:pt x="85725" y="189309"/>
                </a:cubicBezTo>
                <a:lnTo>
                  <a:pt x="85725" y="171450"/>
                </a:lnTo>
                <a:lnTo>
                  <a:pt x="103584" y="171450"/>
                </a:lnTo>
                <a:cubicBezTo>
                  <a:pt x="106442" y="171450"/>
                  <a:pt x="109165" y="170334"/>
                  <a:pt x="111175" y="168325"/>
                </a:cubicBezTo>
                <a:lnTo>
                  <a:pt x="126043" y="153457"/>
                </a:lnTo>
                <a:cubicBezTo>
                  <a:pt x="133588" y="155868"/>
                  <a:pt x="141669" y="157163"/>
                  <a:pt x="150019" y="157163"/>
                </a:cubicBezTo>
                <a:close/>
                <a:moveTo>
                  <a:pt x="167878" y="42863"/>
                </a:moveTo>
                <a:cubicBezTo>
                  <a:pt x="177735" y="42863"/>
                  <a:pt x="185738" y="50865"/>
                  <a:pt x="185738" y="60722"/>
                </a:cubicBezTo>
                <a:cubicBezTo>
                  <a:pt x="185738" y="70579"/>
                  <a:pt x="177735" y="78581"/>
                  <a:pt x="167878" y="78581"/>
                </a:cubicBezTo>
                <a:cubicBezTo>
                  <a:pt x="158021" y="78581"/>
                  <a:pt x="150019" y="70579"/>
                  <a:pt x="150019" y="60722"/>
                </a:cubicBezTo>
                <a:cubicBezTo>
                  <a:pt x="150019" y="50865"/>
                  <a:pt x="158021" y="42863"/>
                  <a:pt x="167878" y="42863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2700" y="3390900"/>
            <a:ext cx="138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Détection Clé</a:t>
            </a:r>
            <a:endParaRPr lang="fr-FR" sz="1600" dirty="0"/>
          </a:p>
        </p:txBody>
      </p:sp>
      <p:sp>
        <p:nvSpPr>
          <p:cNvPr id="18" name="Text 16"/>
          <p:cNvSpPr/>
          <p:nvPr/>
        </p:nvSpPr>
        <p:spPr>
          <a:xfrm>
            <a:off x="673100" y="3898900"/>
            <a:ext cx="383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Vérification présence clé avant démarrage</a:t>
            </a:r>
            <a:endParaRPr lang="fr-FR" sz="1600" dirty="0"/>
          </a:p>
        </p:txBody>
      </p:sp>
      <p:sp>
        <p:nvSpPr>
          <p:cNvPr id="19" name="Shape 17"/>
          <p:cNvSpPr/>
          <p:nvPr/>
        </p:nvSpPr>
        <p:spPr>
          <a:xfrm>
            <a:off x="4686300" y="3130550"/>
            <a:ext cx="4064000" cy="1181100"/>
          </a:xfrm>
          <a:custGeom>
            <a:avLst/>
            <a:gdLst/>
            <a:ahLst/>
            <a:cxnLst/>
            <a:rect l="l" t="t" r="r" b="b"/>
            <a:pathLst>
              <a:path w="4064000" h="1181100">
                <a:moveTo>
                  <a:pt x="101598" y="0"/>
                </a:moveTo>
                <a:lnTo>
                  <a:pt x="3962402" y="0"/>
                </a:lnTo>
                <a:cubicBezTo>
                  <a:pt x="4018513" y="0"/>
                  <a:pt x="4064000" y="45487"/>
                  <a:pt x="4064000" y="101598"/>
                </a:cubicBezTo>
                <a:lnTo>
                  <a:pt x="4064000" y="1079502"/>
                </a:lnTo>
                <a:cubicBezTo>
                  <a:pt x="4064000" y="1135613"/>
                  <a:pt x="4018513" y="1181100"/>
                  <a:pt x="3962402" y="1181100"/>
                </a:cubicBezTo>
                <a:lnTo>
                  <a:pt x="101598" y="1181100"/>
                </a:lnTo>
                <a:cubicBezTo>
                  <a:pt x="45487" y="1181100"/>
                  <a:pt x="0" y="1135613"/>
                  <a:pt x="0" y="1079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5050" y="32893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1" name="Shape 19"/>
          <p:cNvSpPr/>
          <p:nvPr/>
        </p:nvSpPr>
        <p:spPr>
          <a:xfrm>
            <a:off x="4987925" y="3429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81541"/>
                </a:moveTo>
                <a:lnTo>
                  <a:pt x="181541" y="224403"/>
                </a:lnTo>
                <a:cubicBezTo>
                  <a:pt x="177433" y="228511"/>
                  <a:pt x="171316" y="229716"/>
                  <a:pt x="165958" y="227484"/>
                </a:cubicBezTo>
                <a:cubicBezTo>
                  <a:pt x="160600" y="225251"/>
                  <a:pt x="157163" y="220072"/>
                  <a:pt x="157163" y="214313"/>
                </a:cubicBezTo>
                <a:lnTo>
                  <a:pt x="157163" y="185738"/>
                </a:ln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157163" y="157163"/>
                </a:lnTo>
                <a:lnTo>
                  <a:pt x="157163" y="128588"/>
                </a:lnTo>
                <a:cubicBezTo>
                  <a:pt x="157163" y="122828"/>
                  <a:pt x="160645" y="117604"/>
                  <a:pt x="166003" y="115372"/>
                </a:cubicBezTo>
                <a:cubicBezTo>
                  <a:pt x="171361" y="113139"/>
                  <a:pt x="177478" y="114389"/>
                  <a:pt x="181585" y="118452"/>
                </a:cubicBezTo>
                <a:lnTo>
                  <a:pt x="224448" y="161315"/>
                </a:lnTo>
                <a:cubicBezTo>
                  <a:pt x="230029" y="166896"/>
                  <a:pt x="230029" y="175959"/>
                  <a:pt x="224448" y="181541"/>
                </a:cubicBezTo>
                <a:close/>
                <a:moveTo>
                  <a:pt x="4197" y="67241"/>
                </a:moveTo>
                <a:cubicBezTo>
                  <a:pt x="-1384" y="61659"/>
                  <a:pt x="-1384" y="52596"/>
                  <a:pt x="4197" y="47015"/>
                </a:cubicBezTo>
                <a:lnTo>
                  <a:pt x="47059" y="4152"/>
                </a:lnTo>
                <a:cubicBezTo>
                  <a:pt x="51167" y="45"/>
                  <a:pt x="57284" y="-1161"/>
                  <a:pt x="62642" y="1072"/>
                </a:cubicBezTo>
                <a:cubicBezTo>
                  <a:pt x="68000" y="3304"/>
                  <a:pt x="71438" y="8528"/>
                  <a:pt x="71438" y="14288"/>
                </a:cubicBezTo>
                <a:lnTo>
                  <a:pt x="71438" y="42863"/>
                </a:lnTo>
                <a:lnTo>
                  <a:pt x="214313" y="42863"/>
                </a:lnTo>
                <a:cubicBezTo>
                  <a:pt x="222215" y="42863"/>
                  <a:pt x="228600" y="49247"/>
                  <a:pt x="228600" y="57150"/>
                </a:cubicBezTo>
                <a:cubicBezTo>
                  <a:pt x="228600" y="65053"/>
                  <a:pt x="222215" y="71438"/>
                  <a:pt x="214313" y="71438"/>
                </a:cubicBezTo>
                <a:lnTo>
                  <a:pt x="71438" y="71438"/>
                </a:lnTo>
                <a:lnTo>
                  <a:pt x="71438" y="100013"/>
                </a:lnTo>
                <a:cubicBezTo>
                  <a:pt x="71438" y="105772"/>
                  <a:pt x="67955" y="110996"/>
                  <a:pt x="62597" y="113228"/>
                </a:cubicBezTo>
                <a:cubicBezTo>
                  <a:pt x="57239" y="115461"/>
                  <a:pt x="51122" y="114211"/>
                  <a:pt x="47015" y="110148"/>
                </a:cubicBezTo>
                <a:lnTo>
                  <a:pt x="4152" y="67285"/>
                </a:ln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22" name="Text 20"/>
          <p:cNvSpPr/>
          <p:nvPr/>
        </p:nvSpPr>
        <p:spPr>
          <a:xfrm>
            <a:off x="5454650" y="3390900"/>
            <a:ext cx="149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Fins de Course</a:t>
            </a:r>
            <a:endParaRPr lang="fr-FR" sz="1600" dirty="0"/>
          </a:p>
        </p:txBody>
      </p:sp>
      <p:sp>
        <p:nvSpPr>
          <p:cNvPr id="23" name="Text 21"/>
          <p:cNvSpPr/>
          <p:nvPr/>
        </p:nvSpPr>
        <p:spPr>
          <a:xfrm>
            <a:off x="4845050" y="3898900"/>
            <a:ext cx="383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Surveillance position vérin AV/AR</a:t>
            </a:r>
            <a:endParaRPr lang="fr-FR" sz="1600" dirty="0"/>
          </a:p>
        </p:txBody>
      </p:sp>
      <p:sp>
        <p:nvSpPr>
          <p:cNvPr id="24" name="Shape 22"/>
          <p:cNvSpPr/>
          <p:nvPr/>
        </p:nvSpPr>
        <p:spPr>
          <a:xfrm>
            <a:off x="514350" y="4425950"/>
            <a:ext cx="2667000" cy="1333500"/>
          </a:xfrm>
          <a:custGeom>
            <a:avLst/>
            <a:gdLst/>
            <a:ahLst/>
            <a:cxnLst/>
            <a:rect l="l" t="t" r="r" b="b"/>
            <a:pathLst>
              <a:path w="2667000" h="1333500">
                <a:moveTo>
                  <a:pt x="101599" y="0"/>
                </a:moveTo>
                <a:lnTo>
                  <a:pt x="2565401" y="0"/>
                </a:lnTo>
                <a:cubicBezTo>
                  <a:pt x="2621512" y="0"/>
                  <a:pt x="2667000" y="45488"/>
                  <a:pt x="2667000" y="101599"/>
                </a:cubicBezTo>
                <a:lnTo>
                  <a:pt x="2667000" y="1231901"/>
                </a:lnTo>
                <a:cubicBezTo>
                  <a:pt x="2667000" y="1288012"/>
                  <a:pt x="2621512" y="1333500"/>
                  <a:pt x="2565401" y="1333500"/>
                </a:cubicBezTo>
                <a:lnTo>
                  <a:pt x="101599" y="1333500"/>
                </a:lnTo>
                <a:cubicBezTo>
                  <a:pt x="45488" y="1333500"/>
                  <a:pt x="0" y="1288012"/>
                  <a:pt x="0" y="12319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52600" y="45847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95250" y="0"/>
                </a:moveTo>
                <a:cubicBezTo>
                  <a:pt x="63698" y="0"/>
                  <a:pt x="38100" y="25598"/>
                  <a:pt x="38100" y="57150"/>
                </a:cubicBezTo>
                <a:lnTo>
                  <a:pt x="38100" y="155198"/>
                </a:lnTo>
                <a:cubicBezTo>
                  <a:pt x="20538" y="170855"/>
                  <a:pt x="9525" y="193715"/>
                  <a:pt x="9525" y="219075"/>
                </a:cubicBezTo>
                <a:cubicBezTo>
                  <a:pt x="9525" y="266402"/>
                  <a:pt x="47923" y="304800"/>
                  <a:pt x="95250" y="304800"/>
                </a:cubicBezTo>
                <a:cubicBezTo>
                  <a:pt x="142577" y="304800"/>
                  <a:pt x="180975" y="266402"/>
                  <a:pt x="180975" y="219075"/>
                </a:cubicBezTo>
                <a:cubicBezTo>
                  <a:pt x="180975" y="193715"/>
                  <a:pt x="169962" y="170855"/>
                  <a:pt x="152400" y="155198"/>
                </a:cubicBezTo>
                <a:lnTo>
                  <a:pt x="152400" y="57150"/>
                </a:lnTo>
                <a:cubicBezTo>
                  <a:pt x="152400" y="25598"/>
                  <a:pt x="126802" y="0"/>
                  <a:pt x="95250" y="0"/>
                </a:cubicBezTo>
                <a:close/>
                <a:moveTo>
                  <a:pt x="133350" y="219075"/>
                </a:moveTo>
                <a:cubicBezTo>
                  <a:pt x="133350" y="240090"/>
                  <a:pt x="116265" y="257175"/>
                  <a:pt x="95250" y="257175"/>
                </a:cubicBezTo>
                <a:cubicBezTo>
                  <a:pt x="74235" y="257175"/>
                  <a:pt x="57150" y="240090"/>
                  <a:pt x="57150" y="219075"/>
                </a:cubicBezTo>
                <a:cubicBezTo>
                  <a:pt x="57150" y="203061"/>
                  <a:pt x="66973" y="189369"/>
                  <a:pt x="80962" y="183773"/>
                </a:cubicBezTo>
                <a:lnTo>
                  <a:pt x="80962" y="128588"/>
                </a:lnTo>
                <a:cubicBezTo>
                  <a:pt x="80962" y="120670"/>
                  <a:pt x="87332" y="114300"/>
                  <a:pt x="95250" y="114300"/>
                </a:cubicBezTo>
                <a:cubicBezTo>
                  <a:pt x="103168" y="114300"/>
                  <a:pt x="109537" y="120670"/>
                  <a:pt x="109537" y="128588"/>
                </a:cubicBezTo>
                <a:lnTo>
                  <a:pt x="109537" y="183773"/>
                </a:lnTo>
                <a:cubicBezTo>
                  <a:pt x="123527" y="189428"/>
                  <a:pt x="133350" y="203121"/>
                  <a:pt x="133350" y="219075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26" name="Text 24"/>
          <p:cNvSpPr/>
          <p:nvPr/>
        </p:nvSpPr>
        <p:spPr>
          <a:xfrm>
            <a:off x="622300" y="4991100"/>
            <a:ext cx="245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Température</a:t>
            </a:r>
            <a:endParaRPr lang="fr-FR" sz="1600" dirty="0"/>
          </a:p>
        </p:txBody>
      </p:sp>
      <p:sp>
        <p:nvSpPr>
          <p:cNvPr id="27" name="Text 25"/>
          <p:cNvSpPr/>
          <p:nvPr/>
        </p:nvSpPr>
        <p:spPr>
          <a:xfrm>
            <a:off x="628650" y="53467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Surveillance continue</a:t>
            </a:r>
            <a:endParaRPr lang="fr-FR" sz="1600" dirty="0"/>
          </a:p>
        </p:txBody>
      </p:sp>
      <p:sp>
        <p:nvSpPr>
          <p:cNvPr id="28" name="Shape 26"/>
          <p:cNvSpPr/>
          <p:nvPr/>
        </p:nvSpPr>
        <p:spPr>
          <a:xfrm>
            <a:off x="3295650" y="4425950"/>
            <a:ext cx="2667000" cy="1333500"/>
          </a:xfrm>
          <a:custGeom>
            <a:avLst/>
            <a:gdLst/>
            <a:ahLst/>
            <a:cxnLst/>
            <a:rect l="l" t="t" r="r" b="b"/>
            <a:pathLst>
              <a:path w="2667000" h="1333500">
                <a:moveTo>
                  <a:pt x="101599" y="0"/>
                </a:moveTo>
                <a:lnTo>
                  <a:pt x="2565401" y="0"/>
                </a:lnTo>
                <a:cubicBezTo>
                  <a:pt x="2621512" y="0"/>
                  <a:pt x="2667000" y="45488"/>
                  <a:pt x="2667000" y="101599"/>
                </a:cubicBezTo>
                <a:lnTo>
                  <a:pt x="2667000" y="1231901"/>
                </a:lnTo>
                <a:cubicBezTo>
                  <a:pt x="2667000" y="1288012"/>
                  <a:pt x="2621512" y="1333500"/>
                  <a:pt x="2565401" y="1333500"/>
                </a:cubicBezTo>
                <a:lnTo>
                  <a:pt x="101599" y="1333500"/>
                </a:lnTo>
                <a:cubicBezTo>
                  <a:pt x="45488" y="1333500"/>
                  <a:pt x="0" y="1288012"/>
                  <a:pt x="0" y="12319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95800" y="45847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30" name="Text 28"/>
          <p:cNvSpPr/>
          <p:nvPr/>
        </p:nvSpPr>
        <p:spPr>
          <a:xfrm>
            <a:off x="3403600" y="4991100"/>
            <a:ext cx="245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Surcharge</a:t>
            </a:r>
            <a:endParaRPr lang="fr-FR" sz="1600" dirty="0"/>
          </a:p>
        </p:txBody>
      </p:sp>
      <p:sp>
        <p:nvSpPr>
          <p:cNvPr id="31" name="Text 29"/>
          <p:cNvSpPr/>
          <p:nvPr/>
        </p:nvSpPr>
        <p:spPr>
          <a:xfrm>
            <a:off x="3409950" y="53467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Protection moteur</a:t>
            </a:r>
            <a:endParaRPr lang="fr-FR" sz="1600" dirty="0"/>
          </a:p>
        </p:txBody>
      </p:sp>
      <p:sp>
        <p:nvSpPr>
          <p:cNvPr id="32" name="Shape 30"/>
          <p:cNvSpPr/>
          <p:nvPr/>
        </p:nvSpPr>
        <p:spPr>
          <a:xfrm>
            <a:off x="6076950" y="4425950"/>
            <a:ext cx="2667000" cy="1333500"/>
          </a:xfrm>
          <a:custGeom>
            <a:avLst/>
            <a:gdLst/>
            <a:ahLst/>
            <a:cxnLst/>
            <a:rect l="l" t="t" r="r" b="b"/>
            <a:pathLst>
              <a:path w="2667000" h="1333500">
                <a:moveTo>
                  <a:pt x="101599" y="0"/>
                </a:moveTo>
                <a:lnTo>
                  <a:pt x="2565401" y="0"/>
                </a:lnTo>
                <a:cubicBezTo>
                  <a:pt x="2621512" y="0"/>
                  <a:pt x="2667000" y="45488"/>
                  <a:pt x="2667000" y="101599"/>
                </a:cubicBezTo>
                <a:lnTo>
                  <a:pt x="2667000" y="1231901"/>
                </a:lnTo>
                <a:cubicBezTo>
                  <a:pt x="2667000" y="1288012"/>
                  <a:pt x="2621512" y="1333500"/>
                  <a:pt x="2565401" y="1333500"/>
                </a:cubicBezTo>
                <a:lnTo>
                  <a:pt x="101599" y="1333500"/>
                </a:lnTo>
                <a:cubicBezTo>
                  <a:pt x="45488" y="1333500"/>
                  <a:pt x="0" y="1288012"/>
                  <a:pt x="0" y="12319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39000" y="45847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7638" y="52388"/>
                </a:moveTo>
                <a:lnTo>
                  <a:pt x="195263" y="52388"/>
                </a:lnTo>
                <a:lnTo>
                  <a:pt x="195263" y="80962"/>
                </a:lnTo>
                <a:lnTo>
                  <a:pt x="147638" y="80962"/>
                </a:lnTo>
                <a:lnTo>
                  <a:pt x="147638" y="52388"/>
                </a:lnTo>
                <a:close/>
                <a:moveTo>
                  <a:pt x="142875" y="19050"/>
                </a:moveTo>
                <a:cubicBezTo>
                  <a:pt x="127099" y="19050"/>
                  <a:pt x="114300" y="31849"/>
                  <a:pt x="114300" y="47625"/>
                </a:cubicBezTo>
                <a:lnTo>
                  <a:pt x="114300" y="85725"/>
                </a:lnTo>
                <a:cubicBezTo>
                  <a:pt x="114300" y="101501"/>
                  <a:pt x="127099" y="114300"/>
                  <a:pt x="142875" y="114300"/>
                </a:cubicBezTo>
                <a:lnTo>
                  <a:pt x="152400" y="114300"/>
                </a:lnTo>
                <a:lnTo>
                  <a:pt x="152400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76200" y="171450"/>
                </a:lnTo>
                <a:lnTo>
                  <a:pt x="76200" y="190500"/>
                </a:lnTo>
                <a:lnTo>
                  <a:pt x="66675" y="190500"/>
                </a:lnTo>
                <a:cubicBezTo>
                  <a:pt x="50899" y="190500"/>
                  <a:pt x="38100" y="203299"/>
                  <a:pt x="38100" y="219075"/>
                </a:cubicBezTo>
                <a:lnTo>
                  <a:pt x="38100" y="257175"/>
                </a:lnTo>
                <a:cubicBezTo>
                  <a:pt x="38100" y="272951"/>
                  <a:pt x="50899" y="285750"/>
                  <a:pt x="66675" y="285750"/>
                </a:cubicBezTo>
                <a:lnTo>
                  <a:pt x="123825" y="285750"/>
                </a:lnTo>
                <a:cubicBezTo>
                  <a:pt x="139601" y="285750"/>
                  <a:pt x="152400" y="272951"/>
                  <a:pt x="152400" y="257175"/>
                </a:cubicBezTo>
                <a:lnTo>
                  <a:pt x="152400" y="219075"/>
                </a:lnTo>
                <a:cubicBezTo>
                  <a:pt x="152400" y="203299"/>
                  <a:pt x="139601" y="190500"/>
                  <a:pt x="123825" y="190500"/>
                </a:cubicBezTo>
                <a:lnTo>
                  <a:pt x="114300" y="190500"/>
                </a:lnTo>
                <a:lnTo>
                  <a:pt x="114300" y="171450"/>
                </a:lnTo>
                <a:lnTo>
                  <a:pt x="228600" y="171450"/>
                </a:lnTo>
                <a:lnTo>
                  <a:pt x="228600" y="190500"/>
                </a:lnTo>
                <a:lnTo>
                  <a:pt x="219075" y="190500"/>
                </a:lnTo>
                <a:cubicBezTo>
                  <a:pt x="203299" y="190500"/>
                  <a:pt x="190500" y="203299"/>
                  <a:pt x="190500" y="219075"/>
                </a:cubicBezTo>
                <a:lnTo>
                  <a:pt x="190500" y="257175"/>
                </a:lnTo>
                <a:cubicBezTo>
                  <a:pt x="190500" y="272951"/>
                  <a:pt x="203299" y="285750"/>
                  <a:pt x="2190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219075"/>
                </a:lnTo>
                <a:cubicBezTo>
                  <a:pt x="304800" y="203299"/>
                  <a:pt x="292001" y="190500"/>
                  <a:pt x="276225" y="190500"/>
                </a:cubicBezTo>
                <a:lnTo>
                  <a:pt x="266700" y="190500"/>
                </a:lnTo>
                <a:lnTo>
                  <a:pt x="266700" y="171450"/>
                </a:lnTo>
                <a:lnTo>
                  <a:pt x="323850" y="171450"/>
                </a:lnTo>
                <a:cubicBezTo>
                  <a:pt x="334387" y="171450"/>
                  <a:pt x="342900" y="162937"/>
                  <a:pt x="342900" y="152400"/>
                </a:cubicBezTo>
                <a:cubicBezTo>
                  <a:pt x="342900" y="141863"/>
                  <a:pt x="334387" y="133350"/>
                  <a:pt x="323850" y="133350"/>
                </a:cubicBezTo>
                <a:lnTo>
                  <a:pt x="190500" y="133350"/>
                </a:lnTo>
                <a:lnTo>
                  <a:pt x="190500" y="114300"/>
                </a:lnTo>
                <a:lnTo>
                  <a:pt x="200025" y="114300"/>
                </a:lnTo>
                <a:cubicBezTo>
                  <a:pt x="215801" y="114300"/>
                  <a:pt x="228600" y="101501"/>
                  <a:pt x="228600" y="85725"/>
                </a:cubicBezTo>
                <a:lnTo>
                  <a:pt x="228600" y="47625"/>
                </a:lnTo>
                <a:cubicBezTo>
                  <a:pt x="228600" y="31849"/>
                  <a:pt x="215801" y="19050"/>
                  <a:pt x="200025" y="19050"/>
                </a:cubicBezTo>
                <a:lnTo>
                  <a:pt x="142875" y="19050"/>
                </a:lnTo>
                <a:close/>
                <a:moveTo>
                  <a:pt x="266700" y="223838"/>
                </a:moveTo>
                <a:lnTo>
                  <a:pt x="271463" y="223838"/>
                </a:lnTo>
                <a:lnTo>
                  <a:pt x="271463" y="252413"/>
                </a:lnTo>
                <a:lnTo>
                  <a:pt x="223838" y="252413"/>
                </a:lnTo>
                <a:lnTo>
                  <a:pt x="223838" y="223838"/>
                </a:lnTo>
                <a:lnTo>
                  <a:pt x="266700" y="223838"/>
                </a:lnTo>
                <a:close/>
                <a:moveTo>
                  <a:pt x="114300" y="223838"/>
                </a:moveTo>
                <a:lnTo>
                  <a:pt x="119062" y="223838"/>
                </a:lnTo>
                <a:lnTo>
                  <a:pt x="119062" y="252413"/>
                </a:lnTo>
                <a:lnTo>
                  <a:pt x="71438" y="252413"/>
                </a:lnTo>
                <a:lnTo>
                  <a:pt x="71438" y="223838"/>
                </a:lnTo>
                <a:lnTo>
                  <a:pt x="114300" y="223838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34" name="Text 32"/>
          <p:cNvSpPr/>
          <p:nvPr/>
        </p:nvSpPr>
        <p:spPr>
          <a:xfrm>
            <a:off x="6184900" y="4991100"/>
            <a:ext cx="245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fr-FR" sz="1600" dirty="0"/>
          </a:p>
        </p:txBody>
      </p:sp>
      <p:sp>
        <p:nvSpPr>
          <p:cNvPr id="35" name="Text 33"/>
          <p:cNvSpPr/>
          <p:nvPr/>
        </p:nvSpPr>
        <p:spPr>
          <a:xfrm>
            <a:off x="6191250" y="53467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Liaison PC/API</a:t>
            </a:r>
            <a:endParaRPr lang="fr-FR" sz="1600" dirty="0"/>
          </a:p>
        </p:txBody>
      </p:sp>
      <p:sp>
        <p:nvSpPr>
          <p:cNvPr id="36" name="Shape 34"/>
          <p:cNvSpPr/>
          <p:nvPr/>
        </p:nvSpPr>
        <p:spPr>
          <a:xfrm>
            <a:off x="514350" y="5873750"/>
            <a:ext cx="8229600" cy="1333500"/>
          </a:xfrm>
          <a:custGeom>
            <a:avLst/>
            <a:gdLst/>
            <a:ahLst/>
            <a:cxnLst/>
            <a:rect l="l" t="t" r="r" b="b"/>
            <a:pathLst>
              <a:path w="8229600" h="1333500">
                <a:moveTo>
                  <a:pt x="101599" y="0"/>
                </a:moveTo>
                <a:lnTo>
                  <a:pt x="8128001" y="0"/>
                </a:lnTo>
                <a:cubicBezTo>
                  <a:pt x="8184112" y="0"/>
                  <a:pt x="8229600" y="45488"/>
                  <a:pt x="8229600" y="101599"/>
                </a:cubicBezTo>
                <a:lnTo>
                  <a:pt x="8229600" y="1231901"/>
                </a:lnTo>
                <a:cubicBezTo>
                  <a:pt x="8229600" y="1288012"/>
                  <a:pt x="8184112" y="1333500"/>
                  <a:pt x="8128001" y="1333500"/>
                </a:cubicBezTo>
                <a:lnTo>
                  <a:pt x="101599" y="1333500"/>
                </a:lnTo>
                <a:cubicBezTo>
                  <a:pt x="45488" y="1333500"/>
                  <a:pt x="0" y="1288012"/>
                  <a:pt x="0" y="12319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5950" y="6032500"/>
            <a:ext cx="802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des Défauts</a:t>
            </a:r>
            <a:endParaRPr lang="fr-FR" sz="1600" dirty="0"/>
          </a:p>
        </p:txBody>
      </p:sp>
      <p:sp>
        <p:nvSpPr>
          <p:cNvPr id="38" name="Shape 36"/>
          <p:cNvSpPr/>
          <p:nvPr/>
        </p:nvSpPr>
        <p:spPr>
          <a:xfrm>
            <a:off x="673100" y="65659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39" name="Text 37"/>
          <p:cNvSpPr/>
          <p:nvPr/>
        </p:nvSpPr>
        <p:spPr>
          <a:xfrm>
            <a:off x="876300" y="6489700"/>
            <a:ext cx="259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Capot ouvert → </a:t>
            </a:r>
            <a:r>
              <a:rPr lang="fr-FR" sz="14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Arrêt immédiat</a:t>
            </a:r>
            <a:endParaRPr lang="fr-FR" sz="1600" dirty="0"/>
          </a:p>
        </p:txBody>
      </p:sp>
      <p:sp>
        <p:nvSpPr>
          <p:cNvPr id="40" name="Shape 38"/>
          <p:cNvSpPr/>
          <p:nvPr/>
        </p:nvSpPr>
        <p:spPr>
          <a:xfrm>
            <a:off x="4730750" y="65659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1" name="Text 39"/>
          <p:cNvSpPr/>
          <p:nvPr/>
        </p:nvSpPr>
        <p:spPr>
          <a:xfrm>
            <a:off x="4933950" y="6489700"/>
            <a:ext cx="231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 activé → </a:t>
            </a:r>
            <a:r>
              <a:rPr lang="fr-FR" sz="14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Coupure totale</a:t>
            </a:r>
            <a:endParaRPr lang="fr-FR" sz="1600" dirty="0"/>
          </a:p>
        </p:txBody>
      </p:sp>
      <p:sp>
        <p:nvSpPr>
          <p:cNvPr id="42" name="Shape 40"/>
          <p:cNvSpPr/>
          <p:nvPr/>
        </p:nvSpPr>
        <p:spPr>
          <a:xfrm>
            <a:off x="673100" y="6870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3" name="Text 41"/>
          <p:cNvSpPr/>
          <p:nvPr/>
        </p:nvSpPr>
        <p:spPr>
          <a:xfrm>
            <a:off x="876300" y="6794500"/>
            <a:ext cx="233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Clé absente → </a:t>
            </a:r>
            <a:r>
              <a:rPr lang="fr-FR" sz="14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 bloqué</a:t>
            </a:r>
            <a:endParaRPr lang="fr-FR" sz="1600" dirty="0"/>
          </a:p>
        </p:txBody>
      </p:sp>
      <p:sp>
        <p:nvSpPr>
          <p:cNvPr id="44" name="Shape 42"/>
          <p:cNvSpPr/>
          <p:nvPr/>
        </p:nvSpPr>
        <p:spPr>
          <a:xfrm>
            <a:off x="4730750" y="6870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5" name="Text 43"/>
          <p:cNvSpPr/>
          <p:nvPr/>
        </p:nvSpPr>
        <p:spPr>
          <a:xfrm>
            <a:off x="4933950" y="67945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FDC incohérents → </a:t>
            </a:r>
            <a:r>
              <a:rPr lang="fr-FR" sz="14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Arrêt + message</a:t>
            </a:r>
            <a:endParaRPr lang="fr-FR" sz="1600" dirty="0"/>
          </a:p>
        </p:txBody>
      </p:sp>
      <p:sp>
        <p:nvSpPr>
          <p:cNvPr id="46" name="Shape 44"/>
          <p:cNvSpPr/>
          <p:nvPr/>
        </p:nvSpPr>
        <p:spPr>
          <a:xfrm>
            <a:off x="9105900" y="2882900"/>
            <a:ext cx="6731000" cy="3416300"/>
          </a:xfrm>
          <a:custGeom>
            <a:avLst/>
            <a:gdLst/>
            <a:ahLst/>
            <a:cxnLst/>
            <a:rect l="l" t="t" r="r" b="b"/>
            <a:pathLst>
              <a:path w="6731000" h="6731000">
                <a:moveTo>
                  <a:pt x="101571" y="0"/>
                </a:moveTo>
                <a:lnTo>
                  <a:pt x="6629429" y="0"/>
                </a:lnTo>
                <a:cubicBezTo>
                  <a:pt x="6685525" y="0"/>
                  <a:pt x="6731000" y="45475"/>
                  <a:pt x="6731000" y="101571"/>
                </a:cubicBezTo>
                <a:lnTo>
                  <a:pt x="6731000" y="6629429"/>
                </a:lnTo>
                <a:cubicBezTo>
                  <a:pt x="6731000" y="6685525"/>
                  <a:pt x="6685525" y="6731000"/>
                  <a:pt x="6629429" y="6731000"/>
                </a:cubicBezTo>
                <a:lnTo>
                  <a:pt x="101571" y="6731000"/>
                </a:lnTo>
                <a:cubicBezTo>
                  <a:pt x="45475" y="6731000"/>
                  <a:pt x="0" y="6685525"/>
                  <a:pt x="0" y="6629429"/>
                </a:cubicBezTo>
                <a:lnTo>
                  <a:pt x="0" y="101571"/>
                </a:lnTo>
                <a:cubicBezTo>
                  <a:pt x="0" y="45512"/>
                  <a:pt x="45512" y="0"/>
                  <a:pt x="10157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105900" y="2882900"/>
            <a:ext cx="6731000" cy="3416300"/>
          </a:xfrm>
          <a:custGeom>
            <a:avLst/>
            <a:gdLst/>
            <a:ahLst/>
            <a:cxnLst/>
            <a:rect l="l" t="t" r="r" b="b"/>
            <a:pathLst>
              <a:path w="6731000" h="3416300">
                <a:moveTo>
                  <a:pt x="101601" y="0"/>
                </a:moveTo>
                <a:lnTo>
                  <a:pt x="6629399" y="0"/>
                </a:lnTo>
                <a:cubicBezTo>
                  <a:pt x="6685512" y="0"/>
                  <a:pt x="6731000" y="45488"/>
                  <a:pt x="6731000" y="101601"/>
                </a:cubicBezTo>
                <a:lnTo>
                  <a:pt x="6731000" y="3314699"/>
                </a:lnTo>
                <a:cubicBezTo>
                  <a:pt x="6731000" y="3370812"/>
                  <a:pt x="6685512" y="3416300"/>
                  <a:pt x="6629399" y="3416300"/>
                </a:cubicBezTo>
                <a:lnTo>
                  <a:pt x="101601" y="3416300"/>
                </a:lnTo>
                <a:cubicBezTo>
                  <a:pt x="45488" y="3416300"/>
                  <a:pt x="0" y="3370812"/>
                  <a:pt x="0" y="33146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258300" y="3092450"/>
            <a:ext cx="642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 Sécurité</a:t>
            </a:r>
            <a:endParaRPr lang="fr-FR" sz="1600" dirty="0"/>
          </a:p>
        </p:txBody>
      </p:sp>
      <p:sp>
        <p:nvSpPr>
          <p:cNvPr id="50" name="Shape 47"/>
          <p:cNvSpPr/>
          <p:nvPr/>
        </p:nvSpPr>
        <p:spPr>
          <a:xfrm>
            <a:off x="9315450" y="3600450"/>
            <a:ext cx="6311900" cy="762000"/>
          </a:xfrm>
          <a:custGeom>
            <a:avLst/>
            <a:gdLst/>
            <a:ahLst/>
            <a:cxnLst/>
            <a:rect l="l" t="t" r="r" b="b"/>
            <a:pathLst>
              <a:path w="6311900" h="762000">
                <a:moveTo>
                  <a:pt x="50803" y="0"/>
                </a:moveTo>
                <a:lnTo>
                  <a:pt x="6261097" y="0"/>
                </a:lnTo>
                <a:cubicBezTo>
                  <a:pt x="6289155" y="0"/>
                  <a:pt x="6311900" y="22745"/>
                  <a:pt x="6311900" y="50803"/>
                </a:cubicBezTo>
                <a:lnTo>
                  <a:pt x="6311900" y="711197"/>
                </a:lnTo>
                <a:cubicBezTo>
                  <a:pt x="6311900" y="739255"/>
                  <a:pt x="6289155" y="762000"/>
                  <a:pt x="62610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1" name="Shape 48"/>
          <p:cNvSpPr/>
          <p:nvPr/>
        </p:nvSpPr>
        <p:spPr>
          <a:xfrm>
            <a:off x="9417050" y="37782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52" name="Shape 49"/>
          <p:cNvSpPr/>
          <p:nvPr/>
        </p:nvSpPr>
        <p:spPr>
          <a:xfrm>
            <a:off x="9534525" y="38925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0739" y="1806"/>
                </a:moveTo>
                <a:cubicBezTo>
                  <a:pt x="85914" y="-590"/>
                  <a:pt x="91886" y="-590"/>
                  <a:pt x="97061" y="1806"/>
                </a:cubicBezTo>
                <a:lnTo>
                  <a:pt x="172973" y="36880"/>
                </a:lnTo>
                <a:cubicBezTo>
                  <a:pt x="175925" y="38234"/>
                  <a:pt x="177800" y="41186"/>
                  <a:pt x="177800" y="44450"/>
                </a:cubicBezTo>
                <a:cubicBezTo>
                  <a:pt x="177800" y="47714"/>
                  <a:pt x="175925" y="50666"/>
                  <a:pt x="172973" y="52020"/>
                </a:cubicBezTo>
                <a:lnTo>
                  <a:pt x="97061" y="87094"/>
                </a:lnTo>
                <a:cubicBezTo>
                  <a:pt x="91886" y="89490"/>
                  <a:pt x="85914" y="89490"/>
                  <a:pt x="80739" y="87094"/>
                </a:cubicBezTo>
                <a:lnTo>
                  <a:pt x="4827" y="52020"/>
                </a:lnTo>
                <a:cubicBezTo>
                  <a:pt x="1875" y="50631"/>
                  <a:pt x="0" y="47680"/>
                  <a:pt x="0" y="44450"/>
                </a:cubicBezTo>
                <a:cubicBezTo>
                  <a:pt x="0" y="41220"/>
                  <a:pt x="1875" y="38234"/>
                  <a:pt x="4827" y="36880"/>
                </a:cubicBezTo>
                <a:lnTo>
                  <a:pt x="80739" y="1806"/>
                </a:lnTo>
                <a:close/>
                <a:moveTo>
                  <a:pt x="16703" y="75843"/>
                </a:moveTo>
                <a:lnTo>
                  <a:pt x="73759" y="102200"/>
                </a:lnTo>
                <a:cubicBezTo>
                  <a:pt x="83378" y="106645"/>
                  <a:pt x="94456" y="106645"/>
                  <a:pt x="104076" y="102200"/>
                </a:cubicBezTo>
                <a:lnTo>
                  <a:pt x="161131" y="75843"/>
                </a:lnTo>
                <a:lnTo>
                  <a:pt x="172973" y="81330"/>
                </a:lnTo>
                <a:cubicBezTo>
                  <a:pt x="175925" y="82684"/>
                  <a:pt x="177800" y="85636"/>
                  <a:pt x="177800" y="88900"/>
                </a:cubicBezTo>
                <a:cubicBezTo>
                  <a:pt x="177800" y="92164"/>
                  <a:pt x="175925" y="95116"/>
                  <a:pt x="172973" y="96470"/>
                </a:cubicBezTo>
                <a:lnTo>
                  <a:pt x="97061" y="131544"/>
                </a:lnTo>
                <a:cubicBezTo>
                  <a:pt x="91886" y="133940"/>
                  <a:pt x="85914" y="133940"/>
                  <a:pt x="80739" y="131544"/>
                </a:cubicBezTo>
                <a:lnTo>
                  <a:pt x="4827" y="96470"/>
                </a:lnTo>
                <a:cubicBezTo>
                  <a:pt x="1875" y="95081"/>
                  <a:pt x="0" y="92130"/>
                  <a:pt x="0" y="88900"/>
                </a:cubicBezTo>
                <a:cubicBezTo>
                  <a:pt x="0" y="85670"/>
                  <a:pt x="1875" y="82684"/>
                  <a:pt x="4827" y="81330"/>
                </a:cubicBezTo>
                <a:lnTo>
                  <a:pt x="16669" y="75843"/>
                </a:lnTo>
                <a:close/>
                <a:moveTo>
                  <a:pt x="4827" y="125780"/>
                </a:moveTo>
                <a:lnTo>
                  <a:pt x="16669" y="120293"/>
                </a:lnTo>
                <a:lnTo>
                  <a:pt x="73724" y="146650"/>
                </a:lnTo>
                <a:cubicBezTo>
                  <a:pt x="83344" y="151095"/>
                  <a:pt x="94422" y="151095"/>
                  <a:pt x="104041" y="146650"/>
                </a:cubicBezTo>
                <a:lnTo>
                  <a:pt x="161097" y="120293"/>
                </a:lnTo>
                <a:lnTo>
                  <a:pt x="172938" y="125780"/>
                </a:lnTo>
                <a:cubicBezTo>
                  <a:pt x="175890" y="127134"/>
                  <a:pt x="177765" y="130086"/>
                  <a:pt x="177765" y="133350"/>
                </a:cubicBezTo>
                <a:cubicBezTo>
                  <a:pt x="177765" y="136614"/>
                  <a:pt x="175890" y="139566"/>
                  <a:pt x="172938" y="140920"/>
                </a:cubicBezTo>
                <a:lnTo>
                  <a:pt x="97026" y="175994"/>
                </a:lnTo>
                <a:cubicBezTo>
                  <a:pt x="91852" y="178390"/>
                  <a:pt x="85879" y="178390"/>
                  <a:pt x="80705" y="175994"/>
                </a:cubicBezTo>
                <a:lnTo>
                  <a:pt x="4827" y="140920"/>
                </a:lnTo>
                <a:cubicBezTo>
                  <a:pt x="1875" y="139531"/>
                  <a:pt x="0" y="136580"/>
                  <a:pt x="0" y="133350"/>
                </a:cubicBezTo>
                <a:cubicBezTo>
                  <a:pt x="0" y="130120"/>
                  <a:pt x="1875" y="127134"/>
                  <a:pt x="4827" y="12578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3" name="Text 50"/>
          <p:cNvSpPr/>
          <p:nvPr/>
        </p:nvSpPr>
        <p:spPr>
          <a:xfrm>
            <a:off x="9975850" y="370205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Niveau 1</a:t>
            </a:r>
            <a:endParaRPr lang="fr-FR" sz="1600" dirty="0"/>
          </a:p>
        </p:txBody>
      </p:sp>
      <p:sp>
        <p:nvSpPr>
          <p:cNvPr id="54" name="Text 51"/>
          <p:cNvSpPr/>
          <p:nvPr/>
        </p:nvSpPr>
        <p:spPr>
          <a:xfrm>
            <a:off x="9975850" y="4006850"/>
            <a:ext cx="140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Capot + AU + Clé</a:t>
            </a:r>
            <a:endParaRPr lang="fr-FR" sz="1600" dirty="0"/>
          </a:p>
        </p:txBody>
      </p:sp>
      <p:sp>
        <p:nvSpPr>
          <p:cNvPr id="55" name="Shape 52"/>
          <p:cNvSpPr/>
          <p:nvPr/>
        </p:nvSpPr>
        <p:spPr>
          <a:xfrm>
            <a:off x="9315450" y="4464050"/>
            <a:ext cx="6311900" cy="762000"/>
          </a:xfrm>
          <a:custGeom>
            <a:avLst/>
            <a:gdLst/>
            <a:ahLst/>
            <a:cxnLst/>
            <a:rect l="l" t="t" r="r" b="b"/>
            <a:pathLst>
              <a:path w="6311900" h="762000">
                <a:moveTo>
                  <a:pt x="50803" y="0"/>
                </a:moveTo>
                <a:lnTo>
                  <a:pt x="6261097" y="0"/>
                </a:lnTo>
                <a:cubicBezTo>
                  <a:pt x="6289155" y="0"/>
                  <a:pt x="6311900" y="22745"/>
                  <a:pt x="6311900" y="50803"/>
                </a:cubicBezTo>
                <a:lnTo>
                  <a:pt x="6311900" y="711197"/>
                </a:lnTo>
                <a:cubicBezTo>
                  <a:pt x="6311900" y="739255"/>
                  <a:pt x="6289155" y="762000"/>
                  <a:pt x="62610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6" name="Shape 53"/>
          <p:cNvSpPr/>
          <p:nvPr/>
        </p:nvSpPr>
        <p:spPr>
          <a:xfrm>
            <a:off x="9417050" y="46418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7" name="Shape 54"/>
          <p:cNvSpPr/>
          <p:nvPr/>
        </p:nvSpPr>
        <p:spPr>
          <a:xfrm>
            <a:off x="9534525" y="47561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0739" y="1806"/>
                </a:moveTo>
                <a:cubicBezTo>
                  <a:pt x="85914" y="-590"/>
                  <a:pt x="91886" y="-590"/>
                  <a:pt x="97061" y="1806"/>
                </a:cubicBezTo>
                <a:lnTo>
                  <a:pt x="172973" y="36880"/>
                </a:lnTo>
                <a:cubicBezTo>
                  <a:pt x="175925" y="38234"/>
                  <a:pt x="177800" y="41186"/>
                  <a:pt x="177800" y="44450"/>
                </a:cubicBezTo>
                <a:cubicBezTo>
                  <a:pt x="177800" y="47714"/>
                  <a:pt x="175925" y="50666"/>
                  <a:pt x="172973" y="52020"/>
                </a:cubicBezTo>
                <a:lnTo>
                  <a:pt x="97061" y="87094"/>
                </a:lnTo>
                <a:cubicBezTo>
                  <a:pt x="91886" y="89490"/>
                  <a:pt x="85914" y="89490"/>
                  <a:pt x="80739" y="87094"/>
                </a:cubicBezTo>
                <a:lnTo>
                  <a:pt x="4827" y="52020"/>
                </a:lnTo>
                <a:cubicBezTo>
                  <a:pt x="1875" y="50631"/>
                  <a:pt x="0" y="47680"/>
                  <a:pt x="0" y="44450"/>
                </a:cubicBezTo>
                <a:cubicBezTo>
                  <a:pt x="0" y="41220"/>
                  <a:pt x="1875" y="38234"/>
                  <a:pt x="4827" y="36880"/>
                </a:cubicBezTo>
                <a:lnTo>
                  <a:pt x="80739" y="1806"/>
                </a:lnTo>
                <a:close/>
                <a:moveTo>
                  <a:pt x="16703" y="75843"/>
                </a:moveTo>
                <a:lnTo>
                  <a:pt x="73759" y="102200"/>
                </a:lnTo>
                <a:cubicBezTo>
                  <a:pt x="83378" y="106645"/>
                  <a:pt x="94456" y="106645"/>
                  <a:pt x="104076" y="102200"/>
                </a:cubicBezTo>
                <a:lnTo>
                  <a:pt x="161131" y="75843"/>
                </a:lnTo>
                <a:lnTo>
                  <a:pt x="172973" y="81330"/>
                </a:lnTo>
                <a:cubicBezTo>
                  <a:pt x="175925" y="82684"/>
                  <a:pt x="177800" y="85636"/>
                  <a:pt x="177800" y="88900"/>
                </a:cubicBezTo>
                <a:cubicBezTo>
                  <a:pt x="177800" y="92164"/>
                  <a:pt x="175925" y="95116"/>
                  <a:pt x="172973" y="96470"/>
                </a:cubicBezTo>
                <a:lnTo>
                  <a:pt x="97061" y="131544"/>
                </a:lnTo>
                <a:cubicBezTo>
                  <a:pt x="91886" y="133940"/>
                  <a:pt x="85914" y="133940"/>
                  <a:pt x="80739" y="131544"/>
                </a:cubicBezTo>
                <a:lnTo>
                  <a:pt x="4827" y="96470"/>
                </a:lnTo>
                <a:cubicBezTo>
                  <a:pt x="1875" y="95081"/>
                  <a:pt x="0" y="92130"/>
                  <a:pt x="0" y="88900"/>
                </a:cubicBezTo>
                <a:cubicBezTo>
                  <a:pt x="0" y="85670"/>
                  <a:pt x="1875" y="82684"/>
                  <a:pt x="4827" y="81330"/>
                </a:cubicBezTo>
                <a:lnTo>
                  <a:pt x="16669" y="75843"/>
                </a:lnTo>
                <a:close/>
                <a:moveTo>
                  <a:pt x="4827" y="125780"/>
                </a:moveTo>
                <a:lnTo>
                  <a:pt x="16669" y="120293"/>
                </a:lnTo>
                <a:lnTo>
                  <a:pt x="73724" y="146650"/>
                </a:lnTo>
                <a:cubicBezTo>
                  <a:pt x="83344" y="151095"/>
                  <a:pt x="94422" y="151095"/>
                  <a:pt x="104041" y="146650"/>
                </a:cubicBezTo>
                <a:lnTo>
                  <a:pt x="161097" y="120293"/>
                </a:lnTo>
                <a:lnTo>
                  <a:pt x="172938" y="125780"/>
                </a:lnTo>
                <a:cubicBezTo>
                  <a:pt x="175890" y="127134"/>
                  <a:pt x="177765" y="130086"/>
                  <a:pt x="177765" y="133350"/>
                </a:cubicBezTo>
                <a:cubicBezTo>
                  <a:pt x="177765" y="136614"/>
                  <a:pt x="175890" y="139566"/>
                  <a:pt x="172938" y="140920"/>
                </a:cubicBezTo>
                <a:lnTo>
                  <a:pt x="97026" y="175994"/>
                </a:lnTo>
                <a:cubicBezTo>
                  <a:pt x="91852" y="178390"/>
                  <a:pt x="85879" y="178390"/>
                  <a:pt x="80705" y="175994"/>
                </a:cubicBezTo>
                <a:lnTo>
                  <a:pt x="4827" y="140920"/>
                </a:lnTo>
                <a:cubicBezTo>
                  <a:pt x="1875" y="139531"/>
                  <a:pt x="0" y="136580"/>
                  <a:pt x="0" y="133350"/>
                </a:cubicBezTo>
                <a:cubicBezTo>
                  <a:pt x="0" y="130120"/>
                  <a:pt x="1875" y="127134"/>
                  <a:pt x="4827" y="125780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58" name="Text 55"/>
          <p:cNvSpPr/>
          <p:nvPr/>
        </p:nvSpPr>
        <p:spPr>
          <a:xfrm>
            <a:off x="9975850" y="4565650"/>
            <a:ext cx="161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Niveau 2</a:t>
            </a:r>
            <a:endParaRPr lang="fr-FR" sz="1600" dirty="0"/>
          </a:p>
        </p:txBody>
      </p:sp>
      <p:sp>
        <p:nvSpPr>
          <p:cNvPr id="59" name="Text 56"/>
          <p:cNvSpPr/>
          <p:nvPr/>
        </p:nvSpPr>
        <p:spPr>
          <a:xfrm>
            <a:off x="9975850" y="4870450"/>
            <a:ext cx="160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FDC + Température</a:t>
            </a:r>
            <a:endParaRPr lang="fr-FR" sz="1600" dirty="0"/>
          </a:p>
        </p:txBody>
      </p:sp>
      <p:sp>
        <p:nvSpPr>
          <p:cNvPr id="60" name="Shape 57"/>
          <p:cNvSpPr/>
          <p:nvPr/>
        </p:nvSpPr>
        <p:spPr>
          <a:xfrm>
            <a:off x="9315450" y="5327650"/>
            <a:ext cx="6311900" cy="762000"/>
          </a:xfrm>
          <a:custGeom>
            <a:avLst/>
            <a:gdLst/>
            <a:ahLst/>
            <a:cxnLst/>
            <a:rect l="l" t="t" r="r" b="b"/>
            <a:pathLst>
              <a:path w="6311900" h="762000">
                <a:moveTo>
                  <a:pt x="50803" y="0"/>
                </a:moveTo>
                <a:lnTo>
                  <a:pt x="6261097" y="0"/>
                </a:lnTo>
                <a:cubicBezTo>
                  <a:pt x="6289155" y="0"/>
                  <a:pt x="6311900" y="22745"/>
                  <a:pt x="6311900" y="50803"/>
                </a:cubicBezTo>
                <a:lnTo>
                  <a:pt x="6311900" y="711197"/>
                </a:lnTo>
                <a:cubicBezTo>
                  <a:pt x="6311900" y="739255"/>
                  <a:pt x="6289155" y="762000"/>
                  <a:pt x="6261097" y="762000"/>
                </a:cubicBezTo>
                <a:lnTo>
                  <a:pt x="50803" y="762000"/>
                </a:lnTo>
                <a:cubicBezTo>
                  <a:pt x="22745" y="762000"/>
                  <a:pt x="0" y="739255"/>
                  <a:pt x="0" y="7111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1" name="Shape 58"/>
          <p:cNvSpPr/>
          <p:nvPr/>
        </p:nvSpPr>
        <p:spPr>
          <a:xfrm>
            <a:off x="9417050" y="550545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0"/>
                </a:moveTo>
                <a:lnTo>
                  <a:pt x="355600" y="0"/>
                </a:lnTo>
                <a:cubicBezTo>
                  <a:pt x="383637" y="0"/>
                  <a:pt x="406400" y="22763"/>
                  <a:pt x="406400" y="50800"/>
                </a:cubicBezTo>
                <a:lnTo>
                  <a:pt x="406400" y="355600"/>
                </a:lnTo>
                <a:cubicBezTo>
                  <a:pt x="406400" y="383637"/>
                  <a:pt x="383637" y="406400"/>
                  <a:pt x="3556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62" name="Shape 59"/>
          <p:cNvSpPr/>
          <p:nvPr/>
        </p:nvSpPr>
        <p:spPr>
          <a:xfrm>
            <a:off x="9534525" y="56197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0739" y="1806"/>
                </a:moveTo>
                <a:cubicBezTo>
                  <a:pt x="85914" y="-590"/>
                  <a:pt x="91886" y="-590"/>
                  <a:pt x="97061" y="1806"/>
                </a:cubicBezTo>
                <a:lnTo>
                  <a:pt x="172973" y="36880"/>
                </a:lnTo>
                <a:cubicBezTo>
                  <a:pt x="175925" y="38234"/>
                  <a:pt x="177800" y="41186"/>
                  <a:pt x="177800" y="44450"/>
                </a:cubicBezTo>
                <a:cubicBezTo>
                  <a:pt x="177800" y="47714"/>
                  <a:pt x="175925" y="50666"/>
                  <a:pt x="172973" y="52020"/>
                </a:cubicBezTo>
                <a:lnTo>
                  <a:pt x="97061" y="87094"/>
                </a:lnTo>
                <a:cubicBezTo>
                  <a:pt x="91886" y="89490"/>
                  <a:pt x="85914" y="89490"/>
                  <a:pt x="80739" y="87094"/>
                </a:cubicBezTo>
                <a:lnTo>
                  <a:pt x="4827" y="52020"/>
                </a:lnTo>
                <a:cubicBezTo>
                  <a:pt x="1875" y="50631"/>
                  <a:pt x="0" y="47680"/>
                  <a:pt x="0" y="44450"/>
                </a:cubicBezTo>
                <a:cubicBezTo>
                  <a:pt x="0" y="41220"/>
                  <a:pt x="1875" y="38234"/>
                  <a:pt x="4827" y="36880"/>
                </a:cubicBezTo>
                <a:lnTo>
                  <a:pt x="80739" y="1806"/>
                </a:lnTo>
                <a:close/>
                <a:moveTo>
                  <a:pt x="16703" y="75843"/>
                </a:moveTo>
                <a:lnTo>
                  <a:pt x="73759" y="102200"/>
                </a:lnTo>
                <a:cubicBezTo>
                  <a:pt x="83378" y="106645"/>
                  <a:pt x="94456" y="106645"/>
                  <a:pt x="104076" y="102200"/>
                </a:cubicBezTo>
                <a:lnTo>
                  <a:pt x="161131" y="75843"/>
                </a:lnTo>
                <a:lnTo>
                  <a:pt x="172973" y="81330"/>
                </a:lnTo>
                <a:cubicBezTo>
                  <a:pt x="175925" y="82684"/>
                  <a:pt x="177800" y="85636"/>
                  <a:pt x="177800" y="88900"/>
                </a:cubicBezTo>
                <a:cubicBezTo>
                  <a:pt x="177800" y="92164"/>
                  <a:pt x="175925" y="95116"/>
                  <a:pt x="172973" y="96470"/>
                </a:cubicBezTo>
                <a:lnTo>
                  <a:pt x="97061" y="131544"/>
                </a:lnTo>
                <a:cubicBezTo>
                  <a:pt x="91886" y="133940"/>
                  <a:pt x="85914" y="133940"/>
                  <a:pt x="80739" y="131544"/>
                </a:cubicBezTo>
                <a:lnTo>
                  <a:pt x="4827" y="96470"/>
                </a:lnTo>
                <a:cubicBezTo>
                  <a:pt x="1875" y="95081"/>
                  <a:pt x="0" y="92130"/>
                  <a:pt x="0" y="88900"/>
                </a:cubicBezTo>
                <a:cubicBezTo>
                  <a:pt x="0" y="85670"/>
                  <a:pt x="1875" y="82684"/>
                  <a:pt x="4827" y="81330"/>
                </a:cubicBezTo>
                <a:lnTo>
                  <a:pt x="16669" y="75843"/>
                </a:lnTo>
                <a:close/>
                <a:moveTo>
                  <a:pt x="4827" y="125780"/>
                </a:moveTo>
                <a:lnTo>
                  <a:pt x="16669" y="120293"/>
                </a:lnTo>
                <a:lnTo>
                  <a:pt x="73724" y="146650"/>
                </a:lnTo>
                <a:cubicBezTo>
                  <a:pt x="83344" y="151095"/>
                  <a:pt x="94422" y="151095"/>
                  <a:pt x="104041" y="146650"/>
                </a:cubicBezTo>
                <a:lnTo>
                  <a:pt x="161097" y="120293"/>
                </a:lnTo>
                <a:lnTo>
                  <a:pt x="172938" y="125780"/>
                </a:lnTo>
                <a:cubicBezTo>
                  <a:pt x="175890" y="127134"/>
                  <a:pt x="177765" y="130086"/>
                  <a:pt x="177765" y="133350"/>
                </a:cubicBezTo>
                <a:cubicBezTo>
                  <a:pt x="177765" y="136614"/>
                  <a:pt x="175890" y="139566"/>
                  <a:pt x="172938" y="140920"/>
                </a:cubicBezTo>
                <a:lnTo>
                  <a:pt x="97026" y="175994"/>
                </a:lnTo>
                <a:cubicBezTo>
                  <a:pt x="91852" y="178390"/>
                  <a:pt x="85879" y="178390"/>
                  <a:pt x="80705" y="175994"/>
                </a:cubicBezTo>
                <a:lnTo>
                  <a:pt x="4827" y="140920"/>
                </a:lnTo>
                <a:cubicBezTo>
                  <a:pt x="1875" y="139531"/>
                  <a:pt x="0" y="136580"/>
                  <a:pt x="0" y="133350"/>
                </a:cubicBezTo>
                <a:cubicBezTo>
                  <a:pt x="0" y="130120"/>
                  <a:pt x="1875" y="127134"/>
                  <a:pt x="4827" y="125780"/>
                </a:cubicBez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63" name="Text 60"/>
          <p:cNvSpPr/>
          <p:nvPr/>
        </p:nvSpPr>
        <p:spPr>
          <a:xfrm>
            <a:off x="9975850" y="5429250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Niveau 3</a:t>
            </a:r>
            <a:endParaRPr lang="fr-FR" sz="1600" dirty="0"/>
          </a:p>
        </p:txBody>
      </p:sp>
      <p:sp>
        <p:nvSpPr>
          <p:cNvPr id="64" name="Text 61"/>
          <p:cNvSpPr/>
          <p:nvPr/>
        </p:nvSpPr>
        <p:spPr>
          <a:xfrm>
            <a:off x="9975850" y="5734050"/>
            <a:ext cx="143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Surcharge + Com</a:t>
            </a:r>
            <a:endParaRPr lang="fr-FR" sz="1600" dirty="0"/>
          </a:p>
        </p:txBody>
      </p:sp>
      <p:pic>
        <p:nvPicPr>
          <p:cNvPr id="65" name="Image 64" descr="BP AU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9" y="7318625"/>
            <a:ext cx="1717462" cy="1730375"/>
          </a:xfrm>
          <a:prstGeom prst="rect">
            <a:avLst/>
          </a:prstGeom>
        </p:spPr>
      </p:pic>
      <p:pic>
        <p:nvPicPr>
          <p:cNvPr id="66" name="Image 65" descr="capot de protection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850" y="7262945"/>
            <a:ext cx="2994025" cy="1799910"/>
          </a:xfrm>
          <a:prstGeom prst="rect">
            <a:avLst/>
          </a:prstGeom>
        </p:spPr>
      </p:pic>
      <p:pic>
        <p:nvPicPr>
          <p:cNvPr id="67" name="Image 66" descr="capt infra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5450" y="6667500"/>
            <a:ext cx="3098800" cy="2289412"/>
          </a:xfrm>
          <a:prstGeom prst="rect">
            <a:avLst/>
          </a:prstGeom>
        </p:spPr>
      </p:pic>
      <p:pic>
        <p:nvPicPr>
          <p:cNvPr id="68" name="Image 67" descr="capt FDC.png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44945" y="6293760"/>
            <a:ext cx="2047298" cy="2663152"/>
          </a:xfrm>
          <a:prstGeom prst="rect">
            <a:avLst/>
          </a:prstGeom>
        </p:spPr>
      </p:pic>
      <p:sp>
        <p:nvSpPr>
          <p:cNvPr id="69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dirty="0" smtClean="0">
                <a:solidFill>
                  <a:srgbClr val="E89F5B"/>
                </a:solidFill>
              </a:rPr>
              <a:t>13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6" grpId="0" animBg="1"/>
      <p:bldP spid="27" grpId="0" animBg="1"/>
      <p:bldP spid="30" grpId="0" animBg="1"/>
      <p:bldP spid="31" grpId="0" animBg="1"/>
      <p:bldP spid="34" grpId="0" animBg="1"/>
      <p:bldP spid="35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9" grpId="0" animBg="1"/>
      <p:bldP spid="53" grpId="0" animBg="1"/>
      <p:bldP spid="54" grpId="0" animBg="1"/>
      <p:bldP spid="58" grpId="0" animBg="1"/>
      <p:bldP spid="59" grpId="0" animBg="1"/>
      <p:bldP spid="63" grpId="0" animBg="1"/>
      <p:bldP spid="6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 90" descr="picto point clé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966" y="640911"/>
            <a:ext cx="3484869" cy="364911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05. CYCLE AUTOMATIQUE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Cycle &amp; Modes de Fonctionnement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81150"/>
            <a:ext cx="8229600" cy="3263900"/>
          </a:xfrm>
          <a:custGeom>
            <a:avLst/>
            <a:gdLst/>
            <a:ahLst/>
            <a:cxnLst/>
            <a:rect l="l" t="t" r="r" b="b"/>
            <a:pathLst>
              <a:path w="8229600" h="3263900">
                <a:moveTo>
                  <a:pt x="101605" y="0"/>
                </a:moveTo>
                <a:lnTo>
                  <a:pt x="8127995" y="0"/>
                </a:lnTo>
                <a:cubicBezTo>
                  <a:pt x="8184110" y="0"/>
                  <a:pt x="8229600" y="45490"/>
                  <a:pt x="8229600" y="101605"/>
                </a:cubicBezTo>
                <a:lnTo>
                  <a:pt x="8229600" y="3162295"/>
                </a:lnTo>
                <a:cubicBezTo>
                  <a:pt x="8229600" y="3218410"/>
                  <a:pt x="8184110" y="3263900"/>
                  <a:pt x="8127995" y="3263900"/>
                </a:cubicBezTo>
                <a:lnTo>
                  <a:pt x="101605" y="3263900"/>
                </a:lnTo>
                <a:cubicBezTo>
                  <a:pt x="45490" y="3263900"/>
                  <a:pt x="0" y="3218410"/>
                  <a:pt x="0" y="31622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E89F5B">
                  <a:alpha val="20000"/>
                </a:srgbClr>
              </a:gs>
            </a:gsLst>
            <a:lin ang="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6750" y="1790700"/>
            <a:ext cx="792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 Automatique - 11 Étapes</a:t>
            </a:r>
            <a:endParaRPr lang="fr-FR" sz="1600" dirty="0"/>
          </a:p>
        </p:txBody>
      </p:sp>
      <p:sp>
        <p:nvSpPr>
          <p:cNvPr id="6" name="Shape 4"/>
          <p:cNvSpPr/>
          <p:nvPr/>
        </p:nvSpPr>
        <p:spPr>
          <a:xfrm>
            <a:off x="723900" y="22987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Shape 5"/>
          <p:cNvSpPr/>
          <p:nvPr/>
        </p:nvSpPr>
        <p:spPr>
          <a:xfrm>
            <a:off x="825500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8" name="Text 6"/>
          <p:cNvSpPr/>
          <p:nvPr/>
        </p:nvSpPr>
        <p:spPr>
          <a:xfrm>
            <a:off x="787400" y="2400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dirty="0" smtClean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fr-FR" sz="1600" dirty="0"/>
          </a:p>
        </p:txBody>
      </p:sp>
      <p:sp>
        <p:nvSpPr>
          <p:cNvPr id="9" name="Text 7"/>
          <p:cNvSpPr/>
          <p:nvPr/>
        </p:nvSpPr>
        <p:spPr>
          <a:xfrm>
            <a:off x="1231900" y="2425700"/>
            <a:ext cx="124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Vérif. sécurités</a:t>
            </a:r>
            <a:endParaRPr lang="fr-FR" sz="1600" dirty="0"/>
          </a:p>
        </p:txBody>
      </p:sp>
      <p:sp>
        <p:nvSpPr>
          <p:cNvPr id="10" name="Shape 8"/>
          <p:cNvSpPr/>
          <p:nvPr/>
        </p:nvSpPr>
        <p:spPr>
          <a:xfrm>
            <a:off x="3361134" y="22987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Shape 9"/>
          <p:cNvSpPr/>
          <p:nvPr/>
        </p:nvSpPr>
        <p:spPr>
          <a:xfrm>
            <a:off x="3462734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4634" y="2400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dirty="0" smtClean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fr-FR" sz="1600" dirty="0"/>
          </a:p>
        </p:txBody>
      </p:sp>
      <p:sp>
        <p:nvSpPr>
          <p:cNvPr id="13" name="Text 11"/>
          <p:cNvSpPr/>
          <p:nvPr/>
        </p:nvSpPr>
        <p:spPr>
          <a:xfrm>
            <a:off x="3869134" y="2425700"/>
            <a:ext cx="111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Détection clé</a:t>
            </a:r>
            <a:endParaRPr lang="fr-FR" sz="1600" dirty="0"/>
          </a:p>
        </p:txBody>
      </p:sp>
      <p:sp>
        <p:nvSpPr>
          <p:cNvPr id="14" name="Shape 12"/>
          <p:cNvSpPr/>
          <p:nvPr/>
        </p:nvSpPr>
        <p:spPr>
          <a:xfrm>
            <a:off x="5998567" y="22987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Shape 13"/>
          <p:cNvSpPr/>
          <p:nvPr/>
        </p:nvSpPr>
        <p:spPr>
          <a:xfrm>
            <a:off x="6100167" y="2400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6" name="Text 14"/>
          <p:cNvSpPr/>
          <p:nvPr/>
        </p:nvSpPr>
        <p:spPr>
          <a:xfrm>
            <a:off x="6062067" y="2400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dirty="0" smtClean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fr-FR" sz="1600" dirty="0"/>
          </a:p>
        </p:txBody>
      </p:sp>
      <p:sp>
        <p:nvSpPr>
          <p:cNvPr id="17" name="Text 15"/>
          <p:cNvSpPr/>
          <p:nvPr/>
        </p:nvSpPr>
        <p:spPr>
          <a:xfrm>
            <a:off x="6506567" y="2425700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Positionnement</a:t>
            </a:r>
            <a:endParaRPr lang="fr-FR" sz="1600" dirty="0"/>
          </a:p>
        </p:txBody>
      </p:sp>
      <p:sp>
        <p:nvSpPr>
          <p:cNvPr id="18" name="Shape 16"/>
          <p:cNvSpPr/>
          <p:nvPr/>
        </p:nvSpPr>
        <p:spPr>
          <a:xfrm>
            <a:off x="723900" y="29083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Shape 17"/>
          <p:cNvSpPr/>
          <p:nvPr/>
        </p:nvSpPr>
        <p:spPr>
          <a:xfrm>
            <a:off x="825500" y="300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0" name="Text 18"/>
          <p:cNvSpPr/>
          <p:nvPr/>
        </p:nvSpPr>
        <p:spPr>
          <a:xfrm>
            <a:off x="787400" y="3009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fr-FR" sz="1600" dirty="0"/>
          </a:p>
        </p:txBody>
      </p:sp>
      <p:sp>
        <p:nvSpPr>
          <p:cNvPr id="21" name="Text 19"/>
          <p:cNvSpPr/>
          <p:nvPr/>
        </p:nvSpPr>
        <p:spPr>
          <a:xfrm>
            <a:off x="1231900" y="3035300"/>
            <a:ext cx="142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Sélection moteur</a:t>
            </a:r>
            <a:endParaRPr lang="fr-FR" sz="1600" dirty="0"/>
          </a:p>
        </p:txBody>
      </p:sp>
      <p:sp>
        <p:nvSpPr>
          <p:cNvPr id="22" name="Shape 20"/>
          <p:cNvSpPr/>
          <p:nvPr/>
        </p:nvSpPr>
        <p:spPr>
          <a:xfrm>
            <a:off x="3361134" y="29083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Shape 21"/>
          <p:cNvSpPr/>
          <p:nvPr/>
        </p:nvSpPr>
        <p:spPr>
          <a:xfrm>
            <a:off x="3462734" y="300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4" name="Text 22"/>
          <p:cNvSpPr/>
          <p:nvPr/>
        </p:nvSpPr>
        <p:spPr>
          <a:xfrm>
            <a:off x="3424634" y="3009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fr-FR" sz="1600" dirty="0"/>
          </a:p>
        </p:txBody>
      </p:sp>
      <p:sp>
        <p:nvSpPr>
          <p:cNvPr id="25" name="Text 23"/>
          <p:cNvSpPr/>
          <p:nvPr/>
        </p:nvSpPr>
        <p:spPr>
          <a:xfrm>
            <a:off x="3869134" y="3035300"/>
            <a:ext cx="110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Appli. couple</a:t>
            </a:r>
            <a:endParaRPr lang="fr-FR" sz="1600" dirty="0"/>
          </a:p>
        </p:txBody>
      </p:sp>
      <p:sp>
        <p:nvSpPr>
          <p:cNvPr id="26" name="Shape 24"/>
          <p:cNvSpPr/>
          <p:nvPr/>
        </p:nvSpPr>
        <p:spPr>
          <a:xfrm>
            <a:off x="5998567" y="29083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Shape 25"/>
          <p:cNvSpPr/>
          <p:nvPr/>
        </p:nvSpPr>
        <p:spPr>
          <a:xfrm>
            <a:off x="6100167" y="300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Text 26"/>
          <p:cNvSpPr/>
          <p:nvPr/>
        </p:nvSpPr>
        <p:spPr>
          <a:xfrm>
            <a:off x="6062067" y="3009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fr-FR" sz="1600" dirty="0"/>
          </a:p>
        </p:txBody>
      </p:sp>
      <p:sp>
        <p:nvSpPr>
          <p:cNvPr id="29" name="Text 27"/>
          <p:cNvSpPr/>
          <p:nvPr/>
        </p:nvSpPr>
        <p:spPr>
          <a:xfrm>
            <a:off x="6506567" y="3035300"/>
            <a:ext cx="105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Stabilisation</a:t>
            </a:r>
            <a:endParaRPr lang="fr-FR" sz="1600" dirty="0"/>
          </a:p>
        </p:txBody>
      </p:sp>
      <p:sp>
        <p:nvSpPr>
          <p:cNvPr id="30" name="Shape 28"/>
          <p:cNvSpPr/>
          <p:nvPr/>
        </p:nvSpPr>
        <p:spPr>
          <a:xfrm>
            <a:off x="723900" y="35179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Shape 29"/>
          <p:cNvSpPr/>
          <p:nvPr/>
        </p:nvSpPr>
        <p:spPr>
          <a:xfrm>
            <a:off x="825500" y="361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32" name="Text 30"/>
          <p:cNvSpPr/>
          <p:nvPr/>
        </p:nvSpPr>
        <p:spPr>
          <a:xfrm>
            <a:off x="787400" y="36195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fr-FR" sz="1600" dirty="0"/>
          </a:p>
        </p:txBody>
      </p:sp>
      <p:sp>
        <p:nvSpPr>
          <p:cNvPr id="33" name="Text 31"/>
          <p:cNvSpPr/>
          <p:nvPr/>
        </p:nvSpPr>
        <p:spPr>
          <a:xfrm>
            <a:off x="1231900" y="3644900"/>
            <a:ext cx="96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Acquisition</a:t>
            </a:r>
            <a:endParaRPr lang="fr-FR" sz="1600" dirty="0"/>
          </a:p>
        </p:txBody>
      </p:sp>
      <p:sp>
        <p:nvSpPr>
          <p:cNvPr id="34" name="Shape 32"/>
          <p:cNvSpPr/>
          <p:nvPr/>
        </p:nvSpPr>
        <p:spPr>
          <a:xfrm>
            <a:off x="3361134" y="35179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Shape 33"/>
          <p:cNvSpPr/>
          <p:nvPr/>
        </p:nvSpPr>
        <p:spPr>
          <a:xfrm>
            <a:off x="3462734" y="361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36" name="Text 34"/>
          <p:cNvSpPr/>
          <p:nvPr/>
        </p:nvSpPr>
        <p:spPr>
          <a:xfrm>
            <a:off x="3424634" y="36195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fr-FR" sz="1600" dirty="0"/>
          </a:p>
        </p:txBody>
      </p:sp>
      <p:sp>
        <p:nvSpPr>
          <p:cNvPr id="37" name="Text 35"/>
          <p:cNvSpPr/>
          <p:nvPr/>
        </p:nvSpPr>
        <p:spPr>
          <a:xfrm>
            <a:off x="3869134" y="3644900"/>
            <a:ext cx="90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 ISO</a:t>
            </a:r>
            <a:endParaRPr lang="fr-FR" sz="1600" dirty="0"/>
          </a:p>
        </p:txBody>
      </p:sp>
      <p:sp>
        <p:nvSpPr>
          <p:cNvPr id="38" name="Shape 36"/>
          <p:cNvSpPr/>
          <p:nvPr/>
        </p:nvSpPr>
        <p:spPr>
          <a:xfrm>
            <a:off x="5998567" y="35179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Shape 37"/>
          <p:cNvSpPr/>
          <p:nvPr/>
        </p:nvSpPr>
        <p:spPr>
          <a:xfrm>
            <a:off x="6100167" y="361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D8A9B"/>
          </a:solidFill>
          <a:ln/>
        </p:spPr>
      </p:sp>
      <p:sp>
        <p:nvSpPr>
          <p:cNvPr id="40" name="Text 38"/>
          <p:cNvSpPr/>
          <p:nvPr/>
        </p:nvSpPr>
        <p:spPr>
          <a:xfrm>
            <a:off x="6062067" y="36195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fr-FR" sz="1600" dirty="0"/>
          </a:p>
        </p:txBody>
      </p:sp>
      <p:sp>
        <p:nvSpPr>
          <p:cNvPr id="41" name="Text 39"/>
          <p:cNvSpPr/>
          <p:nvPr/>
        </p:nvSpPr>
        <p:spPr>
          <a:xfrm>
            <a:off x="6506567" y="36449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Retour position</a:t>
            </a:r>
            <a:endParaRPr lang="fr-FR" sz="1600" dirty="0"/>
          </a:p>
        </p:txBody>
      </p:sp>
      <p:sp>
        <p:nvSpPr>
          <p:cNvPr id="42" name="Shape 40"/>
          <p:cNvSpPr/>
          <p:nvPr/>
        </p:nvSpPr>
        <p:spPr>
          <a:xfrm>
            <a:off x="723900" y="4127500"/>
            <a:ext cx="5168900" cy="508000"/>
          </a:xfrm>
          <a:custGeom>
            <a:avLst/>
            <a:gdLst/>
            <a:ahLst/>
            <a:cxnLst/>
            <a:rect l="l" t="t" r="r" b="b"/>
            <a:pathLst>
              <a:path w="5168900" h="508000">
                <a:moveTo>
                  <a:pt x="50800" y="0"/>
                </a:moveTo>
                <a:lnTo>
                  <a:pt x="5118100" y="0"/>
                </a:lnTo>
                <a:cubicBezTo>
                  <a:pt x="5146137" y="0"/>
                  <a:pt x="5168900" y="22763"/>
                  <a:pt x="5168900" y="50800"/>
                </a:cubicBezTo>
                <a:lnTo>
                  <a:pt x="5168900" y="457200"/>
                </a:lnTo>
                <a:cubicBezTo>
                  <a:pt x="5168900" y="485237"/>
                  <a:pt x="5146137" y="508000"/>
                  <a:pt x="51181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3" name="Shape 41"/>
          <p:cNvSpPr/>
          <p:nvPr/>
        </p:nvSpPr>
        <p:spPr>
          <a:xfrm>
            <a:off x="825500" y="422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4" name="Text 42"/>
          <p:cNvSpPr/>
          <p:nvPr/>
        </p:nvSpPr>
        <p:spPr>
          <a:xfrm>
            <a:off x="787400" y="42291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dirty="0" smtClean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fr-FR" sz="1600" dirty="0"/>
          </a:p>
        </p:txBody>
      </p:sp>
      <p:sp>
        <p:nvSpPr>
          <p:cNvPr id="45" name="Text 43"/>
          <p:cNvSpPr/>
          <p:nvPr/>
        </p:nvSpPr>
        <p:spPr>
          <a:xfrm>
            <a:off x="1231900" y="4254500"/>
            <a:ext cx="156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Génération rapport</a:t>
            </a:r>
            <a:endParaRPr lang="fr-FR" sz="1600" dirty="0"/>
          </a:p>
        </p:txBody>
      </p:sp>
      <p:sp>
        <p:nvSpPr>
          <p:cNvPr id="46" name="Shape 44"/>
          <p:cNvSpPr/>
          <p:nvPr/>
        </p:nvSpPr>
        <p:spPr>
          <a:xfrm>
            <a:off x="5998567" y="41275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540000" h="508000">
                <a:moveTo>
                  <a:pt x="50800" y="0"/>
                </a:moveTo>
                <a:lnTo>
                  <a:pt x="2489200" y="0"/>
                </a:lnTo>
                <a:cubicBezTo>
                  <a:pt x="2517237" y="0"/>
                  <a:pt x="2540000" y="22763"/>
                  <a:pt x="2540000" y="50800"/>
                </a:cubicBezTo>
                <a:lnTo>
                  <a:pt x="2540000" y="457200"/>
                </a:lnTo>
                <a:cubicBezTo>
                  <a:pt x="2540000" y="485237"/>
                  <a:pt x="2517237" y="508000"/>
                  <a:pt x="2489200" y="508000"/>
                </a:cubicBezTo>
                <a:lnTo>
                  <a:pt x="50800" y="508000"/>
                </a:lnTo>
                <a:cubicBezTo>
                  <a:pt x="22763" y="508000"/>
                  <a:pt x="0" y="485237"/>
                  <a:pt x="0" y="45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7" name="Shape 45"/>
          <p:cNvSpPr/>
          <p:nvPr/>
        </p:nvSpPr>
        <p:spPr>
          <a:xfrm>
            <a:off x="6100167" y="422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8" name="Text 46"/>
          <p:cNvSpPr/>
          <p:nvPr/>
        </p:nvSpPr>
        <p:spPr>
          <a:xfrm>
            <a:off x="6062067" y="42291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fr-FR" sz="1200" b="1" dirty="0" smtClean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fr-FR" sz="1600" dirty="0"/>
          </a:p>
        </p:txBody>
      </p:sp>
      <p:sp>
        <p:nvSpPr>
          <p:cNvPr id="49" name="Text 47"/>
          <p:cNvSpPr/>
          <p:nvPr/>
        </p:nvSpPr>
        <p:spPr>
          <a:xfrm>
            <a:off x="6506567" y="4254500"/>
            <a:ext cx="78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 cycle</a:t>
            </a:r>
            <a:endParaRPr lang="fr-FR" sz="1600" dirty="0"/>
          </a:p>
        </p:txBody>
      </p:sp>
      <p:sp>
        <p:nvSpPr>
          <p:cNvPr id="50" name="Shape 48"/>
          <p:cNvSpPr/>
          <p:nvPr/>
        </p:nvSpPr>
        <p:spPr>
          <a:xfrm>
            <a:off x="514350" y="5010150"/>
            <a:ext cx="2628900" cy="1714500"/>
          </a:xfrm>
          <a:custGeom>
            <a:avLst/>
            <a:gdLst/>
            <a:ahLst/>
            <a:cxnLst/>
            <a:rect l="l" t="t" r="r" b="b"/>
            <a:pathLst>
              <a:path w="2628900" h="1714500">
                <a:moveTo>
                  <a:pt x="101601" y="0"/>
                </a:moveTo>
                <a:lnTo>
                  <a:pt x="2527299" y="0"/>
                </a:lnTo>
                <a:cubicBezTo>
                  <a:pt x="2583412" y="0"/>
                  <a:pt x="2628900" y="45488"/>
                  <a:pt x="2628900" y="101601"/>
                </a:cubicBezTo>
                <a:lnTo>
                  <a:pt x="2628900" y="1612899"/>
                </a:lnTo>
                <a:cubicBezTo>
                  <a:pt x="2628900" y="1669012"/>
                  <a:pt x="2583412" y="1714500"/>
                  <a:pt x="2527299" y="1714500"/>
                </a:cubicBezTo>
                <a:lnTo>
                  <a:pt x="101601" y="1714500"/>
                </a:lnTo>
                <a:cubicBezTo>
                  <a:pt x="45488" y="1714500"/>
                  <a:pt x="0" y="1669012"/>
                  <a:pt x="0" y="1612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92200" y="516890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Vérif. ISO</a:t>
            </a:r>
            <a:endParaRPr lang="fr-FR" sz="1600" dirty="0"/>
          </a:p>
        </p:txBody>
      </p:sp>
      <p:sp>
        <p:nvSpPr>
          <p:cNvPr id="53" name="Text 51"/>
          <p:cNvSpPr/>
          <p:nvPr/>
        </p:nvSpPr>
        <p:spPr>
          <a:xfrm>
            <a:off x="673100" y="5575300"/>
            <a:ext cx="240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Position: </a:t>
            </a:r>
            <a:r>
              <a:rPr lang="fr-FR" sz="14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</a:t>
            </a:r>
            <a:endParaRPr lang="fr-FR" sz="1600" dirty="0"/>
          </a:p>
        </p:txBody>
      </p:sp>
      <p:sp>
        <p:nvSpPr>
          <p:cNvPr id="54" name="Text 52"/>
          <p:cNvSpPr/>
          <p:nvPr/>
        </p:nvSpPr>
        <p:spPr>
          <a:xfrm>
            <a:off x="673100" y="5930900"/>
            <a:ext cx="24638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24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mesures</a:t>
            </a:r>
            <a:endParaRPr lang="fr-FR" sz="1600" dirty="0"/>
          </a:p>
        </p:txBody>
      </p:sp>
      <p:sp>
        <p:nvSpPr>
          <p:cNvPr id="55" name="Text 53"/>
          <p:cNvSpPr/>
          <p:nvPr/>
        </p:nvSpPr>
        <p:spPr>
          <a:xfrm>
            <a:off x="673100" y="6375400"/>
            <a:ext cx="23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20% · 60% · 100%</a:t>
            </a:r>
            <a:endParaRPr lang="fr-FR" sz="1600" dirty="0"/>
          </a:p>
        </p:txBody>
      </p:sp>
      <p:sp>
        <p:nvSpPr>
          <p:cNvPr id="56" name="Shape 54"/>
          <p:cNvSpPr/>
          <p:nvPr/>
        </p:nvSpPr>
        <p:spPr>
          <a:xfrm>
            <a:off x="3312517" y="5010150"/>
            <a:ext cx="2628900" cy="1714500"/>
          </a:xfrm>
          <a:custGeom>
            <a:avLst/>
            <a:gdLst/>
            <a:ahLst/>
            <a:cxnLst/>
            <a:rect l="l" t="t" r="r" b="b"/>
            <a:pathLst>
              <a:path w="2628900" h="1714500">
                <a:moveTo>
                  <a:pt x="101601" y="0"/>
                </a:moveTo>
                <a:lnTo>
                  <a:pt x="2527299" y="0"/>
                </a:lnTo>
                <a:cubicBezTo>
                  <a:pt x="2583412" y="0"/>
                  <a:pt x="2628900" y="45488"/>
                  <a:pt x="2628900" y="101601"/>
                </a:cubicBezTo>
                <a:lnTo>
                  <a:pt x="2628900" y="1612899"/>
                </a:lnTo>
                <a:cubicBezTo>
                  <a:pt x="2628900" y="1669012"/>
                  <a:pt x="2583412" y="1714500"/>
                  <a:pt x="2527299" y="1714500"/>
                </a:cubicBezTo>
                <a:lnTo>
                  <a:pt x="101601" y="1714500"/>
                </a:lnTo>
                <a:cubicBezTo>
                  <a:pt x="45488" y="1714500"/>
                  <a:pt x="0" y="1669012"/>
                  <a:pt x="0" y="1612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66517" y="5194300"/>
            <a:ext cx="127000" cy="254000"/>
          </a:xfrm>
          <a:custGeom>
            <a:avLst/>
            <a:gdLst/>
            <a:ahLst/>
            <a:cxnLst/>
            <a:rect l="l" t="t" r="r" b="b"/>
            <a:pathLst>
              <a:path w="127000" h="254000">
                <a:moveTo>
                  <a:pt x="81806" y="128984"/>
                </a:moveTo>
                <a:lnTo>
                  <a:pt x="127744" y="77738"/>
                </a:lnTo>
                <a:lnTo>
                  <a:pt x="55364" y="0"/>
                </a:lnTo>
                <a:lnTo>
                  <a:pt x="55364" y="102344"/>
                </a:lnTo>
                <a:lnTo>
                  <a:pt x="12601" y="59630"/>
                </a:lnTo>
                <a:lnTo>
                  <a:pt x="-2977" y="75208"/>
                </a:lnTo>
                <a:lnTo>
                  <a:pt x="50651" y="128984"/>
                </a:lnTo>
                <a:lnTo>
                  <a:pt x="-2977" y="182761"/>
                </a:lnTo>
                <a:lnTo>
                  <a:pt x="12601" y="198338"/>
                </a:lnTo>
                <a:lnTo>
                  <a:pt x="55364" y="155625"/>
                </a:lnTo>
                <a:lnTo>
                  <a:pt x="56704" y="254000"/>
                </a:lnTo>
                <a:lnTo>
                  <a:pt x="130373" y="180280"/>
                </a:lnTo>
                <a:lnTo>
                  <a:pt x="81806" y="128984"/>
                </a:lnTo>
                <a:close/>
                <a:moveTo>
                  <a:pt x="102096" y="77887"/>
                </a:moveTo>
                <a:lnTo>
                  <a:pt x="77291" y="102691"/>
                </a:lnTo>
                <a:lnTo>
                  <a:pt x="77143" y="52933"/>
                </a:lnTo>
                <a:lnTo>
                  <a:pt x="102096" y="77887"/>
                </a:lnTo>
                <a:close/>
                <a:moveTo>
                  <a:pt x="77291" y="155277"/>
                </a:moveTo>
                <a:lnTo>
                  <a:pt x="102096" y="180082"/>
                </a:lnTo>
                <a:lnTo>
                  <a:pt x="77143" y="205036"/>
                </a:lnTo>
                <a:lnTo>
                  <a:pt x="77291" y="155277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8" name="Text 56"/>
          <p:cNvSpPr/>
          <p:nvPr/>
        </p:nvSpPr>
        <p:spPr>
          <a:xfrm>
            <a:off x="3890367" y="5168900"/>
            <a:ext cx="93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</a:t>
            </a: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BT</a:t>
            </a:r>
            <a:endParaRPr lang="fr-FR" sz="1600" dirty="0"/>
          </a:p>
        </p:txBody>
      </p:sp>
      <p:sp>
        <p:nvSpPr>
          <p:cNvPr id="59" name="Text 57"/>
          <p:cNvSpPr/>
          <p:nvPr/>
        </p:nvSpPr>
        <p:spPr>
          <a:xfrm>
            <a:off x="3471267" y="5575300"/>
            <a:ext cx="240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Position: </a:t>
            </a:r>
            <a:r>
              <a:rPr lang="fr-FR" sz="14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AV+AR</a:t>
            </a:r>
            <a:endParaRPr lang="fr-FR" sz="1600" dirty="0"/>
          </a:p>
        </p:txBody>
      </p:sp>
      <p:sp>
        <p:nvSpPr>
          <p:cNvPr id="60" name="Text 58"/>
          <p:cNvSpPr/>
          <p:nvPr/>
        </p:nvSpPr>
        <p:spPr>
          <a:xfrm>
            <a:off x="3471267" y="5930900"/>
            <a:ext cx="24638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2400" b="1" dirty="0" smtClean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mesures</a:t>
            </a:r>
            <a:endParaRPr lang="fr-FR" sz="1600" dirty="0"/>
          </a:p>
        </p:txBody>
      </p:sp>
      <p:sp>
        <p:nvSpPr>
          <p:cNvPr id="61" name="Text 59"/>
          <p:cNvSpPr/>
          <p:nvPr/>
        </p:nvSpPr>
        <p:spPr>
          <a:xfrm>
            <a:off x="3471267" y="6375400"/>
            <a:ext cx="23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Nm · 24 Nm · 40 Nm</a:t>
            </a:r>
            <a:endParaRPr lang="fr-FR" sz="1600" dirty="0"/>
          </a:p>
        </p:txBody>
      </p:sp>
      <p:sp>
        <p:nvSpPr>
          <p:cNvPr id="62" name="Shape 60"/>
          <p:cNvSpPr/>
          <p:nvPr/>
        </p:nvSpPr>
        <p:spPr>
          <a:xfrm>
            <a:off x="6110684" y="5010150"/>
            <a:ext cx="2628900" cy="1714500"/>
          </a:xfrm>
          <a:custGeom>
            <a:avLst/>
            <a:gdLst/>
            <a:ahLst/>
            <a:cxnLst/>
            <a:rect l="l" t="t" r="r" b="b"/>
            <a:pathLst>
              <a:path w="2628900" h="1714500">
                <a:moveTo>
                  <a:pt x="101601" y="0"/>
                </a:moveTo>
                <a:lnTo>
                  <a:pt x="2527299" y="0"/>
                </a:lnTo>
                <a:cubicBezTo>
                  <a:pt x="2583412" y="0"/>
                  <a:pt x="2628900" y="45488"/>
                  <a:pt x="2628900" y="101601"/>
                </a:cubicBezTo>
                <a:lnTo>
                  <a:pt x="2628900" y="1612899"/>
                </a:lnTo>
                <a:cubicBezTo>
                  <a:pt x="2628900" y="1669012"/>
                  <a:pt x="2583412" y="1714500"/>
                  <a:pt x="2527299" y="1714500"/>
                </a:cubicBezTo>
                <a:lnTo>
                  <a:pt x="101601" y="1714500"/>
                </a:lnTo>
                <a:cubicBezTo>
                  <a:pt x="45488" y="1714500"/>
                  <a:pt x="0" y="1669012"/>
                  <a:pt x="0" y="1612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85309" y="51943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875" y="47625"/>
                </a:moveTo>
                <a:cubicBezTo>
                  <a:pt x="97780" y="47625"/>
                  <a:pt x="56952" y="65484"/>
                  <a:pt x="26938" y="94555"/>
                </a:cubicBezTo>
                <a:cubicBezTo>
                  <a:pt x="20638" y="100657"/>
                  <a:pt x="10567" y="100509"/>
                  <a:pt x="4514" y="94208"/>
                </a:cubicBezTo>
                <a:cubicBezTo>
                  <a:pt x="-1538" y="87908"/>
                  <a:pt x="-1439" y="77837"/>
                  <a:pt x="4862" y="71785"/>
                </a:cubicBezTo>
                <a:cubicBezTo>
                  <a:pt x="40531" y="37157"/>
                  <a:pt x="89247" y="15875"/>
                  <a:pt x="142875" y="15875"/>
                </a:cubicBezTo>
                <a:cubicBezTo>
                  <a:pt x="196503" y="15875"/>
                  <a:pt x="245219" y="37157"/>
                  <a:pt x="280938" y="71785"/>
                </a:cubicBezTo>
                <a:cubicBezTo>
                  <a:pt x="287238" y="77887"/>
                  <a:pt x="287387" y="87957"/>
                  <a:pt x="281285" y="94208"/>
                </a:cubicBezTo>
                <a:cubicBezTo>
                  <a:pt x="275183" y="100459"/>
                  <a:pt x="265113" y="100657"/>
                  <a:pt x="258862" y="94555"/>
                </a:cubicBezTo>
                <a:cubicBezTo>
                  <a:pt x="228798" y="65484"/>
                  <a:pt x="187970" y="47625"/>
                  <a:pt x="142875" y="47625"/>
                </a:cubicBezTo>
                <a:close/>
                <a:moveTo>
                  <a:pt x="119063" y="214313"/>
                </a:moveTo>
                <a:cubicBezTo>
                  <a:pt x="119063" y="201170"/>
                  <a:pt x="129733" y="190500"/>
                  <a:pt x="142875" y="190500"/>
                </a:cubicBezTo>
                <a:cubicBezTo>
                  <a:pt x="156017" y="190500"/>
                  <a:pt x="166688" y="201170"/>
                  <a:pt x="166688" y="214313"/>
                </a:cubicBezTo>
                <a:cubicBezTo>
                  <a:pt x="166688" y="227455"/>
                  <a:pt x="156017" y="238125"/>
                  <a:pt x="142875" y="238125"/>
                </a:cubicBezTo>
                <a:cubicBezTo>
                  <a:pt x="129733" y="238125"/>
                  <a:pt x="119063" y="227455"/>
                  <a:pt x="119063" y="214313"/>
                </a:cubicBezTo>
                <a:close/>
                <a:moveTo>
                  <a:pt x="83344" y="161826"/>
                </a:moveTo>
                <a:cubicBezTo>
                  <a:pt x="77539" y="168424"/>
                  <a:pt x="67518" y="169019"/>
                  <a:pt x="60920" y="163215"/>
                </a:cubicBezTo>
                <a:cubicBezTo>
                  <a:pt x="54322" y="157411"/>
                  <a:pt x="53727" y="147389"/>
                  <a:pt x="59531" y="140791"/>
                </a:cubicBezTo>
                <a:cubicBezTo>
                  <a:pt x="79871" y="117773"/>
                  <a:pt x="109686" y="103188"/>
                  <a:pt x="142875" y="103188"/>
                </a:cubicBezTo>
                <a:cubicBezTo>
                  <a:pt x="176064" y="103188"/>
                  <a:pt x="205879" y="117773"/>
                  <a:pt x="226219" y="140791"/>
                </a:cubicBezTo>
                <a:cubicBezTo>
                  <a:pt x="232023" y="147389"/>
                  <a:pt x="231378" y="157411"/>
                  <a:pt x="224830" y="163215"/>
                </a:cubicBezTo>
                <a:cubicBezTo>
                  <a:pt x="218281" y="169019"/>
                  <a:pt x="208211" y="168374"/>
                  <a:pt x="202406" y="161826"/>
                </a:cubicBezTo>
                <a:cubicBezTo>
                  <a:pt x="187821" y="145306"/>
                  <a:pt x="166588" y="134938"/>
                  <a:pt x="142875" y="134938"/>
                </a:cubicBezTo>
                <a:cubicBezTo>
                  <a:pt x="119162" y="134938"/>
                  <a:pt x="97929" y="145306"/>
                  <a:pt x="83344" y="161826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64" name="Text 62"/>
          <p:cNvSpPr/>
          <p:nvPr/>
        </p:nvSpPr>
        <p:spPr>
          <a:xfrm>
            <a:off x="6688534" y="5168900"/>
            <a:ext cx="107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</a:t>
            </a: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Wifi</a:t>
            </a:r>
            <a:endParaRPr lang="fr-FR" sz="1600" dirty="0"/>
          </a:p>
        </p:txBody>
      </p:sp>
      <p:sp>
        <p:nvSpPr>
          <p:cNvPr id="65" name="Text 63"/>
          <p:cNvSpPr/>
          <p:nvPr/>
        </p:nvSpPr>
        <p:spPr>
          <a:xfrm>
            <a:off x="6269434" y="5575300"/>
            <a:ext cx="240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Position: </a:t>
            </a:r>
            <a:r>
              <a:rPr lang="fr-FR" sz="14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AV+AR</a:t>
            </a:r>
            <a:endParaRPr lang="fr-FR" sz="1600" dirty="0"/>
          </a:p>
        </p:txBody>
      </p:sp>
      <p:sp>
        <p:nvSpPr>
          <p:cNvPr id="66" name="Text 64"/>
          <p:cNvSpPr/>
          <p:nvPr/>
        </p:nvSpPr>
        <p:spPr>
          <a:xfrm>
            <a:off x="6269434" y="5930900"/>
            <a:ext cx="24638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2400" b="1" dirty="0" smtClean="0">
                <a:solidFill>
                  <a:srgbClr val="4A6C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mesures</a:t>
            </a:r>
            <a:endParaRPr lang="fr-FR" sz="1600" dirty="0"/>
          </a:p>
        </p:txBody>
      </p:sp>
      <p:sp>
        <p:nvSpPr>
          <p:cNvPr id="68" name="Shape 66"/>
          <p:cNvSpPr/>
          <p:nvPr/>
        </p:nvSpPr>
        <p:spPr>
          <a:xfrm>
            <a:off x="9220201" y="3035300"/>
            <a:ext cx="6238736" cy="2828925"/>
          </a:xfrm>
          <a:custGeom>
            <a:avLst/>
            <a:gdLst/>
            <a:ahLst/>
            <a:cxnLst/>
            <a:rect l="l" t="t" r="r" b="b"/>
            <a:pathLst>
              <a:path w="6731000" h="6731000">
                <a:moveTo>
                  <a:pt x="101571" y="0"/>
                </a:moveTo>
                <a:lnTo>
                  <a:pt x="6629429" y="0"/>
                </a:lnTo>
                <a:cubicBezTo>
                  <a:pt x="6685525" y="0"/>
                  <a:pt x="6731000" y="45475"/>
                  <a:pt x="6731000" y="101571"/>
                </a:cubicBezTo>
                <a:lnTo>
                  <a:pt x="6731000" y="6629429"/>
                </a:lnTo>
                <a:cubicBezTo>
                  <a:pt x="6731000" y="6685525"/>
                  <a:pt x="6685525" y="6731000"/>
                  <a:pt x="6629429" y="6731000"/>
                </a:cubicBezTo>
                <a:lnTo>
                  <a:pt x="101571" y="6731000"/>
                </a:lnTo>
                <a:cubicBezTo>
                  <a:pt x="45475" y="6731000"/>
                  <a:pt x="0" y="6685525"/>
                  <a:pt x="0" y="6629429"/>
                </a:cubicBezTo>
                <a:lnTo>
                  <a:pt x="0" y="101571"/>
                </a:lnTo>
                <a:cubicBezTo>
                  <a:pt x="0" y="45512"/>
                  <a:pt x="45512" y="0"/>
                  <a:pt x="10157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9220201" y="3035300"/>
            <a:ext cx="6238736" cy="2828925"/>
          </a:xfrm>
          <a:custGeom>
            <a:avLst/>
            <a:gdLst/>
            <a:ahLst/>
            <a:cxnLst/>
            <a:rect l="l" t="t" r="r" b="b"/>
            <a:pathLst>
              <a:path w="6731000" h="3060700">
                <a:moveTo>
                  <a:pt x="101615" y="0"/>
                </a:moveTo>
                <a:lnTo>
                  <a:pt x="6629385" y="0"/>
                </a:lnTo>
                <a:cubicBezTo>
                  <a:pt x="6685505" y="0"/>
                  <a:pt x="6731000" y="45495"/>
                  <a:pt x="6731000" y="101615"/>
                </a:cubicBezTo>
                <a:lnTo>
                  <a:pt x="6731000" y="2959085"/>
                </a:lnTo>
                <a:cubicBezTo>
                  <a:pt x="6731000" y="3015205"/>
                  <a:pt x="6685505" y="3060700"/>
                  <a:pt x="6629385" y="3060700"/>
                </a:cubicBezTo>
                <a:lnTo>
                  <a:pt x="101615" y="3060700"/>
                </a:lnTo>
                <a:cubicBezTo>
                  <a:pt x="45495" y="3060700"/>
                  <a:pt x="0" y="3015205"/>
                  <a:pt x="0" y="2959085"/>
                </a:cubicBezTo>
                <a:lnTo>
                  <a:pt x="0" y="101615"/>
                </a:lnTo>
                <a:cubicBezTo>
                  <a:pt x="0" y="45495"/>
                  <a:pt x="45495" y="0"/>
                  <a:pt x="101615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4A6C8C">
                  <a:alpha val="20000"/>
                </a:srgbClr>
              </a:gs>
            </a:gsLst>
            <a:lin ang="270000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9429750" y="3214113"/>
            <a:ext cx="6029186" cy="309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Points Clés</a:t>
            </a:r>
            <a:endParaRPr lang="fr-FR" sz="1600" dirty="0"/>
          </a:p>
        </p:txBody>
      </p:sp>
      <p:sp>
        <p:nvSpPr>
          <p:cNvPr id="72" name="Shape 69"/>
          <p:cNvSpPr/>
          <p:nvPr/>
        </p:nvSpPr>
        <p:spPr>
          <a:xfrm>
            <a:off x="9429750" y="3580833"/>
            <a:ext cx="5921947" cy="397441"/>
          </a:xfrm>
          <a:custGeom>
            <a:avLst/>
            <a:gdLst/>
            <a:ahLst/>
            <a:cxnLst/>
            <a:rect l="l" t="t" r="r" b="b"/>
            <a:pathLst>
              <a:path w="6311900" h="457200">
                <a:moveTo>
                  <a:pt x="50799" y="0"/>
                </a:moveTo>
                <a:lnTo>
                  <a:pt x="6261101" y="0"/>
                </a:lnTo>
                <a:cubicBezTo>
                  <a:pt x="6289156" y="0"/>
                  <a:pt x="6311900" y="22744"/>
                  <a:pt x="6311900" y="50799"/>
                </a:cubicBezTo>
                <a:lnTo>
                  <a:pt x="6311900" y="406401"/>
                </a:lnTo>
                <a:cubicBezTo>
                  <a:pt x="6311900" y="434456"/>
                  <a:pt x="6289156" y="457200"/>
                  <a:pt x="62611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3" name="Shape 70"/>
          <p:cNvSpPr/>
          <p:nvPr/>
        </p:nvSpPr>
        <p:spPr>
          <a:xfrm>
            <a:off x="9556750" y="3674633"/>
            <a:ext cx="190646" cy="176641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74" name="Text 71"/>
          <p:cNvSpPr/>
          <p:nvPr/>
        </p:nvSpPr>
        <p:spPr>
          <a:xfrm>
            <a:off x="9886950" y="3655873"/>
            <a:ext cx="2356510" cy="268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Retour zéro entre mesures</a:t>
            </a:r>
            <a:endParaRPr lang="fr-FR" sz="1600" dirty="0"/>
          </a:p>
        </p:txBody>
      </p:sp>
      <p:sp>
        <p:nvSpPr>
          <p:cNvPr id="75" name="Shape 72"/>
          <p:cNvSpPr/>
          <p:nvPr/>
        </p:nvSpPr>
        <p:spPr>
          <a:xfrm>
            <a:off x="9429750" y="4139633"/>
            <a:ext cx="5921947" cy="397441"/>
          </a:xfrm>
          <a:custGeom>
            <a:avLst/>
            <a:gdLst/>
            <a:ahLst/>
            <a:cxnLst/>
            <a:rect l="l" t="t" r="r" b="b"/>
            <a:pathLst>
              <a:path w="6311900" h="457200">
                <a:moveTo>
                  <a:pt x="50799" y="0"/>
                </a:moveTo>
                <a:lnTo>
                  <a:pt x="6261101" y="0"/>
                </a:lnTo>
                <a:cubicBezTo>
                  <a:pt x="6289156" y="0"/>
                  <a:pt x="6311900" y="22744"/>
                  <a:pt x="6311900" y="50799"/>
                </a:cubicBezTo>
                <a:lnTo>
                  <a:pt x="6311900" y="406401"/>
                </a:lnTo>
                <a:cubicBezTo>
                  <a:pt x="6311900" y="434456"/>
                  <a:pt x="6289156" y="457200"/>
                  <a:pt x="62611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6" name="Shape 73"/>
          <p:cNvSpPr/>
          <p:nvPr/>
        </p:nvSpPr>
        <p:spPr>
          <a:xfrm>
            <a:off x="9556750" y="4233433"/>
            <a:ext cx="190646" cy="176641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77" name="Text 74"/>
          <p:cNvSpPr/>
          <p:nvPr/>
        </p:nvSpPr>
        <p:spPr>
          <a:xfrm>
            <a:off x="9886950" y="4214673"/>
            <a:ext cx="2001785" cy="220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Stabilisation obligatoire</a:t>
            </a:r>
            <a:endParaRPr lang="fr-FR" sz="1600" dirty="0"/>
          </a:p>
        </p:txBody>
      </p:sp>
      <p:sp>
        <p:nvSpPr>
          <p:cNvPr id="78" name="Shape 75"/>
          <p:cNvSpPr/>
          <p:nvPr/>
        </p:nvSpPr>
        <p:spPr>
          <a:xfrm>
            <a:off x="9429750" y="4698433"/>
            <a:ext cx="5921947" cy="397441"/>
          </a:xfrm>
          <a:custGeom>
            <a:avLst/>
            <a:gdLst/>
            <a:ahLst/>
            <a:cxnLst/>
            <a:rect l="l" t="t" r="r" b="b"/>
            <a:pathLst>
              <a:path w="6311900" h="457200">
                <a:moveTo>
                  <a:pt x="50799" y="0"/>
                </a:moveTo>
                <a:lnTo>
                  <a:pt x="6261101" y="0"/>
                </a:lnTo>
                <a:cubicBezTo>
                  <a:pt x="6289156" y="0"/>
                  <a:pt x="6311900" y="22744"/>
                  <a:pt x="6311900" y="50799"/>
                </a:cubicBezTo>
                <a:lnTo>
                  <a:pt x="6311900" y="406401"/>
                </a:lnTo>
                <a:cubicBezTo>
                  <a:pt x="6311900" y="434456"/>
                  <a:pt x="6289156" y="457200"/>
                  <a:pt x="62611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9" name="Shape 76"/>
          <p:cNvSpPr/>
          <p:nvPr/>
        </p:nvSpPr>
        <p:spPr>
          <a:xfrm>
            <a:off x="9556750" y="4792233"/>
            <a:ext cx="190646" cy="176641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80" name="Text 77"/>
          <p:cNvSpPr/>
          <p:nvPr/>
        </p:nvSpPr>
        <p:spPr>
          <a:xfrm>
            <a:off x="9886949" y="4773473"/>
            <a:ext cx="2549893" cy="23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positions: AD, ARD, AG, ARG</a:t>
            </a:r>
            <a:endParaRPr lang="fr-FR" sz="1600" dirty="0"/>
          </a:p>
        </p:txBody>
      </p:sp>
      <p:sp>
        <p:nvSpPr>
          <p:cNvPr id="81" name="Shape 78"/>
          <p:cNvSpPr/>
          <p:nvPr/>
        </p:nvSpPr>
        <p:spPr>
          <a:xfrm>
            <a:off x="9429750" y="5257233"/>
            <a:ext cx="5921947" cy="397441"/>
          </a:xfrm>
          <a:custGeom>
            <a:avLst/>
            <a:gdLst/>
            <a:ahLst/>
            <a:cxnLst/>
            <a:rect l="l" t="t" r="r" b="b"/>
            <a:pathLst>
              <a:path w="6311900" h="457200">
                <a:moveTo>
                  <a:pt x="50799" y="0"/>
                </a:moveTo>
                <a:lnTo>
                  <a:pt x="6261101" y="0"/>
                </a:lnTo>
                <a:cubicBezTo>
                  <a:pt x="6289156" y="0"/>
                  <a:pt x="6311900" y="22744"/>
                  <a:pt x="6311900" y="50799"/>
                </a:cubicBezTo>
                <a:lnTo>
                  <a:pt x="6311900" y="406401"/>
                </a:lnTo>
                <a:cubicBezTo>
                  <a:pt x="6311900" y="434456"/>
                  <a:pt x="6289156" y="457200"/>
                  <a:pt x="62611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2" name="Shape 79"/>
          <p:cNvSpPr/>
          <p:nvPr/>
        </p:nvSpPr>
        <p:spPr>
          <a:xfrm>
            <a:off x="9556750" y="5351033"/>
            <a:ext cx="190646" cy="176641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83" name="Text 80"/>
          <p:cNvSpPr/>
          <p:nvPr/>
        </p:nvSpPr>
        <p:spPr>
          <a:xfrm>
            <a:off x="9886950" y="5332273"/>
            <a:ext cx="2819647" cy="220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Décision conforme/non conforme</a:t>
            </a:r>
            <a:endParaRPr lang="fr-FR" sz="1600" dirty="0"/>
          </a:p>
        </p:txBody>
      </p:sp>
      <p:pic>
        <p:nvPicPr>
          <p:cNvPr id="85" name="Image 84" descr="certific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54" y="5131249"/>
            <a:ext cx="273342" cy="392067"/>
          </a:xfrm>
          <a:prstGeom prst="rect">
            <a:avLst/>
          </a:prstGeom>
        </p:spPr>
      </p:pic>
      <p:pic>
        <p:nvPicPr>
          <p:cNvPr id="86" name="Image 85" descr="ISO 6789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466" y="6724650"/>
            <a:ext cx="2478484" cy="2478484"/>
          </a:xfrm>
          <a:prstGeom prst="rect">
            <a:avLst/>
          </a:prstGeom>
        </p:spPr>
      </p:pic>
      <p:pic>
        <p:nvPicPr>
          <p:cNvPr id="1026" name="Picture 2" descr="R:\Partage_NonSauvegarde\LST\Photos Clé - Hamza\Clé Carbone retouchée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 rot="2782575">
            <a:off x="5705310" y="5763035"/>
            <a:ext cx="2701663" cy="4052087"/>
          </a:xfrm>
          <a:prstGeom prst="rect">
            <a:avLst/>
          </a:prstGeom>
          <a:noFill/>
        </p:spPr>
      </p:pic>
      <p:pic>
        <p:nvPicPr>
          <p:cNvPr id="1027" name="Picture 3" descr="R:\Partage_NonSauvegarde\LST\Photos Clé - Hamza\clé_seule_2_10cm_300dpi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 rot="1951303">
            <a:off x="3641527" y="6497599"/>
            <a:ext cx="1621376" cy="2633663"/>
          </a:xfrm>
          <a:prstGeom prst="rect">
            <a:avLst/>
          </a:prstGeom>
          <a:noFill/>
        </p:spPr>
      </p:pic>
      <p:sp>
        <p:nvSpPr>
          <p:cNvPr id="92" name="Text 59"/>
          <p:cNvSpPr/>
          <p:nvPr/>
        </p:nvSpPr>
        <p:spPr>
          <a:xfrm>
            <a:off x="6263325" y="6375400"/>
            <a:ext cx="238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fr-FR" sz="12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 Nm · 120 Nm · 200 Nm</a:t>
            </a:r>
            <a:endParaRPr lang="fr-FR" sz="1600" dirty="0"/>
          </a:p>
        </p:txBody>
      </p:sp>
      <p:sp>
        <p:nvSpPr>
          <p:cNvPr id="93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dirty="0" smtClean="0">
                <a:solidFill>
                  <a:srgbClr val="E89F5B"/>
                </a:solidFill>
              </a:rPr>
              <a:t>14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b="1" kern="0" spc="14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06. BILAN</a:t>
            </a:r>
            <a:endParaRPr lang="fr-FR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fr-FR" sz="36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Bilan &amp; Compétences Développées</a:t>
            </a:r>
            <a:endParaRPr lang="fr-FR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581150"/>
            <a:ext cx="7480300" cy="3822700"/>
          </a:xfrm>
          <a:custGeom>
            <a:avLst/>
            <a:gdLst/>
            <a:ahLst/>
            <a:cxnLst/>
            <a:rect l="l" t="t" r="r" b="b"/>
            <a:pathLst>
              <a:path w="7480300" h="3822700">
                <a:moveTo>
                  <a:pt x="101607" y="0"/>
                </a:moveTo>
                <a:lnTo>
                  <a:pt x="7378693" y="0"/>
                </a:lnTo>
                <a:cubicBezTo>
                  <a:pt x="7434809" y="0"/>
                  <a:pt x="7480300" y="45491"/>
                  <a:pt x="7480300" y="101607"/>
                </a:cubicBezTo>
                <a:lnTo>
                  <a:pt x="7480300" y="3721093"/>
                </a:lnTo>
                <a:cubicBezTo>
                  <a:pt x="7480300" y="3777209"/>
                  <a:pt x="7434809" y="3822700"/>
                  <a:pt x="7378693" y="3822700"/>
                </a:cubicBezTo>
                <a:lnTo>
                  <a:pt x="101607" y="3822700"/>
                </a:lnTo>
                <a:cubicBezTo>
                  <a:pt x="45491" y="3822700"/>
                  <a:pt x="0" y="3777209"/>
                  <a:pt x="0" y="3721093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3900" y="1790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6" name="Shape 4"/>
          <p:cNvSpPr/>
          <p:nvPr/>
        </p:nvSpPr>
        <p:spPr>
          <a:xfrm>
            <a:off x="869950" y="19685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1917700"/>
            <a:ext cx="318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Compétences Techniques</a:t>
            </a:r>
            <a:endParaRPr lang="fr-FR" sz="1600" dirty="0"/>
          </a:p>
        </p:txBody>
      </p:sp>
      <p:sp>
        <p:nvSpPr>
          <p:cNvPr id="8" name="Shape 6"/>
          <p:cNvSpPr/>
          <p:nvPr/>
        </p:nvSpPr>
        <p:spPr>
          <a:xfrm>
            <a:off x="723900" y="2552700"/>
            <a:ext cx="7061200" cy="812800"/>
          </a:xfrm>
          <a:custGeom>
            <a:avLst/>
            <a:gdLst/>
            <a:ahLst/>
            <a:cxnLst/>
            <a:rect l="l" t="t" r="r" b="b"/>
            <a:pathLst>
              <a:path w="7061200" h="812800">
                <a:moveTo>
                  <a:pt x="50800" y="0"/>
                </a:moveTo>
                <a:lnTo>
                  <a:pt x="7010400" y="0"/>
                </a:lnTo>
                <a:cubicBezTo>
                  <a:pt x="7038437" y="0"/>
                  <a:pt x="7061200" y="22763"/>
                  <a:pt x="7061200" y="50800"/>
                </a:cubicBezTo>
                <a:lnTo>
                  <a:pt x="7061200" y="762000"/>
                </a:lnTo>
                <a:cubicBezTo>
                  <a:pt x="7061200" y="790037"/>
                  <a:pt x="7038437" y="812800"/>
                  <a:pt x="70104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Shape 7"/>
          <p:cNvSpPr/>
          <p:nvPr/>
        </p:nvSpPr>
        <p:spPr>
          <a:xfrm>
            <a:off x="850900" y="2705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69850" y="9525"/>
                </a:moveTo>
                <a:cubicBezTo>
                  <a:pt x="69850" y="4247"/>
                  <a:pt x="65603" y="0"/>
                  <a:pt x="60325" y="0"/>
                </a:cubicBezTo>
                <a:cubicBezTo>
                  <a:pt x="55047" y="0"/>
                  <a:pt x="50800" y="4247"/>
                  <a:pt x="50800" y="9525"/>
                </a:cubicBezTo>
                <a:lnTo>
                  <a:pt x="50800" y="25400"/>
                </a:lnTo>
                <a:cubicBezTo>
                  <a:pt x="36790" y="25400"/>
                  <a:pt x="25400" y="36790"/>
                  <a:pt x="25400" y="50800"/>
                </a:cubicBezTo>
                <a:lnTo>
                  <a:pt x="9525" y="50800"/>
                </a:lnTo>
                <a:cubicBezTo>
                  <a:pt x="4247" y="50800"/>
                  <a:pt x="0" y="55047"/>
                  <a:pt x="0" y="60325"/>
                </a:cubicBezTo>
                <a:cubicBezTo>
                  <a:pt x="0" y="65603"/>
                  <a:pt x="4247" y="69850"/>
                  <a:pt x="9525" y="69850"/>
                </a:cubicBezTo>
                <a:lnTo>
                  <a:pt x="25400" y="69850"/>
                </a:lnTo>
                <a:lnTo>
                  <a:pt x="25400" y="92075"/>
                </a:lnTo>
                <a:lnTo>
                  <a:pt x="9525" y="92075"/>
                </a:lnTo>
                <a:cubicBezTo>
                  <a:pt x="4247" y="92075"/>
                  <a:pt x="0" y="96322"/>
                  <a:pt x="0" y="101600"/>
                </a:cubicBezTo>
                <a:cubicBezTo>
                  <a:pt x="0" y="106878"/>
                  <a:pt x="4247" y="111125"/>
                  <a:pt x="9525" y="111125"/>
                </a:cubicBezTo>
                <a:lnTo>
                  <a:pt x="25400" y="111125"/>
                </a:lnTo>
                <a:lnTo>
                  <a:pt x="25400" y="133350"/>
                </a:lnTo>
                <a:lnTo>
                  <a:pt x="9525" y="133350"/>
                </a:lnTo>
                <a:cubicBezTo>
                  <a:pt x="4247" y="133350"/>
                  <a:pt x="0" y="137597"/>
                  <a:pt x="0" y="142875"/>
                </a:cubicBezTo>
                <a:cubicBezTo>
                  <a:pt x="0" y="148153"/>
                  <a:pt x="4247" y="152400"/>
                  <a:pt x="9525" y="152400"/>
                </a:cubicBezTo>
                <a:lnTo>
                  <a:pt x="25400" y="152400"/>
                </a:lnTo>
                <a:cubicBezTo>
                  <a:pt x="25400" y="166410"/>
                  <a:pt x="36790" y="177800"/>
                  <a:pt x="50800" y="177800"/>
                </a:cubicBezTo>
                <a:lnTo>
                  <a:pt x="50800" y="193675"/>
                </a:lnTo>
                <a:cubicBezTo>
                  <a:pt x="50800" y="198953"/>
                  <a:pt x="55047" y="203200"/>
                  <a:pt x="60325" y="203200"/>
                </a:cubicBezTo>
                <a:cubicBezTo>
                  <a:pt x="65603" y="203200"/>
                  <a:pt x="69850" y="198953"/>
                  <a:pt x="69850" y="193675"/>
                </a:cubicBezTo>
                <a:lnTo>
                  <a:pt x="69850" y="177800"/>
                </a:lnTo>
                <a:lnTo>
                  <a:pt x="92075" y="177800"/>
                </a:lnTo>
                <a:lnTo>
                  <a:pt x="92075" y="193675"/>
                </a:lnTo>
                <a:cubicBezTo>
                  <a:pt x="92075" y="198953"/>
                  <a:pt x="96322" y="203200"/>
                  <a:pt x="101600" y="203200"/>
                </a:cubicBezTo>
                <a:cubicBezTo>
                  <a:pt x="106878" y="203200"/>
                  <a:pt x="111125" y="198953"/>
                  <a:pt x="111125" y="193675"/>
                </a:cubicBezTo>
                <a:lnTo>
                  <a:pt x="111125" y="177800"/>
                </a:lnTo>
                <a:lnTo>
                  <a:pt x="133350" y="177800"/>
                </a:lnTo>
                <a:lnTo>
                  <a:pt x="133350" y="193675"/>
                </a:lnTo>
                <a:cubicBezTo>
                  <a:pt x="133350" y="198953"/>
                  <a:pt x="137597" y="203200"/>
                  <a:pt x="142875" y="203200"/>
                </a:cubicBezTo>
                <a:cubicBezTo>
                  <a:pt x="148153" y="203200"/>
                  <a:pt x="152400" y="198953"/>
                  <a:pt x="152400" y="193675"/>
                </a:cubicBezTo>
                <a:lnTo>
                  <a:pt x="152400" y="177800"/>
                </a:lnTo>
                <a:cubicBezTo>
                  <a:pt x="166410" y="177800"/>
                  <a:pt x="177800" y="166410"/>
                  <a:pt x="177800" y="152400"/>
                </a:cubicBezTo>
                <a:lnTo>
                  <a:pt x="193675" y="152400"/>
                </a:lnTo>
                <a:cubicBezTo>
                  <a:pt x="198953" y="152400"/>
                  <a:pt x="203200" y="148153"/>
                  <a:pt x="203200" y="142875"/>
                </a:cubicBezTo>
                <a:cubicBezTo>
                  <a:pt x="203200" y="137597"/>
                  <a:pt x="198953" y="133350"/>
                  <a:pt x="193675" y="133350"/>
                </a:cubicBezTo>
                <a:lnTo>
                  <a:pt x="177800" y="133350"/>
                </a:lnTo>
                <a:lnTo>
                  <a:pt x="177800" y="111125"/>
                </a:lnTo>
                <a:lnTo>
                  <a:pt x="193675" y="111125"/>
                </a:lnTo>
                <a:cubicBezTo>
                  <a:pt x="198953" y="111125"/>
                  <a:pt x="203200" y="106878"/>
                  <a:pt x="203200" y="101600"/>
                </a:cubicBezTo>
                <a:cubicBezTo>
                  <a:pt x="203200" y="96322"/>
                  <a:pt x="198953" y="92075"/>
                  <a:pt x="193675" y="92075"/>
                </a:cubicBezTo>
                <a:lnTo>
                  <a:pt x="177800" y="92075"/>
                </a:lnTo>
                <a:lnTo>
                  <a:pt x="177800" y="69850"/>
                </a:lnTo>
                <a:lnTo>
                  <a:pt x="193675" y="69850"/>
                </a:lnTo>
                <a:cubicBezTo>
                  <a:pt x="198953" y="69850"/>
                  <a:pt x="203200" y="65603"/>
                  <a:pt x="203200" y="60325"/>
                </a:cubicBezTo>
                <a:cubicBezTo>
                  <a:pt x="203200" y="55047"/>
                  <a:pt x="198953" y="50800"/>
                  <a:pt x="193675" y="50800"/>
                </a:cubicBezTo>
                <a:lnTo>
                  <a:pt x="177800" y="50800"/>
                </a:lnTo>
                <a:cubicBezTo>
                  <a:pt x="177800" y="36790"/>
                  <a:pt x="166410" y="25400"/>
                  <a:pt x="152400" y="25400"/>
                </a:cubicBezTo>
                <a:lnTo>
                  <a:pt x="152400" y="9525"/>
                </a:lnTo>
                <a:cubicBezTo>
                  <a:pt x="152400" y="4247"/>
                  <a:pt x="148153" y="0"/>
                  <a:pt x="142875" y="0"/>
                </a:cubicBezTo>
                <a:cubicBezTo>
                  <a:pt x="137597" y="0"/>
                  <a:pt x="133350" y="4247"/>
                  <a:pt x="133350" y="9525"/>
                </a:cubicBezTo>
                <a:lnTo>
                  <a:pt x="133350" y="25400"/>
                </a:lnTo>
                <a:lnTo>
                  <a:pt x="111125" y="25400"/>
                </a:lnTo>
                <a:lnTo>
                  <a:pt x="111125" y="9525"/>
                </a:lnTo>
                <a:cubicBezTo>
                  <a:pt x="111125" y="4247"/>
                  <a:pt x="106878" y="0"/>
                  <a:pt x="101600" y="0"/>
                </a:cubicBezTo>
                <a:cubicBezTo>
                  <a:pt x="96322" y="0"/>
                  <a:pt x="92075" y="4247"/>
                  <a:pt x="92075" y="9525"/>
                </a:cubicBezTo>
                <a:lnTo>
                  <a:pt x="92075" y="25400"/>
                </a:lnTo>
                <a:lnTo>
                  <a:pt x="69850" y="25400"/>
                </a:lnTo>
                <a:lnTo>
                  <a:pt x="69850" y="9525"/>
                </a:lnTo>
                <a:close/>
                <a:moveTo>
                  <a:pt x="63500" y="50800"/>
                </a:moveTo>
                <a:lnTo>
                  <a:pt x="139700" y="50800"/>
                </a:lnTo>
                <a:cubicBezTo>
                  <a:pt x="146725" y="50800"/>
                  <a:pt x="152400" y="56475"/>
                  <a:pt x="152400" y="63500"/>
                </a:cubicBezTo>
                <a:lnTo>
                  <a:pt x="152400" y="139700"/>
                </a:lnTo>
                <a:cubicBezTo>
                  <a:pt x="152400" y="146725"/>
                  <a:pt x="146725" y="152400"/>
                  <a:pt x="139700" y="152400"/>
                </a:cubicBezTo>
                <a:lnTo>
                  <a:pt x="63500" y="152400"/>
                </a:lnTo>
                <a:cubicBezTo>
                  <a:pt x="56475" y="152400"/>
                  <a:pt x="50800" y="146725"/>
                  <a:pt x="50800" y="139700"/>
                </a:cubicBezTo>
                <a:lnTo>
                  <a:pt x="50800" y="63500"/>
                </a:lnTo>
                <a:cubicBezTo>
                  <a:pt x="50800" y="56475"/>
                  <a:pt x="56475" y="50800"/>
                  <a:pt x="63500" y="50800"/>
                </a:cubicBezTo>
                <a:close/>
                <a:moveTo>
                  <a:pt x="69850" y="69850"/>
                </a:moveTo>
                <a:lnTo>
                  <a:pt x="69850" y="133350"/>
                </a:lnTo>
                <a:lnTo>
                  <a:pt x="133350" y="133350"/>
                </a:lnTo>
                <a:lnTo>
                  <a:pt x="133350" y="69850"/>
                </a:lnTo>
                <a:lnTo>
                  <a:pt x="69850" y="6985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2654300"/>
            <a:ext cx="660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Automatisme</a:t>
            </a:r>
            <a:endParaRPr lang="fr-FR" sz="1600" dirty="0"/>
          </a:p>
        </p:txBody>
      </p:sp>
      <p:sp>
        <p:nvSpPr>
          <p:cNvPr id="11" name="Text 9"/>
          <p:cNvSpPr/>
          <p:nvPr/>
        </p:nvSpPr>
        <p:spPr>
          <a:xfrm>
            <a:off x="825500" y="30099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 industriel, sécurités, système automatisé</a:t>
            </a:r>
            <a:endParaRPr lang="fr-FR" sz="1600" dirty="0"/>
          </a:p>
        </p:txBody>
      </p:sp>
      <p:sp>
        <p:nvSpPr>
          <p:cNvPr id="12" name="Shape 10"/>
          <p:cNvSpPr/>
          <p:nvPr/>
        </p:nvSpPr>
        <p:spPr>
          <a:xfrm>
            <a:off x="723900" y="3467100"/>
            <a:ext cx="7061200" cy="812800"/>
          </a:xfrm>
          <a:custGeom>
            <a:avLst/>
            <a:gdLst/>
            <a:ahLst/>
            <a:cxnLst/>
            <a:rect l="l" t="t" r="r" b="b"/>
            <a:pathLst>
              <a:path w="7061200" h="812800">
                <a:moveTo>
                  <a:pt x="50800" y="0"/>
                </a:moveTo>
                <a:lnTo>
                  <a:pt x="7010400" y="0"/>
                </a:lnTo>
                <a:cubicBezTo>
                  <a:pt x="7038437" y="0"/>
                  <a:pt x="7061200" y="22763"/>
                  <a:pt x="7061200" y="50800"/>
                </a:cubicBezTo>
                <a:lnTo>
                  <a:pt x="7061200" y="762000"/>
                </a:lnTo>
                <a:cubicBezTo>
                  <a:pt x="7061200" y="790037"/>
                  <a:pt x="7038437" y="812800"/>
                  <a:pt x="70104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3" name="Shape 11"/>
          <p:cNvSpPr/>
          <p:nvPr/>
        </p:nvSpPr>
        <p:spPr>
          <a:xfrm>
            <a:off x="838200" y="36195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82987" y="204867"/>
                </a:moveTo>
                <a:cubicBezTo>
                  <a:pt x="75565" y="212288"/>
                  <a:pt x="63500" y="212288"/>
                  <a:pt x="56039" y="204867"/>
                </a:cubicBezTo>
                <a:lnTo>
                  <a:pt x="11152" y="159980"/>
                </a:lnTo>
                <a:cubicBezTo>
                  <a:pt x="3731" y="152559"/>
                  <a:pt x="3731" y="140494"/>
                  <a:pt x="11152" y="133033"/>
                </a:cubicBezTo>
                <a:lnTo>
                  <a:pt x="17899" y="126286"/>
                </a:lnTo>
                <a:lnTo>
                  <a:pt x="47069" y="155456"/>
                </a:lnTo>
                <a:cubicBezTo>
                  <a:pt x="50800" y="159187"/>
                  <a:pt x="56832" y="159187"/>
                  <a:pt x="60523" y="155456"/>
                </a:cubicBezTo>
                <a:cubicBezTo>
                  <a:pt x="64214" y="151725"/>
                  <a:pt x="64254" y="145693"/>
                  <a:pt x="60523" y="142002"/>
                </a:cubicBezTo>
                <a:lnTo>
                  <a:pt x="31353" y="112832"/>
                </a:lnTo>
                <a:lnTo>
                  <a:pt x="44807" y="99378"/>
                </a:lnTo>
                <a:lnTo>
                  <a:pt x="65008" y="119578"/>
                </a:lnTo>
                <a:cubicBezTo>
                  <a:pt x="68739" y="123309"/>
                  <a:pt x="74771" y="123309"/>
                  <a:pt x="78462" y="119578"/>
                </a:cubicBezTo>
                <a:cubicBezTo>
                  <a:pt x="82153" y="115848"/>
                  <a:pt x="82193" y="109815"/>
                  <a:pt x="78462" y="106124"/>
                </a:cubicBezTo>
                <a:lnTo>
                  <a:pt x="58261" y="85923"/>
                </a:lnTo>
                <a:lnTo>
                  <a:pt x="71715" y="72469"/>
                </a:lnTo>
                <a:lnTo>
                  <a:pt x="100886" y="101640"/>
                </a:lnTo>
                <a:cubicBezTo>
                  <a:pt x="104616" y="105370"/>
                  <a:pt x="110649" y="105370"/>
                  <a:pt x="114340" y="101640"/>
                </a:cubicBezTo>
                <a:cubicBezTo>
                  <a:pt x="118031" y="97909"/>
                  <a:pt x="118070" y="91877"/>
                  <a:pt x="114340" y="88186"/>
                </a:cubicBezTo>
                <a:lnTo>
                  <a:pt x="85169" y="59015"/>
                </a:lnTo>
                <a:lnTo>
                  <a:pt x="98623" y="45561"/>
                </a:lnTo>
                <a:lnTo>
                  <a:pt x="118824" y="65762"/>
                </a:lnTo>
                <a:cubicBezTo>
                  <a:pt x="122555" y="69493"/>
                  <a:pt x="128588" y="69493"/>
                  <a:pt x="132278" y="65762"/>
                </a:cubicBezTo>
                <a:cubicBezTo>
                  <a:pt x="135969" y="62032"/>
                  <a:pt x="136009" y="55999"/>
                  <a:pt x="132278" y="52308"/>
                </a:cubicBezTo>
                <a:lnTo>
                  <a:pt x="112078" y="32107"/>
                </a:lnTo>
                <a:lnTo>
                  <a:pt x="125532" y="18653"/>
                </a:lnTo>
                <a:lnTo>
                  <a:pt x="154702" y="47823"/>
                </a:lnTo>
                <a:cubicBezTo>
                  <a:pt x="158433" y="51554"/>
                  <a:pt x="164465" y="51554"/>
                  <a:pt x="168156" y="47823"/>
                </a:cubicBezTo>
                <a:cubicBezTo>
                  <a:pt x="171847" y="44093"/>
                  <a:pt x="171887" y="38060"/>
                  <a:pt x="168156" y="34369"/>
                </a:cubicBezTo>
                <a:lnTo>
                  <a:pt x="138986" y="5199"/>
                </a:lnTo>
                <a:lnTo>
                  <a:pt x="145733" y="-1548"/>
                </a:lnTo>
                <a:cubicBezTo>
                  <a:pt x="153154" y="-8969"/>
                  <a:pt x="165219" y="-8969"/>
                  <a:pt x="172680" y="-1548"/>
                </a:cubicBezTo>
                <a:lnTo>
                  <a:pt x="217686" y="43220"/>
                </a:lnTo>
                <a:cubicBezTo>
                  <a:pt x="225108" y="50641"/>
                  <a:pt x="225108" y="62706"/>
                  <a:pt x="217686" y="70168"/>
                </a:cubicBezTo>
                <a:lnTo>
                  <a:pt x="82987" y="204867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3568700"/>
            <a:ext cx="660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Métrologie</a:t>
            </a:r>
            <a:endParaRPr lang="fr-FR" sz="1600" dirty="0"/>
          </a:p>
        </p:txBody>
      </p:sp>
      <p:sp>
        <p:nvSpPr>
          <p:cNvPr id="15" name="Text 13"/>
          <p:cNvSpPr/>
          <p:nvPr/>
        </p:nvSpPr>
        <p:spPr>
          <a:xfrm>
            <a:off x="825500" y="39243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Norme ISO 6789-1:2017, précision couple</a:t>
            </a:r>
            <a:endParaRPr lang="fr-FR" sz="1600" dirty="0"/>
          </a:p>
        </p:txBody>
      </p:sp>
      <p:sp>
        <p:nvSpPr>
          <p:cNvPr id="16" name="Shape 14"/>
          <p:cNvSpPr/>
          <p:nvPr/>
        </p:nvSpPr>
        <p:spPr>
          <a:xfrm>
            <a:off x="723900" y="4381500"/>
            <a:ext cx="7061200" cy="812800"/>
          </a:xfrm>
          <a:custGeom>
            <a:avLst/>
            <a:gdLst/>
            <a:ahLst/>
            <a:cxnLst/>
            <a:rect l="l" t="t" r="r" b="b"/>
            <a:pathLst>
              <a:path w="7061200" h="812800">
                <a:moveTo>
                  <a:pt x="50800" y="0"/>
                </a:moveTo>
                <a:lnTo>
                  <a:pt x="7010400" y="0"/>
                </a:lnTo>
                <a:cubicBezTo>
                  <a:pt x="7038437" y="0"/>
                  <a:pt x="7061200" y="22763"/>
                  <a:pt x="7061200" y="50800"/>
                </a:cubicBezTo>
                <a:lnTo>
                  <a:pt x="7061200" y="762000"/>
                </a:lnTo>
                <a:cubicBezTo>
                  <a:pt x="7061200" y="790037"/>
                  <a:pt x="7038437" y="812800"/>
                  <a:pt x="70104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900" y="4533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31750"/>
                </a:moveTo>
                <a:cubicBezTo>
                  <a:pt x="0" y="21233"/>
                  <a:pt x="8533" y="12700"/>
                  <a:pt x="19050" y="12700"/>
                </a:cubicBezTo>
                <a:lnTo>
                  <a:pt x="57150" y="12700"/>
                </a:lnTo>
                <a:cubicBezTo>
                  <a:pt x="67667" y="12700"/>
                  <a:pt x="76200" y="21233"/>
                  <a:pt x="76200" y="31750"/>
                </a:cubicBezTo>
                <a:lnTo>
                  <a:pt x="76200" y="38100"/>
                </a:lnTo>
                <a:lnTo>
                  <a:pt x="127000" y="38100"/>
                </a:lnTo>
                <a:lnTo>
                  <a:pt x="127000" y="31750"/>
                </a:lnTo>
                <a:cubicBezTo>
                  <a:pt x="127000" y="21233"/>
                  <a:pt x="135533" y="12700"/>
                  <a:pt x="146050" y="12700"/>
                </a:cubicBezTo>
                <a:lnTo>
                  <a:pt x="184150" y="12700"/>
                </a:lnTo>
                <a:cubicBezTo>
                  <a:pt x="194667" y="12700"/>
                  <a:pt x="203200" y="21233"/>
                  <a:pt x="203200" y="31750"/>
                </a:cubicBezTo>
                <a:lnTo>
                  <a:pt x="203200" y="69850"/>
                </a:lnTo>
                <a:cubicBezTo>
                  <a:pt x="203200" y="80367"/>
                  <a:pt x="194667" y="88900"/>
                  <a:pt x="184150" y="88900"/>
                </a:cubicBezTo>
                <a:lnTo>
                  <a:pt x="146050" y="88900"/>
                </a:lnTo>
                <a:cubicBezTo>
                  <a:pt x="135533" y="88900"/>
                  <a:pt x="127000" y="80367"/>
                  <a:pt x="127000" y="69850"/>
                </a:cubicBezTo>
                <a:lnTo>
                  <a:pt x="127000" y="63500"/>
                </a:lnTo>
                <a:lnTo>
                  <a:pt x="76200" y="63500"/>
                </a:lnTo>
                <a:lnTo>
                  <a:pt x="76200" y="69850"/>
                </a:lnTo>
                <a:cubicBezTo>
                  <a:pt x="76200" y="72747"/>
                  <a:pt x="75525" y="75525"/>
                  <a:pt x="74374" y="77986"/>
                </a:cubicBezTo>
                <a:lnTo>
                  <a:pt x="101600" y="114300"/>
                </a:lnTo>
                <a:lnTo>
                  <a:pt x="133350" y="114300"/>
                </a:lnTo>
                <a:cubicBezTo>
                  <a:pt x="143867" y="114300"/>
                  <a:pt x="152400" y="122833"/>
                  <a:pt x="152400" y="133350"/>
                </a:cubicBezTo>
                <a:lnTo>
                  <a:pt x="152400" y="171450"/>
                </a:lnTo>
                <a:cubicBezTo>
                  <a:pt x="152400" y="181967"/>
                  <a:pt x="143867" y="190500"/>
                  <a:pt x="133350" y="190500"/>
                </a:cubicBezTo>
                <a:lnTo>
                  <a:pt x="95250" y="190500"/>
                </a:lnTo>
                <a:cubicBezTo>
                  <a:pt x="84733" y="190500"/>
                  <a:pt x="76200" y="181967"/>
                  <a:pt x="76200" y="171450"/>
                </a:cubicBezTo>
                <a:lnTo>
                  <a:pt x="76200" y="133350"/>
                </a:lnTo>
                <a:cubicBezTo>
                  <a:pt x="76200" y="130453"/>
                  <a:pt x="76875" y="127675"/>
                  <a:pt x="78026" y="125214"/>
                </a:cubicBezTo>
                <a:lnTo>
                  <a:pt x="50800" y="88900"/>
                </a:lnTo>
                <a:lnTo>
                  <a:pt x="19050" y="88900"/>
                </a:lnTo>
                <a:cubicBezTo>
                  <a:pt x="8533" y="88900"/>
                  <a:pt x="0" y="80367"/>
                  <a:pt x="0" y="69850"/>
                </a:cubicBezTo>
                <a:lnTo>
                  <a:pt x="0" y="31750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" y="4483100"/>
            <a:ext cx="660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Fonctionnelle</a:t>
            </a:r>
            <a:endParaRPr lang="fr-FR" sz="1600" dirty="0"/>
          </a:p>
        </p:txBody>
      </p:sp>
      <p:sp>
        <p:nvSpPr>
          <p:cNvPr id="19" name="Text 17"/>
          <p:cNvSpPr/>
          <p:nvPr/>
        </p:nvSpPr>
        <p:spPr>
          <a:xfrm>
            <a:off x="825500" y="48387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Structuration besoin → fonctions techniques</a:t>
            </a:r>
            <a:endParaRPr lang="fr-FR" sz="1600" dirty="0"/>
          </a:p>
        </p:txBody>
      </p:sp>
      <p:sp>
        <p:nvSpPr>
          <p:cNvPr id="20" name="Shape 18"/>
          <p:cNvSpPr/>
          <p:nvPr/>
        </p:nvSpPr>
        <p:spPr>
          <a:xfrm>
            <a:off x="514350" y="5568950"/>
            <a:ext cx="7480300" cy="2197100"/>
          </a:xfrm>
          <a:custGeom>
            <a:avLst/>
            <a:gdLst/>
            <a:ahLst/>
            <a:cxnLst/>
            <a:rect l="l" t="t" r="r" b="b"/>
            <a:pathLst>
              <a:path w="7480300" h="2197100">
                <a:moveTo>
                  <a:pt x="101594" y="0"/>
                </a:moveTo>
                <a:lnTo>
                  <a:pt x="7378706" y="0"/>
                </a:lnTo>
                <a:cubicBezTo>
                  <a:pt x="7434815" y="0"/>
                  <a:pt x="7480300" y="45485"/>
                  <a:pt x="7480300" y="101594"/>
                </a:cubicBezTo>
                <a:lnTo>
                  <a:pt x="7480300" y="2095506"/>
                </a:lnTo>
                <a:cubicBezTo>
                  <a:pt x="7480300" y="2151615"/>
                  <a:pt x="7434815" y="2197100"/>
                  <a:pt x="7378706" y="2197100"/>
                </a:cubicBezTo>
                <a:lnTo>
                  <a:pt x="101594" y="2197100"/>
                </a:lnTo>
                <a:cubicBezTo>
                  <a:pt x="45485" y="2197100"/>
                  <a:pt x="0" y="2151615"/>
                  <a:pt x="0" y="20955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gradFill flip="none" rotWithShape="1">
            <a:gsLst>
              <a:gs pos="0">
                <a:srgbClr val="E89F5B">
                  <a:alpha val="20000"/>
                </a:srgbClr>
              </a:gs>
              <a:gs pos="100000">
                <a:srgbClr val="E89F5B">
                  <a:alpha val="5000"/>
                </a:srgbClr>
              </a:gs>
            </a:gsLst>
            <a:lin ang="2700000" scaled="1"/>
          </a:gradFill>
          <a:ln w="12700">
            <a:solidFill>
              <a:srgbClr val="E89F5B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3900" y="5778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2" name="Shape 20"/>
          <p:cNvSpPr/>
          <p:nvPr/>
        </p:nvSpPr>
        <p:spPr>
          <a:xfrm>
            <a:off x="869950" y="59563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23" name="Text 21"/>
          <p:cNvSpPr/>
          <p:nvPr/>
        </p:nvSpPr>
        <p:spPr>
          <a:xfrm>
            <a:off x="1485900" y="5905500"/>
            <a:ext cx="345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Compétences Transversales</a:t>
            </a:r>
            <a:endParaRPr lang="fr-FR" sz="1600" dirty="0"/>
          </a:p>
        </p:txBody>
      </p:sp>
      <p:sp>
        <p:nvSpPr>
          <p:cNvPr id="24" name="Shape 22"/>
          <p:cNvSpPr/>
          <p:nvPr/>
        </p:nvSpPr>
        <p:spPr>
          <a:xfrm>
            <a:off x="723900" y="6540500"/>
            <a:ext cx="3479800" cy="457200"/>
          </a:xfrm>
          <a:custGeom>
            <a:avLst/>
            <a:gdLst/>
            <a:ahLst/>
            <a:cxnLst/>
            <a:rect l="l" t="t" r="r" b="b"/>
            <a:pathLst>
              <a:path w="3479800" h="457200">
                <a:moveTo>
                  <a:pt x="50799" y="0"/>
                </a:moveTo>
                <a:lnTo>
                  <a:pt x="3429001" y="0"/>
                </a:lnTo>
                <a:cubicBezTo>
                  <a:pt x="3457056" y="0"/>
                  <a:pt x="3479800" y="22744"/>
                  <a:pt x="3479800" y="50799"/>
                </a:cubicBezTo>
                <a:lnTo>
                  <a:pt x="3479800" y="406401"/>
                </a:lnTo>
                <a:cubicBezTo>
                  <a:pt x="3479800" y="434456"/>
                  <a:pt x="3457056" y="457200"/>
                  <a:pt x="3429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Shape 23"/>
          <p:cNvSpPr/>
          <p:nvPr/>
        </p:nvSpPr>
        <p:spPr>
          <a:xfrm>
            <a:off x="825500" y="66675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53975" y="50800"/>
                </a:moveTo>
                <a:cubicBezTo>
                  <a:pt x="53975" y="24515"/>
                  <a:pt x="75315" y="3175"/>
                  <a:pt x="101600" y="3175"/>
                </a:cubicBezTo>
                <a:cubicBezTo>
                  <a:pt x="127885" y="3175"/>
                  <a:pt x="149225" y="24515"/>
                  <a:pt x="149225" y="50800"/>
                </a:cubicBezTo>
                <a:cubicBezTo>
                  <a:pt x="149225" y="77085"/>
                  <a:pt x="127885" y="98425"/>
                  <a:pt x="101600" y="98425"/>
                </a:cubicBezTo>
                <a:cubicBezTo>
                  <a:pt x="75315" y="98425"/>
                  <a:pt x="53975" y="77085"/>
                  <a:pt x="53975" y="50800"/>
                </a:cubicBezTo>
                <a:close/>
                <a:moveTo>
                  <a:pt x="19050" y="191413"/>
                </a:moveTo>
                <a:cubicBezTo>
                  <a:pt x="19050" y="152321"/>
                  <a:pt x="50721" y="120650"/>
                  <a:pt x="89813" y="120650"/>
                </a:cubicBezTo>
                <a:lnTo>
                  <a:pt x="113387" y="120650"/>
                </a:lnTo>
                <a:cubicBezTo>
                  <a:pt x="152479" y="120650"/>
                  <a:pt x="184150" y="152321"/>
                  <a:pt x="184150" y="191413"/>
                </a:cubicBezTo>
                <a:cubicBezTo>
                  <a:pt x="184150" y="197922"/>
                  <a:pt x="178872" y="203200"/>
                  <a:pt x="172363" y="203200"/>
                </a:cubicBezTo>
                <a:lnTo>
                  <a:pt x="30837" y="203200"/>
                </a:lnTo>
                <a:cubicBezTo>
                  <a:pt x="24328" y="203200"/>
                  <a:pt x="19050" y="197922"/>
                  <a:pt x="19050" y="191413"/>
                </a:cubicBezTo>
                <a:close/>
                <a:moveTo>
                  <a:pt x="243046" y="52665"/>
                </a:moveTo>
                <a:lnTo>
                  <a:pt x="211296" y="103465"/>
                </a:lnTo>
                <a:cubicBezTo>
                  <a:pt x="209629" y="106124"/>
                  <a:pt x="206772" y="107791"/>
                  <a:pt x="203637" y="107950"/>
                </a:cubicBezTo>
                <a:cubicBezTo>
                  <a:pt x="200501" y="108109"/>
                  <a:pt x="197485" y="106680"/>
                  <a:pt x="195620" y="104140"/>
                </a:cubicBezTo>
                <a:lnTo>
                  <a:pt x="176570" y="78740"/>
                </a:lnTo>
                <a:cubicBezTo>
                  <a:pt x="173395" y="74533"/>
                  <a:pt x="174268" y="68580"/>
                  <a:pt x="178475" y="65405"/>
                </a:cubicBezTo>
                <a:cubicBezTo>
                  <a:pt x="182682" y="62230"/>
                  <a:pt x="188635" y="63103"/>
                  <a:pt x="191810" y="67310"/>
                </a:cubicBezTo>
                <a:lnTo>
                  <a:pt x="202525" y="81598"/>
                </a:lnTo>
                <a:lnTo>
                  <a:pt x="226893" y="42585"/>
                </a:lnTo>
                <a:cubicBezTo>
                  <a:pt x="229672" y="38140"/>
                  <a:pt x="235545" y="36751"/>
                  <a:pt x="240030" y="39568"/>
                </a:cubicBezTo>
                <a:cubicBezTo>
                  <a:pt x="244515" y="42386"/>
                  <a:pt x="245864" y="48220"/>
                  <a:pt x="243046" y="52705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Text 24"/>
          <p:cNvSpPr/>
          <p:nvPr/>
        </p:nvSpPr>
        <p:spPr>
          <a:xfrm>
            <a:off x="1181100" y="6642100"/>
            <a:ext cx="93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Autonomie</a:t>
            </a:r>
            <a:endParaRPr lang="fr-FR" sz="1600" dirty="0"/>
          </a:p>
        </p:txBody>
      </p:sp>
      <p:sp>
        <p:nvSpPr>
          <p:cNvPr id="27" name="Shape 25"/>
          <p:cNvSpPr/>
          <p:nvPr/>
        </p:nvSpPr>
        <p:spPr>
          <a:xfrm>
            <a:off x="4305300" y="6540500"/>
            <a:ext cx="3479800" cy="457200"/>
          </a:xfrm>
          <a:custGeom>
            <a:avLst/>
            <a:gdLst/>
            <a:ahLst/>
            <a:cxnLst/>
            <a:rect l="l" t="t" r="r" b="b"/>
            <a:pathLst>
              <a:path w="3479800" h="457200">
                <a:moveTo>
                  <a:pt x="50799" y="0"/>
                </a:moveTo>
                <a:lnTo>
                  <a:pt x="3429001" y="0"/>
                </a:lnTo>
                <a:cubicBezTo>
                  <a:pt x="3457056" y="0"/>
                  <a:pt x="3479800" y="22744"/>
                  <a:pt x="3479800" y="50799"/>
                </a:cubicBezTo>
                <a:lnTo>
                  <a:pt x="3479800" y="406401"/>
                </a:lnTo>
                <a:cubicBezTo>
                  <a:pt x="3479800" y="434456"/>
                  <a:pt x="3457056" y="457200"/>
                  <a:pt x="3429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Shape 26"/>
          <p:cNvSpPr/>
          <p:nvPr/>
        </p:nvSpPr>
        <p:spPr>
          <a:xfrm>
            <a:off x="4432300" y="6667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3102" y="14407"/>
                </a:moveTo>
                <a:cubicBezTo>
                  <a:pt x="57428" y="17423"/>
                  <a:pt x="58460" y="23376"/>
                  <a:pt x="55443" y="27662"/>
                </a:cubicBezTo>
                <a:lnTo>
                  <a:pt x="33218" y="59412"/>
                </a:lnTo>
                <a:cubicBezTo>
                  <a:pt x="31591" y="61714"/>
                  <a:pt x="29051" y="63182"/>
                  <a:pt x="26233" y="63421"/>
                </a:cubicBezTo>
                <a:cubicBezTo>
                  <a:pt x="23416" y="63659"/>
                  <a:pt x="20638" y="62706"/>
                  <a:pt x="18653" y="60722"/>
                </a:cubicBezTo>
                <a:lnTo>
                  <a:pt x="2778" y="44847"/>
                </a:lnTo>
                <a:cubicBezTo>
                  <a:pt x="-913" y="41116"/>
                  <a:pt x="-913" y="35084"/>
                  <a:pt x="2778" y="31353"/>
                </a:cubicBezTo>
                <a:cubicBezTo>
                  <a:pt x="6469" y="27622"/>
                  <a:pt x="12541" y="27662"/>
                  <a:pt x="16272" y="31353"/>
                </a:cubicBezTo>
                <a:lnTo>
                  <a:pt x="24130" y="39211"/>
                </a:lnTo>
                <a:lnTo>
                  <a:pt x="39846" y="16748"/>
                </a:lnTo>
                <a:cubicBezTo>
                  <a:pt x="42863" y="12422"/>
                  <a:pt x="48816" y="11390"/>
                  <a:pt x="53102" y="14407"/>
                </a:cubicBezTo>
                <a:close/>
                <a:moveTo>
                  <a:pt x="53102" y="77907"/>
                </a:moveTo>
                <a:cubicBezTo>
                  <a:pt x="57428" y="80923"/>
                  <a:pt x="58460" y="86876"/>
                  <a:pt x="55443" y="91162"/>
                </a:cubicBezTo>
                <a:lnTo>
                  <a:pt x="33218" y="122912"/>
                </a:lnTo>
                <a:cubicBezTo>
                  <a:pt x="31591" y="125214"/>
                  <a:pt x="29051" y="126683"/>
                  <a:pt x="26233" y="126921"/>
                </a:cubicBezTo>
                <a:cubicBezTo>
                  <a:pt x="23416" y="127159"/>
                  <a:pt x="20638" y="126206"/>
                  <a:pt x="18653" y="124222"/>
                </a:cubicBezTo>
                <a:lnTo>
                  <a:pt x="2778" y="108347"/>
                </a:lnTo>
                <a:cubicBezTo>
                  <a:pt x="-953" y="104616"/>
                  <a:pt x="-953" y="98584"/>
                  <a:pt x="2778" y="94893"/>
                </a:cubicBezTo>
                <a:cubicBezTo>
                  <a:pt x="6509" y="91202"/>
                  <a:pt x="12541" y="91162"/>
                  <a:pt x="16232" y="94893"/>
                </a:cubicBezTo>
                <a:lnTo>
                  <a:pt x="24090" y="102751"/>
                </a:lnTo>
                <a:lnTo>
                  <a:pt x="39807" y="80288"/>
                </a:lnTo>
                <a:cubicBezTo>
                  <a:pt x="42823" y="75962"/>
                  <a:pt x="48776" y="74930"/>
                  <a:pt x="53062" y="77946"/>
                </a:cubicBezTo>
                <a:close/>
                <a:moveTo>
                  <a:pt x="88900" y="38100"/>
                </a:moveTo>
                <a:cubicBezTo>
                  <a:pt x="88900" y="31075"/>
                  <a:pt x="94575" y="25400"/>
                  <a:pt x="101600" y="25400"/>
                </a:cubicBezTo>
                <a:lnTo>
                  <a:pt x="190500" y="25400"/>
                </a:lnTo>
                <a:cubicBezTo>
                  <a:pt x="197525" y="25400"/>
                  <a:pt x="203200" y="31075"/>
                  <a:pt x="203200" y="38100"/>
                </a:cubicBezTo>
                <a:cubicBezTo>
                  <a:pt x="203200" y="45125"/>
                  <a:pt x="197525" y="50800"/>
                  <a:pt x="190500" y="50800"/>
                </a:cubicBezTo>
                <a:lnTo>
                  <a:pt x="101600" y="50800"/>
                </a:lnTo>
                <a:cubicBezTo>
                  <a:pt x="94575" y="50800"/>
                  <a:pt x="88900" y="45125"/>
                  <a:pt x="88900" y="38100"/>
                </a:cubicBezTo>
                <a:close/>
                <a:moveTo>
                  <a:pt x="88900" y="101600"/>
                </a:moveTo>
                <a:cubicBezTo>
                  <a:pt x="88900" y="94575"/>
                  <a:pt x="94575" y="88900"/>
                  <a:pt x="101600" y="88900"/>
                </a:cubicBezTo>
                <a:lnTo>
                  <a:pt x="190500" y="88900"/>
                </a:lnTo>
                <a:cubicBezTo>
                  <a:pt x="197525" y="88900"/>
                  <a:pt x="203200" y="94575"/>
                  <a:pt x="203200" y="101600"/>
                </a:cubicBezTo>
                <a:cubicBezTo>
                  <a:pt x="203200" y="108625"/>
                  <a:pt x="197525" y="114300"/>
                  <a:pt x="190500" y="114300"/>
                </a:cubicBezTo>
                <a:lnTo>
                  <a:pt x="101600" y="114300"/>
                </a:lnTo>
                <a:cubicBezTo>
                  <a:pt x="94575" y="114300"/>
                  <a:pt x="88900" y="108625"/>
                  <a:pt x="88900" y="101600"/>
                </a:cubicBezTo>
                <a:close/>
                <a:moveTo>
                  <a:pt x="63500" y="165100"/>
                </a:moveTo>
                <a:cubicBezTo>
                  <a:pt x="63500" y="158075"/>
                  <a:pt x="69175" y="152400"/>
                  <a:pt x="76200" y="152400"/>
                </a:cubicBezTo>
                <a:lnTo>
                  <a:pt x="190500" y="152400"/>
                </a:lnTo>
                <a:cubicBezTo>
                  <a:pt x="197525" y="152400"/>
                  <a:pt x="203200" y="158075"/>
                  <a:pt x="203200" y="165100"/>
                </a:cubicBezTo>
                <a:cubicBezTo>
                  <a:pt x="203200" y="172125"/>
                  <a:pt x="197525" y="177800"/>
                  <a:pt x="190500" y="177800"/>
                </a:cubicBezTo>
                <a:lnTo>
                  <a:pt x="76200" y="177800"/>
                </a:lnTo>
                <a:cubicBezTo>
                  <a:pt x="69175" y="177800"/>
                  <a:pt x="63500" y="172125"/>
                  <a:pt x="63500" y="165100"/>
                </a:cubicBezTo>
                <a:close/>
                <a:moveTo>
                  <a:pt x="25400" y="149225"/>
                </a:moveTo>
                <a:cubicBezTo>
                  <a:pt x="34162" y="149225"/>
                  <a:pt x="41275" y="156338"/>
                  <a:pt x="41275" y="165100"/>
                </a:cubicBezTo>
                <a:cubicBezTo>
                  <a:pt x="41275" y="173862"/>
                  <a:pt x="34162" y="180975"/>
                  <a:pt x="25400" y="180975"/>
                </a:cubicBezTo>
                <a:cubicBezTo>
                  <a:pt x="16638" y="180975"/>
                  <a:pt x="9525" y="173862"/>
                  <a:pt x="9525" y="165100"/>
                </a:cubicBezTo>
                <a:cubicBezTo>
                  <a:pt x="9525" y="156338"/>
                  <a:pt x="16638" y="149225"/>
                  <a:pt x="25400" y="149225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9" name="Text 27"/>
          <p:cNvSpPr/>
          <p:nvPr/>
        </p:nvSpPr>
        <p:spPr>
          <a:xfrm>
            <a:off x="4762500" y="6642100"/>
            <a:ext cx="69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Rigueur</a:t>
            </a:r>
            <a:endParaRPr lang="fr-FR" sz="1600" dirty="0"/>
          </a:p>
        </p:txBody>
      </p:sp>
      <p:sp>
        <p:nvSpPr>
          <p:cNvPr id="30" name="Shape 28"/>
          <p:cNvSpPr/>
          <p:nvPr/>
        </p:nvSpPr>
        <p:spPr>
          <a:xfrm>
            <a:off x="723900" y="7099300"/>
            <a:ext cx="3479800" cy="457200"/>
          </a:xfrm>
          <a:custGeom>
            <a:avLst/>
            <a:gdLst/>
            <a:ahLst/>
            <a:cxnLst/>
            <a:rect l="l" t="t" r="r" b="b"/>
            <a:pathLst>
              <a:path w="3479800" h="457200">
                <a:moveTo>
                  <a:pt x="50799" y="0"/>
                </a:moveTo>
                <a:lnTo>
                  <a:pt x="3429001" y="0"/>
                </a:lnTo>
                <a:cubicBezTo>
                  <a:pt x="3457056" y="0"/>
                  <a:pt x="3479800" y="22744"/>
                  <a:pt x="3479800" y="50799"/>
                </a:cubicBezTo>
                <a:lnTo>
                  <a:pt x="3479800" y="406401"/>
                </a:lnTo>
                <a:cubicBezTo>
                  <a:pt x="3479800" y="434456"/>
                  <a:pt x="3457056" y="457200"/>
                  <a:pt x="3429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Shape 29"/>
          <p:cNvSpPr/>
          <p:nvPr/>
        </p:nvSpPr>
        <p:spPr>
          <a:xfrm>
            <a:off x="838200" y="72263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52400" y="57150"/>
                </a:moveTo>
                <a:cubicBezTo>
                  <a:pt x="152400" y="95726"/>
                  <a:pt x="118269" y="127000"/>
                  <a:pt x="76200" y="127000"/>
                </a:cubicBezTo>
                <a:cubicBezTo>
                  <a:pt x="65603" y="127000"/>
                  <a:pt x="55523" y="125016"/>
                  <a:pt x="46355" y="121444"/>
                </a:cubicBezTo>
                <a:lnTo>
                  <a:pt x="13970" y="138589"/>
                </a:lnTo>
                <a:cubicBezTo>
                  <a:pt x="10279" y="140533"/>
                  <a:pt x="5755" y="139859"/>
                  <a:pt x="2778" y="136922"/>
                </a:cubicBezTo>
                <a:cubicBezTo>
                  <a:pt x="-198" y="133985"/>
                  <a:pt x="-873" y="129421"/>
                  <a:pt x="1111" y="125730"/>
                </a:cubicBezTo>
                <a:lnTo>
                  <a:pt x="15240" y="99060"/>
                </a:lnTo>
                <a:cubicBezTo>
                  <a:pt x="5675" y="87392"/>
                  <a:pt x="0" y="72866"/>
                  <a:pt x="0" y="57150"/>
                </a:cubicBezTo>
                <a:cubicBezTo>
                  <a:pt x="0" y="18574"/>
                  <a:pt x="34131" y="-12700"/>
                  <a:pt x="76200" y="-12700"/>
                </a:cubicBezTo>
                <a:cubicBezTo>
                  <a:pt x="118269" y="-12700"/>
                  <a:pt x="152400" y="18574"/>
                  <a:pt x="152400" y="57150"/>
                </a:cubicBezTo>
                <a:close/>
                <a:moveTo>
                  <a:pt x="152400" y="203200"/>
                </a:moveTo>
                <a:cubicBezTo>
                  <a:pt x="115054" y="203200"/>
                  <a:pt x="83979" y="178554"/>
                  <a:pt x="77470" y="146050"/>
                </a:cubicBezTo>
                <a:cubicBezTo>
                  <a:pt x="125095" y="145455"/>
                  <a:pt x="166489" y="111562"/>
                  <a:pt x="171053" y="65603"/>
                </a:cubicBezTo>
                <a:cubicBezTo>
                  <a:pt x="204113" y="73223"/>
                  <a:pt x="228600" y="100648"/>
                  <a:pt x="228600" y="133350"/>
                </a:cubicBezTo>
                <a:cubicBezTo>
                  <a:pt x="228600" y="149066"/>
                  <a:pt x="222925" y="163592"/>
                  <a:pt x="213360" y="175260"/>
                </a:cubicBezTo>
                <a:lnTo>
                  <a:pt x="227489" y="201930"/>
                </a:lnTo>
                <a:cubicBezTo>
                  <a:pt x="229433" y="205621"/>
                  <a:pt x="228759" y="210145"/>
                  <a:pt x="225822" y="213122"/>
                </a:cubicBezTo>
                <a:cubicBezTo>
                  <a:pt x="222885" y="216098"/>
                  <a:pt x="218321" y="216773"/>
                  <a:pt x="214630" y="214789"/>
                </a:cubicBezTo>
                <a:lnTo>
                  <a:pt x="182245" y="197644"/>
                </a:lnTo>
                <a:cubicBezTo>
                  <a:pt x="173077" y="201216"/>
                  <a:pt x="162997" y="203200"/>
                  <a:pt x="152400" y="20320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Text 30"/>
          <p:cNvSpPr/>
          <p:nvPr/>
        </p:nvSpPr>
        <p:spPr>
          <a:xfrm>
            <a:off x="1181100" y="7200900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fr-FR" sz="1600" dirty="0"/>
          </a:p>
        </p:txBody>
      </p:sp>
      <p:sp>
        <p:nvSpPr>
          <p:cNvPr id="33" name="Shape 31"/>
          <p:cNvSpPr/>
          <p:nvPr/>
        </p:nvSpPr>
        <p:spPr>
          <a:xfrm>
            <a:off x="4305300" y="7099300"/>
            <a:ext cx="3479800" cy="457200"/>
          </a:xfrm>
          <a:custGeom>
            <a:avLst/>
            <a:gdLst/>
            <a:ahLst/>
            <a:cxnLst/>
            <a:rect l="l" t="t" r="r" b="b"/>
            <a:pathLst>
              <a:path w="3479800" h="457200">
                <a:moveTo>
                  <a:pt x="50799" y="0"/>
                </a:moveTo>
                <a:lnTo>
                  <a:pt x="3429001" y="0"/>
                </a:lnTo>
                <a:cubicBezTo>
                  <a:pt x="3457056" y="0"/>
                  <a:pt x="3479800" y="22744"/>
                  <a:pt x="3479800" y="50799"/>
                </a:cubicBezTo>
                <a:lnTo>
                  <a:pt x="3479800" y="406401"/>
                </a:lnTo>
                <a:cubicBezTo>
                  <a:pt x="3479800" y="434456"/>
                  <a:pt x="3457056" y="457200"/>
                  <a:pt x="34290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Shape 32"/>
          <p:cNvSpPr/>
          <p:nvPr/>
        </p:nvSpPr>
        <p:spPr>
          <a:xfrm>
            <a:off x="4457700" y="72263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16245" y="152400"/>
                </a:moveTo>
                <a:cubicBezTo>
                  <a:pt x="119142" y="143550"/>
                  <a:pt x="124936" y="135533"/>
                  <a:pt x="131485" y="128627"/>
                </a:cubicBezTo>
                <a:cubicBezTo>
                  <a:pt x="144462" y="114975"/>
                  <a:pt x="152400" y="96520"/>
                  <a:pt x="152400" y="76200"/>
                </a:cubicBezTo>
                <a:cubicBezTo>
                  <a:pt x="152400" y="34131"/>
                  <a:pt x="118269" y="0"/>
                  <a:pt x="76200" y="0"/>
                </a:cubicBezTo>
                <a:cubicBezTo>
                  <a:pt x="34131" y="0"/>
                  <a:pt x="0" y="34131"/>
                  <a:pt x="0" y="76200"/>
                </a:cubicBezTo>
                <a:cubicBezTo>
                  <a:pt x="0" y="96520"/>
                  <a:pt x="7938" y="114975"/>
                  <a:pt x="20915" y="128627"/>
                </a:cubicBezTo>
                <a:cubicBezTo>
                  <a:pt x="27464" y="135533"/>
                  <a:pt x="33298" y="143550"/>
                  <a:pt x="36155" y="152400"/>
                </a:cubicBezTo>
                <a:lnTo>
                  <a:pt x="116205" y="152400"/>
                </a:lnTo>
                <a:close/>
                <a:moveTo>
                  <a:pt x="114300" y="171450"/>
                </a:moveTo>
                <a:lnTo>
                  <a:pt x="38100" y="171450"/>
                </a:lnTo>
                <a:lnTo>
                  <a:pt x="38100" y="177800"/>
                </a:lnTo>
                <a:cubicBezTo>
                  <a:pt x="38100" y="195342"/>
                  <a:pt x="52308" y="209550"/>
                  <a:pt x="69850" y="209550"/>
                </a:cubicBezTo>
                <a:lnTo>
                  <a:pt x="82550" y="209550"/>
                </a:lnTo>
                <a:cubicBezTo>
                  <a:pt x="100092" y="209550"/>
                  <a:pt x="114300" y="195342"/>
                  <a:pt x="114300" y="177800"/>
                </a:cubicBezTo>
                <a:lnTo>
                  <a:pt x="114300" y="171450"/>
                </a:lnTo>
                <a:close/>
                <a:moveTo>
                  <a:pt x="73025" y="44450"/>
                </a:moveTo>
                <a:cubicBezTo>
                  <a:pt x="57229" y="44450"/>
                  <a:pt x="44450" y="57229"/>
                  <a:pt x="44450" y="73025"/>
                </a:cubicBezTo>
                <a:cubicBezTo>
                  <a:pt x="44450" y="78303"/>
                  <a:pt x="40203" y="82550"/>
                  <a:pt x="34925" y="82550"/>
                </a:cubicBezTo>
                <a:cubicBezTo>
                  <a:pt x="29647" y="82550"/>
                  <a:pt x="25400" y="78303"/>
                  <a:pt x="25400" y="73025"/>
                </a:cubicBezTo>
                <a:cubicBezTo>
                  <a:pt x="25400" y="46712"/>
                  <a:pt x="46712" y="25400"/>
                  <a:pt x="73025" y="25400"/>
                </a:cubicBezTo>
                <a:cubicBezTo>
                  <a:pt x="78303" y="25400"/>
                  <a:pt x="82550" y="29647"/>
                  <a:pt x="82550" y="34925"/>
                </a:cubicBezTo>
                <a:cubicBezTo>
                  <a:pt x="82550" y="40203"/>
                  <a:pt x="78303" y="44450"/>
                  <a:pt x="73025" y="4445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5" name="Text 33"/>
          <p:cNvSpPr/>
          <p:nvPr/>
        </p:nvSpPr>
        <p:spPr>
          <a:xfrm>
            <a:off x="4762500" y="72009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Résolution</a:t>
            </a:r>
            <a:endParaRPr lang="fr-FR" sz="1600" dirty="0"/>
          </a:p>
        </p:txBody>
      </p:sp>
      <p:sp>
        <p:nvSpPr>
          <p:cNvPr id="36" name="Shape 34"/>
          <p:cNvSpPr/>
          <p:nvPr/>
        </p:nvSpPr>
        <p:spPr>
          <a:xfrm>
            <a:off x="8356600" y="3365500"/>
            <a:ext cx="7480300" cy="2501900"/>
          </a:xfrm>
          <a:custGeom>
            <a:avLst/>
            <a:gdLst/>
            <a:ahLst/>
            <a:cxnLst/>
            <a:rect l="l" t="t" r="r" b="b"/>
            <a:pathLst>
              <a:path w="7480300" h="7480300">
                <a:moveTo>
                  <a:pt x="101582" y="0"/>
                </a:moveTo>
                <a:lnTo>
                  <a:pt x="7378718" y="0"/>
                </a:lnTo>
                <a:cubicBezTo>
                  <a:pt x="7434820" y="0"/>
                  <a:pt x="7480300" y="45480"/>
                  <a:pt x="7480300" y="101582"/>
                </a:cubicBezTo>
                <a:lnTo>
                  <a:pt x="7480300" y="7378718"/>
                </a:lnTo>
                <a:cubicBezTo>
                  <a:pt x="7480300" y="7434820"/>
                  <a:pt x="7434820" y="7480300"/>
                  <a:pt x="7378718" y="7480300"/>
                </a:cubicBezTo>
                <a:lnTo>
                  <a:pt x="101582" y="7480300"/>
                </a:lnTo>
                <a:cubicBezTo>
                  <a:pt x="45480" y="7480300"/>
                  <a:pt x="0" y="7434820"/>
                  <a:pt x="0" y="7378718"/>
                </a:cubicBezTo>
                <a:lnTo>
                  <a:pt x="0" y="101582"/>
                </a:lnTo>
                <a:cubicBezTo>
                  <a:pt x="0" y="45518"/>
                  <a:pt x="45518" y="0"/>
                  <a:pt x="10158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356600" y="3365500"/>
            <a:ext cx="7480300" cy="2501900"/>
          </a:xfrm>
          <a:custGeom>
            <a:avLst/>
            <a:gdLst/>
            <a:ahLst/>
            <a:cxnLst/>
            <a:rect l="l" t="t" r="r" b="b"/>
            <a:pathLst>
              <a:path w="7480300" h="2501900">
                <a:moveTo>
                  <a:pt x="101602" y="0"/>
                </a:moveTo>
                <a:lnTo>
                  <a:pt x="7378698" y="0"/>
                </a:lnTo>
                <a:cubicBezTo>
                  <a:pt x="7434811" y="0"/>
                  <a:pt x="7480300" y="45489"/>
                  <a:pt x="7480300" y="101602"/>
                </a:cubicBezTo>
                <a:lnTo>
                  <a:pt x="7480300" y="2400298"/>
                </a:lnTo>
                <a:cubicBezTo>
                  <a:pt x="7480300" y="2456411"/>
                  <a:pt x="7434811" y="2501900"/>
                  <a:pt x="7378698" y="2501900"/>
                </a:cubicBezTo>
                <a:lnTo>
                  <a:pt x="101602" y="2501900"/>
                </a:lnTo>
                <a:cubicBezTo>
                  <a:pt x="45489" y="2501900"/>
                  <a:pt x="0" y="2456411"/>
                  <a:pt x="0" y="24002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09000" y="3575050"/>
            <a:ext cx="717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Limites de l'Étude</a:t>
            </a:r>
            <a:endParaRPr lang="fr-FR" sz="1600" dirty="0"/>
          </a:p>
        </p:txBody>
      </p:sp>
      <p:sp>
        <p:nvSpPr>
          <p:cNvPr id="40" name="Shape 37"/>
          <p:cNvSpPr/>
          <p:nvPr/>
        </p:nvSpPr>
        <p:spPr>
          <a:xfrm>
            <a:off x="8566150" y="4083050"/>
            <a:ext cx="7061200" cy="457200"/>
          </a:xfrm>
          <a:custGeom>
            <a:avLst/>
            <a:gdLst/>
            <a:ahLst/>
            <a:cxnLst/>
            <a:rect l="l" t="t" r="r" b="b"/>
            <a:pathLst>
              <a:path w="7061200" h="457200">
                <a:moveTo>
                  <a:pt x="50799" y="0"/>
                </a:moveTo>
                <a:lnTo>
                  <a:pt x="7010401" y="0"/>
                </a:lnTo>
                <a:cubicBezTo>
                  <a:pt x="7038456" y="0"/>
                  <a:pt x="7061200" y="22744"/>
                  <a:pt x="7061200" y="50799"/>
                </a:cubicBezTo>
                <a:lnTo>
                  <a:pt x="7061200" y="406401"/>
                </a:lnTo>
                <a:cubicBezTo>
                  <a:pt x="7061200" y="434456"/>
                  <a:pt x="7038456" y="457200"/>
                  <a:pt x="7010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Shape 38"/>
          <p:cNvSpPr/>
          <p:nvPr/>
        </p:nvSpPr>
        <p:spPr>
          <a:xfrm>
            <a:off x="8693150" y="42354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63500"/>
                </a:moveTo>
                <a:cubicBezTo>
                  <a:pt x="88900" y="56491"/>
                  <a:pt x="94591" y="50800"/>
                  <a:pt x="101600" y="50800"/>
                </a:cubicBezTo>
                <a:cubicBezTo>
                  <a:pt x="108609" y="50800"/>
                  <a:pt x="114300" y="56491"/>
                  <a:pt x="114300" y="63500"/>
                </a:cubicBezTo>
                <a:cubicBezTo>
                  <a:pt x="114300" y="70509"/>
                  <a:pt x="108609" y="76200"/>
                  <a:pt x="101600" y="76200"/>
                </a:cubicBezTo>
                <a:cubicBezTo>
                  <a:pt x="94591" y="76200"/>
                  <a:pt x="88900" y="70509"/>
                  <a:pt x="88900" y="63500"/>
                </a:cubicBezTo>
                <a:close/>
                <a:moveTo>
                  <a:pt x="85725" y="88900"/>
                </a:moveTo>
                <a:lnTo>
                  <a:pt x="104775" y="88900"/>
                </a:lnTo>
                <a:cubicBezTo>
                  <a:pt x="110053" y="88900"/>
                  <a:pt x="114300" y="93147"/>
                  <a:pt x="114300" y="98425"/>
                </a:cubicBezTo>
                <a:lnTo>
                  <a:pt x="114300" y="133350"/>
                </a:lnTo>
                <a:lnTo>
                  <a:pt x="117475" y="133350"/>
                </a:lnTo>
                <a:cubicBezTo>
                  <a:pt x="122753" y="133350"/>
                  <a:pt x="127000" y="137597"/>
                  <a:pt x="127000" y="142875"/>
                </a:cubicBezTo>
                <a:cubicBezTo>
                  <a:pt x="127000" y="148153"/>
                  <a:pt x="122753" y="152400"/>
                  <a:pt x="117475" y="152400"/>
                </a:cubicBezTo>
                <a:lnTo>
                  <a:pt x="85725" y="152400"/>
                </a:lnTo>
                <a:cubicBezTo>
                  <a:pt x="80447" y="152400"/>
                  <a:pt x="76200" y="148153"/>
                  <a:pt x="76200" y="142875"/>
                </a:cubicBezTo>
                <a:cubicBezTo>
                  <a:pt x="76200" y="137597"/>
                  <a:pt x="80447" y="133350"/>
                  <a:pt x="85725" y="133350"/>
                </a:cubicBezTo>
                <a:lnTo>
                  <a:pt x="95250" y="133350"/>
                </a:lnTo>
                <a:lnTo>
                  <a:pt x="95250" y="107950"/>
                </a:lnTo>
                <a:lnTo>
                  <a:pt x="85725" y="107950"/>
                </a:lnTo>
                <a:cubicBezTo>
                  <a:pt x="80447" y="107950"/>
                  <a:pt x="76200" y="103703"/>
                  <a:pt x="76200" y="98425"/>
                </a:cubicBezTo>
                <a:cubicBezTo>
                  <a:pt x="76200" y="93147"/>
                  <a:pt x="80447" y="88900"/>
                  <a:pt x="85725" y="8890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2" name="Text 39"/>
          <p:cNvSpPr/>
          <p:nvPr/>
        </p:nvSpPr>
        <p:spPr>
          <a:xfrm>
            <a:off x="9023350" y="4184650"/>
            <a:ext cx="256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</a:t>
            </a:r>
            <a:r>
              <a:rPr lang="fr-FR" sz="14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conception uniquement</a:t>
            </a:r>
            <a:endParaRPr lang="fr-FR" sz="1600" dirty="0"/>
          </a:p>
        </p:txBody>
      </p:sp>
      <p:sp>
        <p:nvSpPr>
          <p:cNvPr id="43" name="Shape 40"/>
          <p:cNvSpPr/>
          <p:nvPr/>
        </p:nvSpPr>
        <p:spPr>
          <a:xfrm>
            <a:off x="8566150" y="4641850"/>
            <a:ext cx="7061200" cy="457200"/>
          </a:xfrm>
          <a:custGeom>
            <a:avLst/>
            <a:gdLst/>
            <a:ahLst/>
            <a:cxnLst/>
            <a:rect l="l" t="t" r="r" b="b"/>
            <a:pathLst>
              <a:path w="7061200" h="457200">
                <a:moveTo>
                  <a:pt x="50799" y="0"/>
                </a:moveTo>
                <a:lnTo>
                  <a:pt x="7010401" y="0"/>
                </a:lnTo>
                <a:cubicBezTo>
                  <a:pt x="7038456" y="0"/>
                  <a:pt x="7061200" y="22744"/>
                  <a:pt x="7061200" y="50799"/>
                </a:cubicBezTo>
                <a:lnTo>
                  <a:pt x="7061200" y="406401"/>
                </a:lnTo>
                <a:cubicBezTo>
                  <a:pt x="7061200" y="434456"/>
                  <a:pt x="7038456" y="457200"/>
                  <a:pt x="7010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4" name="Shape 41"/>
          <p:cNvSpPr/>
          <p:nvPr/>
        </p:nvSpPr>
        <p:spPr>
          <a:xfrm>
            <a:off x="8693150" y="47942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63500"/>
                </a:moveTo>
                <a:cubicBezTo>
                  <a:pt x="88900" y="56491"/>
                  <a:pt x="94591" y="50800"/>
                  <a:pt x="101600" y="50800"/>
                </a:cubicBezTo>
                <a:cubicBezTo>
                  <a:pt x="108609" y="50800"/>
                  <a:pt x="114300" y="56491"/>
                  <a:pt x="114300" y="63500"/>
                </a:cubicBezTo>
                <a:cubicBezTo>
                  <a:pt x="114300" y="70509"/>
                  <a:pt x="108609" y="76200"/>
                  <a:pt x="101600" y="76200"/>
                </a:cubicBezTo>
                <a:cubicBezTo>
                  <a:pt x="94591" y="76200"/>
                  <a:pt x="88900" y="70509"/>
                  <a:pt x="88900" y="63500"/>
                </a:cubicBezTo>
                <a:close/>
                <a:moveTo>
                  <a:pt x="85725" y="88900"/>
                </a:moveTo>
                <a:lnTo>
                  <a:pt x="104775" y="88900"/>
                </a:lnTo>
                <a:cubicBezTo>
                  <a:pt x="110053" y="88900"/>
                  <a:pt x="114300" y="93147"/>
                  <a:pt x="114300" y="98425"/>
                </a:cubicBezTo>
                <a:lnTo>
                  <a:pt x="114300" y="133350"/>
                </a:lnTo>
                <a:lnTo>
                  <a:pt x="117475" y="133350"/>
                </a:lnTo>
                <a:cubicBezTo>
                  <a:pt x="122753" y="133350"/>
                  <a:pt x="127000" y="137597"/>
                  <a:pt x="127000" y="142875"/>
                </a:cubicBezTo>
                <a:cubicBezTo>
                  <a:pt x="127000" y="148153"/>
                  <a:pt x="122753" y="152400"/>
                  <a:pt x="117475" y="152400"/>
                </a:cubicBezTo>
                <a:lnTo>
                  <a:pt x="85725" y="152400"/>
                </a:lnTo>
                <a:cubicBezTo>
                  <a:pt x="80447" y="152400"/>
                  <a:pt x="76200" y="148153"/>
                  <a:pt x="76200" y="142875"/>
                </a:cubicBezTo>
                <a:cubicBezTo>
                  <a:pt x="76200" y="137597"/>
                  <a:pt x="80447" y="133350"/>
                  <a:pt x="85725" y="133350"/>
                </a:cubicBezTo>
                <a:lnTo>
                  <a:pt x="95250" y="133350"/>
                </a:lnTo>
                <a:lnTo>
                  <a:pt x="95250" y="107950"/>
                </a:lnTo>
                <a:lnTo>
                  <a:pt x="85725" y="107950"/>
                </a:lnTo>
                <a:cubicBezTo>
                  <a:pt x="80447" y="107950"/>
                  <a:pt x="76200" y="103703"/>
                  <a:pt x="76200" y="98425"/>
                </a:cubicBezTo>
                <a:cubicBezTo>
                  <a:pt x="76200" y="93147"/>
                  <a:pt x="80447" y="88900"/>
                  <a:pt x="85725" y="8890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5" name="Text 42"/>
          <p:cNvSpPr/>
          <p:nvPr/>
        </p:nvSpPr>
        <p:spPr>
          <a:xfrm>
            <a:off x="9023350" y="4743450"/>
            <a:ext cx="266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Programmation automate </a:t>
            </a:r>
            <a:r>
              <a:rPr lang="fr-FR" sz="14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à venir</a:t>
            </a:r>
            <a:endParaRPr lang="fr-FR" sz="1600" dirty="0"/>
          </a:p>
        </p:txBody>
      </p:sp>
      <p:sp>
        <p:nvSpPr>
          <p:cNvPr id="46" name="Shape 43"/>
          <p:cNvSpPr/>
          <p:nvPr/>
        </p:nvSpPr>
        <p:spPr>
          <a:xfrm>
            <a:off x="8566150" y="5200650"/>
            <a:ext cx="7061200" cy="457200"/>
          </a:xfrm>
          <a:custGeom>
            <a:avLst/>
            <a:gdLst/>
            <a:ahLst/>
            <a:cxnLst/>
            <a:rect l="l" t="t" r="r" b="b"/>
            <a:pathLst>
              <a:path w="7061200" h="457200">
                <a:moveTo>
                  <a:pt x="50799" y="0"/>
                </a:moveTo>
                <a:lnTo>
                  <a:pt x="7010401" y="0"/>
                </a:lnTo>
                <a:cubicBezTo>
                  <a:pt x="7038456" y="0"/>
                  <a:pt x="7061200" y="22744"/>
                  <a:pt x="7061200" y="50799"/>
                </a:cubicBezTo>
                <a:lnTo>
                  <a:pt x="7061200" y="406401"/>
                </a:lnTo>
                <a:cubicBezTo>
                  <a:pt x="7061200" y="434456"/>
                  <a:pt x="7038456" y="457200"/>
                  <a:pt x="7010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7" name="Shape 44"/>
          <p:cNvSpPr/>
          <p:nvPr/>
        </p:nvSpPr>
        <p:spPr>
          <a:xfrm>
            <a:off x="8693150" y="535305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63500"/>
                </a:moveTo>
                <a:cubicBezTo>
                  <a:pt x="88900" y="56491"/>
                  <a:pt x="94591" y="50800"/>
                  <a:pt x="101600" y="50800"/>
                </a:cubicBezTo>
                <a:cubicBezTo>
                  <a:pt x="108609" y="50800"/>
                  <a:pt x="114300" y="56491"/>
                  <a:pt x="114300" y="63500"/>
                </a:cubicBezTo>
                <a:cubicBezTo>
                  <a:pt x="114300" y="70509"/>
                  <a:pt x="108609" y="76200"/>
                  <a:pt x="101600" y="76200"/>
                </a:cubicBezTo>
                <a:cubicBezTo>
                  <a:pt x="94591" y="76200"/>
                  <a:pt x="88900" y="70509"/>
                  <a:pt x="88900" y="63500"/>
                </a:cubicBezTo>
                <a:close/>
                <a:moveTo>
                  <a:pt x="85725" y="88900"/>
                </a:moveTo>
                <a:lnTo>
                  <a:pt x="104775" y="88900"/>
                </a:lnTo>
                <a:cubicBezTo>
                  <a:pt x="110053" y="88900"/>
                  <a:pt x="114300" y="93147"/>
                  <a:pt x="114300" y="98425"/>
                </a:cubicBezTo>
                <a:lnTo>
                  <a:pt x="114300" y="133350"/>
                </a:lnTo>
                <a:lnTo>
                  <a:pt x="117475" y="133350"/>
                </a:lnTo>
                <a:cubicBezTo>
                  <a:pt x="122753" y="133350"/>
                  <a:pt x="127000" y="137597"/>
                  <a:pt x="127000" y="142875"/>
                </a:cubicBezTo>
                <a:cubicBezTo>
                  <a:pt x="127000" y="148153"/>
                  <a:pt x="122753" y="152400"/>
                  <a:pt x="117475" y="152400"/>
                </a:cubicBezTo>
                <a:lnTo>
                  <a:pt x="85725" y="152400"/>
                </a:lnTo>
                <a:cubicBezTo>
                  <a:pt x="80447" y="152400"/>
                  <a:pt x="76200" y="148153"/>
                  <a:pt x="76200" y="142875"/>
                </a:cubicBezTo>
                <a:cubicBezTo>
                  <a:pt x="76200" y="137597"/>
                  <a:pt x="80447" y="133350"/>
                  <a:pt x="85725" y="133350"/>
                </a:cubicBezTo>
                <a:lnTo>
                  <a:pt x="95250" y="133350"/>
                </a:lnTo>
                <a:lnTo>
                  <a:pt x="95250" y="107950"/>
                </a:lnTo>
                <a:lnTo>
                  <a:pt x="85725" y="107950"/>
                </a:lnTo>
                <a:cubicBezTo>
                  <a:pt x="80447" y="107950"/>
                  <a:pt x="76200" y="103703"/>
                  <a:pt x="76200" y="98425"/>
                </a:cubicBezTo>
                <a:cubicBezTo>
                  <a:pt x="76200" y="93147"/>
                  <a:pt x="80447" y="88900"/>
                  <a:pt x="85725" y="88900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48" name="Text 45"/>
          <p:cNvSpPr/>
          <p:nvPr/>
        </p:nvSpPr>
        <p:spPr>
          <a:xfrm>
            <a:off x="9023350" y="5302250"/>
            <a:ext cx="231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industrielle </a:t>
            </a:r>
            <a:r>
              <a:rPr lang="fr-FR" sz="14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</a:t>
            </a:r>
            <a:endParaRPr lang="fr-FR" sz="1600" dirty="0"/>
          </a:p>
        </p:txBody>
      </p:sp>
      <p:sp>
        <p:nvSpPr>
          <p:cNvPr id="52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dirty="0" smtClean="0">
                <a:solidFill>
                  <a:srgbClr val="E89F5B"/>
                </a:solidFill>
              </a:rPr>
              <a:t>15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ga-tech.com/bb8e0f13845f04cc3db574b572091c2e8b80cd48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44" b="4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4A6C8C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6927850" y="400050"/>
            <a:ext cx="2400300" cy="685800"/>
          </a:xfrm>
          <a:custGeom>
            <a:avLst/>
            <a:gdLst/>
            <a:ahLst/>
            <a:cxnLst/>
            <a:rect l="l" t="t" r="r" b="b"/>
            <a:pathLst>
              <a:path w="2400300" h="685800">
                <a:moveTo>
                  <a:pt x="342900" y="0"/>
                </a:moveTo>
                <a:lnTo>
                  <a:pt x="2057400" y="0"/>
                </a:lnTo>
                <a:cubicBezTo>
                  <a:pt x="2246652" y="0"/>
                  <a:pt x="2400300" y="153648"/>
                  <a:pt x="2400300" y="342900"/>
                </a:cubicBezTo>
                <a:lnTo>
                  <a:pt x="2400300" y="342900"/>
                </a:lnTo>
                <a:cubicBezTo>
                  <a:pt x="2400300" y="532152"/>
                  <a:pt x="2246652" y="685800"/>
                  <a:pt x="2057400" y="685800"/>
                </a:cubicBezTo>
                <a:lnTo>
                  <a:pt x="342900" y="685800"/>
                </a:lnTo>
                <a:cubicBezTo>
                  <a:pt x="153648" y="685800"/>
                  <a:pt x="0" y="532152"/>
                  <a:pt x="0" y="342900"/>
                </a:cubicBezTo>
                <a:lnTo>
                  <a:pt x="0" y="342900"/>
                </a:lnTo>
                <a:cubicBezTo>
                  <a:pt x="0" y="153648"/>
                  <a:pt x="153648" y="0"/>
                  <a:pt x="342900" y="0"/>
                </a:cubicBezTo>
                <a:close/>
              </a:path>
            </a:pathLst>
          </a:custGeom>
          <a:solidFill>
            <a:srgbClr val="E89F5B">
              <a:alpha val="20000"/>
            </a:srgbClr>
          </a:solidFill>
          <a:ln w="25400">
            <a:solidFill>
              <a:srgbClr val="E89F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88200" y="565150"/>
            <a:ext cx="187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800" b="1" kern="0" spc="180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fr-FR" sz="1600" dirty="0"/>
          </a:p>
        </p:txBody>
      </p:sp>
      <p:sp>
        <p:nvSpPr>
          <p:cNvPr id="6" name="Text 3"/>
          <p:cNvSpPr/>
          <p:nvPr/>
        </p:nvSpPr>
        <p:spPr>
          <a:xfrm>
            <a:off x="5678289" y="1403350"/>
            <a:ext cx="4902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fr-FR" sz="4800" b="1" dirty="0" smtClean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Une Expérience</a:t>
            </a:r>
            <a:endParaRPr lang="fr-FR" sz="1600" dirty="0" smtClean="0"/>
          </a:p>
          <a:p>
            <a:pPr algn="ctr">
              <a:lnSpc>
                <a:spcPct val="100000"/>
              </a:lnSpc>
            </a:pPr>
            <a:r>
              <a:rPr lang="fr-FR" sz="4800" b="1" dirty="0" smtClean="0">
                <a:solidFill>
                  <a:srgbClr val="4A6C8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Enrichissante</a:t>
            </a:r>
            <a:endParaRPr lang="fr-FR" sz="1600" dirty="0"/>
          </a:p>
        </p:txBody>
      </p:sp>
      <p:sp>
        <p:nvSpPr>
          <p:cNvPr id="7" name="Text 4"/>
          <p:cNvSpPr/>
          <p:nvPr/>
        </p:nvSpPr>
        <p:spPr>
          <a:xfrm>
            <a:off x="2374900" y="3638550"/>
            <a:ext cx="11506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fr-FR" sz="20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 stage a permis de poser les </a:t>
            </a:r>
            <a:r>
              <a:rPr lang="fr-FR" sz="20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bases solides</a:t>
            </a:r>
            <a:r>
              <a:rPr lang="fr-FR" sz="20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pour le développement d'un banc de calibration </a:t>
            </a:r>
            <a:r>
              <a:rPr lang="fr-FR" sz="2000" b="1" dirty="0" smtClean="0">
                <a:solidFill>
                  <a:srgbClr val="E89F5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moderne, fiable et conforme</a:t>
            </a:r>
            <a:r>
              <a:rPr lang="fr-FR" sz="2000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aux normes internationales.</a:t>
            </a:r>
            <a:endParaRPr lang="fr-FR" sz="1600" dirty="0"/>
          </a:p>
        </p:txBody>
      </p:sp>
      <p:sp>
        <p:nvSpPr>
          <p:cNvPr id="8" name="Text 5"/>
          <p:cNvSpPr/>
          <p:nvPr/>
        </p:nvSpPr>
        <p:spPr>
          <a:xfrm>
            <a:off x="2381250" y="4654550"/>
            <a:ext cx="11493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fr-FR" sz="18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Une expérience qui a renforcé mon projet professionnel dans l'</a:t>
            </a:r>
            <a:r>
              <a:rPr lang="fr-FR" sz="18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automatisme industriel</a:t>
            </a:r>
            <a:r>
              <a:rPr lang="fr-FR" sz="18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et m'a permis de gagner en </a:t>
            </a:r>
            <a:r>
              <a:rPr lang="fr-FR" sz="18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compétences, autonomie et confiance</a:t>
            </a:r>
            <a:r>
              <a:rPr lang="fr-FR" sz="18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fr-FR" sz="1600" dirty="0"/>
          </a:p>
        </p:txBody>
      </p:sp>
      <p:sp>
        <p:nvSpPr>
          <p:cNvPr id="9" name="Shape 6"/>
          <p:cNvSpPr/>
          <p:nvPr/>
        </p:nvSpPr>
        <p:spPr>
          <a:xfrm>
            <a:off x="4060230" y="5803900"/>
            <a:ext cx="2501900" cy="1460500"/>
          </a:xfrm>
          <a:custGeom>
            <a:avLst/>
            <a:gdLst/>
            <a:ahLst/>
            <a:cxnLst/>
            <a:rect l="l" t="t" r="r" b="b"/>
            <a:pathLst>
              <a:path w="2501900" h="1460500">
                <a:moveTo>
                  <a:pt x="101607" y="0"/>
                </a:moveTo>
                <a:lnTo>
                  <a:pt x="2400293" y="0"/>
                </a:lnTo>
                <a:cubicBezTo>
                  <a:pt x="2456409" y="0"/>
                  <a:pt x="2501900" y="45491"/>
                  <a:pt x="2501900" y="101607"/>
                </a:cubicBezTo>
                <a:lnTo>
                  <a:pt x="2501900" y="1358893"/>
                </a:lnTo>
                <a:cubicBezTo>
                  <a:pt x="2501900" y="1415009"/>
                  <a:pt x="2456409" y="1460500"/>
                  <a:pt x="2400293" y="1460500"/>
                </a:cubicBezTo>
                <a:lnTo>
                  <a:pt x="101607" y="1460500"/>
                </a:lnTo>
                <a:cubicBezTo>
                  <a:pt x="45491" y="1460500"/>
                  <a:pt x="0" y="1415009"/>
                  <a:pt x="0" y="1358893"/>
                </a:cubicBezTo>
                <a:lnTo>
                  <a:pt x="0" y="101607"/>
                </a:lnTo>
                <a:cubicBezTo>
                  <a:pt x="0" y="45529"/>
                  <a:pt x="45529" y="0"/>
                  <a:pt x="10160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22863" y="6013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1" name="Text 8"/>
          <p:cNvSpPr/>
          <p:nvPr/>
        </p:nvSpPr>
        <p:spPr>
          <a:xfrm>
            <a:off x="4218980" y="649605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Fonctionnelle</a:t>
            </a:r>
            <a:endParaRPr lang="fr-FR" sz="1600" dirty="0"/>
          </a:p>
        </p:txBody>
      </p:sp>
      <p:sp>
        <p:nvSpPr>
          <p:cNvPr id="12" name="Text 9"/>
          <p:cNvSpPr/>
          <p:nvPr/>
        </p:nvSpPr>
        <p:spPr>
          <a:xfrm>
            <a:off x="4225330" y="6800850"/>
            <a:ext cx="217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Complète et structurée</a:t>
            </a:r>
            <a:endParaRPr lang="fr-FR" sz="1600" dirty="0"/>
          </a:p>
        </p:txBody>
      </p:sp>
      <p:sp>
        <p:nvSpPr>
          <p:cNvPr id="13" name="Shape 10"/>
          <p:cNvSpPr/>
          <p:nvPr/>
        </p:nvSpPr>
        <p:spPr>
          <a:xfrm>
            <a:off x="6877844" y="5803900"/>
            <a:ext cx="2501900" cy="1460500"/>
          </a:xfrm>
          <a:custGeom>
            <a:avLst/>
            <a:gdLst/>
            <a:ahLst/>
            <a:cxnLst/>
            <a:rect l="l" t="t" r="r" b="b"/>
            <a:pathLst>
              <a:path w="2501900" h="1460500">
                <a:moveTo>
                  <a:pt x="101607" y="0"/>
                </a:moveTo>
                <a:lnTo>
                  <a:pt x="2400293" y="0"/>
                </a:lnTo>
                <a:cubicBezTo>
                  <a:pt x="2456409" y="0"/>
                  <a:pt x="2501900" y="45491"/>
                  <a:pt x="2501900" y="101607"/>
                </a:cubicBezTo>
                <a:lnTo>
                  <a:pt x="2501900" y="1358893"/>
                </a:lnTo>
                <a:cubicBezTo>
                  <a:pt x="2501900" y="1415009"/>
                  <a:pt x="2456409" y="1460500"/>
                  <a:pt x="2400293" y="1460500"/>
                </a:cubicBezTo>
                <a:lnTo>
                  <a:pt x="101607" y="1460500"/>
                </a:lnTo>
                <a:cubicBezTo>
                  <a:pt x="45491" y="1460500"/>
                  <a:pt x="0" y="1415009"/>
                  <a:pt x="0" y="1358893"/>
                </a:cubicBezTo>
                <a:lnTo>
                  <a:pt x="0" y="101607"/>
                </a:lnTo>
                <a:cubicBezTo>
                  <a:pt x="0" y="45529"/>
                  <a:pt x="45529" y="0"/>
                  <a:pt x="10160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40477" y="6013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193923" y="0"/>
                  <a:pt x="197346" y="744"/>
                  <a:pt x="200471" y="2158"/>
                </a:cubicBezTo>
                <a:lnTo>
                  <a:pt x="340668" y="61615"/>
                </a:lnTo>
                <a:cubicBezTo>
                  <a:pt x="357039" y="68535"/>
                  <a:pt x="369243" y="84683"/>
                  <a:pt x="369168" y="104180"/>
                </a:cubicBezTo>
                <a:cubicBezTo>
                  <a:pt x="368796" y="177998"/>
                  <a:pt x="338435" y="313060"/>
                  <a:pt x="210220" y="374452"/>
                </a:cubicBezTo>
                <a:cubicBezTo>
                  <a:pt x="197793" y="380405"/>
                  <a:pt x="183356" y="380405"/>
                  <a:pt x="170929" y="374452"/>
                </a:cubicBezTo>
                <a:cubicBezTo>
                  <a:pt x="42639" y="313060"/>
                  <a:pt x="12353" y="177998"/>
                  <a:pt x="11981" y="104180"/>
                </a:cubicBezTo>
                <a:cubicBezTo>
                  <a:pt x="11906" y="84683"/>
                  <a:pt x="24110" y="68535"/>
                  <a:pt x="40481" y="61615"/>
                </a:cubicBezTo>
                <a:lnTo>
                  <a:pt x="180603" y="2158"/>
                </a:lnTo>
                <a:cubicBezTo>
                  <a:pt x="183728" y="744"/>
                  <a:pt x="187077" y="0"/>
                  <a:pt x="190500" y="0"/>
                </a:cubicBezTo>
                <a:close/>
                <a:moveTo>
                  <a:pt x="190500" y="49709"/>
                </a:moveTo>
                <a:lnTo>
                  <a:pt x="190500" y="331068"/>
                </a:lnTo>
                <a:cubicBezTo>
                  <a:pt x="293191" y="281360"/>
                  <a:pt x="320799" y="171227"/>
                  <a:pt x="321469" y="105296"/>
                </a:cubicBezTo>
                <a:lnTo>
                  <a:pt x="190500" y="49783"/>
                </a:lnTo>
                <a:lnTo>
                  <a:pt x="190500" y="49783"/>
                </a:ln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5" name="Text 12"/>
          <p:cNvSpPr/>
          <p:nvPr/>
        </p:nvSpPr>
        <p:spPr>
          <a:xfrm>
            <a:off x="7036594" y="649605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Sécurités Intégrées</a:t>
            </a:r>
            <a:endParaRPr lang="fr-FR" sz="1600" dirty="0"/>
          </a:p>
        </p:txBody>
      </p:sp>
      <p:sp>
        <p:nvSpPr>
          <p:cNvPr id="16" name="Text 13"/>
          <p:cNvSpPr/>
          <p:nvPr/>
        </p:nvSpPr>
        <p:spPr>
          <a:xfrm>
            <a:off x="7042944" y="6800850"/>
            <a:ext cx="217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Multi-niveaux</a:t>
            </a:r>
            <a:endParaRPr lang="fr-FR" sz="1600" dirty="0"/>
          </a:p>
        </p:txBody>
      </p:sp>
      <p:sp>
        <p:nvSpPr>
          <p:cNvPr id="17" name="Shape 14"/>
          <p:cNvSpPr/>
          <p:nvPr/>
        </p:nvSpPr>
        <p:spPr>
          <a:xfrm>
            <a:off x="9695458" y="5803900"/>
            <a:ext cx="2501900" cy="1460500"/>
          </a:xfrm>
          <a:custGeom>
            <a:avLst/>
            <a:gdLst/>
            <a:ahLst/>
            <a:cxnLst/>
            <a:rect l="l" t="t" r="r" b="b"/>
            <a:pathLst>
              <a:path w="2501900" h="1460500">
                <a:moveTo>
                  <a:pt x="101607" y="0"/>
                </a:moveTo>
                <a:lnTo>
                  <a:pt x="2400293" y="0"/>
                </a:lnTo>
                <a:cubicBezTo>
                  <a:pt x="2456409" y="0"/>
                  <a:pt x="2501900" y="45491"/>
                  <a:pt x="2501900" y="101607"/>
                </a:cubicBezTo>
                <a:lnTo>
                  <a:pt x="2501900" y="1358893"/>
                </a:lnTo>
                <a:cubicBezTo>
                  <a:pt x="2501900" y="1415009"/>
                  <a:pt x="2456409" y="1460500"/>
                  <a:pt x="2400293" y="1460500"/>
                </a:cubicBezTo>
                <a:lnTo>
                  <a:pt x="101607" y="1460500"/>
                </a:lnTo>
                <a:cubicBezTo>
                  <a:pt x="45491" y="1460500"/>
                  <a:pt x="0" y="1415009"/>
                  <a:pt x="0" y="1358893"/>
                </a:cubicBezTo>
                <a:lnTo>
                  <a:pt x="0" y="101607"/>
                </a:lnTo>
                <a:cubicBezTo>
                  <a:pt x="0" y="45529"/>
                  <a:pt x="45529" y="0"/>
                  <a:pt x="10160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758091" y="6013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262" y="142875"/>
                </a:moveTo>
                <a:lnTo>
                  <a:pt x="363141" y="142875"/>
                </a:lnTo>
                <a:cubicBezTo>
                  <a:pt x="373038" y="142875"/>
                  <a:pt x="381000" y="134913"/>
                  <a:pt x="381000" y="125016"/>
                </a:cubicBezTo>
                <a:lnTo>
                  <a:pt x="381000" y="17859"/>
                </a:lnTo>
                <a:cubicBezTo>
                  <a:pt x="381000" y="10641"/>
                  <a:pt x="376684" y="4093"/>
                  <a:pt x="369987" y="1339"/>
                </a:cubicBezTo>
                <a:cubicBezTo>
                  <a:pt x="363289" y="-1414"/>
                  <a:pt x="355625" y="149"/>
                  <a:pt x="350490" y="5209"/>
                </a:cubicBezTo>
                <a:lnTo>
                  <a:pt x="312018" y="43755"/>
                </a:lnTo>
                <a:cubicBezTo>
                  <a:pt x="279053" y="16446"/>
                  <a:pt x="236637" y="0"/>
                  <a:pt x="190500" y="0"/>
                </a:cubicBezTo>
                <a:cubicBezTo>
                  <a:pt x="94506" y="0"/>
                  <a:pt x="15106" y="70991"/>
                  <a:pt x="1935" y="163339"/>
                </a:cubicBezTo>
                <a:cubicBezTo>
                  <a:pt x="74" y="176361"/>
                  <a:pt x="9079" y="188416"/>
                  <a:pt x="22101" y="190277"/>
                </a:cubicBezTo>
                <a:cubicBezTo>
                  <a:pt x="35123" y="192137"/>
                  <a:pt x="47179" y="183059"/>
                  <a:pt x="49039" y="170111"/>
                </a:cubicBezTo>
                <a:cubicBezTo>
                  <a:pt x="58936" y="100831"/>
                  <a:pt x="118542" y="47625"/>
                  <a:pt x="190500" y="47625"/>
                </a:cubicBezTo>
                <a:cubicBezTo>
                  <a:pt x="223540" y="47625"/>
                  <a:pt x="253901" y="58787"/>
                  <a:pt x="278085" y="77614"/>
                </a:cubicBezTo>
                <a:lnTo>
                  <a:pt x="243334" y="112365"/>
                </a:lnTo>
                <a:cubicBezTo>
                  <a:pt x="238199" y="117500"/>
                  <a:pt x="236711" y="125164"/>
                  <a:pt x="239464" y="131862"/>
                </a:cubicBezTo>
                <a:cubicBezTo>
                  <a:pt x="242218" y="138559"/>
                  <a:pt x="248766" y="142875"/>
                  <a:pt x="255984" y="142875"/>
                </a:cubicBezTo>
                <a:lnTo>
                  <a:pt x="357262" y="142875"/>
                </a:lnTo>
                <a:close/>
                <a:moveTo>
                  <a:pt x="379140" y="217661"/>
                </a:moveTo>
                <a:cubicBezTo>
                  <a:pt x="381000" y="204639"/>
                  <a:pt x="371921" y="192584"/>
                  <a:pt x="358973" y="190723"/>
                </a:cubicBezTo>
                <a:cubicBezTo>
                  <a:pt x="346025" y="188863"/>
                  <a:pt x="333896" y="197941"/>
                  <a:pt x="332036" y="210889"/>
                </a:cubicBezTo>
                <a:cubicBezTo>
                  <a:pt x="322138" y="280095"/>
                  <a:pt x="262533" y="333301"/>
                  <a:pt x="190574" y="333301"/>
                </a:cubicBezTo>
                <a:cubicBezTo>
                  <a:pt x="157535" y="333301"/>
                  <a:pt x="127174" y="322138"/>
                  <a:pt x="102989" y="303312"/>
                </a:cubicBezTo>
                <a:lnTo>
                  <a:pt x="137666" y="268635"/>
                </a:lnTo>
                <a:cubicBezTo>
                  <a:pt x="142801" y="263500"/>
                  <a:pt x="144289" y="255836"/>
                  <a:pt x="141536" y="249138"/>
                </a:cubicBezTo>
                <a:cubicBezTo>
                  <a:pt x="138782" y="242441"/>
                  <a:pt x="132234" y="238125"/>
                  <a:pt x="125016" y="238125"/>
                </a:cubicBezTo>
                <a:lnTo>
                  <a:pt x="17859" y="238125"/>
                </a:lnTo>
                <a:cubicBezTo>
                  <a:pt x="7962" y="238125"/>
                  <a:pt x="0" y="246087"/>
                  <a:pt x="0" y="255984"/>
                </a:cubicBezTo>
                <a:lnTo>
                  <a:pt x="0" y="363141"/>
                </a:lnTo>
                <a:cubicBezTo>
                  <a:pt x="0" y="370359"/>
                  <a:pt x="4316" y="376907"/>
                  <a:pt x="11013" y="379661"/>
                </a:cubicBezTo>
                <a:cubicBezTo>
                  <a:pt x="17711" y="382414"/>
                  <a:pt x="25375" y="380851"/>
                  <a:pt x="30510" y="375791"/>
                </a:cubicBezTo>
                <a:lnTo>
                  <a:pt x="69056" y="337245"/>
                </a:lnTo>
                <a:cubicBezTo>
                  <a:pt x="101947" y="364554"/>
                  <a:pt x="144363" y="381000"/>
                  <a:pt x="190500" y="381000"/>
                </a:cubicBezTo>
                <a:cubicBezTo>
                  <a:pt x="286494" y="381000"/>
                  <a:pt x="365894" y="310009"/>
                  <a:pt x="379065" y="217661"/>
                </a:cubicBezTo>
                <a:close/>
              </a:path>
            </a:pathLst>
          </a:custGeom>
          <a:solidFill>
            <a:srgbClr val="E89F5B"/>
          </a:solidFill>
          <a:ln/>
        </p:spPr>
      </p:sp>
      <p:sp>
        <p:nvSpPr>
          <p:cNvPr id="19" name="Text 16"/>
          <p:cNvSpPr/>
          <p:nvPr/>
        </p:nvSpPr>
        <p:spPr>
          <a:xfrm>
            <a:off x="9854208" y="6496050"/>
            <a:ext cx="21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 Automatique</a:t>
            </a:r>
            <a:endParaRPr lang="fr-FR" sz="1600" dirty="0"/>
          </a:p>
        </p:txBody>
      </p:sp>
      <p:sp>
        <p:nvSpPr>
          <p:cNvPr id="20" name="Text 17"/>
          <p:cNvSpPr/>
          <p:nvPr/>
        </p:nvSpPr>
        <p:spPr>
          <a:xfrm>
            <a:off x="9860558" y="6800850"/>
            <a:ext cx="217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14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étapes définies</a:t>
            </a:r>
            <a:endParaRPr lang="fr-FR" sz="1600" dirty="0"/>
          </a:p>
        </p:txBody>
      </p:sp>
      <p:sp>
        <p:nvSpPr>
          <p:cNvPr id="21" name="Shape 18"/>
          <p:cNvSpPr/>
          <p:nvPr/>
        </p:nvSpPr>
        <p:spPr>
          <a:xfrm>
            <a:off x="6323409" y="7683500"/>
            <a:ext cx="3606800" cy="12700"/>
          </a:xfrm>
          <a:custGeom>
            <a:avLst/>
            <a:gdLst/>
            <a:ahLst/>
            <a:cxnLst/>
            <a:rect l="l" t="t" r="r" b="b"/>
            <a:pathLst>
              <a:path w="3606800" h="12700">
                <a:moveTo>
                  <a:pt x="0" y="0"/>
                </a:moveTo>
                <a:lnTo>
                  <a:pt x="3606800" y="0"/>
                </a:lnTo>
                <a:lnTo>
                  <a:pt x="36068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259909" y="7994650"/>
            <a:ext cx="373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dirty="0" smtClean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 pour votre attention</a:t>
            </a:r>
            <a:endParaRPr lang="fr-FR" sz="1600" dirty="0"/>
          </a:p>
        </p:txBody>
      </p:sp>
      <p:sp>
        <p:nvSpPr>
          <p:cNvPr id="23" name="Text 20"/>
          <p:cNvSpPr/>
          <p:nvPr/>
        </p:nvSpPr>
        <p:spPr>
          <a:xfrm>
            <a:off x="6272609" y="8451850"/>
            <a:ext cx="370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dirty="0" smtClean="0">
                <a:solidFill>
                  <a:srgbClr val="7D8A9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Hamza Moussa | Stage ONE-TOO | 2026</a:t>
            </a:r>
            <a:endParaRPr lang="fr-FR" sz="1600" dirty="0"/>
          </a:p>
        </p:txBody>
      </p:sp>
      <p:sp>
        <p:nvSpPr>
          <p:cNvPr id="24" name="NumPage"/>
          <p:cNvSpPr txBox="1"/>
          <p:nvPr/>
        </p:nvSpPr>
        <p:spPr>
          <a:xfrm>
            <a:off x="15240000" y="8636000"/>
            <a:ext cx="88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fr-FR" sz="1400" dirty="0" smtClean="0">
                <a:solidFill>
                  <a:srgbClr val="E89F5B"/>
                </a:solidFill>
              </a:rPr>
              <a:t>16</a:t>
            </a:r>
            <a:endParaRPr lang="fr-FR" sz="1400" dirty="0">
              <a:solidFill>
                <a:srgbClr val="E89F5B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6858</TotalTime>
  <Words>1089</Words>
  <Application>Microsoft Office PowerPoint</Application>
  <PresentationFormat>Personnalisé</PresentationFormat>
  <Paragraphs>335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Liter</vt:lpstr>
      <vt:lpstr>Calibri</vt:lpstr>
      <vt:lpstr>Hedvig Letters Sans</vt:lpstr>
      <vt:lpstr>Custom Theme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Moonshot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Stage</dc:title>
  <dc:subject>Soutenance Stage - Banc de Calibration Automatisé</dc:subject>
  <dc:creator>sspoto</dc:creator>
  <cp:lastModifiedBy>sspoto</cp:lastModifiedBy>
  <cp:revision>415</cp:revision>
  <dcterms:created xsi:type="dcterms:W3CDTF">2026-04-16T12:52:59Z</dcterms:created>
  <dcterms:modified xsi:type="dcterms:W3CDTF">2026-04-21T14:10:59Z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{"Label":"Soutenance Stage - Banc de Calibration Automatisé","ContentProducer":"001191110108MACG2KBH8F10000","ProduceID":"","ReservedCode1":"","ContentPropagator":"001191110108MACG2KBH8F20000","PropagateID":"","ReservedCode2":""}</vt:lpwstr>
  </property>
</Properties>
</file>