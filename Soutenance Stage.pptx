
<file path=[Content_Types].xml><?xml version="1.0" encoding="utf-8"?>
<Types xmlns="http://schemas.openxmlformats.org/package/2006/content-types">
  <Override PartName="/ppt/slides/slide6.xml" ContentType="application/vnd.openxmlformats-officedocument.presentationml.slide+xml"/>
  <Override PartName="/ppt/notesSlides/notesSlide2.xml" ContentType="application/vnd.openxmlformats-officedocument.presentationml.notesSlide+xml"/>
  <Override PartName="/ppt/slideMasters/slideMaster1.xml" ContentType="application/vnd.openxmlformats-officedocument.presentationml.slideMaster+xml"/>
  <Override PartName="/ppt/slides/slide4.xml" ContentType="application/vnd.openxmlformats-officedocument.presentationml.slide+xml"/>
  <Override PartName="/ppt/theme/theme3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Override PartName="/ppt/notesSlides/notesSlide17.xml" ContentType="application/vnd.openxmlformats-officedocument.presentationml.notesSlide+xml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Default Extension="fntdata" ContentType="application/x-fontdata"/>
  <Override PartName="/ppt/slideLayouts/slideLayout1.xml" ContentType="application/vnd.openxmlformats-officedocument.presentationml.slideLayout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tableStyles.xml" ContentType="application/vnd.openxmlformats-officedocument.presentationml.tableStyles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ustom.xml" ContentType="application/vnd.openxmlformats-officedocument.custom-properties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10.xml" ContentType="application/vnd.openxmlformats-officedocument.presentationml.notes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handoutMasters/handoutMaster1.xml" ContentType="application/vnd.openxmlformats-officedocument.presentationml.handoutMaster+xml"/>
  <Override PartName="/ppt/viewProps.xml" ContentType="application/vnd.openxmlformats-officedocument.presentationml.viewProps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ppt/slides/slide5.xml" ContentType="application/vnd.openxmlformats-officedocument.presentationml.slide+xml"/>
  <Override PartName="/ppt/notesSlides/notesSlide1.xml" ContentType="application/vnd.openxmlformats-officedocument.presentationml.notesSlide+xml"/>
  <Default Extension="png" ContentType="image/png"/>
  <Override PartName="/ppt/notesSlides/notesSlide3.xml" ContentType="application/vnd.openxmlformats-officedocument.presentationml.notesSlide+xml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 saveSubsetFonts="1" autoCompressPictures="0">
  <p:sldMasterIdLst>
    <p:sldMasterId id="2147483648" r:id="rId1"/>
  </p:sldMasterIdLst>
  <p:notesMasterIdLst>
    <p:notesMasterId r:id="rId19"/>
  </p:notesMasterIdLst>
  <p:handoutMasterIdLst>
    <p:handoutMasterId r:id="rId20"/>
  </p:handoutMasterIdLst>
  <p:sldIdLst>
    <p:sldId id="256" r:id="rId2"/>
    <p:sldId id="257" r:id="rId3"/>
    <p:sldId id="258" r:id="rId4"/>
    <p:sldId id="271" r:id="rId5"/>
    <p:sldId id="269" r:id="rId6"/>
    <p:sldId id="259" r:id="rId7"/>
    <p:sldId id="260" r:id="rId8"/>
    <p:sldId id="261" r:id="rId9"/>
    <p:sldId id="262" r:id="rId10"/>
    <p:sldId id="263" r:id="rId11"/>
    <p:sldId id="273" r:id="rId12"/>
    <p:sldId id="264" r:id="rId13"/>
    <p:sldId id="265" r:id="rId14"/>
    <p:sldId id="268" r:id="rId15"/>
    <p:sldId id="272" r:id="rId16"/>
    <p:sldId id="266" r:id="rId17"/>
    <p:sldId id="267" r:id="rId18"/>
  </p:sldIdLst>
  <p:sldSz cx="16256000" cy="9144000"/>
  <p:notesSz cx="9144000" cy="16256000"/>
  <p:embeddedFontLst>
    <p:embeddedFont>
      <p:font typeface="Liter" charset="0"/>
      <p:regular r:id="rId21"/>
    </p:embeddedFont>
    <p:embeddedFont>
      <p:font typeface="Calibri" pitchFamily="34" charset="0"/>
      <p:regular r:id="rId22"/>
      <p:bold r:id="rId23"/>
      <p:italic r:id="rId24"/>
      <p:boldItalic r:id="rId25"/>
    </p:embeddedFont>
    <p:embeddedFont>
      <p:font typeface="Hedvig Letters Sans" charset="0"/>
      <p:regular r:id="rId26"/>
    </p:embeddedFont>
  </p:embeddedFontLst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A1D21"/>
    <a:srgbClr val="E89F5B"/>
    <a:srgbClr val="FF9719"/>
    <a:srgbClr val="FFB65D"/>
    <a:srgbClr val="667C8E"/>
  </p:clrMru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77" d="100"/>
          <a:sy n="77" d="100"/>
        </p:scale>
        <p:origin x="624" y="-174"/>
      </p:cViewPr>
      <p:guideLst>
        <p:guide orient="horz" pos="2880"/>
        <p:guide pos="512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6.fntdata"/><Relationship Id="rId3" Type="http://schemas.openxmlformats.org/officeDocument/2006/relationships/slide" Target="slides/slide2.xml"/><Relationship Id="rId21" Type="http://schemas.openxmlformats.org/officeDocument/2006/relationships/font" Target="fonts/font1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5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handoutMaster" Target="handoutMasters/handoutMaster1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4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3.fntdata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2.fntdata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8128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 dirty="0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quarter" idx="1"/>
          </p:nvPr>
        </p:nvSpPr>
        <p:spPr>
          <a:xfrm>
            <a:off x="5180013" y="0"/>
            <a:ext cx="3962400" cy="8128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52FDF98-1617-4013-9648-AB97B3F455F4}" type="datetimeFigureOut">
              <a:rPr lang="fr-FR" smtClean="0"/>
              <a:pPr/>
              <a:t>29/04/2026</a:t>
            </a:fld>
            <a:endParaRPr lang="fr-FR" dirty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2"/>
          </p:nvPr>
        </p:nvSpPr>
        <p:spPr>
          <a:xfrm>
            <a:off x="0" y="15440025"/>
            <a:ext cx="3962400" cy="8128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 dirty="0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3"/>
          </p:nvPr>
        </p:nvSpPr>
        <p:spPr>
          <a:xfrm>
            <a:off x="5180013" y="15440025"/>
            <a:ext cx="3962400" cy="8128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C7FF84A-ED44-4A04-82BA-C0CE1C898716}" type="slidenum">
              <a:rPr lang="fr-FR" smtClean="0"/>
              <a:pPr/>
              <a:t>‹N°›</a:t>
            </a:fld>
            <a:endParaRPr lang="fr-FR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xmlns="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xmlns="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xmlns="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xmlns="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xmlns="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xmlns="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xmlns="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xmlns="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xmlns="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xmlns="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xmlns="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xmlns="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xmlns="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xmlns="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xmlns="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xmlns="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17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xmlns="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PTIST_MAST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hd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" Target="slide6.xml"/><Relationship Id="rId7" Type="http://schemas.openxmlformats.org/officeDocument/2006/relationships/slide" Target="slide16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slide" Target="slide12.xml"/><Relationship Id="rId5" Type="http://schemas.openxmlformats.org/officeDocument/2006/relationships/slide" Target="slide10.xml"/><Relationship Id="rId4" Type="http://schemas.openxmlformats.org/officeDocument/2006/relationships/slide" Target="slide8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jpe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hyperlink" Target="https://www.transtechnik.fr/product/mini-verins-electriques-mce/" TargetMode="External"/><Relationship Id="rId7" Type="http://schemas.openxmlformats.org/officeDocument/2006/relationships/hyperlink" Target="https://www.nord.com/fr/catalogues-produits/motoreducteurs/reducteurs-a-couple-conique/motoreducteur-a-couple-conique-monobloc.jsp?utm_source=copilot.com" TargetMode="External"/><Relationship Id="rId12" Type="http://schemas.openxmlformats.org/officeDocument/2006/relationships/image" Target="../media/image2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png"/><Relationship Id="rId11" Type="http://schemas.openxmlformats.org/officeDocument/2006/relationships/hyperlink" Target="https://www.fs.com/fr/products/69078.html?country=FR&amp;currency=EUR&amp;languages=Fran%C3%A7ais&amp;paid=google_shopping&amp;gad_source=1&amp;gad_campaignid=17956897400&amp;gbraid=0AAAAAoz-wfRjJyiFy-9pHw1CFXde09MDZ&amp;gclid=EAIaIQobChMI-uaWo4r8kwMVKpSDBx16lCd7EAQYASABEgLn7vD_BwE" TargetMode="External"/><Relationship Id="rId5" Type="http://schemas.openxmlformats.org/officeDocument/2006/relationships/hyperlink" Target="https://www.directindustry.fr/prod/oriental-motor/product-15581-2450328.html" TargetMode="External"/><Relationship Id="rId10" Type="http://schemas.openxmlformats.org/officeDocument/2006/relationships/image" Target="../media/image23.png"/><Relationship Id="rId4" Type="http://schemas.openxmlformats.org/officeDocument/2006/relationships/image" Target="../media/image20.png"/><Relationship Id="rId9" Type="http://schemas.openxmlformats.org/officeDocument/2006/relationships/hyperlink" Target="https://www.jc-electronics.com/fr/6es7314-6bf01-0ab0?gad_source=1&amp;gad_campaignid=20983987831&amp;gbraid=0AAAAAC1d6sYD9egUrFmjcEC1t_B6LAMnD&amp;gclid=EAIaIQobChMI_6KR1oj8kwMV-WtBAh0f0SHgEAQYBiABEgLpyPD_BwE" TargetMode="Externa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6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13" Type="http://schemas.openxmlformats.org/officeDocument/2006/relationships/image" Target="../media/image32.png"/><Relationship Id="rId3" Type="http://schemas.openxmlformats.org/officeDocument/2006/relationships/hyperlink" Target="https://fr.rs-online.com/web/p/boites-a-boutons-vides/0546648?cm_mmc=FR-PLA-DS3A-_-google-_-CSS_FR_FR_PMAX_WD_CHAMPION-_--_-546648&amp;matchtype=&amp;&amp;gclsrc=aw.ds&amp;gad_source=1&amp;gad_campaignid=22719610980&amp;gbraid=0AAAAADkeWNNbWtvIWbT0O6HRrKyzLL7sD&amp;gclid=EAIaIQobChMI" TargetMode="External"/><Relationship Id="rId7" Type="http://schemas.openxmlformats.org/officeDocument/2006/relationships/hyperlink" Target="https://fr.rs-online.com/web/p/capteurs-photoelectriques/6956808?cm_mmc=FR-PLA-DS3A-_-google-_-CSS_FR_FR_PMAX_WD_CHALLENGER-_--_-6956808&amp;matchtype=&amp;&amp;gclsrc=aw.ds&amp;gad_source=1&amp;gad_campaignid=22729363849&amp;gbraid=0AAAAADkeWNOIpF0cohJebIq_W3QGd_dW9&amp;gclid=EAIaIQ" TargetMode="External"/><Relationship Id="rId12" Type="http://schemas.openxmlformats.org/officeDocument/2006/relationships/image" Target="../media/image3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8.png"/><Relationship Id="rId11" Type="http://schemas.openxmlformats.org/officeDocument/2006/relationships/hyperlink" Target="https://www.conrad.fr/fr/p/colonne-de-signalisation-tru-components-tc-9539296-led-rouge-jaune-vert-1-pc-s-2384824.html?experience=b2c&amp;qwer=EAIaIQobChMI9puglLeDlAMV6ch5BB13_R-uEAQYAyABEgKAFvD_BwE&amp;utm_source=google&amp;utm_medium=cpc&amp;utm_campaign=SH%20-%20FR%20-" TargetMode="External"/><Relationship Id="rId5" Type="http://schemas.openxmlformats.org/officeDocument/2006/relationships/hyperlink" Target="https://www.directindustry.fr/prod/repar2/product-20824-831867.html" TargetMode="External"/><Relationship Id="rId10" Type="http://schemas.openxmlformats.org/officeDocument/2006/relationships/image" Target="../media/image30.png"/><Relationship Id="rId4" Type="http://schemas.openxmlformats.org/officeDocument/2006/relationships/image" Target="../media/image27.png"/><Relationship Id="rId9" Type="http://schemas.openxmlformats.org/officeDocument/2006/relationships/hyperlink" Target="https://www.verinelectrique.fr/products/capteur-ou-interrupteur-de-fin-de-course-a-poussoir-a-galet-modele-0010010" TargetMode="Externa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jpe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web-img.moonshot.cn/img/www.puremachinedesign.com/e9dce031486b37bc27083b36020575b7905ce6e6.jpg"/>
          <p:cNvPicPr>
            <a:picLocks noChangeAspect="1"/>
          </p:cNvPicPr>
          <p:nvPr/>
        </p:nvPicPr>
        <p:blipFill>
          <a:blip r:embed="rId3">
            <a:alphaModFix amt="30000"/>
          </a:blip>
          <a:srcRect l="36" r="36"/>
          <a:stretch/>
        </p:blipFill>
        <p:spPr>
          <a:xfrm>
            <a:off x="0" y="0"/>
            <a:ext cx="16256000" cy="9144000"/>
          </a:xfrm>
          <a:prstGeom prst="roundRect">
            <a:avLst>
              <a:gd name="adj" fmla="val 0"/>
            </a:avLst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6256000" cy="9144000"/>
          </a:xfrm>
          <a:custGeom>
            <a:avLst/>
            <a:gdLst/>
            <a:ahLst/>
            <a:cxnLst/>
            <a:rect l="l" t="t" r="r" b="b"/>
            <a:pathLst>
              <a:path w="16256000" h="9144000">
                <a:moveTo>
                  <a:pt x="0" y="0"/>
                </a:moveTo>
                <a:lnTo>
                  <a:pt x="16256000" y="0"/>
                </a:lnTo>
                <a:lnTo>
                  <a:pt x="16256000" y="9144000"/>
                </a:lnTo>
                <a:lnTo>
                  <a:pt x="0" y="9144000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0">
                <a:srgbClr val="1A1D21">
                  <a:alpha val="95000"/>
                </a:srgbClr>
              </a:gs>
              <a:gs pos="50000">
                <a:srgbClr val="4A6C8C">
                  <a:alpha val="40000"/>
                </a:srgbClr>
              </a:gs>
              <a:gs pos="100000">
                <a:srgbClr val="1A1D21">
                  <a:alpha val="95000"/>
                </a:srgbClr>
              </a:gs>
            </a:gsLst>
            <a:lin ang="2700000" scaled="1"/>
          </a:gradFill>
          <a:ln/>
        </p:spPr>
      </p:sp>
      <p:sp>
        <p:nvSpPr>
          <p:cNvPr id="4" name="Shape 1"/>
          <p:cNvSpPr/>
          <p:nvPr/>
        </p:nvSpPr>
        <p:spPr>
          <a:xfrm>
            <a:off x="514350" y="2241550"/>
            <a:ext cx="3251200" cy="520700"/>
          </a:xfrm>
          <a:custGeom>
            <a:avLst/>
            <a:gdLst/>
            <a:ahLst/>
            <a:cxnLst/>
            <a:rect l="l" t="t" r="r" b="b"/>
            <a:pathLst>
              <a:path w="3251200" h="520700">
                <a:moveTo>
                  <a:pt x="50799" y="0"/>
                </a:moveTo>
                <a:lnTo>
                  <a:pt x="3200401" y="0"/>
                </a:lnTo>
                <a:cubicBezTo>
                  <a:pt x="3228456" y="0"/>
                  <a:pt x="3251200" y="22744"/>
                  <a:pt x="3251200" y="50799"/>
                </a:cubicBezTo>
                <a:lnTo>
                  <a:pt x="3251200" y="469901"/>
                </a:lnTo>
                <a:cubicBezTo>
                  <a:pt x="3251200" y="497956"/>
                  <a:pt x="3228456" y="520700"/>
                  <a:pt x="3200401" y="520700"/>
                </a:cubicBezTo>
                <a:lnTo>
                  <a:pt x="50799" y="520700"/>
                </a:lnTo>
                <a:cubicBezTo>
                  <a:pt x="22744" y="520700"/>
                  <a:pt x="0" y="497956"/>
                  <a:pt x="0" y="469901"/>
                </a:cubicBezTo>
                <a:lnTo>
                  <a:pt x="0" y="50799"/>
                </a:lnTo>
                <a:cubicBezTo>
                  <a:pt x="0" y="22762"/>
                  <a:pt x="22762" y="0"/>
                  <a:pt x="50799" y="0"/>
                </a:cubicBezTo>
                <a:close/>
              </a:path>
            </a:pathLst>
          </a:custGeom>
          <a:solidFill>
            <a:srgbClr val="E89F5B">
              <a:alpha val="20000"/>
            </a:srgbClr>
          </a:solidFill>
          <a:ln w="12700">
            <a:solidFill>
              <a:srgbClr val="E89F5B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673100" y="2349500"/>
            <a:ext cx="29337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fr-FR" sz="1600" b="1" kern="0" spc="160" smtClean="0">
                <a:solidFill>
                  <a:srgbClr val="E89F5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SOUTENANCE DE STAGE</a:t>
            </a:r>
            <a:endParaRPr lang="fr-FR" sz="1600" dirty="0"/>
          </a:p>
        </p:txBody>
      </p:sp>
      <p:sp>
        <p:nvSpPr>
          <p:cNvPr id="6" name="Text 3"/>
          <p:cNvSpPr/>
          <p:nvPr/>
        </p:nvSpPr>
        <p:spPr>
          <a:xfrm>
            <a:off x="508000" y="3073400"/>
            <a:ext cx="156210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fr-FR" sz="6000" b="1" dirty="0" smtClean="0">
                <a:solidFill>
                  <a:srgbClr val="E8E8E8"/>
                </a:solidFill>
                <a:latin typeface="Hedvig Letters Sans" pitchFamily="34" charset="0"/>
                <a:ea typeface="Hedvig Letters Sans" pitchFamily="34" charset="-122"/>
                <a:cs typeface="Hedvig Letters Sans" pitchFamily="34" charset="-120"/>
              </a:rPr>
              <a:t>Banc de Calibration</a:t>
            </a:r>
          </a:p>
          <a:p>
            <a:pPr algn="ctr">
              <a:lnSpc>
                <a:spcPct val="100000"/>
              </a:lnSpc>
            </a:pPr>
            <a:r>
              <a:rPr lang="fr-FR" sz="6000" b="1" dirty="0" smtClean="0">
                <a:solidFill>
                  <a:srgbClr val="4A6C8C"/>
                </a:solidFill>
                <a:latin typeface="Hedvig Letters Sans" pitchFamily="34" charset="0"/>
                <a:ea typeface="Hedvig Letters Sans" pitchFamily="34" charset="-122"/>
                <a:cs typeface="Hedvig Letters Sans" pitchFamily="34" charset="-120"/>
              </a:rPr>
              <a:t>Automatisé</a:t>
            </a:r>
            <a:endParaRPr lang="fr-FR" sz="6000" b="1" dirty="0">
              <a:solidFill>
                <a:srgbClr val="4A6C8C"/>
              </a:solidFill>
              <a:latin typeface="Hedvig Letters Sans" pitchFamily="34" charset="0"/>
              <a:ea typeface="Hedvig Letters Sans" pitchFamily="34" charset="-122"/>
              <a:cs typeface="Hedvig Letters Sans" pitchFamily="34" charset="-120"/>
            </a:endParaRPr>
          </a:p>
        </p:txBody>
      </p:sp>
      <p:sp>
        <p:nvSpPr>
          <p:cNvPr id="7" name="Text 4"/>
          <p:cNvSpPr/>
          <p:nvPr/>
        </p:nvSpPr>
        <p:spPr>
          <a:xfrm>
            <a:off x="508000" y="5181600"/>
            <a:ext cx="15392400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fr-FR" sz="2400" smtClean="0">
                <a:solidFill>
                  <a:srgbClr val="7D8A9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Clés Dynamométriques Mt Alpha V1+</a:t>
            </a:r>
            <a:endParaRPr lang="fr-FR" sz="1600" dirty="0"/>
          </a:p>
        </p:txBody>
      </p:sp>
      <p:sp>
        <p:nvSpPr>
          <p:cNvPr id="8" name="Shape 5"/>
          <p:cNvSpPr/>
          <p:nvPr/>
        </p:nvSpPr>
        <p:spPr>
          <a:xfrm>
            <a:off x="508000" y="7613650"/>
            <a:ext cx="15240000" cy="12700"/>
          </a:xfrm>
          <a:custGeom>
            <a:avLst/>
            <a:gdLst/>
            <a:ahLst/>
            <a:cxnLst/>
            <a:rect l="l" t="t" r="r" b="b"/>
            <a:pathLst>
              <a:path w="15240000" h="12700">
                <a:moveTo>
                  <a:pt x="0" y="0"/>
                </a:moveTo>
                <a:lnTo>
                  <a:pt x="15240000" y="0"/>
                </a:lnTo>
                <a:lnTo>
                  <a:pt x="15240000" y="12700"/>
                </a:lnTo>
                <a:lnTo>
                  <a:pt x="0" y="12700"/>
                </a:lnTo>
                <a:lnTo>
                  <a:pt x="0" y="0"/>
                </a:lnTo>
                <a:close/>
              </a:path>
            </a:pathLst>
          </a:custGeom>
          <a:solidFill>
            <a:srgbClr val="4A6C8C">
              <a:alpha val="30196"/>
            </a:srgbClr>
          </a:solidFill>
          <a:ln/>
        </p:spPr>
      </p:sp>
      <p:sp>
        <p:nvSpPr>
          <p:cNvPr id="9" name="Text 6"/>
          <p:cNvSpPr/>
          <p:nvPr/>
        </p:nvSpPr>
        <p:spPr>
          <a:xfrm>
            <a:off x="508000" y="7924800"/>
            <a:ext cx="20701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fr-FR" sz="2000" b="1" smtClean="0">
                <a:solidFill>
                  <a:srgbClr val="E8E8E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Moussa Hamza</a:t>
            </a:r>
            <a:endParaRPr lang="fr-FR" sz="1600" dirty="0"/>
          </a:p>
        </p:txBody>
      </p:sp>
      <p:sp>
        <p:nvSpPr>
          <p:cNvPr id="10" name="Text 7"/>
          <p:cNvSpPr/>
          <p:nvPr/>
        </p:nvSpPr>
        <p:spPr>
          <a:xfrm>
            <a:off x="508000" y="8331200"/>
            <a:ext cx="20447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fr-FR" sz="1600" smtClean="0">
                <a:solidFill>
                  <a:srgbClr val="7D8A9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Stage chez ONE-TOO</a:t>
            </a:r>
            <a:endParaRPr lang="fr-FR" sz="1600" dirty="0"/>
          </a:p>
        </p:txBody>
      </p:sp>
      <p:sp>
        <p:nvSpPr>
          <p:cNvPr id="11" name="Text 8"/>
          <p:cNvSpPr/>
          <p:nvPr/>
        </p:nvSpPr>
        <p:spPr>
          <a:xfrm>
            <a:off x="11661570" y="7975600"/>
            <a:ext cx="4085836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>
              <a:lnSpc>
                <a:spcPct val="130000"/>
              </a:lnSpc>
            </a:pPr>
            <a:r>
              <a:rPr lang="fr-FR" sz="1600" smtClean="0">
                <a:solidFill>
                  <a:srgbClr val="7D8A9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Génie électrique et Informatique Industrielle</a:t>
            </a:r>
            <a:endParaRPr lang="fr-FR" sz="1600" dirty="0"/>
          </a:p>
        </p:txBody>
      </p:sp>
      <p:sp>
        <p:nvSpPr>
          <p:cNvPr id="12" name="Text 9"/>
          <p:cNvSpPr/>
          <p:nvPr/>
        </p:nvSpPr>
        <p:spPr>
          <a:xfrm>
            <a:off x="12407305" y="8280400"/>
            <a:ext cx="33401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>
              <a:lnSpc>
                <a:spcPct val="130000"/>
              </a:lnSpc>
            </a:pPr>
            <a:r>
              <a:rPr lang="fr-FR" sz="1600" b="1" smtClean="0">
                <a:solidFill>
                  <a:srgbClr val="E89F5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2026</a:t>
            </a:r>
            <a:endParaRPr lang="fr-FR" sz="1600" dirty="0"/>
          </a:p>
        </p:txBody>
      </p:sp>
      <p:pic>
        <p:nvPicPr>
          <p:cNvPr id="18" name="Image 17" descr="ONE TOO 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668911"/>
            <a:ext cx="4100150" cy="1096206"/>
          </a:xfrm>
          <a:prstGeom prst="rect">
            <a:avLst/>
          </a:prstGeom>
        </p:spPr>
      </p:pic>
      <p:pic>
        <p:nvPicPr>
          <p:cNvPr id="20" name="Image 19" descr="IUT 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821971" y="0"/>
            <a:ext cx="2434029" cy="2434029"/>
          </a:xfrm>
          <a:prstGeom prst="rect">
            <a:avLst/>
          </a:prstGeom>
        </p:spPr>
      </p:pic>
      <p:pic>
        <p:nvPicPr>
          <p:cNvPr id="21" name="Image 20" descr="LOGO ONE TOO ALPH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40753" y="7816558"/>
            <a:ext cx="4574494" cy="1327442"/>
          </a:xfrm>
          <a:prstGeom prst="rect">
            <a:avLst/>
          </a:prstGeom>
        </p:spPr>
      </p:pic>
      <p:sp>
        <p:nvSpPr>
          <p:cNvPr id="22" name="NumPage"/>
          <p:cNvSpPr txBox="1"/>
          <p:nvPr/>
        </p:nvSpPr>
        <p:spPr>
          <a:xfrm>
            <a:off x="15240000" y="8636000"/>
            <a:ext cx="889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fr-FR" sz="1400" smtClean="0">
                <a:solidFill>
                  <a:srgbClr val="E89F5B"/>
                </a:solidFill>
              </a:rPr>
              <a:t>1</a:t>
            </a:r>
            <a:endParaRPr lang="fr-FR" sz="1400" dirty="0">
              <a:solidFill>
                <a:srgbClr val="E89F5B"/>
              </a:solidFill>
            </a:endParaRP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8000" y="508000"/>
            <a:ext cx="153289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fr-FR" sz="1400" b="1" kern="0" spc="140" smtClean="0">
                <a:solidFill>
                  <a:srgbClr val="E89F5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PLAN</a:t>
            </a:r>
            <a:endParaRPr lang="fr-FR" sz="1600" dirty="0"/>
          </a:p>
        </p:txBody>
      </p:sp>
      <p:sp>
        <p:nvSpPr>
          <p:cNvPr id="3" name="Text 1"/>
          <p:cNvSpPr/>
          <p:nvPr/>
        </p:nvSpPr>
        <p:spPr>
          <a:xfrm>
            <a:off x="508000" y="863600"/>
            <a:ext cx="155448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</a:pPr>
            <a:r>
              <a:rPr lang="fr-FR" sz="4800" b="1" smtClean="0">
                <a:solidFill>
                  <a:srgbClr val="E8E8E8"/>
                </a:solidFill>
                <a:latin typeface="Hedvig Letters Sans" pitchFamily="34" charset="0"/>
                <a:ea typeface="Hedvig Letters Sans" pitchFamily="34" charset="-122"/>
                <a:cs typeface="Hedvig Letters Sans" pitchFamily="34" charset="-120"/>
              </a:rPr>
              <a:t>Plan de la Présentation</a:t>
            </a:r>
            <a:endParaRPr lang="fr-FR" sz="1600" dirty="0"/>
          </a:p>
        </p:txBody>
      </p:sp>
      <p:sp>
        <p:nvSpPr>
          <p:cNvPr id="4" name="Shape 2"/>
          <p:cNvSpPr/>
          <p:nvPr/>
        </p:nvSpPr>
        <p:spPr>
          <a:xfrm>
            <a:off x="533400" y="1879600"/>
            <a:ext cx="7391400" cy="2120900"/>
          </a:xfrm>
          <a:custGeom>
            <a:avLst/>
            <a:gdLst/>
            <a:ahLst/>
            <a:cxnLst/>
            <a:rect l="l" t="t" r="r" b="b"/>
            <a:pathLst>
              <a:path w="7391400" h="2120900">
                <a:moveTo>
                  <a:pt x="0" y="0"/>
                </a:moveTo>
                <a:lnTo>
                  <a:pt x="7340604" y="0"/>
                </a:lnTo>
                <a:cubicBezTo>
                  <a:pt x="7368658" y="0"/>
                  <a:pt x="7391400" y="22742"/>
                  <a:pt x="7391400" y="50796"/>
                </a:cubicBezTo>
                <a:lnTo>
                  <a:pt x="7391400" y="2070104"/>
                </a:lnTo>
                <a:cubicBezTo>
                  <a:pt x="7391400" y="2098158"/>
                  <a:pt x="7368658" y="2120900"/>
                  <a:pt x="7340604" y="2120900"/>
                </a:cubicBezTo>
                <a:lnTo>
                  <a:pt x="0" y="2120900"/>
                </a:lnTo>
                <a:lnTo>
                  <a:pt x="0" y="0"/>
                </a:lnTo>
                <a:close/>
              </a:path>
            </a:pathLst>
          </a:custGeom>
          <a:solidFill>
            <a:srgbClr val="4A6C8C">
              <a:alpha val="10196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533400" y="1879600"/>
            <a:ext cx="50800" cy="2120900"/>
          </a:xfrm>
          <a:custGeom>
            <a:avLst/>
            <a:gdLst/>
            <a:ahLst/>
            <a:cxnLst/>
            <a:rect l="l" t="t" r="r" b="b"/>
            <a:pathLst>
              <a:path w="50800" h="2120900">
                <a:moveTo>
                  <a:pt x="0" y="0"/>
                </a:moveTo>
                <a:lnTo>
                  <a:pt x="50800" y="0"/>
                </a:lnTo>
                <a:lnTo>
                  <a:pt x="50800" y="2120900"/>
                </a:lnTo>
                <a:lnTo>
                  <a:pt x="0" y="2120900"/>
                </a:lnTo>
                <a:lnTo>
                  <a:pt x="0" y="0"/>
                </a:lnTo>
                <a:close/>
              </a:path>
            </a:pathLst>
          </a:custGeom>
          <a:solidFill>
            <a:srgbClr val="4A6C8C"/>
          </a:solidFill>
          <a:ln/>
        </p:spPr>
      </p:sp>
      <p:sp>
        <p:nvSpPr>
          <p:cNvPr id="6" name="Shape 4"/>
          <p:cNvSpPr/>
          <p:nvPr/>
        </p:nvSpPr>
        <p:spPr>
          <a:xfrm>
            <a:off x="812800" y="2633067"/>
            <a:ext cx="609600" cy="609600"/>
          </a:xfrm>
          <a:custGeom>
            <a:avLst/>
            <a:gdLst/>
            <a:ahLst/>
            <a:cxnLst/>
            <a:rect l="l" t="t" r="r" b="b"/>
            <a:pathLst>
              <a:path w="609600" h="609600">
                <a:moveTo>
                  <a:pt x="304800" y="0"/>
                </a:moveTo>
                <a:lnTo>
                  <a:pt x="304800" y="0"/>
                </a:lnTo>
                <a:cubicBezTo>
                  <a:pt x="473024" y="0"/>
                  <a:pt x="609600" y="136576"/>
                  <a:pt x="609600" y="304800"/>
                </a:cubicBezTo>
                <a:lnTo>
                  <a:pt x="609600" y="304800"/>
                </a:lnTo>
                <a:cubicBezTo>
                  <a:pt x="609600" y="473024"/>
                  <a:pt x="473024" y="609600"/>
                  <a:pt x="304800" y="609600"/>
                </a:cubicBezTo>
                <a:lnTo>
                  <a:pt x="304800" y="609600"/>
                </a:lnTo>
                <a:cubicBezTo>
                  <a:pt x="136576" y="609600"/>
                  <a:pt x="0" y="473024"/>
                  <a:pt x="0" y="304800"/>
                </a:cubicBezTo>
                <a:lnTo>
                  <a:pt x="0" y="304800"/>
                </a:lnTo>
                <a:cubicBezTo>
                  <a:pt x="0" y="136576"/>
                  <a:pt x="136576" y="0"/>
                  <a:pt x="304800" y="0"/>
                </a:cubicBezTo>
                <a:close/>
              </a:path>
            </a:pathLst>
          </a:custGeom>
          <a:solidFill>
            <a:srgbClr val="4A6C8C"/>
          </a:solidFill>
          <a:ln/>
        </p:spPr>
      </p:sp>
      <p:sp>
        <p:nvSpPr>
          <p:cNvPr id="7" name="Text 5"/>
          <p:cNvSpPr/>
          <p:nvPr/>
        </p:nvSpPr>
        <p:spPr>
          <a:xfrm>
            <a:off x="749300" y="2633067"/>
            <a:ext cx="7366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fr-FR" sz="2000" b="1" smtClean="0">
                <a:solidFill>
                  <a:srgbClr val="E8E8E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01</a:t>
            </a:r>
            <a:endParaRPr lang="fr-FR" sz="1600" dirty="0"/>
          </a:p>
        </p:txBody>
      </p:sp>
      <p:sp>
        <p:nvSpPr>
          <p:cNvPr id="8" name="Text 6">
            <a:hlinkClick r:id="" action="ppaction://hlinkshowjump?jump=nextslide"/>
          </p:cNvPr>
          <p:cNvSpPr/>
          <p:nvPr/>
        </p:nvSpPr>
        <p:spPr>
          <a:xfrm>
            <a:off x="1625600" y="2582267"/>
            <a:ext cx="29972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fr-FR" sz="2000" b="1" dirty="0" smtClean="0">
                <a:solidFill>
                  <a:srgbClr val="E8E8E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Introduction &amp; Contexte</a:t>
            </a:r>
            <a:endParaRPr lang="fr-FR" sz="1600" dirty="0"/>
          </a:p>
        </p:txBody>
      </p:sp>
      <p:sp>
        <p:nvSpPr>
          <p:cNvPr id="9" name="Text 7"/>
          <p:cNvSpPr/>
          <p:nvPr/>
        </p:nvSpPr>
        <p:spPr>
          <a:xfrm>
            <a:off x="1625600" y="2988667"/>
            <a:ext cx="29718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fr-FR" sz="1600" smtClean="0">
                <a:solidFill>
                  <a:srgbClr val="7D8A9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Présentation ONE-TOO et projet</a:t>
            </a:r>
            <a:endParaRPr lang="fr-FR" sz="1600" dirty="0"/>
          </a:p>
        </p:txBody>
      </p:sp>
      <p:sp>
        <p:nvSpPr>
          <p:cNvPr id="10" name="Shape 8"/>
          <p:cNvSpPr/>
          <p:nvPr/>
        </p:nvSpPr>
        <p:spPr>
          <a:xfrm>
            <a:off x="8356600" y="1879600"/>
            <a:ext cx="7391400" cy="2120900"/>
          </a:xfrm>
          <a:custGeom>
            <a:avLst/>
            <a:gdLst/>
            <a:ahLst/>
            <a:cxnLst/>
            <a:rect l="l" t="t" r="r" b="b"/>
            <a:pathLst>
              <a:path w="7391400" h="2120900">
                <a:moveTo>
                  <a:pt x="0" y="0"/>
                </a:moveTo>
                <a:lnTo>
                  <a:pt x="7340604" y="0"/>
                </a:lnTo>
                <a:cubicBezTo>
                  <a:pt x="7368658" y="0"/>
                  <a:pt x="7391400" y="22742"/>
                  <a:pt x="7391400" y="50796"/>
                </a:cubicBezTo>
                <a:lnTo>
                  <a:pt x="7391400" y="2070104"/>
                </a:lnTo>
                <a:cubicBezTo>
                  <a:pt x="7391400" y="2098158"/>
                  <a:pt x="7368658" y="2120900"/>
                  <a:pt x="7340604" y="2120900"/>
                </a:cubicBezTo>
                <a:lnTo>
                  <a:pt x="0" y="2120900"/>
                </a:lnTo>
                <a:lnTo>
                  <a:pt x="0" y="0"/>
                </a:lnTo>
                <a:close/>
              </a:path>
            </a:pathLst>
          </a:custGeom>
          <a:solidFill>
            <a:srgbClr val="4A6C8C">
              <a:alpha val="10196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8356600" y="1879600"/>
            <a:ext cx="50800" cy="2120900"/>
          </a:xfrm>
          <a:custGeom>
            <a:avLst/>
            <a:gdLst/>
            <a:ahLst/>
            <a:cxnLst/>
            <a:rect l="l" t="t" r="r" b="b"/>
            <a:pathLst>
              <a:path w="50800" h="2120900">
                <a:moveTo>
                  <a:pt x="0" y="0"/>
                </a:moveTo>
                <a:lnTo>
                  <a:pt x="50800" y="0"/>
                </a:lnTo>
                <a:lnTo>
                  <a:pt x="50800" y="2120900"/>
                </a:lnTo>
                <a:lnTo>
                  <a:pt x="0" y="2120900"/>
                </a:lnTo>
                <a:lnTo>
                  <a:pt x="0" y="0"/>
                </a:lnTo>
                <a:close/>
              </a:path>
            </a:pathLst>
          </a:custGeom>
          <a:solidFill>
            <a:srgbClr val="E89F5B"/>
          </a:solidFill>
          <a:ln/>
        </p:spPr>
      </p:sp>
      <p:sp>
        <p:nvSpPr>
          <p:cNvPr id="12" name="Shape 10"/>
          <p:cNvSpPr/>
          <p:nvPr/>
        </p:nvSpPr>
        <p:spPr>
          <a:xfrm>
            <a:off x="8636000" y="2633067"/>
            <a:ext cx="609600" cy="609600"/>
          </a:xfrm>
          <a:custGeom>
            <a:avLst/>
            <a:gdLst/>
            <a:ahLst/>
            <a:cxnLst/>
            <a:rect l="l" t="t" r="r" b="b"/>
            <a:pathLst>
              <a:path w="609600" h="609600">
                <a:moveTo>
                  <a:pt x="304800" y="0"/>
                </a:moveTo>
                <a:lnTo>
                  <a:pt x="304800" y="0"/>
                </a:lnTo>
                <a:cubicBezTo>
                  <a:pt x="473024" y="0"/>
                  <a:pt x="609600" y="136576"/>
                  <a:pt x="609600" y="304800"/>
                </a:cubicBezTo>
                <a:lnTo>
                  <a:pt x="609600" y="304800"/>
                </a:lnTo>
                <a:cubicBezTo>
                  <a:pt x="609600" y="473024"/>
                  <a:pt x="473024" y="609600"/>
                  <a:pt x="304800" y="609600"/>
                </a:cubicBezTo>
                <a:lnTo>
                  <a:pt x="304800" y="609600"/>
                </a:lnTo>
                <a:cubicBezTo>
                  <a:pt x="136576" y="609600"/>
                  <a:pt x="0" y="473024"/>
                  <a:pt x="0" y="304800"/>
                </a:cubicBezTo>
                <a:lnTo>
                  <a:pt x="0" y="304800"/>
                </a:lnTo>
                <a:cubicBezTo>
                  <a:pt x="0" y="136576"/>
                  <a:pt x="136576" y="0"/>
                  <a:pt x="304800" y="0"/>
                </a:cubicBezTo>
                <a:close/>
              </a:path>
            </a:pathLst>
          </a:custGeom>
          <a:solidFill>
            <a:srgbClr val="E89F5B"/>
          </a:solidFill>
          <a:ln/>
        </p:spPr>
      </p:sp>
      <p:sp>
        <p:nvSpPr>
          <p:cNvPr id="13" name="Text 11"/>
          <p:cNvSpPr/>
          <p:nvPr/>
        </p:nvSpPr>
        <p:spPr>
          <a:xfrm>
            <a:off x="8572500" y="2633067"/>
            <a:ext cx="7366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fr-FR" sz="2000" b="1" smtClean="0">
                <a:solidFill>
                  <a:srgbClr val="1A1D21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02</a:t>
            </a:r>
            <a:endParaRPr lang="fr-FR" sz="1600" dirty="0"/>
          </a:p>
        </p:txBody>
      </p:sp>
      <p:sp>
        <p:nvSpPr>
          <p:cNvPr id="14" name="Text 12">
            <a:hlinkClick r:id="rId3" action="ppaction://hlinksldjump"/>
          </p:cNvPr>
          <p:cNvSpPr/>
          <p:nvPr/>
        </p:nvSpPr>
        <p:spPr>
          <a:xfrm>
            <a:off x="9448800" y="2582267"/>
            <a:ext cx="32512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fr-FR" sz="2000" b="1" dirty="0" smtClean="0">
                <a:solidFill>
                  <a:srgbClr val="E8E8E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Problématique &amp; Objectifs</a:t>
            </a:r>
            <a:endParaRPr lang="fr-FR" sz="1600" dirty="0"/>
          </a:p>
        </p:txBody>
      </p:sp>
      <p:sp>
        <p:nvSpPr>
          <p:cNvPr id="15" name="Text 13"/>
          <p:cNvSpPr/>
          <p:nvPr/>
        </p:nvSpPr>
        <p:spPr>
          <a:xfrm>
            <a:off x="9448799" y="2988667"/>
            <a:ext cx="3756561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fr-FR" sz="1600" smtClean="0">
                <a:solidFill>
                  <a:srgbClr val="7D8A9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Banc Actuel vs Futur Banc automatisé</a:t>
            </a:r>
            <a:endParaRPr lang="fr-FR" sz="1600" dirty="0"/>
          </a:p>
        </p:txBody>
      </p:sp>
      <p:sp>
        <p:nvSpPr>
          <p:cNvPr id="16" name="Shape 14"/>
          <p:cNvSpPr/>
          <p:nvPr/>
        </p:nvSpPr>
        <p:spPr>
          <a:xfrm>
            <a:off x="533400" y="4199334"/>
            <a:ext cx="7391400" cy="2120900"/>
          </a:xfrm>
          <a:custGeom>
            <a:avLst/>
            <a:gdLst/>
            <a:ahLst/>
            <a:cxnLst/>
            <a:rect l="l" t="t" r="r" b="b"/>
            <a:pathLst>
              <a:path w="7391400" h="2120900">
                <a:moveTo>
                  <a:pt x="0" y="0"/>
                </a:moveTo>
                <a:lnTo>
                  <a:pt x="7340604" y="0"/>
                </a:lnTo>
                <a:cubicBezTo>
                  <a:pt x="7368658" y="0"/>
                  <a:pt x="7391400" y="22742"/>
                  <a:pt x="7391400" y="50796"/>
                </a:cubicBezTo>
                <a:lnTo>
                  <a:pt x="7391400" y="2070104"/>
                </a:lnTo>
                <a:cubicBezTo>
                  <a:pt x="7391400" y="2098158"/>
                  <a:pt x="7368658" y="2120900"/>
                  <a:pt x="7340604" y="2120900"/>
                </a:cubicBezTo>
                <a:lnTo>
                  <a:pt x="0" y="2120900"/>
                </a:lnTo>
                <a:lnTo>
                  <a:pt x="0" y="0"/>
                </a:lnTo>
                <a:close/>
              </a:path>
            </a:pathLst>
          </a:custGeom>
          <a:solidFill>
            <a:srgbClr val="4A6C8C">
              <a:alpha val="10196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533400" y="4199334"/>
            <a:ext cx="50800" cy="2120900"/>
          </a:xfrm>
          <a:custGeom>
            <a:avLst/>
            <a:gdLst/>
            <a:ahLst/>
            <a:cxnLst/>
            <a:rect l="l" t="t" r="r" b="b"/>
            <a:pathLst>
              <a:path w="50800" h="2120900">
                <a:moveTo>
                  <a:pt x="0" y="0"/>
                </a:moveTo>
                <a:lnTo>
                  <a:pt x="50800" y="0"/>
                </a:lnTo>
                <a:lnTo>
                  <a:pt x="50800" y="2120900"/>
                </a:lnTo>
                <a:lnTo>
                  <a:pt x="0" y="2120900"/>
                </a:lnTo>
                <a:lnTo>
                  <a:pt x="0" y="0"/>
                </a:lnTo>
                <a:close/>
              </a:path>
            </a:pathLst>
          </a:custGeom>
          <a:solidFill>
            <a:srgbClr val="4A6C8C"/>
          </a:solidFill>
          <a:ln/>
        </p:spPr>
      </p:sp>
      <p:sp>
        <p:nvSpPr>
          <p:cNvPr id="18" name="Shape 16"/>
          <p:cNvSpPr/>
          <p:nvPr/>
        </p:nvSpPr>
        <p:spPr>
          <a:xfrm>
            <a:off x="812800" y="4952802"/>
            <a:ext cx="609600" cy="609600"/>
          </a:xfrm>
          <a:custGeom>
            <a:avLst/>
            <a:gdLst/>
            <a:ahLst/>
            <a:cxnLst/>
            <a:rect l="l" t="t" r="r" b="b"/>
            <a:pathLst>
              <a:path w="609600" h="609600">
                <a:moveTo>
                  <a:pt x="304800" y="0"/>
                </a:moveTo>
                <a:lnTo>
                  <a:pt x="304800" y="0"/>
                </a:lnTo>
                <a:cubicBezTo>
                  <a:pt x="473024" y="0"/>
                  <a:pt x="609600" y="136576"/>
                  <a:pt x="609600" y="304800"/>
                </a:cubicBezTo>
                <a:lnTo>
                  <a:pt x="609600" y="304800"/>
                </a:lnTo>
                <a:cubicBezTo>
                  <a:pt x="609600" y="473024"/>
                  <a:pt x="473024" y="609600"/>
                  <a:pt x="304800" y="609600"/>
                </a:cubicBezTo>
                <a:lnTo>
                  <a:pt x="304800" y="609600"/>
                </a:lnTo>
                <a:cubicBezTo>
                  <a:pt x="136576" y="609600"/>
                  <a:pt x="0" y="473024"/>
                  <a:pt x="0" y="304800"/>
                </a:cubicBezTo>
                <a:lnTo>
                  <a:pt x="0" y="304800"/>
                </a:lnTo>
                <a:cubicBezTo>
                  <a:pt x="0" y="136576"/>
                  <a:pt x="136576" y="0"/>
                  <a:pt x="304800" y="0"/>
                </a:cubicBezTo>
                <a:close/>
              </a:path>
            </a:pathLst>
          </a:custGeom>
          <a:solidFill>
            <a:srgbClr val="4A6C8C"/>
          </a:solidFill>
          <a:ln/>
        </p:spPr>
      </p:sp>
      <p:sp>
        <p:nvSpPr>
          <p:cNvPr id="19" name="Text 17"/>
          <p:cNvSpPr/>
          <p:nvPr/>
        </p:nvSpPr>
        <p:spPr>
          <a:xfrm>
            <a:off x="749300" y="4952802"/>
            <a:ext cx="7366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fr-FR" sz="2000" b="1" smtClean="0">
                <a:solidFill>
                  <a:srgbClr val="E8E8E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03</a:t>
            </a:r>
            <a:endParaRPr lang="fr-FR" sz="1600" dirty="0"/>
          </a:p>
        </p:txBody>
      </p:sp>
      <p:sp>
        <p:nvSpPr>
          <p:cNvPr id="20" name="Text 18">
            <a:hlinkClick r:id="rId4" action="ppaction://hlinksldjump"/>
          </p:cNvPr>
          <p:cNvSpPr/>
          <p:nvPr/>
        </p:nvSpPr>
        <p:spPr>
          <a:xfrm>
            <a:off x="1625600" y="4902002"/>
            <a:ext cx="30607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fr-FR" sz="2000" b="1" dirty="0" smtClean="0">
                <a:solidFill>
                  <a:srgbClr val="E8E8E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Architecture du Système</a:t>
            </a:r>
            <a:endParaRPr lang="fr-FR" sz="1600" dirty="0"/>
          </a:p>
        </p:txBody>
      </p:sp>
      <p:sp>
        <p:nvSpPr>
          <p:cNvPr id="21" name="Text 19"/>
          <p:cNvSpPr/>
          <p:nvPr/>
        </p:nvSpPr>
        <p:spPr>
          <a:xfrm>
            <a:off x="1625600" y="5308402"/>
            <a:ext cx="30353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fr-FR" sz="1600" smtClean="0">
                <a:solidFill>
                  <a:srgbClr val="7D8A9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Matériel et logicielle</a:t>
            </a:r>
            <a:endParaRPr lang="fr-FR" sz="1600" dirty="0"/>
          </a:p>
        </p:txBody>
      </p:sp>
      <p:sp>
        <p:nvSpPr>
          <p:cNvPr id="22" name="Shape 20"/>
          <p:cNvSpPr/>
          <p:nvPr/>
        </p:nvSpPr>
        <p:spPr>
          <a:xfrm>
            <a:off x="8356600" y="4199334"/>
            <a:ext cx="7391400" cy="2120900"/>
          </a:xfrm>
          <a:custGeom>
            <a:avLst/>
            <a:gdLst/>
            <a:ahLst/>
            <a:cxnLst/>
            <a:rect l="l" t="t" r="r" b="b"/>
            <a:pathLst>
              <a:path w="7391400" h="2120900">
                <a:moveTo>
                  <a:pt x="0" y="0"/>
                </a:moveTo>
                <a:lnTo>
                  <a:pt x="7340604" y="0"/>
                </a:lnTo>
                <a:cubicBezTo>
                  <a:pt x="7368658" y="0"/>
                  <a:pt x="7391400" y="22742"/>
                  <a:pt x="7391400" y="50796"/>
                </a:cubicBezTo>
                <a:lnTo>
                  <a:pt x="7391400" y="2070104"/>
                </a:lnTo>
                <a:cubicBezTo>
                  <a:pt x="7391400" y="2098158"/>
                  <a:pt x="7368658" y="2120900"/>
                  <a:pt x="7340604" y="2120900"/>
                </a:cubicBezTo>
                <a:lnTo>
                  <a:pt x="0" y="2120900"/>
                </a:lnTo>
                <a:lnTo>
                  <a:pt x="0" y="0"/>
                </a:lnTo>
                <a:close/>
              </a:path>
            </a:pathLst>
          </a:custGeom>
          <a:solidFill>
            <a:srgbClr val="4A6C8C">
              <a:alpha val="10196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8356600" y="4199334"/>
            <a:ext cx="50800" cy="2120900"/>
          </a:xfrm>
          <a:custGeom>
            <a:avLst/>
            <a:gdLst/>
            <a:ahLst/>
            <a:cxnLst/>
            <a:rect l="l" t="t" r="r" b="b"/>
            <a:pathLst>
              <a:path w="50800" h="2120900">
                <a:moveTo>
                  <a:pt x="0" y="0"/>
                </a:moveTo>
                <a:lnTo>
                  <a:pt x="50800" y="0"/>
                </a:lnTo>
                <a:lnTo>
                  <a:pt x="50800" y="2120900"/>
                </a:lnTo>
                <a:lnTo>
                  <a:pt x="0" y="2120900"/>
                </a:lnTo>
                <a:lnTo>
                  <a:pt x="0" y="0"/>
                </a:lnTo>
                <a:close/>
              </a:path>
            </a:pathLst>
          </a:custGeom>
          <a:solidFill>
            <a:srgbClr val="E89F5B"/>
          </a:solidFill>
          <a:ln/>
        </p:spPr>
      </p:sp>
      <p:sp>
        <p:nvSpPr>
          <p:cNvPr id="24" name="Shape 22"/>
          <p:cNvSpPr/>
          <p:nvPr/>
        </p:nvSpPr>
        <p:spPr>
          <a:xfrm>
            <a:off x="8636000" y="4952802"/>
            <a:ext cx="609600" cy="609600"/>
          </a:xfrm>
          <a:custGeom>
            <a:avLst/>
            <a:gdLst/>
            <a:ahLst/>
            <a:cxnLst/>
            <a:rect l="l" t="t" r="r" b="b"/>
            <a:pathLst>
              <a:path w="609600" h="609600">
                <a:moveTo>
                  <a:pt x="304800" y="0"/>
                </a:moveTo>
                <a:lnTo>
                  <a:pt x="304800" y="0"/>
                </a:lnTo>
                <a:cubicBezTo>
                  <a:pt x="473024" y="0"/>
                  <a:pt x="609600" y="136576"/>
                  <a:pt x="609600" y="304800"/>
                </a:cubicBezTo>
                <a:lnTo>
                  <a:pt x="609600" y="304800"/>
                </a:lnTo>
                <a:cubicBezTo>
                  <a:pt x="609600" y="473024"/>
                  <a:pt x="473024" y="609600"/>
                  <a:pt x="304800" y="609600"/>
                </a:cubicBezTo>
                <a:lnTo>
                  <a:pt x="304800" y="609600"/>
                </a:lnTo>
                <a:cubicBezTo>
                  <a:pt x="136576" y="609600"/>
                  <a:pt x="0" y="473024"/>
                  <a:pt x="0" y="304800"/>
                </a:cubicBezTo>
                <a:lnTo>
                  <a:pt x="0" y="304800"/>
                </a:lnTo>
                <a:cubicBezTo>
                  <a:pt x="0" y="136576"/>
                  <a:pt x="136576" y="0"/>
                  <a:pt x="304800" y="0"/>
                </a:cubicBezTo>
                <a:close/>
              </a:path>
            </a:pathLst>
          </a:custGeom>
          <a:solidFill>
            <a:srgbClr val="E89F5B"/>
          </a:solidFill>
          <a:ln/>
        </p:spPr>
      </p:sp>
      <p:sp>
        <p:nvSpPr>
          <p:cNvPr id="25" name="Text 23"/>
          <p:cNvSpPr/>
          <p:nvPr/>
        </p:nvSpPr>
        <p:spPr>
          <a:xfrm>
            <a:off x="8572500" y="4952802"/>
            <a:ext cx="7366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fr-FR" sz="2000" b="1" smtClean="0">
                <a:solidFill>
                  <a:srgbClr val="1A1D21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04</a:t>
            </a:r>
            <a:endParaRPr lang="fr-FR" sz="1600" dirty="0"/>
          </a:p>
        </p:txBody>
      </p:sp>
      <p:sp>
        <p:nvSpPr>
          <p:cNvPr id="26" name="Text 24">
            <a:hlinkClick r:id="rId5" action="ppaction://hlinksldjump"/>
          </p:cNvPr>
          <p:cNvSpPr/>
          <p:nvPr/>
        </p:nvSpPr>
        <p:spPr>
          <a:xfrm>
            <a:off x="9448800" y="4902002"/>
            <a:ext cx="30988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fr-FR" sz="2000" b="1" dirty="0" smtClean="0">
                <a:solidFill>
                  <a:srgbClr val="E8E8E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Sous-systèmes Clés</a:t>
            </a:r>
            <a:endParaRPr lang="fr-FR" sz="1600" dirty="0"/>
          </a:p>
        </p:txBody>
      </p:sp>
      <p:sp>
        <p:nvSpPr>
          <p:cNvPr id="27" name="Text 25"/>
          <p:cNvSpPr/>
          <p:nvPr/>
        </p:nvSpPr>
        <p:spPr>
          <a:xfrm>
            <a:off x="9448800" y="5308402"/>
            <a:ext cx="30734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fr-FR" sz="1600" smtClean="0">
                <a:solidFill>
                  <a:srgbClr val="7D8A9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Mécanique, motorisation, mesure</a:t>
            </a:r>
            <a:endParaRPr lang="fr-FR" sz="1600" dirty="0"/>
          </a:p>
        </p:txBody>
      </p:sp>
      <p:sp>
        <p:nvSpPr>
          <p:cNvPr id="28" name="Shape 26"/>
          <p:cNvSpPr/>
          <p:nvPr/>
        </p:nvSpPr>
        <p:spPr>
          <a:xfrm>
            <a:off x="533400" y="6519069"/>
            <a:ext cx="7391400" cy="2120900"/>
          </a:xfrm>
          <a:custGeom>
            <a:avLst/>
            <a:gdLst/>
            <a:ahLst/>
            <a:cxnLst/>
            <a:rect l="l" t="t" r="r" b="b"/>
            <a:pathLst>
              <a:path w="7391400" h="2120900">
                <a:moveTo>
                  <a:pt x="0" y="0"/>
                </a:moveTo>
                <a:lnTo>
                  <a:pt x="7340604" y="0"/>
                </a:lnTo>
                <a:cubicBezTo>
                  <a:pt x="7368658" y="0"/>
                  <a:pt x="7391400" y="22742"/>
                  <a:pt x="7391400" y="50796"/>
                </a:cubicBezTo>
                <a:lnTo>
                  <a:pt x="7391400" y="2070104"/>
                </a:lnTo>
                <a:cubicBezTo>
                  <a:pt x="7391400" y="2098158"/>
                  <a:pt x="7368658" y="2120900"/>
                  <a:pt x="7340604" y="2120900"/>
                </a:cubicBezTo>
                <a:lnTo>
                  <a:pt x="0" y="2120900"/>
                </a:lnTo>
                <a:lnTo>
                  <a:pt x="0" y="0"/>
                </a:lnTo>
                <a:close/>
              </a:path>
            </a:pathLst>
          </a:custGeom>
          <a:solidFill>
            <a:srgbClr val="4A6C8C">
              <a:alpha val="10196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533400" y="6519069"/>
            <a:ext cx="50800" cy="2120900"/>
          </a:xfrm>
          <a:custGeom>
            <a:avLst/>
            <a:gdLst/>
            <a:ahLst/>
            <a:cxnLst/>
            <a:rect l="l" t="t" r="r" b="b"/>
            <a:pathLst>
              <a:path w="50800" h="2120900">
                <a:moveTo>
                  <a:pt x="0" y="0"/>
                </a:moveTo>
                <a:lnTo>
                  <a:pt x="50800" y="0"/>
                </a:lnTo>
                <a:lnTo>
                  <a:pt x="50800" y="2120900"/>
                </a:lnTo>
                <a:lnTo>
                  <a:pt x="0" y="2120900"/>
                </a:lnTo>
                <a:lnTo>
                  <a:pt x="0" y="0"/>
                </a:lnTo>
                <a:close/>
              </a:path>
            </a:pathLst>
          </a:custGeom>
          <a:solidFill>
            <a:srgbClr val="4A6C8C"/>
          </a:solidFill>
          <a:ln/>
        </p:spPr>
      </p:sp>
      <p:sp>
        <p:nvSpPr>
          <p:cNvPr id="30" name="Shape 28"/>
          <p:cNvSpPr/>
          <p:nvPr/>
        </p:nvSpPr>
        <p:spPr>
          <a:xfrm>
            <a:off x="812800" y="7272536"/>
            <a:ext cx="609600" cy="609600"/>
          </a:xfrm>
          <a:custGeom>
            <a:avLst/>
            <a:gdLst/>
            <a:ahLst/>
            <a:cxnLst/>
            <a:rect l="l" t="t" r="r" b="b"/>
            <a:pathLst>
              <a:path w="609600" h="609600">
                <a:moveTo>
                  <a:pt x="304800" y="0"/>
                </a:moveTo>
                <a:lnTo>
                  <a:pt x="304800" y="0"/>
                </a:lnTo>
                <a:cubicBezTo>
                  <a:pt x="473024" y="0"/>
                  <a:pt x="609600" y="136576"/>
                  <a:pt x="609600" y="304800"/>
                </a:cubicBezTo>
                <a:lnTo>
                  <a:pt x="609600" y="304800"/>
                </a:lnTo>
                <a:cubicBezTo>
                  <a:pt x="609600" y="473024"/>
                  <a:pt x="473024" y="609600"/>
                  <a:pt x="304800" y="609600"/>
                </a:cubicBezTo>
                <a:lnTo>
                  <a:pt x="304800" y="609600"/>
                </a:lnTo>
                <a:cubicBezTo>
                  <a:pt x="136576" y="609600"/>
                  <a:pt x="0" y="473024"/>
                  <a:pt x="0" y="304800"/>
                </a:cubicBezTo>
                <a:lnTo>
                  <a:pt x="0" y="304800"/>
                </a:lnTo>
                <a:cubicBezTo>
                  <a:pt x="0" y="136576"/>
                  <a:pt x="136576" y="0"/>
                  <a:pt x="304800" y="0"/>
                </a:cubicBezTo>
                <a:close/>
              </a:path>
            </a:pathLst>
          </a:custGeom>
          <a:solidFill>
            <a:srgbClr val="4A6C8C"/>
          </a:solidFill>
          <a:ln/>
        </p:spPr>
      </p:sp>
      <p:sp>
        <p:nvSpPr>
          <p:cNvPr id="31" name="Text 29"/>
          <p:cNvSpPr/>
          <p:nvPr/>
        </p:nvSpPr>
        <p:spPr>
          <a:xfrm>
            <a:off x="749300" y="7272536"/>
            <a:ext cx="7366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fr-FR" sz="2000" b="1" smtClean="0">
                <a:solidFill>
                  <a:srgbClr val="E8E8E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05</a:t>
            </a:r>
            <a:endParaRPr lang="fr-FR" sz="1600" dirty="0"/>
          </a:p>
        </p:txBody>
      </p:sp>
      <p:sp>
        <p:nvSpPr>
          <p:cNvPr id="32" name="Text 30">
            <a:hlinkClick r:id="rId6" action="ppaction://hlinksldjump"/>
          </p:cNvPr>
          <p:cNvSpPr/>
          <p:nvPr/>
        </p:nvSpPr>
        <p:spPr>
          <a:xfrm>
            <a:off x="1625600" y="7221736"/>
            <a:ext cx="2667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fr-FR" sz="2000" b="1" dirty="0" smtClean="0">
                <a:solidFill>
                  <a:srgbClr val="E8E8E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Sécurités &amp; Cycle</a:t>
            </a:r>
            <a:endParaRPr lang="fr-FR" sz="1600" dirty="0"/>
          </a:p>
        </p:txBody>
      </p:sp>
      <p:sp>
        <p:nvSpPr>
          <p:cNvPr id="33" name="Text 31"/>
          <p:cNvSpPr/>
          <p:nvPr/>
        </p:nvSpPr>
        <p:spPr>
          <a:xfrm>
            <a:off x="1625600" y="7628136"/>
            <a:ext cx="26416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fr-FR" sz="1600" smtClean="0">
                <a:solidFill>
                  <a:srgbClr val="7D8A9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Sécurités et fonctionnement</a:t>
            </a:r>
            <a:endParaRPr lang="fr-FR" sz="1600" dirty="0"/>
          </a:p>
        </p:txBody>
      </p:sp>
      <p:sp>
        <p:nvSpPr>
          <p:cNvPr id="34" name="Shape 32"/>
          <p:cNvSpPr/>
          <p:nvPr/>
        </p:nvSpPr>
        <p:spPr>
          <a:xfrm>
            <a:off x="8356600" y="6519069"/>
            <a:ext cx="7391400" cy="2120900"/>
          </a:xfrm>
          <a:custGeom>
            <a:avLst/>
            <a:gdLst/>
            <a:ahLst/>
            <a:cxnLst/>
            <a:rect l="l" t="t" r="r" b="b"/>
            <a:pathLst>
              <a:path w="7391400" h="2120900">
                <a:moveTo>
                  <a:pt x="0" y="0"/>
                </a:moveTo>
                <a:lnTo>
                  <a:pt x="7340604" y="0"/>
                </a:lnTo>
                <a:cubicBezTo>
                  <a:pt x="7368658" y="0"/>
                  <a:pt x="7391400" y="22742"/>
                  <a:pt x="7391400" y="50796"/>
                </a:cubicBezTo>
                <a:lnTo>
                  <a:pt x="7391400" y="2070104"/>
                </a:lnTo>
                <a:cubicBezTo>
                  <a:pt x="7391400" y="2098158"/>
                  <a:pt x="7368658" y="2120900"/>
                  <a:pt x="7340604" y="2120900"/>
                </a:cubicBezTo>
                <a:lnTo>
                  <a:pt x="0" y="2120900"/>
                </a:lnTo>
                <a:lnTo>
                  <a:pt x="0" y="0"/>
                </a:lnTo>
                <a:close/>
              </a:path>
            </a:pathLst>
          </a:custGeom>
          <a:solidFill>
            <a:srgbClr val="4A6C8C">
              <a:alpha val="10196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8356600" y="6519069"/>
            <a:ext cx="50800" cy="2120900"/>
          </a:xfrm>
          <a:custGeom>
            <a:avLst/>
            <a:gdLst/>
            <a:ahLst/>
            <a:cxnLst/>
            <a:rect l="l" t="t" r="r" b="b"/>
            <a:pathLst>
              <a:path w="50800" h="2120900">
                <a:moveTo>
                  <a:pt x="0" y="0"/>
                </a:moveTo>
                <a:lnTo>
                  <a:pt x="50800" y="0"/>
                </a:lnTo>
                <a:lnTo>
                  <a:pt x="50800" y="2120900"/>
                </a:lnTo>
                <a:lnTo>
                  <a:pt x="0" y="2120900"/>
                </a:lnTo>
                <a:lnTo>
                  <a:pt x="0" y="0"/>
                </a:lnTo>
                <a:close/>
              </a:path>
            </a:pathLst>
          </a:custGeom>
          <a:solidFill>
            <a:srgbClr val="E89F5B"/>
          </a:solidFill>
          <a:ln/>
        </p:spPr>
      </p:sp>
      <p:sp>
        <p:nvSpPr>
          <p:cNvPr id="36" name="Shape 34"/>
          <p:cNvSpPr/>
          <p:nvPr/>
        </p:nvSpPr>
        <p:spPr>
          <a:xfrm>
            <a:off x="8636000" y="7272536"/>
            <a:ext cx="609600" cy="609600"/>
          </a:xfrm>
          <a:custGeom>
            <a:avLst/>
            <a:gdLst/>
            <a:ahLst/>
            <a:cxnLst/>
            <a:rect l="l" t="t" r="r" b="b"/>
            <a:pathLst>
              <a:path w="609600" h="609600">
                <a:moveTo>
                  <a:pt x="304800" y="0"/>
                </a:moveTo>
                <a:lnTo>
                  <a:pt x="304800" y="0"/>
                </a:lnTo>
                <a:cubicBezTo>
                  <a:pt x="473024" y="0"/>
                  <a:pt x="609600" y="136576"/>
                  <a:pt x="609600" y="304800"/>
                </a:cubicBezTo>
                <a:lnTo>
                  <a:pt x="609600" y="304800"/>
                </a:lnTo>
                <a:cubicBezTo>
                  <a:pt x="609600" y="473024"/>
                  <a:pt x="473024" y="609600"/>
                  <a:pt x="304800" y="609600"/>
                </a:cubicBezTo>
                <a:lnTo>
                  <a:pt x="304800" y="609600"/>
                </a:lnTo>
                <a:cubicBezTo>
                  <a:pt x="136576" y="609600"/>
                  <a:pt x="0" y="473024"/>
                  <a:pt x="0" y="304800"/>
                </a:cubicBezTo>
                <a:lnTo>
                  <a:pt x="0" y="304800"/>
                </a:lnTo>
                <a:cubicBezTo>
                  <a:pt x="0" y="136576"/>
                  <a:pt x="136576" y="0"/>
                  <a:pt x="304800" y="0"/>
                </a:cubicBezTo>
                <a:close/>
              </a:path>
            </a:pathLst>
          </a:custGeom>
          <a:solidFill>
            <a:srgbClr val="E89F5B"/>
          </a:solidFill>
          <a:ln/>
        </p:spPr>
      </p:sp>
      <p:sp>
        <p:nvSpPr>
          <p:cNvPr id="37" name="Text 35"/>
          <p:cNvSpPr/>
          <p:nvPr/>
        </p:nvSpPr>
        <p:spPr>
          <a:xfrm>
            <a:off x="8572500" y="7272536"/>
            <a:ext cx="7366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fr-FR" sz="2000" b="1" smtClean="0">
                <a:solidFill>
                  <a:srgbClr val="1A1D21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06</a:t>
            </a:r>
            <a:endParaRPr lang="fr-FR" sz="1600" dirty="0"/>
          </a:p>
        </p:txBody>
      </p:sp>
      <p:sp>
        <p:nvSpPr>
          <p:cNvPr id="38" name="Text 36">
            <a:hlinkClick r:id="rId7" action="ppaction://hlinksldjump"/>
          </p:cNvPr>
          <p:cNvSpPr/>
          <p:nvPr/>
        </p:nvSpPr>
        <p:spPr>
          <a:xfrm>
            <a:off x="9448800" y="7221736"/>
            <a:ext cx="2794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fr-FR" sz="2000" b="1" dirty="0" smtClean="0">
                <a:solidFill>
                  <a:srgbClr val="E8E8E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Bilan &amp; Conclusion</a:t>
            </a:r>
            <a:endParaRPr lang="fr-FR" sz="1600" dirty="0"/>
          </a:p>
        </p:txBody>
      </p:sp>
      <p:sp>
        <p:nvSpPr>
          <p:cNvPr id="39" name="Text 37"/>
          <p:cNvSpPr/>
          <p:nvPr/>
        </p:nvSpPr>
        <p:spPr>
          <a:xfrm>
            <a:off x="9448800" y="7628136"/>
            <a:ext cx="27686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fr-FR" sz="1600" smtClean="0">
                <a:solidFill>
                  <a:srgbClr val="7D8A9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Compétences et perspectives</a:t>
            </a:r>
            <a:endParaRPr lang="fr-FR" sz="1600" dirty="0"/>
          </a:p>
        </p:txBody>
      </p:sp>
      <p:sp>
        <p:nvSpPr>
          <p:cNvPr id="40" name="NumPage"/>
          <p:cNvSpPr txBox="1"/>
          <p:nvPr/>
        </p:nvSpPr>
        <p:spPr>
          <a:xfrm>
            <a:off x="15240000" y="8636000"/>
            <a:ext cx="889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fr-FR" sz="1400" smtClean="0">
                <a:solidFill>
                  <a:srgbClr val="E89F5B"/>
                </a:solidFill>
              </a:rPr>
              <a:t>2</a:t>
            </a:r>
            <a:endParaRPr lang="fr-FR" sz="1400" dirty="0">
              <a:solidFill>
                <a:srgbClr val="E89F5B"/>
              </a:solidFill>
            </a:endParaRP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8000" y="508000"/>
            <a:ext cx="153289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fr-FR" sz="1400" b="1" kern="0" spc="140" smtClean="0">
                <a:solidFill>
                  <a:srgbClr val="E89F5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01. INTRODUCTION</a:t>
            </a:r>
            <a:endParaRPr lang="fr-FR" sz="1600" dirty="0"/>
          </a:p>
        </p:txBody>
      </p:sp>
      <p:sp>
        <p:nvSpPr>
          <p:cNvPr id="3" name="Text 1"/>
          <p:cNvSpPr/>
          <p:nvPr/>
        </p:nvSpPr>
        <p:spPr>
          <a:xfrm>
            <a:off x="508000" y="863600"/>
            <a:ext cx="154686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fr-FR" sz="3600" b="1" smtClean="0">
                <a:solidFill>
                  <a:srgbClr val="E8E8E8"/>
                </a:solidFill>
                <a:latin typeface="Hedvig Letters Sans" pitchFamily="34" charset="0"/>
                <a:ea typeface="Hedvig Letters Sans" pitchFamily="34" charset="-122"/>
                <a:cs typeface="Hedvig Letters Sans" pitchFamily="34" charset="-120"/>
              </a:rPr>
              <a:t>ONE-TOO : Contexte Industriel</a:t>
            </a:r>
            <a:endParaRPr lang="fr-FR" sz="1600" dirty="0"/>
          </a:p>
        </p:txBody>
      </p:sp>
      <p:sp>
        <p:nvSpPr>
          <p:cNvPr id="4" name="Shape 2"/>
          <p:cNvSpPr/>
          <p:nvPr/>
        </p:nvSpPr>
        <p:spPr>
          <a:xfrm>
            <a:off x="514350" y="1682750"/>
            <a:ext cx="8204200" cy="1866900"/>
          </a:xfrm>
          <a:custGeom>
            <a:avLst/>
            <a:gdLst/>
            <a:ahLst/>
            <a:cxnLst/>
            <a:rect l="l" t="t" r="r" b="b"/>
            <a:pathLst>
              <a:path w="8204200" h="1866900">
                <a:moveTo>
                  <a:pt x="101597" y="0"/>
                </a:moveTo>
                <a:lnTo>
                  <a:pt x="8102603" y="0"/>
                </a:lnTo>
                <a:cubicBezTo>
                  <a:pt x="8158714" y="0"/>
                  <a:pt x="8204200" y="45486"/>
                  <a:pt x="8204200" y="101597"/>
                </a:cubicBezTo>
                <a:lnTo>
                  <a:pt x="8204200" y="1765303"/>
                </a:lnTo>
                <a:cubicBezTo>
                  <a:pt x="8204200" y="1821414"/>
                  <a:pt x="8158714" y="1866900"/>
                  <a:pt x="8102603" y="1866900"/>
                </a:cubicBezTo>
                <a:lnTo>
                  <a:pt x="101597" y="1866900"/>
                </a:lnTo>
                <a:cubicBezTo>
                  <a:pt x="45486" y="1866900"/>
                  <a:pt x="0" y="1821414"/>
                  <a:pt x="0" y="1765303"/>
                </a:cubicBezTo>
                <a:lnTo>
                  <a:pt x="0" y="101597"/>
                </a:lnTo>
                <a:cubicBezTo>
                  <a:pt x="0" y="45524"/>
                  <a:pt x="45524" y="0"/>
                  <a:pt x="101597" y="0"/>
                </a:cubicBezTo>
                <a:close/>
              </a:path>
            </a:pathLst>
          </a:custGeom>
          <a:solidFill>
            <a:srgbClr val="4A6C8C">
              <a:alpha val="10196"/>
            </a:srgbClr>
          </a:solidFill>
          <a:ln w="12700">
            <a:solidFill>
              <a:srgbClr val="4A6C8C">
                <a:alpha val="30196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308100" y="1943100"/>
            <a:ext cx="1524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fr-FR" sz="2000" b="1" smtClean="0">
                <a:solidFill>
                  <a:srgbClr val="E8E8E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L'Entreprise</a:t>
            </a:r>
            <a:endParaRPr lang="fr-FR" sz="1600" dirty="0"/>
          </a:p>
        </p:txBody>
      </p:sp>
      <p:sp>
        <p:nvSpPr>
          <p:cNvPr id="7" name="Text 5"/>
          <p:cNvSpPr/>
          <p:nvPr/>
        </p:nvSpPr>
        <p:spPr>
          <a:xfrm>
            <a:off x="774700" y="2451100"/>
            <a:ext cx="77851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fr-FR" sz="1600" dirty="0" smtClean="0">
                <a:solidFill>
                  <a:srgbClr val="7D8A9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Société industrielle implantée à </a:t>
            </a:r>
            <a:r>
              <a:rPr lang="fr-FR" sz="1600" dirty="0" smtClean="0">
                <a:solidFill>
                  <a:schemeClr val="bg1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Carros</a:t>
            </a:r>
            <a:r>
              <a:rPr lang="fr-FR" sz="1600" dirty="0" smtClean="0">
                <a:solidFill>
                  <a:srgbClr val="7D8A9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, crée en </a:t>
            </a:r>
            <a:r>
              <a:rPr lang="fr-FR" sz="1600" dirty="0" smtClean="0">
                <a:solidFill>
                  <a:schemeClr val="bg1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1971</a:t>
            </a:r>
            <a:endParaRPr lang="fr-FR" sz="1600" dirty="0">
              <a:solidFill>
                <a:schemeClr val="bg1"/>
              </a:solidFill>
            </a:endParaRPr>
          </a:p>
        </p:txBody>
      </p:sp>
      <p:sp>
        <p:nvSpPr>
          <p:cNvPr id="8" name="Shape 6"/>
          <p:cNvSpPr/>
          <p:nvPr/>
        </p:nvSpPr>
        <p:spPr>
          <a:xfrm>
            <a:off x="774700" y="2933700"/>
            <a:ext cx="1358900" cy="355600"/>
          </a:xfrm>
          <a:custGeom>
            <a:avLst/>
            <a:gdLst/>
            <a:ahLst/>
            <a:cxnLst/>
            <a:rect l="l" t="t" r="r" b="b"/>
            <a:pathLst>
              <a:path w="1358900" h="355600">
                <a:moveTo>
                  <a:pt x="177800" y="0"/>
                </a:moveTo>
                <a:lnTo>
                  <a:pt x="1181100" y="0"/>
                </a:lnTo>
                <a:cubicBezTo>
                  <a:pt x="1279230" y="0"/>
                  <a:pt x="1358900" y="79670"/>
                  <a:pt x="1358900" y="177800"/>
                </a:cubicBezTo>
                <a:lnTo>
                  <a:pt x="1358900" y="177800"/>
                </a:lnTo>
                <a:cubicBezTo>
                  <a:pt x="1358900" y="275930"/>
                  <a:pt x="1279230" y="355600"/>
                  <a:pt x="1181100" y="355600"/>
                </a:cubicBezTo>
                <a:lnTo>
                  <a:pt x="177800" y="355600"/>
                </a:lnTo>
                <a:cubicBezTo>
                  <a:pt x="79670" y="355600"/>
                  <a:pt x="0" y="275930"/>
                  <a:pt x="0" y="177800"/>
                </a:cubicBezTo>
                <a:lnTo>
                  <a:pt x="0" y="177800"/>
                </a:lnTo>
                <a:cubicBezTo>
                  <a:pt x="0" y="79670"/>
                  <a:pt x="79670" y="0"/>
                  <a:pt x="177800" y="0"/>
                </a:cubicBezTo>
                <a:close/>
              </a:path>
            </a:pathLst>
          </a:custGeom>
          <a:solidFill>
            <a:srgbClr val="4A6C8C">
              <a:alpha val="20000"/>
            </a:srgbClr>
          </a:solidFill>
          <a:ln/>
        </p:spPr>
      </p:sp>
      <p:sp>
        <p:nvSpPr>
          <p:cNvPr id="9" name="Text 7"/>
          <p:cNvSpPr/>
          <p:nvPr/>
        </p:nvSpPr>
        <p:spPr>
          <a:xfrm>
            <a:off x="774700" y="2933700"/>
            <a:ext cx="1447800" cy="355600"/>
          </a:xfrm>
          <a:prstGeom prst="rect">
            <a:avLst/>
          </a:prstGeom>
          <a:noFill/>
          <a:ln/>
        </p:spPr>
        <p:txBody>
          <a:bodyPr wrap="square" lIns="152400" tIns="50800" rIns="152400" bIns="50800" rtlCol="0" anchor="ctr"/>
          <a:lstStyle/>
          <a:p>
            <a:pPr>
              <a:lnSpc>
                <a:spcPct val="120000"/>
              </a:lnSpc>
            </a:pPr>
            <a:r>
              <a:rPr lang="fr-FR" sz="1400" smtClean="0">
                <a:solidFill>
                  <a:srgbClr val="E8E8E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Automatisme</a:t>
            </a:r>
            <a:endParaRPr lang="fr-FR" sz="1600" dirty="0"/>
          </a:p>
        </p:txBody>
      </p:sp>
      <p:sp>
        <p:nvSpPr>
          <p:cNvPr id="10" name="Shape 8"/>
          <p:cNvSpPr/>
          <p:nvPr/>
        </p:nvSpPr>
        <p:spPr>
          <a:xfrm>
            <a:off x="2234803" y="2933700"/>
            <a:ext cx="1117600" cy="355600"/>
          </a:xfrm>
          <a:custGeom>
            <a:avLst/>
            <a:gdLst/>
            <a:ahLst/>
            <a:cxnLst/>
            <a:rect l="l" t="t" r="r" b="b"/>
            <a:pathLst>
              <a:path w="1117600" h="355600">
                <a:moveTo>
                  <a:pt x="177800" y="0"/>
                </a:moveTo>
                <a:lnTo>
                  <a:pt x="939800" y="0"/>
                </a:lnTo>
                <a:cubicBezTo>
                  <a:pt x="1037930" y="0"/>
                  <a:pt x="1117600" y="79670"/>
                  <a:pt x="1117600" y="177800"/>
                </a:cubicBezTo>
                <a:lnTo>
                  <a:pt x="1117600" y="177800"/>
                </a:lnTo>
                <a:cubicBezTo>
                  <a:pt x="1117600" y="275930"/>
                  <a:pt x="1037930" y="355600"/>
                  <a:pt x="939800" y="355600"/>
                </a:cubicBezTo>
                <a:lnTo>
                  <a:pt x="177800" y="355600"/>
                </a:lnTo>
                <a:cubicBezTo>
                  <a:pt x="79670" y="355600"/>
                  <a:pt x="0" y="275930"/>
                  <a:pt x="0" y="177800"/>
                </a:cubicBezTo>
                <a:lnTo>
                  <a:pt x="0" y="177800"/>
                </a:lnTo>
                <a:cubicBezTo>
                  <a:pt x="0" y="79670"/>
                  <a:pt x="79670" y="0"/>
                  <a:pt x="177800" y="0"/>
                </a:cubicBezTo>
                <a:close/>
              </a:path>
            </a:pathLst>
          </a:custGeom>
          <a:solidFill>
            <a:srgbClr val="4A6C8C">
              <a:alpha val="20000"/>
            </a:srgbClr>
          </a:solidFill>
          <a:ln/>
        </p:spPr>
      </p:sp>
      <p:sp>
        <p:nvSpPr>
          <p:cNvPr id="11" name="Text 9"/>
          <p:cNvSpPr/>
          <p:nvPr/>
        </p:nvSpPr>
        <p:spPr>
          <a:xfrm>
            <a:off x="2234803" y="2933700"/>
            <a:ext cx="1206500" cy="355600"/>
          </a:xfrm>
          <a:prstGeom prst="rect">
            <a:avLst/>
          </a:prstGeom>
          <a:noFill/>
          <a:ln/>
        </p:spPr>
        <p:txBody>
          <a:bodyPr wrap="square" lIns="152400" tIns="50800" rIns="152400" bIns="50800" rtlCol="0" anchor="ctr"/>
          <a:lstStyle/>
          <a:p>
            <a:pPr>
              <a:lnSpc>
                <a:spcPct val="120000"/>
              </a:lnSpc>
            </a:pPr>
            <a:r>
              <a:rPr lang="fr-FR" sz="1400" smtClean="0">
                <a:solidFill>
                  <a:srgbClr val="E8E8E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Mécanique</a:t>
            </a:r>
            <a:endParaRPr lang="fr-FR" sz="1600" dirty="0"/>
          </a:p>
        </p:txBody>
      </p:sp>
      <p:sp>
        <p:nvSpPr>
          <p:cNvPr id="12" name="Shape 10"/>
          <p:cNvSpPr/>
          <p:nvPr/>
        </p:nvSpPr>
        <p:spPr>
          <a:xfrm>
            <a:off x="3449042" y="2933700"/>
            <a:ext cx="1155700" cy="355600"/>
          </a:xfrm>
          <a:custGeom>
            <a:avLst/>
            <a:gdLst/>
            <a:ahLst/>
            <a:cxnLst/>
            <a:rect l="l" t="t" r="r" b="b"/>
            <a:pathLst>
              <a:path w="1155700" h="355600">
                <a:moveTo>
                  <a:pt x="177800" y="0"/>
                </a:moveTo>
                <a:lnTo>
                  <a:pt x="977900" y="0"/>
                </a:lnTo>
                <a:cubicBezTo>
                  <a:pt x="1076030" y="0"/>
                  <a:pt x="1155700" y="79670"/>
                  <a:pt x="1155700" y="177800"/>
                </a:cubicBezTo>
                <a:lnTo>
                  <a:pt x="1155700" y="177800"/>
                </a:lnTo>
                <a:cubicBezTo>
                  <a:pt x="1155700" y="275930"/>
                  <a:pt x="1076030" y="355600"/>
                  <a:pt x="977900" y="355600"/>
                </a:cubicBezTo>
                <a:lnTo>
                  <a:pt x="177800" y="355600"/>
                </a:lnTo>
                <a:cubicBezTo>
                  <a:pt x="79670" y="355600"/>
                  <a:pt x="0" y="275930"/>
                  <a:pt x="0" y="177800"/>
                </a:cubicBezTo>
                <a:lnTo>
                  <a:pt x="0" y="177800"/>
                </a:lnTo>
                <a:cubicBezTo>
                  <a:pt x="0" y="79670"/>
                  <a:pt x="79670" y="0"/>
                  <a:pt x="177800" y="0"/>
                </a:cubicBezTo>
                <a:close/>
              </a:path>
            </a:pathLst>
          </a:custGeom>
          <a:solidFill>
            <a:srgbClr val="4A6C8C">
              <a:alpha val="20000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3449042" y="2933700"/>
            <a:ext cx="1244600" cy="355600"/>
          </a:xfrm>
          <a:prstGeom prst="rect">
            <a:avLst/>
          </a:prstGeom>
          <a:noFill/>
          <a:ln/>
        </p:spPr>
        <p:txBody>
          <a:bodyPr wrap="square" lIns="152400" tIns="50800" rIns="152400" bIns="50800" rtlCol="0" anchor="ctr"/>
          <a:lstStyle/>
          <a:p>
            <a:pPr>
              <a:lnSpc>
                <a:spcPct val="120000"/>
              </a:lnSpc>
            </a:pPr>
            <a:r>
              <a:rPr lang="fr-FR" sz="1400" smtClean="0">
                <a:solidFill>
                  <a:srgbClr val="E8E8E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Métrologie</a:t>
            </a:r>
            <a:endParaRPr lang="fr-FR" sz="1600" dirty="0"/>
          </a:p>
        </p:txBody>
      </p:sp>
      <p:sp>
        <p:nvSpPr>
          <p:cNvPr id="14" name="Shape 12"/>
          <p:cNvSpPr/>
          <p:nvPr/>
        </p:nvSpPr>
        <p:spPr>
          <a:xfrm>
            <a:off x="502642" y="3765550"/>
            <a:ext cx="8215908" cy="3240892"/>
          </a:xfrm>
          <a:custGeom>
            <a:avLst/>
            <a:gdLst/>
            <a:ahLst/>
            <a:cxnLst/>
            <a:rect l="l" t="t" r="r" b="b"/>
            <a:pathLst>
              <a:path w="8204200" h="1778000">
                <a:moveTo>
                  <a:pt x="101595" y="0"/>
                </a:moveTo>
                <a:lnTo>
                  <a:pt x="8102605" y="0"/>
                </a:lnTo>
                <a:cubicBezTo>
                  <a:pt x="8158714" y="0"/>
                  <a:pt x="8204200" y="45486"/>
                  <a:pt x="8204200" y="101595"/>
                </a:cubicBezTo>
                <a:lnTo>
                  <a:pt x="8204200" y="1676405"/>
                </a:lnTo>
                <a:cubicBezTo>
                  <a:pt x="8204200" y="1732514"/>
                  <a:pt x="8158714" y="1778000"/>
                  <a:pt x="8102605" y="1778000"/>
                </a:cubicBezTo>
                <a:lnTo>
                  <a:pt x="101595" y="1778000"/>
                </a:lnTo>
                <a:cubicBezTo>
                  <a:pt x="45486" y="1778000"/>
                  <a:pt x="0" y="1732514"/>
                  <a:pt x="0" y="1676405"/>
                </a:cubicBezTo>
                <a:lnTo>
                  <a:pt x="0" y="101595"/>
                </a:lnTo>
                <a:cubicBezTo>
                  <a:pt x="0" y="45523"/>
                  <a:pt x="45523" y="0"/>
                  <a:pt x="101595" y="0"/>
                </a:cubicBezTo>
                <a:close/>
              </a:path>
            </a:pathLst>
          </a:custGeom>
          <a:solidFill>
            <a:srgbClr val="4A6C8C">
              <a:alpha val="10196"/>
            </a:srgbClr>
          </a:solidFill>
          <a:ln w="12700">
            <a:solidFill>
              <a:srgbClr val="4A6C8C">
                <a:alpha val="30196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308100" y="4025900"/>
            <a:ext cx="17399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fr-FR" sz="2000" b="1" smtClean="0">
                <a:solidFill>
                  <a:srgbClr val="E8E8E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Clients</a:t>
            </a:r>
            <a:endParaRPr lang="fr-FR" sz="1600" dirty="0"/>
          </a:p>
        </p:txBody>
      </p:sp>
      <p:sp>
        <p:nvSpPr>
          <p:cNvPr id="17" name="Shape 15"/>
          <p:cNvSpPr/>
          <p:nvPr/>
        </p:nvSpPr>
        <p:spPr>
          <a:xfrm>
            <a:off x="762992" y="4533899"/>
            <a:ext cx="2475508" cy="2021279"/>
          </a:xfrm>
          <a:custGeom>
            <a:avLst/>
            <a:gdLst/>
            <a:ahLst/>
            <a:cxnLst/>
            <a:rect l="l" t="t" r="r" b="b"/>
            <a:pathLst>
              <a:path w="2463800" h="749300">
                <a:moveTo>
                  <a:pt x="50803" y="0"/>
                </a:moveTo>
                <a:lnTo>
                  <a:pt x="2412997" y="0"/>
                </a:lnTo>
                <a:cubicBezTo>
                  <a:pt x="2441055" y="0"/>
                  <a:pt x="2463800" y="22745"/>
                  <a:pt x="2463800" y="50803"/>
                </a:cubicBezTo>
                <a:lnTo>
                  <a:pt x="2463800" y="698497"/>
                </a:lnTo>
                <a:cubicBezTo>
                  <a:pt x="2463800" y="726555"/>
                  <a:pt x="2441055" y="749300"/>
                  <a:pt x="2412997" y="749300"/>
                </a:cubicBezTo>
                <a:lnTo>
                  <a:pt x="50803" y="749300"/>
                </a:lnTo>
                <a:cubicBezTo>
                  <a:pt x="22745" y="749300"/>
                  <a:pt x="0" y="726555"/>
                  <a:pt x="0" y="698497"/>
                </a:cubicBezTo>
                <a:lnTo>
                  <a:pt x="0" y="50803"/>
                </a:lnTo>
                <a:cubicBezTo>
                  <a:pt x="0" y="22764"/>
                  <a:pt x="22764" y="0"/>
                  <a:pt x="50803" y="0"/>
                </a:cubicBezTo>
                <a:close/>
              </a:path>
            </a:pathLst>
          </a:custGeom>
          <a:solidFill>
            <a:srgbClr val="1A1D21"/>
          </a:solidFill>
          <a:ln/>
        </p:spPr>
      </p:sp>
      <p:sp>
        <p:nvSpPr>
          <p:cNvPr id="20" name="Shape 18"/>
          <p:cNvSpPr/>
          <p:nvPr/>
        </p:nvSpPr>
        <p:spPr>
          <a:xfrm>
            <a:off x="5121805" y="4533900"/>
            <a:ext cx="2497138" cy="2021278"/>
          </a:xfrm>
          <a:custGeom>
            <a:avLst/>
            <a:gdLst/>
            <a:ahLst/>
            <a:cxnLst/>
            <a:rect l="l" t="t" r="r" b="b"/>
            <a:pathLst>
              <a:path w="2463800" h="749300">
                <a:moveTo>
                  <a:pt x="50803" y="0"/>
                </a:moveTo>
                <a:lnTo>
                  <a:pt x="2412997" y="0"/>
                </a:lnTo>
                <a:cubicBezTo>
                  <a:pt x="2441055" y="0"/>
                  <a:pt x="2463800" y="22745"/>
                  <a:pt x="2463800" y="50803"/>
                </a:cubicBezTo>
                <a:lnTo>
                  <a:pt x="2463800" y="698497"/>
                </a:lnTo>
                <a:cubicBezTo>
                  <a:pt x="2463800" y="726555"/>
                  <a:pt x="2441055" y="749300"/>
                  <a:pt x="2412997" y="749300"/>
                </a:cubicBezTo>
                <a:lnTo>
                  <a:pt x="50803" y="749300"/>
                </a:lnTo>
                <a:cubicBezTo>
                  <a:pt x="22745" y="749300"/>
                  <a:pt x="0" y="726555"/>
                  <a:pt x="0" y="698497"/>
                </a:cubicBezTo>
                <a:lnTo>
                  <a:pt x="0" y="50803"/>
                </a:lnTo>
                <a:cubicBezTo>
                  <a:pt x="0" y="22764"/>
                  <a:pt x="22764" y="0"/>
                  <a:pt x="50803" y="0"/>
                </a:cubicBezTo>
                <a:close/>
              </a:path>
            </a:pathLst>
          </a:custGeom>
          <a:solidFill>
            <a:srgbClr val="1A1D21"/>
          </a:solidFill>
          <a:ln/>
        </p:spPr>
      </p:sp>
      <p:sp>
        <p:nvSpPr>
          <p:cNvPr id="26" name="Shape 24"/>
          <p:cNvSpPr/>
          <p:nvPr/>
        </p:nvSpPr>
        <p:spPr>
          <a:xfrm>
            <a:off x="502642" y="7188200"/>
            <a:ext cx="8204200" cy="1689100"/>
          </a:xfrm>
          <a:custGeom>
            <a:avLst/>
            <a:gdLst/>
            <a:ahLst/>
            <a:cxnLst/>
            <a:rect l="l" t="t" r="r" b="b"/>
            <a:pathLst>
              <a:path w="8204200" h="1689100">
                <a:moveTo>
                  <a:pt x="101599" y="0"/>
                </a:moveTo>
                <a:lnTo>
                  <a:pt x="8102601" y="0"/>
                </a:lnTo>
                <a:cubicBezTo>
                  <a:pt x="8158712" y="0"/>
                  <a:pt x="8204200" y="45488"/>
                  <a:pt x="8204200" y="101599"/>
                </a:cubicBezTo>
                <a:lnTo>
                  <a:pt x="8204200" y="1587501"/>
                </a:lnTo>
                <a:cubicBezTo>
                  <a:pt x="8204200" y="1643612"/>
                  <a:pt x="8158712" y="1689100"/>
                  <a:pt x="8102601" y="1689100"/>
                </a:cubicBezTo>
                <a:lnTo>
                  <a:pt x="101599" y="1689100"/>
                </a:lnTo>
                <a:cubicBezTo>
                  <a:pt x="45488" y="1689100"/>
                  <a:pt x="0" y="1643612"/>
                  <a:pt x="0" y="1587501"/>
                </a:cubicBezTo>
                <a:lnTo>
                  <a:pt x="0" y="101599"/>
                </a:lnTo>
                <a:cubicBezTo>
                  <a:pt x="0" y="45525"/>
                  <a:pt x="45525" y="0"/>
                  <a:pt x="101599" y="0"/>
                </a:cubicBezTo>
                <a:close/>
              </a:path>
            </a:pathLst>
          </a:custGeom>
          <a:gradFill flip="none" rotWithShape="1">
            <a:gsLst>
              <a:gs pos="0">
                <a:srgbClr val="E89F5B">
                  <a:alpha val="20000"/>
                </a:srgbClr>
              </a:gs>
              <a:gs pos="100000">
                <a:srgbClr val="4A6C8C">
                  <a:alpha val="20000"/>
                </a:srgbClr>
              </a:gs>
            </a:gsLst>
            <a:lin ang="0" scaled="1"/>
          </a:gradFill>
          <a:ln w="12700">
            <a:solidFill>
              <a:srgbClr val="E89F5B">
                <a:alpha val="4000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296392" y="7448550"/>
            <a:ext cx="11557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fr-FR" sz="2000" b="1" smtClean="0">
                <a:solidFill>
                  <a:srgbClr val="E8E8E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Le Projet</a:t>
            </a:r>
            <a:endParaRPr lang="fr-FR" sz="1600" dirty="0"/>
          </a:p>
        </p:txBody>
      </p:sp>
      <p:sp>
        <p:nvSpPr>
          <p:cNvPr id="29" name="Text 27"/>
          <p:cNvSpPr/>
          <p:nvPr/>
        </p:nvSpPr>
        <p:spPr>
          <a:xfrm>
            <a:off x="762992" y="7956550"/>
            <a:ext cx="7785100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fr-FR" sz="1600" dirty="0" smtClean="0">
                <a:solidFill>
                  <a:srgbClr val="E8E8E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Conception d'un </a:t>
            </a:r>
            <a:r>
              <a:rPr lang="fr-FR" sz="1600" b="1" dirty="0" smtClean="0">
                <a:solidFill>
                  <a:srgbClr val="E89F5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banc de calibration automatisé </a:t>
            </a:r>
            <a:r>
              <a:rPr lang="fr-FR" sz="1600" dirty="0" smtClean="0">
                <a:solidFill>
                  <a:srgbClr val="E8E8E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pour clés dynamométriques Mt Alpha V1+, conforme à la norme </a:t>
            </a:r>
            <a:r>
              <a:rPr lang="fr-FR" sz="1600" b="1" dirty="0" smtClean="0">
                <a:solidFill>
                  <a:srgbClr val="E89F5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ISO 6789-1:2017</a:t>
            </a:r>
            <a:endParaRPr lang="fr-FR" sz="1600" b="1" dirty="0">
              <a:solidFill>
                <a:srgbClr val="E89F5B"/>
              </a:solidFill>
              <a:latin typeface="Liter" pitchFamily="34" charset="0"/>
              <a:ea typeface="Liter" pitchFamily="34" charset="-122"/>
              <a:cs typeface="Liter" pitchFamily="34" charset="-120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9017566" y="1714499"/>
            <a:ext cx="6713955" cy="4032526"/>
          </a:xfrm>
          <a:custGeom>
            <a:avLst/>
            <a:gdLst/>
            <a:ahLst/>
            <a:cxnLst/>
            <a:rect l="l" t="t" r="r" b="b"/>
            <a:pathLst>
              <a:path w="6705600" h="6705600">
                <a:moveTo>
                  <a:pt x="101590" y="0"/>
                </a:moveTo>
                <a:lnTo>
                  <a:pt x="6604010" y="0"/>
                </a:lnTo>
                <a:cubicBezTo>
                  <a:pt x="6660117" y="0"/>
                  <a:pt x="6705600" y="45483"/>
                  <a:pt x="6705600" y="101590"/>
                </a:cubicBezTo>
                <a:lnTo>
                  <a:pt x="6705600" y="6604010"/>
                </a:lnTo>
                <a:cubicBezTo>
                  <a:pt x="6705600" y="6660117"/>
                  <a:pt x="6660117" y="6705600"/>
                  <a:pt x="6604010" y="6705600"/>
                </a:cubicBezTo>
                <a:lnTo>
                  <a:pt x="101590" y="6705600"/>
                </a:lnTo>
                <a:cubicBezTo>
                  <a:pt x="45483" y="6705600"/>
                  <a:pt x="0" y="6660117"/>
                  <a:pt x="0" y="6604010"/>
                </a:cubicBezTo>
                <a:lnTo>
                  <a:pt x="0" y="101590"/>
                </a:lnTo>
                <a:cubicBezTo>
                  <a:pt x="0" y="45521"/>
                  <a:pt x="45521" y="0"/>
                  <a:pt x="101590" y="0"/>
                </a:cubicBezTo>
                <a:close/>
              </a:path>
            </a:pathLst>
          </a:custGeom>
          <a:solidFill>
            <a:srgbClr val="000000">
              <a:alpha val="0"/>
            </a:srgbClr>
          </a:solidFill>
          <a:ln w="12700">
            <a:solidFill>
              <a:srgbClr val="4A6C8C">
                <a:alpha val="30196"/>
              </a:srgbClr>
            </a:solidFill>
            <a:prstDash val="solid"/>
          </a:ln>
        </p:spPr>
      </p:sp>
      <p:pic>
        <p:nvPicPr>
          <p:cNvPr id="31" name="Image 0" descr="https://kimi-web-img.moonshot.cn/img/ex31automation.com/df72385270fe41f87d056e3cc578db39440ba865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17566" y="1714499"/>
            <a:ext cx="6727853" cy="4044951"/>
          </a:xfrm>
          <a:prstGeom prst="roundRect">
            <a:avLst>
              <a:gd name="adj" fmla="val 1518"/>
            </a:avLst>
          </a:prstGeom>
        </p:spPr>
      </p:pic>
      <p:sp>
        <p:nvSpPr>
          <p:cNvPr id="32" name="Shape 29"/>
          <p:cNvSpPr/>
          <p:nvPr/>
        </p:nvSpPr>
        <p:spPr>
          <a:xfrm>
            <a:off x="9017566" y="6146800"/>
            <a:ext cx="6705600" cy="1219200"/>
          </a:xfrm>
          <a:custGeom>
            <a:avLst/>
            <a:gdLst/>
            <a:ahLst/>
            <a:cxnLst/>
            <a:rect l="l" t="t" r="r" b="b"/>
            <a:pathLst>
              <a:path w="6705600" h="1219200">
                <a:moveTo>
                  <a:pt x="101596" y="0"/>
                </a:moveTo>
                <a:lnTo>
                  <a:pt x="6604004" y="0"/>
                </a:lnTo>
                <a:cubicBezTo>
                  <a:pt x="6660114" y="0"/>
                  <a:pt x="6705600" y="45486"/>
                  <a:pt x="6705600" y="101596"/>
                </a:cubicBezTo>
                <a:lnTo>
                  <a:pt x="6705600" y="1117604"/>
                </a:lnTo>
                <a:cubicBezTo>
                  <a:pt x="6705600" y="1173714"/>
                  <a:pt x="6660114" y="1219200"/>
                  <a:pt x="6604004" y="1219200"/>
                </a:cubicBezTo>
                <a:lnTo>
                  <a:pt x="101596" y="1219200"/>
                </a:lnTo>
                <a:cubicBezTo>
                  <a:pt x="45486" y="1219200"/>
                  <a:pt x="0" y="1173714"/>
                  <a:pt x="0" y="1117604"/>
                </a:cubicBezTo>
                <a:lnTo>
                  <a:pt x="0" y="101596"/>
                </a:lnTo>
                <a:cubicBezTo>
                  <a:pt x="0" y="45524"/>
                  <a:pt x="45524" y="0"/>
                  <a:pt x="101596" y="0"/>
                </a:cubicBezTo>
                <a:close/>
              </a:path>
            </a:pathLst>
          </a:custGeom>
          <a:solidFill>
            <a:srgbClr val="4A6C8C">
              <a:alpha val="10196"/>
            </a:srgbClr>
          </a:solidFill>
          <a:ln w="12700">
            <a:solidFill>
              <a:srgbClr val="4A6C8C">
                <a:alpha val="30196"/>
              </a:srgbClr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9227116" y="6400800"/>
            <a:ext cx="7239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fr-FR" sz="1600" smtClean="0">
                <a:solidFill>
                  <a:srgbClr val="7D8A9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Équipe</a:t>
            </a:r>
            <a:endParaRPr lang="fr-FR" sz="1600" dirty="0"/>
          </a:p>
        </p:txBody>
      </p:sp>
      <p:sp>
        <p:nvSpPr>
          <p:cNvPr id="34" name="Text 31"/>
          <p:cNvSpPr/>
          <p:nvPr/>
        </p:nvSpPr>
        <p:spPr>
          <a:xfrm>
            <a:off x="15032009" y="6356350"/>
            <a:ext cx="635000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fr-FR" sz="2400" b="1" dirty="0" smtClean="0">
                <a:solidFill>
                  <a:srgbClr val="E89F5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~15</a:t>
            </a:r>
            <a:endParaRPr lang="fr-FR" sz="1600" dirty="0"/>
          </a:p>
        </p:txBody>
      </p:sp>
      <p:sp>
        <p:nvSpPr>
          <p:cNvPr id="35" name="Text 32"/>
          <p:cNvSpPr/>
          <p:nvPr/>
        </p:nvSpPr>
        <p:spPr>
          <a:xfrm>
            <a:off x="9227116" y="6851650"/>
            <a:ext cx="11811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fr-FR" sz="1600" smtClean="0">
                <a:solidFill>
                  <a:srgbClr val="7D8A9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Localisation</a:t>
            </a:r>
            <a:endParaRPr lang="fr-FR" sz="1600" dirty="0"/>
          </a:p>
        </p:txBody>
      </p:sp>
      <p:sp>
        <p:nvSpPr>
          <p:cNvPr id="36" name="Text 33"/>
          <p:cNvSpPr/>
          <p:nvPr/>
        </p:nvSpPr>
        <p:spPr>
          <a:xfrm>
            <a:off x="14409113" y="6851650"/>
            <a:ext cx="1206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fr-FR" sz="1600" b="1" smtClean="0">
                <a:solidFill>
                  <a:srgbClr val="E8E8E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Carros (06)</a:t>
            </a:r>
            <a:endParaRPr lang="fr-FR" sz="1600" dirty="0"/>
          </a:p>
        </p:txBody>
      </p:sp>
      <p:pic>
        <p:nvPicPr>
          <p:cNvPr id="41" name="Image 40" descr="picto-entrepris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3048" y="1738249"/>
            <a:ext cx="736927" cy="736927"/>
          </a:xfrm>
          <a:prstGeom prst="rect">
            <a:avLst/>
          </a:prstGeom>
        </p:spPr>
      </p:pic>
      <p:pic>
        <p:nvPicPr>
          <p:cNvPr id="42" name="Image 41" descr="certifica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929" y="3923971"/>
            <a:ext cx="609929" cy="609929"/>
          </a:xfrm>
          <a:prstGeom prst="rect">
            <a:avLst/>
          </a:prstGeom>
        </p:spPr>
      </p:pic>
      <p:pic>
        <p:nvPicPr>
          <p:cNvPr id="43" name="Image 42" descr="picto proje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1173" y="7220883"/>
            <a:ext cx="713343" cy="711917"/>
          </a:xfrm>
          <a:prstGeom prst="rect">
            <a:avLst/>
          </a:prstGeom>
        </p:spPr>
      </p:pic>
      <p:sp>
        <p:nvSpPr>
          <p:cNvPr id="46" name="NumPage"/>
          <p:cNvSpPr txBox="1"/>
          <p:nvPr/>
        </p:nvSpPr>
        <p:spPr>
          <a:xfrm>
            <a:off x="15240000" y="8636000"/>
            <a:ext cx="889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fr-FR" sz="1400" smtClean="0">
                <a:solidFill>
                  <a:srgbClr val="E89F5B"/>
                </a:solidFill>
              </a:rPr>
              <a:t>3</a:t>
            </a:r>
            <a:endParaRPr lang="fr-FR" sz="1400" dirty="0">
              <a:solidFill>
                <a:srgbClr val="E89F5B"/>
              </a:solidFill>
            </a:endParaRPr>
          </a:p>
        </p:txBody>
      </p:sp>
      <p:pic>
        <p:nvPicPr>
          <p:cNvPr id="44" name="Image 43" descr="picto safran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7525" y="4452750"/>
            <a:ext cx="3616173" cy="2410782"/>
          </a:xfrm>
          <a:prstGeom prst="rect">
            <a:avLst/>
          </a:prstGeom>
        </p:spPr>
      </p:pic>
      <p:pic>
        <p:nvPicPr>
          <p:cNvPr id="48" name="Image 47" descr="picto plus a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121805" y="4345875"/>
            <a:ext cx="2477421" cy="2477421"/>
          </a:xfrm>
          <a:prstGeom prst="rect">
            <a:avLst/>
          </a:prstGeom>
        </p:spPr>
      </p:pic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1336510" y="1154784"/>
            <a:ext cx="13582981" cy="750171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2" name="Text 0"/>
          <p:cNvSpPr/>
          <p:nvPr/>
        </p:nvSpPr>
        <p:spPr>
          <a:xfrm>
            <a:off x="508000" y="199250"/>
            <a:ext cx="153289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fr-FR" sz="1400" b="1" kern="0" spc="140" smtClean="0">
                <a:solidFill>
                  <a:srgbClr val="E89F5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01. INTRODUCTION</a:t>
            </a:r>
            <a:endParaRPr lang="fr-FR" sz="1600" dirty="0"/>
          </a:p>
        </p:txBody>
      </p:sp>
      <p:sp>
        <p:nvSpPr>
          <p:cNvPr id="3" name="Text 1"/>
          <p:cNvSpPr/>
          <p:nvPr/>
        </p:nvSpPr>
        <p:spPr>
          <a:xfrm>
            <a:off x="508000" y="554850"/>
            <a:ext cx="154686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fr-FR" sz="3600" b="1" smtClean="0">
                <a:solidFill>
                  <a:srgbClr val="E8E8E8"/>
                </a:solidFill>
                <a:latin typeface="Hedvig Letters Sans" pitchFamily="34" charset="0"/>
                <a:ea typeface="Hedvig Letters Sans" pitchFamily="34" charset="-122"/>
                <a:cs typeface="Hedvig Letters Sans" pitchFamily="34" charset="-120"/>
              </a:rPr>
              <a:t>ONE-TOO : Contexte Industriel</a:t>
            </a:r>
            <a:endParaRPr lang="fr-FR" sz="1600" dirty="0"/>
          </a:p>
        </p:txBody>
      </p:sp>
      <p:sp>
        <p:nvSpPr>
          <p:cNvPr id="48" name="NumPage"/>
          <p:cNvSpPr txBox="1"/>
          <p:nvPr/>
        </p:nvSpPr>
        <p:spPr>
          <a:xfrm>
            <a:off x="15240000" y="8636000"/>
            <a:ext cx="889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fr-FR" sz="1400" smtClean="0">
                <a:solidFill>
                  <a:srgbClr val="E89F5B"/>
                </a:solidFill>
              </a:rPr>
              <a:t>4</a:t>
            </a:r>
            <a:endParaRPr lang="fr-FR" sz="1400" dirty="0">
              <a:solidFill>
                <a:srgbClr val="E89F5B"/>
              </a:solidFill>
            </a:endParaRP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8000" y="330200"/>
            <a:ext cx="153289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fr-FR" sz="1400" b="1" kern="0" spc="140" smtClean="0">
                <a:solidFill>
                  <a:srgbClr val="E89F5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01. INTRODUCTION</a:t>
            </a:r>
            <a:endParaRPr lang="fr-FR" sz="1600" dirty="0"/>
          </a:p>
        </p:txBody>
      </p:sp>
      <p:sp>
        <p:nvSpPr>
          <p:cNvPr id="3" name="Text 1"/>
          <p:cNvSpPr/>
          <p:nvPr/>
        </p:nvSpPr>
        <p:spPr>
          <a:xfrm>
            <a:off x="508000" y="685800"/>
            <a:ext cx="154686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fr-FR" sz="3600" b="1" smtClean="0">
                <a:solidFill>
                  <a:srgbClr val="E8E8E8"/>
                </a:solidFill>
                <a:latin typeface="Hedvig Letters Sans" pitchFamily="34" charset="0"/>
                <a:ea typeface="Hedvig Letters Sans" pitchFamily="34" charset="-122"/>
                <a:cs typeface="Hedvig Letters Sans" pitchFamily="34" charset="-120"/>
              </a:rPr>
              <a:t>ONE-TOO : Contexte Industriel</a:t>
            </a:r>
            <a:endParaRPr lang="fr-FR" sz="1600" dirty="0"/>
          </a:p>
        </p:txBody>
      </p:sp>
      <p:pic>
        <p:nvPicPr>
          <p:cNvPr id="37" name="Image 36" descr="CLÉ BT_bi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233275">
            <a:off x="4694577" y="528678"/>
            <a:ext cx="5062446" cy="8225941"/>
          </a:xfrm>
          <a:prstGeom prst="rect">
            <a:avLst/>
          </a:prstGeom>
        </p:spPr>
      </p:pic>
      <p:cxnSp>
        <p:nvCxnSpPr>
          <p:cNvPr id="45" name="Connecteur droit 44"/>
          <p:cNvCxnSpPr/>
          <p:nvPr/>
        </p:nvCxnSpPr>
        <p:spPr>
          <a:xfrm rot="10800000">
            <a:off x="9678391" y="1341912"/>
            <a:ext cx="419512" cy="33449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Connecteur droit 46"/>
          <p:cNvCxnSpPr/>
          <p:nvPr/>
        </p:nvCxnSpPr>
        <p:spPr>
          <a:xfrm rot="10800000">
            <a:off x="7202933" y="1341912"/>
            <a:ext cx="2475460" cy="158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ZoneTexte 47"/>
          <p:cNvSpPr txBox="1"/>
          <p:nvPr/>
        </p:nvSpPr>
        <p:spPr>
          <a:xfrm>
            <a:off x="2802688" y="1193798"/>
            <a:ext cx="440024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mtClean="0">
                <a:solidFill>
                  <a:schemeClr val="bg1"/>
                </a:solidFill>
              </a:rPr>
              <a:t>Accessoires interchangeables avec détection </a:t>
            </a:r>
          </a:p>
          <a:p>
            <a:r>
              <a:rPr lang="fr-FR" smtClean="0">
                <a:solidFill>
                  <a:schemeClr val="bg1"/>
                </a:solidFill>
              </a:rPr>
              <a:t>Automatique (rallonges)</a:t>
            </a:r>
            <a:endParaRPr lang="fr-FR" dirty="0">
              <a:solidFill>
                <a:schemeClr val="bg1"/>
              </a:solidFill>
            </a:endParaRPr>
          </a:p>
        </p:txBody>
      </p:sp>
      <p:sp>
        <p:nvSpPr>
          <p:cNvPr id="53" name="ZoneTexte 52"/>
          <p:cNvSpPr txBox="1"/>
          <p:nvPr/>
        </p:nvSpPr>
        <p:spPr>
          <a:xfrm>
            <a:off x="4711607" y="1840131"/>
            <a:ext cx="27188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mtClean="0">
                <a:solidFill>
                  <a:schemeClr val="bg1"/>
                </a:solidFill>
              </a:rPr>
              <a:t>Affichage led (verte/rouge)</a:t>
            </a:r>
            <a:endParaRPr lang="fr-FR" dirty="0">
              <a:solidFill>
                <a:schemeClr val="bg1"/>
              </a:solidFill>
            </a:endParaRPr>
          </a:p>
        </p:txBody>
      </p:sp>
      <p:cxnSp>
        <p:nvCxnSpPr>
          <p:cNvPr id="54" name="Connecteur droit 53"/>
          <p:cNvCxnSpPr/>
          <p:nvPr/>
        </p:nvCxnSpPr>
        <p:spPr>
          <a:xfrm rot="10800000">
            <a:off x="8929093" y="2024799"/>
            <a:ext cx="749300" cy="48276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Connecteur droit 54"/>
          <p:cNvCxnSpPr>
            <a:endCxn id="53" idx="3"/>
          </p:cNvCxnSpPr>
          <p:nvPr/>
        </p:nvCxnSpPr>
        <p:spPr>
          <a:xfrm rot="10800000">
            <a:off x="7430494" y="2024798"/>
            <a:ext cx="1484907" cy="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Connecteur droit 58"/>
          <p:cNvCxnSpPr/>
          <p:nvPr/>
        </p:nvCxnSpPr>
        <p:spPr>
          <a:xfrm rot="10800000">
            <a:off x="5562600" y="3936999"/>
            <a:ext cx="749300" cy="66743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Connecteur droit 59"/>
          <p:cNvCxnSpPr/>
          <p:nvPr/>
        </p:nvCxnSpPr>
        <p:spPr>
          <a:xfrm rot="10800000" flipV="1">
            <a:off x="4038600" y="3936999"/>
            <a:ext cx="1498600" cy="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ZoneTexte 60"/>
          <p:cNvSpPr txBox="1"/>
          <p:nvPr/>
        </p:nvSpPr>
        <p:spPr>
          <a:xfrm>
            <a:off x="1091113" y="3726933"/>
            <a:ext cx="29140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mtClean="0">
                <a:solidFill>
                  <a:schemeClr val="bg1"/>
                </a:solidFill>
              </a:rPr>
              <a:t>Vibreur et avertisseur sonore</a:t>
            </a:r>
            <a:endParaRPr lang="fr-FR" dirty="0">
              <a:solidFill>
                <a:schemeClr val="bg1"/>
              </a:solidFill>
            </a:endParaRPr>
          </a:p>
        </p:txBody>
      </p:sp>
      <p:cxnSp>
        <p:nvCxnSpPr>
          <p:cNvPr id="63" name="Connecteur droit 62"/>
          <p:cNvCxnSpPr/>
          <p:nvPr/>
        </p:nvCxnSpPr>
        <p:spPr>
          <a:xfrm>
            <a:off x="9372600" y="2797042"/>
            <a:ext cx="1016000" cy="74363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Connecteur droit 65"/>
          <p:cNvCxnSpPr/>
          <p:nvPr/>
        </p:nvCxnSpPr>
        <p:spPr>
          <a:xfrm>
            <a:off x="10388600" y="3540679"/>
            <a:ext cx="965200" cy="158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ZoneTexte 66"/>
          <p:cNvSpPr txBox="1"/>
          <p:nvPr/>
        </p:nvSpPr>
        <p:spPr>
          <a:xfrm>
            <a:off x="11353800" y="3357601"/>
            <a:ext cx="17854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mtClean="0">
                <a:solidFill>
                  <a:schemeClr val="bg1"/>
                </a:solidFill>
              </a:rPr>
              <a:t>Bouton ON / OFF</a:t>
            </a:r>
            <a:endParaRPr lang="fr-FR" dirty="0">
              <a:solidFill>
                <a:schemeClr val="bg1"/>
              </a:solidFill>
            </a:endParaRPr>
          </a:p>
        </p:txBody>
      </p:sp>
      <p:cxnSp>
        <p:nvCxnSpPr>
          <p:cNvPr id="68" name="Connecteur droit 67"/>
          <p:cNvCxnSpPr/>
          <p:nvPr/>
        </p:nvCxnSpPr>
        <p:spPr>
          <a:xfrm>
            <a:off x="8447974" y="4096265"/>
            <a:ext cx="1016000" cy="74363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Connecteur droit 68"/>
          <p:cNvCxnSpPr/>
          <p:nvPr/>
        </p:nvCxnSpPr>
        <p:spPr>
          <a:xfrm>
            <a:off x="9463974" y="4839902"/>
            <a:ext cx="965200" cy="158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ZoneTexte 69"/>
          <p:cNvSpPr txBox="1"/>
          <p:nvPr/>
        </p:nvSpPr>
        <p:spPr>
          <a:xfrm>
            <a:off x="10552461" y="4656824"/>
            <a:ext cx="2414700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mtClean="0">
                <a:solidFill>
                  <a:schemeClr val="bg1"/>
                </a:solidFill>
              </a:rPr>
              <a:t>Poignée Ergonomique : </a:t>
            </a:r>
          </a:p>
          <a:p>
            <a:r>
              <a:rPr lang="fr-FR" smtClean="0">
                <a:solidFill>
                  <a:schemeClr val="bg1"/>
                </a:solidFill>
              </a:rPr>
              <a:t> Longueur : 200 mm</a:t>
            </a:r>
          </a:p>
          <a:p>
            <a:r>
              <a:rPr lang="fr-FR" smtClean="0">
                <a:solidFill>
                  <a:schemeClr val="bg1"/>
                </a:solidFill>
              </a:rPr>
              <a:t>Largeur : 37 mm</a:t>
            </a:r>
          </a:p>
          <a:p>
            <a:r>
              <a:rPr lang="fr-FR" smtClean="0">
                <a:solidFill>
                  <a:schemeClr val="bg1"/>
                </a:solidFill>
              </a:rPr>
              <a:t>- Poids : 365 grammes</a:t>
            </a:r>
            <a:endParaRPr lang="fr-FR" dirty="0">
              <a:solidFill>
                <a:schemeClr val="bg1"/>
              </a:solidFill>
            </a:endParaRPr>
          </a:p>
        </p:txBody>
      </p:sp>
      <p:cxnSp>
        <p:nvCxnSpPr>
          <p:cNvPr id="71" name="Connecteur droit 70"/>
          <p:cNvCxnSpPr/>
          <p:nvPr/>
        </p:nvCxnSpPr>
        <p:spPr>
          <a:xfrm>
            <a:off x="6732512" y="6176326"/>
            <a:ext cx="1016000" cy="74363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Connecteur droit 71"/>
          <p:cNvCxnSpPr/>
          <p:nvPr/>
        </p:nvCxnSpPr>
        <p:spPr>
          <a:xfrm>
            <a:off x="7748512" y="6919963"/>
            <a:ext cx="965200" cy="158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ZoneTexte 72"/>
          <p:cNvSpPr txBox="1"/>
          <p:nvPr/>
        </p:nvSpPr>
        <p:spPr>
          <a:xfrm>
            <a:off x="8828012" y="6321386"/>
            <a:ext cx="312117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mtClean="0">
                <a:solidFill>
                  <a:schemeClr val="bg1"/>
                </a:solidFill>
              </a:rPr>
              <a:t>Batterie Li-ion interchangeable </a:t>
            </a:r>
          </a:p>
          <a:p>
            <a:r>
              <a:rPr lang="fr-FR" smtClean="0">
                <a:solidFill>
                  <a:schemeClr val="bg1"/>
                </a:solidFill>
              </a:rPr>
              <a:t>- Autonomie : Jusqu’ à 6h</a:t>
            </a:r>
          </a:p>
          <a:p>
            <a:r>
              <a:rPr lang="fr-FR" smtClean="0">
                <a:solidFill>
                  <a:schemeClr val="bg1"/>
                </a:solidFill>
              </a:rPr>
              <a:t>- Temps de charge : 1h </a:t>
            </a:r>
            <a:endParaRPr lang="fr-FR" dirty="0">
              <a:solidFill>
                <a:schemeClr val="bg1"/>
              </a:solidFill>
            </a:endParaRPr>
          </a:p>
        </p:txBody>
      </p:sp>
      <p:sp>
        <p:nvSpPr>
          <p:cNvPr id="74" name="ZoneTexte 73"/>
          <p:cNvSpPr txBox="1"/>
          <p:nvPr/>
        </p:nvSpPr>
        <p:spPr>
          <a:xfrm>
            <a:off x="12038744" y="7851441"/>
            <a:ext cx="376385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400" b="1" kern="0" spc="140" smtClean="0">
                <a:solidFill>
                  <a:srgbClr val="E89F5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2500€ - 3500€ </a:t>
            </a:r>
          </a:p>
          <a:p>
            <a:r>
              <a:rPr lang="fr-FR" sz="1400" b="1" kern="0" spc="140" smtClean="0">
                <a:solidFill>
                  <a:srgbClr val="E89F5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* Dégressif en fonction de la quantité </a:t>
            </a:r>
            <a:endParaRPr lang="fr-FR" dirty="0">
              <a:solidFill>
                <a:schemeClr val="bg1"/>
              </a:solidFill>
            </a:endParaRPr>
          </a:p>
        </p:txBody>
      </p:sp>
      <p:pic>
        <p:nvPicPr>
          <p:cNvPr id="75" name="Image 74" descr="Picto BLUETOOT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9375" y="6695818"/>
            <a:ext cx="1724025" cy="1519864"/>
          </a:xfrm>
          <a:prstGeom prst="rect">
            <a:avLst/>
          </a:prstGeom>
        </p:spPr>
      </p:pic>
      <p:sp>
        <p:nvSpPr>
          <p:cNvPr id="76" name="NumPage"/>
          <p:cNvSpPr txBox="1"/>
          <p:nvPr/>
        </p:nvSpPr>
        <p:spPr>
          <a:xfrm>
            <a:off x="15240000" y="8636000"/>
            <a:ext cx="889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fr-FR" sz="1400" smtClean="0">
                <a:solidFill>
                  <a:srgbClr val="E89F5B"/>
                </a:solidFill>
              </a:rPr>
              <a:t>5</a:t>
            </a:r>
            <a:endParaRPr lang="fr-FR" sz="1400" dirty="0">
              <a:solidFill>
                <a:srgbClr val="E89F5B"/>
              </a:solidFill>
            </a:endParaRPr>
          </a:p>
        </p:txBody>
      </p:sp>
      <p:pic>
        <p:nvPicPr>
          <p:cNvPr id="33" name="Image 32" descr="Rallong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64094" y="2464516"/>
            <a:ext cx="3585150" cy="4780200"/>
          </a:xfrm>
          <a:prstGeom prst="rect">
            <a:avLst/>
          </a:prstGeom>
        </p:spPr>
      </p:pic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6"/>
          <a:srcRect/>
          <a:stretch>
            <a:fillRect/>
          </a:stretch>
        </p:blipFill>
        <p:spPr bwMode="auto">
          <a:xfrm>
            <a:off x="508001" y="1085382"/>
            <a:ext cx="15276000" cy="75808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0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3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5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6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5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9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22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25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28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31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5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34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37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40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5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43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46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49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5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52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55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58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5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61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5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64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67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70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4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5" dur="500"/>
                                        <p:tgtEl>
                                          <p:spTgt spid="20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8" grpId="0"/>
      <p:bldP spid="53" grpId="0"/>
      <p:bldP spid="61" grpId="0"/>
      <p:bldP spid="67" grpId="0"/>
      <p:bldP spid="70" grpId="0"/>
      <p:bldP spid="73" grpId="0"/>
      <p:bldP spid="7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8000" y="508000"/>
            <a:ext cx="153289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fr-FR" sz="1400" b="1" kern="0" spc="140" smtClean="0">
                <a:solidFill>
                  <a:srgbClr val="E89F5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02. PROBLÉMATIQUE</a:t>
            </a:r>
            <a:endParaRPr lang="fr-FR" sz="1600" dirty="0"/>
          </a:p>
        </p:txBody>
      </p:sp>
      <p:sp>
        <p:nvSpPr>
          <p:cNvPr id="3" name="Text 1"/>
          <p:cNvSpPr/>
          <p:nvPr/>
        </p:nvSpPr>
        <p:spPr>
          <a:xfrm>
            <a:off x="508000" y="863600"/>
            <a:ext cx="154686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fr-FR" sz="3600" b="1" smtClean="0">
                <a:solidFill>
                  <a:srgbClr val="E8E8E8"/>
                </a:solidFill>
                <a:latin typeface="Hedvig Letters Sans" pitchFamily="34" charset="0"/>
                <a:ea typeface="Hedvig Letters Sans" pitchFamily="34" charset="-122"/>
                <a:cs typeface="Hedvig Letters Sans" pitchFamily="34" charset="-120"/>
              </a:rPr>
              <a:t>Le Banc Actuel : Limites</a:t>
            </a:r>
            <a:endParaRPr lang="fr-FR" sz="1600" dirty="0"/>
          </a:p>
        </p:txBody>
      </p:sp>
      <p:sp>
        <p:nvSpPr>
          <p:cNvPr id="4" name="Shape 2"/>
          <p:cNvSpPr/>
          <p:nvPr/>
        </p:nvSpPr>
        <p:spPr>
          <a:xfrm>
            <a:off x="533400" y="2616200"/>
            <a:ext cx="7442200" cy="1117600"/>
          </a:xfrm>
          <a:custGeom>
            <a:avLst/>
            <a:gdLst/>
            <a:ahLst/>
            <a:cxnLst/>
            <a:rect l="l" t="t" r="r" b="b"/>
            <a:pathLst>
              <a:path w="7442200" h="1117600">
                <a:moveTo>
                  <a:pt x="0" y="0"/>
                </a:moveTo>
                <a:lnTo>
                  <a:pt x="7340599" y="0"/>
                </a:lnTo>
                <a:cubicBezTo>
                  <a:pt x="7396712" y="0"/>
                  <a:pt x="7442200" y="45488"/>
                  <a:pt x="7442200" y="101601"/>
                </a:cubicBezTo>
                <a:lnTo>
                  <a:pt x="7442200" y="1015999"/>
                </a:lnTo>
                <a:cubicBezTo>
                  <a:pt x="7442200" y="1072112"/>
                  <a:pt x="7396712" y="1117600"/>
                  <a:pt x="7340599" y="1117600"/>
                </a:cubicBezTo>
                <a:lnTo>
                  <a:pt x="0" y="1117600"/>
                </a:lnTo>
                <a:lnTo>
                  <a:pt x="0" y="0"/>
                </a:lnTo>
                <a:close/>
              </a:path>
            </a:pathLst>
          </a:custGeom>
          <a:solidFill>
            <a:srgbClr val="4A6C8C">
              <a:alpha val="10196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533400" y="2616200"/>
            <a:ext cx="50800" cy="1117600"/>
          </a:xfrm>
          <a:custGeom>
            <a:avLst/>
            <a:gdLst/>
            <a:ahLst/>
            <a:cxnLst/>
            <a:rect l="l" t="t" r="r" b="b"/>
            <a:pathLst>
              <a:path w="50800" h="1117600">
                <a:moveTo>
                  <a:pt x="0" y="0"/>
                </a:moveTo>
                <a:lnTo>
                  <a:pt x="50800" y="0"/>
                </a:lnTo>
                <a:lnTo>
                  <a:pt x="50800" y="1117600"/>
                </a:lnTo>
                <a:lnTo>
                  <a:pt x="0" y="1117600"/>
                </a:lnTo>
                <a:lnTo>
                  <a:pt x="0" y="0"/>
                </a:lnTo>
                <a:close/>
              </a:path>
            </a:pathLst>
          </a:custGeom>
          <a:solidFill>
            <a:srgbClr val="E89F5B"/>
          </a:solidFill>
          <a:ln/>
        </p:spPr>
      </p:sp>
      <p:sp>
        <p:nvSpPr>
          <p:cNvPr id="6" name="Shape 4"/>
          <p:cNvSpPr/>
          <p:nvPr/>
        </p:nvSpPr>
        <p:spPr>
          <a:xfrm>
            <a:off x="762000" y="2819400"/>
            <a:ext cx="609600" cy="609600"/>
          </a:xfrm>
          <a:custGeom>
            <a:avLst/>
            <a:gdLst/>
            <a:ahLst/>
            <a:cxnLst/>
            <a:rect l="l" t="t" r="r" b="b"/>
            <a:pathLst>
              <a:path w="609600" h="609600">
                <a:moveTo>
                  <a:pt x="304800" y="0"/>
                </a:moveTo>
                <a:lnTo>
                  <a:pt x="304800" y="0"/>
                </a:lnTo>
                <a:cubicBezTo>
                  <a:pt x="473024" y="0"/>
                  <a:pt x="609600" y="136576"/>
                  <a:pt x="609600" y="304800"/>
                </a:cubicBezTo>
                <a:lnTo>
                  <a:pt x="609600" y="304800"/>
                </a:lnTo>
                <a:cubicBezTo>
                  <a:pt x="609600" y="473024"/>
                  <a:pt x="473024" y="609600"/>
                  <a:pt x="304800" y="609600"/>
                </a:cubicBezTo>
                <a:lnTo>
                  <a:pt x="304800" y="609600"/>
                </a:lnTo>
                <a:cubicBezTo>
                  <a:pt x="136576" y="609600"/>
                  <a:pt x="0" y="473024"/>
                  <a:pt x="0" y="304800"/>
                </a:cubicBezTo>
                <a:lnTo>
                  <a:pt x="0" y="304800"/>
                </a:lnTo>
                <a:cubicBezTo>
                  <a:pt x="0" y="136576"/>
                  <a:pt x="136576" y="0"/>
                  <a:pt x="304800" y="0"/>
                </a:cubicBezTo>
                <a:close/>
              </a:path>
            </a:pathLst>
          </a:custGeom>
          <a:solidFill>
            <a:srgbClr val="E89F5B">
              <a:alpha val="2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939800" y="2997200"/>
            <a:ext cx="254000" cy="254000"/>
          </a:xfrm>
          <a:custGeom>
            <a:avLst/>
            <a:gdLst/>
            <a:ahLst/>
            <a:cxnLst/>
            <a:rect l="l" t="t" r="r" b="b"/>
            <a:pathLst>
              <a:path w="254000" h="254000">
                <a:moveTo>
                  <a:pt x="127000" y="0"/>
                </a:moveTo>
                <a:cubicBezTo>
                  <a:pt x="197093" y="0"/>
                  <a:pt x="254000" y="56907"/>
                  <a:pt x="254000" y="127000"/>
                </a:cubicBezTo>
                <a:cubicBezTo>
                  <a:pt x="254000" y="197093"/>
                  <a:pt x="197093" y="254000"/>
                  <a:pt x="127000" y="254000"/>
                </a:cubicBezTo>
                <a:cubicBezTo>
                  <a:pt x="56907" y="254000"/>
                  <a:pt x="0" y="197093"/>
                  <a:pt x="0" y="127000"/>
                </a:cubicBezTo>
                <a:cubicBezTo>
                  <a:pt x="0" y="56907"/>
                  <a:pt x="56907" y="0"/>
                  <a:pt x="127000" y="0"/>
                </a:cubicBezTo>
                <a:close/>
                <a:moveTo>
                  <a:pt x="115094" y="59531"/>
                </a:moveTo>
                <a:lnTo>
                  <a:pt x="115094" y="127000"/>
                </a:lnTo>
                <a:cubicBezTo>
                  <a:pt x="115094" y="130969"/>
                  <a:pt x="117078" y="134689"/>
                  <a:pt x="120402" y="136922"/>
                </a:cubicBezTo>
                <a:lnTo>
                  <a:pt x="168027" y="168672"/>
                </a:lnTo>
                <a:cubicBezTo>
                  <a:pt x="173484" y="172343"/>
                  <a:pt x="180876" y="170855"/>
                  <a:pt x="184547" y="165348"/>
                </a:cubicBezTo>
                <a:cubicBezTo>
                  <a:pt x="188218" y="159841"/>
                  <a:pt x="186730" y="152499"/>
                  <a:pt x="181223" y="148828"/>
                </a:cubicBezTo>
                <a:lnTo>
                  <a:pt x="138906" y="120650"/>
                </a:lnTo>
                <a:lnTo>
                  <a:pt x="138906" y="59531"/>
                </a:lnTo>
                <a:cubicBezTo>
                  <a:pt x="138906" y="52933"/>
                  <a:pt x="133598" y="47625"/>
                  <a:pt x="127000" y="47625"/>
                </a:cubicBezTo>
                <a:cubicBezTo>
                  <a:pt x="120402" y="47625"/>
                  <a:pt x="115094" y="52933"/>
                  <a:pt x="115094" y="59531"/>
                </a:cubicBezTo>
                <a:close/>
              </a:path>
            </a:pathLst>
          </a:custGeom>
          <a:solidFill>
            <a:srgbClr val="E89F5B"/>
          </a:solidFill>
          <a:ln/>
        </p:spPr>
      </p:sp>
      <p:sp>
        <p:nvSpPr>
          <p:cNvPr id="8" name="Text 6"/>
          <p:cNvSpPr/>
          <p:nvPr/>
        </p:nvSpPr>
        <p:spPr>
          <a:xfrm>
            <a:off x="1574800" y="2819400"/>
            <a:ext cx="31877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fr-FR" sz="1800" b="1" smtClean="0">
                <a:solidFill>
                  <a:srgbClr val="E8E8E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Temps de Test Excessif</a:t>
            </a:r>
            <a:endParaRPr lang="fr-FR" sz="1600" dirty="0"/>
          </a:p>
        </p:txBody>
      </p:sp>
      <p:sp>
        <p:nvSpPr>
          <p:cNvPr id="9" name="Text 7"/>
          <p:cNvSpPr/>
          <p:nvPr/>
        </p:nvSpPr>
        <p:spPr>
          <a:xfrm>
            <a:off x="1574800" y="3225800"/>
            <a:ext cx="3175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fr-FR" sz="1600" b="1" dirty="0" smtClean="0">
                <a:solidFill>
                  <a:srgbClr val="E89F5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2h25 par clé → Faible productivité</a:t>
            </a:r>
            <a:endParaRPr lang="fr-FR" sz="1600" dirty="0"/>
          </a:p>
        </p:txBody>
      </p:sp>
      <p:sp>
        <p:nvSpPr>
          <p:cNvPr id="10" name="Shape 8"/>
          <p:cNvSpPr/>
          <p:nvPr/>
        </p:nvSpPr>
        <p:spPr>
          <a:xfrm>
            <a:off x="533400" y="3937000"/>
            <a:ext cx="7442200" cy="1117600"/>
          </a:xfrm>
          <a:custGeom>
            <a:avLst/>
            <a:gdLst/>
            <a:ahLst/>
            <a:cxnLst/>
            <a:rect l="l" t="t" r="r" b="b"/>
            <a:pathLst>
              <a:path w="7442200" h="1117600">
                <a:moveTo>
                  <a:pt x="0" y="0"/>
                </a:moveTo>
                <a:lnTo>
                  <a:pt x="7340599" y="0"/>
                </a:lnTo>
                <a:cubicBezTo>
                  <a:pt x="7396712" y="0"/>
                  <a:pt x="7442200" y="45488"/>
                  <a:pt x="7442200" y="101601"/>
                </a:cubicBezTo>
                <a:lnTo>
                  <a:pt x="7442200" y="1015999"/>
                </a:lnTo>
                <a:cubicBezTo>
                  <a:pt x="7442200" y="1072112"/>
                  <a:pt x="7396712" y="1117600"/>
                  <a:pt x="7340599" y="1117600"/>
                </a:cubicBezTo>
                <a:lnTo>
                  <a:pt x="0" y="1117600"/>
                </a:lnTo>
                <a:lnTo>
                  <a:pt x="0" y="0"/>
                </a:lnTo>
                <a:close/>
              </a:path>
            </a:pathLst>
          </a:custGeom>
          <a:solidFill>
            <a:srgbClr val="4A6C8C">
              <a:alpha val="10196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533400" y="3937000"/>
            <a:ext cx="50800" cy="1117600"/>
          </a:xfrm>
          <a:custGeom>
            <a:avLst/>
            <a:gdLst/>
            <a:ahLst/>
            <a:cxnLst/>
            <a:rect l="l" t="t" r="r" b="b"/>
            <a:pathLst>
              <a:path w="50800" h="1117600">
                <a:moveTo>
                  <a:pt x="0" y="0"/>
                </a:moveTo>
                <a:lnTo>
                  <a:pt x="50800" y="0"/>
                </a:lnTo>
                <a:lnTo>
                  <a:pt x="50800" y="1117600"/>
                </a:lnTo>
                <a:lnTo>
                  <a:pt x="0" y="1117600"/>
                </a:lnTo>
                <a:lnTo>
                  <a:pt x="0" y="0"/>
                </a:lnTo>
                <a:close/>
              </a:path>
            </a:pathLst>
          </a:custGeom>
          <a:solidFill>
            <a:srgbClr val="E89F5B"/>
          </a:solidFill>
          <a:ln/>
        </p:spPr>
      </p:sp>
      <p:sp>
        <p:nvSpPr>
          <p:cNvPr id="12" name="Shape 10"/>
          <p:cNvSpPr/>
          <p:nvPr/>
        </p:nvSpPr>
        <p:spPr>
          <a:xfrm>
            <a:off x="762000" y="4140200"/>
            <a:ext cx="609600" cy="609600"/>
          </a:xfrm>
          <a:custGeom>
            <a:avLst/>
            <a:gdLst/>
            <a:ahLst/>
            <a:cxnLst/>
            <a:rect l="l" t="t" r="r" b="b"/>
            <a:pathLst>
              <a:path w="609600" h="609600">
                <a:moveTo>
                  <a:pt x="304800" y="0"/>
                </a:moveTo>
                <a:lnTo>
                  <a:pt x="304800" y="0"/>
                </a:lnTo>
                <a:cubicBezTo>
                  <a:pt x="473024" y="0"/>
                  <a:pt x="609600" y="136576"/>
                  <a:pt x="609600" y="304800"/>
                </a:cubicBezTo>
                <a:lnTo>
                  <a:pt x="609600" y="304800"/>
                </a:lnTo>
                <a:cubicBezTo>
                  <a:pt x="609600" y="473024"/>
                  <a:pt x="473024" y="609600"/>
                  <a:pt x="304800" y="609600"/>
                </a:cubicBezTo>
                <a:lnTo>
                  <a:pt x="304800" y="609600"/>
                </a:lnTo>
                <a:cubicBezTo>
                  <a:pt x="136576" y="609600"/>
                  <a:pt x="0" y="473024"/>
                  <a:pt x="0" y="304800"/>
                </a:cubicBezTo>
                <a:lnTo>
                  <a:pt x="0" y="304800"/>
                </a:lnTo>
                <a:cubicBezTo>
                  <a:pt x="0" y="136576"/>
                  <a:pt x="136576" y="0"/>
                  <a:pt x="304800" y="0"/>
                </a:cubicBezTo>
                <a:close/>
              </a:path>
            </a:pathLst>
          </a:custGeom>
          <a:solidFill>
            <a:srgbClr val="E89F5B">
              <a:alpha val="20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908050" y="4318000"/>
            <a:ext cx="317500" cy="254000"/>
          </a:xfrm>
          <a:custGeom>
            <a:avLst/>
            <a:gdLst/>
            <a:ahLst/>
            <a:cxnLst/>
            <a:rect l="l" t="t" r="r" b="b"/>
            <a:pathLst>
              <a:path w="317500" h="254000">
                <a:moveTo>
                  <a:pt x="67667" y="63500"/>
                </a:moveTo>
                <a:cubicBezTo>
                  <a:pt x="67667" y="42232"/>
                  <a:pt x="79014" y="22579"/>
                  <a:pt x="97433" y="11944"/>
                </a:cubicBezTo>
                <a:cubicBezTo>
                  <a:pt x="115852" y="1310"/>
                  <a:pt x="138545" y="1310"/>
                  <a:pt x="156964" y="11944"/>
                </a:cubicBezTo>
                <a:cubicBezTo>
                  <a:pt x="175383" y="22579"/>
                  <a:pt x="186730" y="42232"/>
                  <a:pt x="186730" y="63500"/>
                </a:cubicBezTo>
                <a:cubicBezTo>
                  <a:pt x="186730" y="96356"/>
                  <a:pt x="160055" y="123031"/>
                  <a:pt x="127198" y="123031"/>
                </a:cubicBezTo>
                <a:cubicBezTo>
                  <a:pt x="94342" y="123031"/>
                  <a:pt x="67667" y="96356"/>
                  <a:pt x="67667" y="63500"/>
                </a:cubicBezTo>
                <a:close/>
                <a:moveTo>
                  <a:pt x="24011" y="239266"/>
                </a:moveTo>
                <a:cubicBezTo>
                  <a:pt x="24011" y="190401"/>
                  <a:pt x="63599" y="150813"/>
                  <a:pt x="112464" y="150813"/>
                </a:cubicBezTo>
                <a:lnTo>
                  <a:pt x="141932" y="150813"/>
                </a:lnTo>
                <a:cubicBezTo>
                  <a:pt x="190798" y="150813"/>
                  <a:pt x="230386" y="190401"/>
                  <a:pt x="230386" y="239266"/>
                </a:cubicBezTo>
                <a:cubicBezTo>
                  <a:pt x="230386" y="247402"/>
                  <a:pt x="223788" y="254000"/>
                  <a:pt x="215652" y="254000"/>
                </a:cubicBezTo>
                <a:lnTo>
                  <a:pt x="38745" y="254000"/>
                </a:lnTo>
                <a:cubicBezTo>
                  <a:pt x="30609" y="254000"/>
                  <a:pt x="24011" y="247402"/>
                  <a:pt x="24011" y="239266"/>
                </a:cubicBezTo>
                <a:close/>
                <a:moveTo>
                  <a:pt x="303758" y="61565"/>
                </a:moveTo>
                <a:cubicBezTo>
                  <a:pt x="308421" y="66229"/>
                  <a:pt x="308421" y="73769"/>
                  <a:pt x="303758" y="78383"/>
                </a:cubicBezTo>
                <a:lnTo>
                  <a:pt x="286941" y="95200"/>
                </a:lnTo>
                <a:lnTo>
                  <a:pt x="303758" y="112018"/>
                </a:lnTo>
                <a:cubicBezTo>
                  <a:pt x="308421" y="116681"/>
                  <a:pt x="308421" y="124222"/>
                  <a:pt x="303758" y="128836"/>
                </a:cubicBezTo>
                <a:cubicBezTo>
                  <a:pt x="299095" y="133449"/>
                  <a:pt x="291554" y="133499"/>
                  <a:pt x="286941" y="128836"/>
                </a:cubicBezTo>
                <a:lnTo>
                  <a:pt x="270123" y="112018"/>
                </a:lnTo>
                <a:lnTo>
                  <a:pt x="253305" y="128836"/>
                </a:lnTo>
                <a:cubicBezTo>
                  <a:pt x="248642" y="133499"/>
                  <a:pt x="241102" y="133499"/>
                  <a:pt x="236488" y="128836"/>
                </a:cubicBezTo>
                <a:cubicBezTo>
                  <a:pt x="231874" y="124172"/>
                  <a:pt x="231825" y="116632"/>
                  <a:pt x="236488" y="112018"/>
                </a:cubicBezTo>
                <a:lnTo>
                  <a:pt x="253305" y="95200"/>
                </a:lnTo>
                <a:lnTo>
                  <a:pt x="236488" y="78383"/>
                </a:lnTo>
                <a:cubicBezTo>
                  <a:pt x="231825" y="73720"/>
                  <a:pt x="231825" y="66179"/>
                  <a:pt x="236488" y="61565"/>
                </a:cubicBezTo>
                <a:cubicBezTo>
                  <a:pt x="241151" y="56952"/>
                  <a:pt x="248692" y="56902"/>
                  <a:pt x="253305" y="61565"/>
                </a:cubicBezTo>
                <a:lnTo>
                  <a:pt x="270123" y="78383"/>
                </a:lnTo>
                <a:lnTo>
                  <a:pt x="286941" y="61565"/>
                </a:lnTo>
                <a:cubicBezTo>
                  <a:pt x="291604" y="56902"/>
                  <a:pt x="299145" y="56902"/>
                  <a:pt x="303758" y="61565"/>
                </a:cubicBezTo>
                <a:close/>
              </a:path>
            </a:pathLst>
          </a:custGeom>
          <a:solidFill>
            <a:srgbClr val="E89F5B"/>
          </a:solidFill>
          <a:ln/>
        </p:spPr>
      </p:sp>
      <p:sp>
        <p:nvSpPr>
          <p:cNvPr id="14" name="Text 12"/>
          <p:cNvSpPr/>
          <p:nvPr/>
        </p:nvSpPr>
        <p:spPr>
          <a:xfrm>
            <a:off x="1574800" y="4140200"/>
            <a:ext cx="48387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fr-FR" sz="1800" b="1" smtClean="0">
                <a:solidFill>
                  <a:srgbClr val="E8E8E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Dépendance Opérateur</a:t>
            </a:r>
            <a:endParaRPr lang="fr-FR" sz="1600" dirty="0"/>
          </a:p>
        </p:txBody>
      </p:sp>
      <p:sp>
        <p:nvSpPr>
          <p:cNvPr id="15" name="Text 13"/>
          <p:cNvSpPr/>
          <p:nvPr/>
        </p:nvSpPr>
        <p:spPr>
          <a:xfrm>
            <a:off x="1574800" y="4546600"/>
            <a:ext cx="4826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fr-FR" sz="1600" smtClean="0">
                <a:solidFill>
                  <a:srgbClr val="7D8A9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Répétabilité non optimale, variations inter-opérateurs</a:t>
            </a:r>
            <a:endParaRPr lang="fr-FR" sz="1600" dirty="0"/>
          </a:p>
        </p:txBody>
      </p:sp>
      <p:sp>
        <p:nvSpPr>
          <p:cNvPr id="16" name="Shape 14"/>
          <p:cNvSpPr/>
          <p:nvPr/>
        </p:nvSpPr>
        <p:spPr>
          <a:xfrm>
            <a:off x="533400" y="5257800"/>
            <a:ext cx="7442200" cy="1117600"/>
          </a:xfrm>
          <a:custGeom>
            <a:avLst/>
            <a:gdLst/>
            <a:ahLst/>
            <a:cxnLst/>
            <a:rect l="l" t="t" r="r" b="b"/>
            <a:pathLst>
              <a:path w="7442200" h="1117600">
                <a:moveTo>
                  <a:pt x="0" y="0"/>
                </a:moveTo>
                <a:lnTo>
                  <a:pt x="7340599" y="0"/>
                </a:lnTo>
                <a:cubicBezTo>
                  <a:pt x="7396712" y="0"/>
                  <a:pt x="7442200" y="45488"/>
                  <a:pt x="7442200" y="101601"/>
                </a:cubicBezTo>
                <a:lnTo>
                  <a:pt x="7442200" y="1015999"/>
                </a:lnTo>
                <a:cubicBezTo>
                  <a:pt x="7442200" y="1072112"/>
                  <a:pt x="7396712" y="1117600"/>
                  <a:pt x="7340599" y="1117600"/>
                </a:cubicBezTo>
                <a:lnTo>
                  <a:pt x="0" y="1117600"/>
                </a:lnTo>
                <a:lnTo>
                  <a:pt x="0" y="0"/>
                </a:lnTo>
                <a:close/>
              </a:path>
            </a:pathLst>
          </a:custGeom>
          <a:solidFill>
            <a:srgbClr val="4A6C8C">
              <a:alpha val="10196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533400" y="5257800"/>
            <a:ext cx="50800" cy="1117600"/>
          </a:xfrm>
          <a:custGeom>
            <a:avLst/>
            <a:gdLst/>
            <a:ahLst/>
            <a:cxnLst/>
            <a:rect l="l" t="t" r="r" b="b"/>
            <a:pathLst>
              <a:path w="50800" h="1117600">
                <a:moveTo>
                  <a:pt x="0" y="0"/>
                </a:moveTo>
                <a:lnTo>
                  <a:pt x="50800" y="0"/>
                </a:lnTo>
                <a:lnTo>
                  <a:pt x="50800" y="1117600"/>
                </a:lnTo>
                <a:lnTo>
                  <a:pt x="0" y="1117600"/>
                </a:lnTo>
                <a:lnTo>
                  <a:pt x="0" y="0"/>
                </a:lnTo>
                <a:close/>
              </a:path>
            </a:pathLst>
          </a:custGeom>
          <a:solidFill>
            <a:srgbClr val="E89F5B"/>
          </a:solidFill>
          <a:ln/>
        </p:spPr>
      </p:sp>
      <p:sp>
        <p:nvSpPr>
          <p:cNvPr id="18" name="Shape 16"/>
          <p:cNvSpPr/>
          <p:nvPr/>
        </p:nvSpPr>
        <p:spPr>
          <a:xfrm>
            <a:off x="762000" y="5461000"/>
            <a:ext cx="609600" cy="609600"/>
          </a:xfrm>
          <a:custGeom>
            <a:avLst/>
            <a:gdLst/>
            <a:ahLst/>
            <a:cxnLst/>
            <a:rect l="l" t="t" r="r" b="b"/>
            <a:pathLst>
              <a:path w="609600" h="609600">
                <a:moveTo>
                  <a:pt x="304800" y="0"/>
                </a:moveTo>
                <a:lnTo>
                  <a:pt x="304800" y="0"/>
                </a:lnTo>
                <a:cubicBezTo>
                  <a:pt x="473024" y="0"/>
                  <a:pt x="609600" y="136576"/>
                  <a:pt x="609600" y="304800"/>
                </a:cubicBezTo>
                <a:lnTo>
                  <a:pt x="609600" y="304800"/>
                </a:lnTo>
                <a:cubicBezTo>
                  <a:pt x="609600" y="473024"/>
                  <a:pt x="473024" y="609600"/>
                  <a:pt x="304800" y="609600"/>
                </a:cubicBezTo>
                <a:lnTo>
                  <a:pt x="304800" y="609600"/>
                </a:lnTo>
                <a:cubicBezTo>
                  <a:pt x="136576" y="609600"/>
                  <a:pt x="0" y="473024"/>
                  <a:pt x="0" y="304800"/>
                </a:cubicBezTo>
                <a:lnTo>
                  <a:pt x="0" y="304800"/>
                </a:lnTo>
                <a:cubicBezTo>
                  <a:pt x="0" y="136576"/>
                  <a:pt x="136576" y="0"/>
                  <a:pt x="304800" y="0"/>
                </a:cubicBezTo>
                <a:close/>
              </a:path>
            </a:pathLst>
          </a:custGeom>
          <a:solidFill>
            <a:srgbClr val="E89F5B">
              <a:alpha val="20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939800" y="5638800"/>
            <a:ext cx="254000" cy="254000"/>
          </a:xfrm>
          <a:custGeom>
            <a:avLst/>
            <a:gdLst/>
            <a:ahLst/>
            <a:cxnLst/>
            <a:rect l="l" t="t" r="r" b="b"/>
            <a:pathLst>
              <a:path w="254000" h="254000">
                <a:moveTo>
                  <a:pt x="127000" y="0"/>
                </a:moveTo>
                <a:cubicBezTo>
                  <a:pt x="134293" y="0"/>
                  <a:pt x="140990" y="4018"/>
                  <a:pt x="144463" y="10418"/>
                </a:cubicBezTo>
                <a:lnTo>
                  <a:pt x="251619" y="208855"/>
                </a:lnTo>
                <a:cubicBezTo>
                  <a:pt x="254943" y="215007"/>
                  <a:pt x="254794" y="222448"/>
                  <a:pt x="251222" y="228451"/>
                </a:cubicBezTo>
                <a:cubicBezTo>
                  <a:pt x="247650" y="234454"/>
                  <a:pt x="241151" y="238125"/>
                  <a:pt x="234156" y="238125"/>
                </a:cubicBezTo>
                <a:lnTo>
                  <a:pt x="19844" y="238125"/>
                </a:lnTo>
                <a:cubicBezTo>
                  <a:pt x="12849" y="238125"/>
                  <a:pt x="6400" y="234454"/>
                  <a:pt x="2778" y="228451"/>
                </a:cubicBezTo>
                <a:cubicBezTo>
                  <a:pt x="-843" y="222448"/>
                  <a:pt x="-943" y="215007"/>
                  <a:pt x="2381" y="208855"/>
                </a:cubicBezTo>
                <a:lnTo>
                  <a:pt x="109538" y="10418"/>
                </a:lnTo>
                <a:cubicBezTo>
                  <a:pt x="113010" y="4018"/>
                  <a:pt x="119707" y="0"/>
                  <a:pt x="127000" y="0"/>
                </a:cubicBezTo>
                <a:close/>
                <a:moveTo>
                  <a:pt x="127000" y="83344"/>
                </a:moveTo>
                <a:cubicBezTo>
                  <a:pt x="120402" y="83344"/>
                  <a:pt x="115094" y="88652"/>
                  <a:pt x="115094" y="95250"/>
                </a:cubicBezTo>
                <a:lnTo>
                  <a:pt x="115094" y="150813"/>
                </a:lnTo>
                <a:cubicBezTo>
                  <a:pt x="115094" y="157411"/>
                  <a:pt x="120402" y="162719"/>
                  <a:pt x="127000" y="162719"/>
                </a:cubicBezTo>
                <a:cubicBezTo>
                  <a:pt x="133598" y="162719"/>
                  <a:pt x="138906" y="157411"/>
                  <a:pt x="138906" y="150813"/>
                </a:cubicBezTo>
                <a:lnTo>
                  <a:pt x="138906" y="95250"/>
                </a:lnTo>
                <a:cubicBezTo>
                  <a:pt x="138906" y="88652"/>
                  <a:pt x="133598" y="83344"/>
                  <a:pt x="127000" y="83344"/>
                </a:cubicBezTo>
                <a:close/>
                <a:moveTo>
                  <a:pt x="140246" y="190500"/>
                </a:moveTo>
                <a:cubicBezTo>
                  <a:pt x="140547" y="185583"/>
                  <a:pt x="138095" y="180906"/>
                  <a:pt x="133880" y="178356"/>
                </a:cubicBezTo>
                <a:cubicBezTo>
                  <a:pt x="129666" y="175807"/>
                  <a:pt x="124384" y="175807"/>
                  <a:pt x="120169" y="178356"/>
                </a:cubicBezTo>
                <a:cubicBezTo>
                  <a:pt x="115955" y="180906"/>
                  <a:pt x="113503" y="185583"/>
                  <a:pt x="113804" y="190500"/>
                </a:cubicBezTo>
                <a:cubicBezTo>
                  <a:pt x="113503" y="195417"/>
                  <a:pt x="115955" y="200094"/>
                  <a:pt x="120169" y="202644"/>
                </a:cubicBezTo>
                <a:cubicBezTo>
                  <a:pt x="124384" y="205193"/>
                  <a:pt x="129666" y="205193"/>
                  <a:pt x="133880" y="202644"/>
                </a:cubicBezTo>
                <a:cubicBezTo>
                  <a:pt x="138095" y="200094"/>
                  <a:pt x="140547" y="195417"/>
                  <a:pt x="140246" y="190500"/>
                </a:cubicBezTo>
                <a:close/>
              </a:path>
            </a:pathLst>
          </a:custGeom>
          <a:solidFill>
            <a:srgbClr val="E89F5B"/>
          </a:solidFill>
          <a:ln/>
        </p:spPr>
      </p:sp>
      <p:sp>
        <p:nvSpPr>
          <p:cNvPr id="20" name="Text 18"/>
          <p:cNvSpPr/>
          <p:nvPr/>
        </p:nvSpPr>
        <p:spPr>
          <a:xfrm>
            <a:off x="1574800" y="5461000"/>
            <a:ext cx="3683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fr-FR" sz="1800" b="1" smtClean="0">
                <a:solidFill>
                  <a:srgbClr val="E8E8E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Risques d'Erreurs</a:t>
            </a:r>
            <a:endParaRPr lang="fr-FR" sz="1600" dirty="0"/>
          </a:p>
        </p:txBody>
      </p:sp>
      <p:sp>
        <p:nvSpPr>
          <p:cNvPr id="21" name="Text 19"/>
          <p:cNvSpPr/>
          <p:nvPr/>
        </p:nvSpPr>
        <p:spPr>
          <a:xfrm>
            <a:off x="1574800" y="5867400"/>
            <a:ext cx="36703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fr-FR" sz="1600" smtClean="0">
                <a:solidFill>
                  <a:srgbClr val="7D8A9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Lecture, saisie, positionnement manuels</a:t>
            </a:r>
            <a:endParaRPr lang="fr-FR" sz="1600" dirty="0"/>
          </a:p>
        </p:txBody>
      </p:sp>
      <p:sp>
        <p:nvSpPr>
          <p:cNvPr id="22" name="Shape 20"/>
          <p:cNvSpPr/>
          <p:nvPr/>
        </p:nvSpPr>
        <p:spPr>
          <a:xfrm>
            <a:off x="533400" y="6578600"/>
            <a:ext cx="7442200" cy="1117600"/>
          </a:xfrm>
          <a:custGeom>
            <a:avLst/>
            <a:gdLst/>
            <a:ahLst/>
            <a:cxnLst/>
            <a:rect l="l" t="t" r="r" b="b"/>
            <a:pathLst>
              <a:path w="7442200" h="1117600">
                <a:moveTo>
                  <a:pt x="0" y="0"/>
                </a:moveTo>
                <a:lnTo>
                  <a:pt x="7340599" y="0"/>
                </a:lnTo>
                <a:cubicBezTo>
                  <a:pt x="7396712" y="0"/>
                  <a:pt x="7442200" y="45488"/>
                  <a:pt x="7442200" y="101601"/>
                </a:cubicBezTo>
                <a:lnTo>
                  <a:pt x="7442200" y="1015999"/>
                </a:lnTo>
                <a:cubicBezTo>
                  <a:pt x="7442200" y="1072112"/>
                  <a:pt x="7396712" y="1117600"/>
                  <a:pt x="7340599" y="1117600"/>
                </a:cubicBezTo>
                <a:lnTo>
                  <a:pt x="0" y="1117600"/>
                </a:lnTo>
                <a:lnTo>
                  <a:pt x="0" y="0"/>
                </a:lnTo>
                <a:close/>
              </a:path>
            </a:pathLst>
          </a:custGeom>
          <a:solidFill>
            <a:srgbClr val="4A6C8C">
              <a:alpha val="10196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533400" y="6578600"/>
            <a:ext cx="50800" cy="1117600"/>
          </a:xfrm>
          <a:custGeom>
            <a:avLst/>
            <a:gdLst/>
            <a:ahLst/>
            <a:cxnLst/>
            <a:rect l="l" t="t" r="r" b="b"/>
            <a:pathLst>
              <a:path w="50800" h="1117600">
                <a:moveTo>
                  <a:pt x="0" y="0"/>
                </a:moveTo>
                <a:lnTo>
                  <a:pt x="50800" y="0"/>
                </a:lnTo>
                <a:lnTo>
                  <a:pt x="50800" y="1117600"/>
                </a:lnTo>
                <a:lnTo>
                  <a:pt x="0" y="1117600"/>
                </a:lnTo>
                <a:lnTo>
                  <a:pt x="0" y="0"/>
                </a:lnTo>
                <a:close/>
              </a:path>
            </a:pathLst>
          </a:custGeom>
          <a:solidFill>
            <a:srgbClr val="E89F5B"/>
          </a:solidFill>
          <a:ln/>
        </p:spPr>
      </p:sp>
      <p:sp>
        <p:nvSpPr>
          <p:cNvPr id="24" name="Shape 22"/>
          <p:cNvSpPr/>
          <p:nvPr/>
        </p:nvSpPr>
        <p:spPr>
          <a:xfrm>
            <a:off x="762000" y="6781800"/>
            <a:ext cx="609600" cy="609600"/>
          </a:xfrm>
          <a:custGeom>
            <a:avLst/>
            <a:gdLst/>
            <a:ahLst/>
            <a:cxnLst/>
            <a:rect l="l" t="t" r="r" b="b"/>
            <a:pathLst>
              <a:path w="609600" h="609600">
                <a:moveTo>
                  <a:pt x="304800" y="0"/>
                </a:moveTo>
                <a:lnTo>
                  <a:pt x="304800" y="0"/>
                </a:lnTo>
                <a:cubicBezTo>
                  <a:pt x="473024" y="0"/>
                  <a:pt x="609600" y="136576"/>
                  <a:pt x="609600" y="304800"/>
                </a:cubicBezTo>
                <a:lnTo>
                  <a:pt x="609600" y="304800"/>
                </a:lnTo>
                <a:cubicBezTo>
                  <a:pt x="609600" y="473024"/>
                  <a:pt x="473024" y="609600"/>
                  <a:pt x="304800" y="609600"/>
                </a:cubicBezTo>
                <a:lnTo>
                  <a:pt x="304800" y="609600"/>
                </a:lnTo>
                <a:cubicBezTo>
                  <a:pt x="136576" y="609600"/>
                  <a:pt x="0" y="473024"/>
                  <a:pt x="0" y="304800"/>
                </a:cubicBezTo>
                <a:lnTo>
                  <a:pt x="0" y="304800"/>
                </a:lnTo>
                <a:cubicBezTo>
                  <a:pt x="0" y="136576"/>
                  <a:pt x="136576" y="0"/>
                  <a:pt x="304800" y="0"/>
                </a:cubicBezTo>
                <a:close/>
              </a:path>
            </a:pathLst>
          </a:custGeom>
          <a:solidFill>
            <a:srgbClr val="E89F5B">
              <a:alpha val="20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971550" y="6959600"/>
            <a:ext cx="190500" cy="254000"/>
          </a:xfrm>
          <a:custGeom>
            <a:avLst/>
            <a:gdLst/>
            <a:ahLst/>
            <a:cxnLst/>
            <a:rect l="l" t="t" r="r" b="b"/>
            <a:pathLst>
              <a:path w="190500" h="254000">
                <a:moveTo>
                  <a:pt x="154484" y="15875"/>
                </a:moveTo>
                <a:lnTo>
                  <a:pt x="158750" y="15875"/>
                </a:lnTo>
                <a:cubicBezTo>
                  <a:pt x="176262" y="15875"/>
                  <a:pt x="190500" y="30113"/>
                  <a:pt x="190500" y="47625"/>
                </a:cubicBezTo>
                <a:lnTo>
                  <a:pt x="190500" y="222250"/>
                </a:lnTo>
                <a:cubicBezTo>
                  <a:pt x="190500" y="239762"/>
                  <a:pt x="176262" y="254000"/>
                  <a:pt x="158750" y="254000"/>
                </a:cubicBezTo>
                <a:lnTo>
                  <a:pt x="31750" y="254000"/>
                </a:lnTo>
                <a:cubicBezTo>
                  <a:pt x="14238" y="254000"/>
                  <a:pt x="0" y="239762"/>
                  <a:pt x="0" y="222250"/>
                </a:cubicBezTo>
                <a:lnTo>
                  <a:pt x="0" y="47625"/>
                </a:lnTo>
                <a:cubicBezTo>
                  <a:pt x="0" y="30113"/>
                  <a:pt x="14238" y="15875"/>
                  <a:pt x="31750" y="15875"/>
                </a:cubicBezTo>
                <a:lnTo>
                  <a:pt x="36016" y="15875"/>
                </a:lnTo>
                <a:cubicBezTo>
                  <a:pt x="41473" y="6400"/>
                  <a:pt x="51743" y="0"/>
                  <a:pt x="63500" y="0"/>
                </a:cubicBezTo>
                <a:lnTo>
                  <a:pt x="127000" y="0"/>
                </a:lnTo>
                <a:cubicBezTo>
                  <a:pt x="138757" y="0"/>
                  <a:pt x="149027" y="6400"/>
                  <a:pt x="154484" y="15875"/>
                </a:cubicBezTo>
                <a:close/>
                <a:moveTo>
                  <a:pt x="123031" y="55563"/>
                </a:moveTo>
                <a:cubicBezTo>
                  <a:pt x="129629" y="55563"/>
                  <a:pt x="134938" y="50254"/>
                  <a:pt x="134938" y="43656"/>
                </a:cubicBezTo>
                <a:cubicBezTo>
                  <a:pt x="134938" y="37058"/>
                  <a:pt x="129629" y="31750"/>
                  <a:pt x="123031" y="31750"/>
                </a:cubicBezTo>
                <a:lnTo>
                  <a:pt x="67469" y="31750"/>
                </a:lnTo>
                <a:cubicBezTo>
                  <a:pt x="60871" y="31750"/>
                  <a:pt x="55563" y="37058"/>
                  <a:pt x="55563" y="43656"/>
                </a:cubicBezTo>
                <a:cubicBezTo>
                  <a:pt x="55563" y="50254"/>
                  <a:pt x="60871" y="55563"/>
                  <a:pt x="67469" y="55563"/>
                </a:cubicBezTo>
                <a:lnTo>
                  <a:pt x="123031" y="55563"/>
                </a:lnTo>
                <a:close/>
                <a:moveTo>
                  <a:pt x="63500" y="127000"/>
                </a:moveTo>
                <a:cubicBezTo>
                  <a:pt x="63500" y="118238"/>
                  <a:pt x="56387" y="111125"/>
                  <a:pt x="47625" y="111125"/>
                </a:cubicBezTo>
                <a:cubicBezTo>
                  <a:pt x="38863" y="111125"/>
                  <a:pt x="31750" y="118238"/>
                  <a:pt x="31750" y="127000"/>
                </a:cubicBezTo>
                <a:cubicBezTo>
                  <a:pt x="31750" y="135762"/>
                  <a:pt x="38863" y="142875"/>
                  <a:pt x="47625" y="142875"/>
                </a:cubicBezTo>
                <a:cubicBezTo>
                  <a:pt x="56387" y="142875"/>
                  <a:pt x="63500" y="135762"/>
                  <a:pt x="63500" y="127000"/>
                </a:cubicBezTo>
                <a:close/>
                <a:moveTo>
                  <a:pt x="79375" y="127000"/>
                </a:moveTo>
                <a:cubicBezTo>
                  <a:pt x="79375" y="133598"/>
                  <a:pt x="84683" y="138906"/>
                  <a:pt x="91281" y="138906"/>
                </a:cubicBezTo>
                <a:lnTo>
                  <a:pt x="146844" y="138906"/>
                </a:lnTo>
                <a:cubicBezTo>
                  <a:pt x="153442" y="138906"/>
                  <a:pt x="158750" y="133598"/>
                  <a:pt x="158750" y="127000"/>
                </a:cubicBezTo>
                <a:cubicBezTo>
                  <a:pt x="158750" y="120402"/>
                  <a:pt x="153442" y="115094"/>
                  <a:pt x="146844" y="115094"/>
                </a:cubicBezTo>
                <a:lnTo>
                  <a:pt x="91281" y="115094"/>
                </a:lnTo>
                <a:cubicBezTo>
                  <a:pt x="84683" y="115094"/>
                  <a:pt x="79375" y="120402"/>
                  <a:pt x="79375" y="127000"/>
                </a:cubicBezTo>
                <a:close/>
                <a:moveTo>
                  <a:pt x="79375" y="190500"/>
                </a:moveTo>
                <a:cubicBezTo>
                  <a:pt x="79375" y="197098"/>
                  <a:pt x="84683" y="202406"/>
                  <a:pt x="91281" y="202406"/>
                </a:cubicBezTo>
                <a:lnTo>
                  <a:pt x="146844" y="202406"/>
                </a:lnTo>
                <a:cubicBezTo>
                  <a:pt x="153442" y="202406"/>
                  <a:pt x="158750" y="197098"/>
                  <a:pt x="158750" y="190500"/>
                </a:cubicBezTo>
                <a:cubicBezTo>
                  <a:pt x="158750" y="183902"/>
                  <a:pt x="153442" y="178594"/>
                  <a:pt x="146844" y="178594"/>
                </a:cubicBezTo>
                <a:lnTo>
                  <a:pt x="91281" y="178594"/>
                </a:lnTo>
                <a:cubicBezTo>
                  <a:pt x="84683" y="178594"/>
                  <a:pt x="79375" y="183902"/>
                  <a:pt x="79375" y="190500"/>
                </a:cubicBezTo>
                <a:close/>
                <a:moveTo>
                  <a:pt x="47625" y="206375"/>
                </a:moveTo>
                <a:cubicBezTo>
                  <a:pt x="56387" y="206375"/>
                  <a:pt x="63500" y="199262"/>
                  <a:pt x="63500" y="190500"/>
                </a:cubicBezTo>
                <a:cubicBezTo>
                  <a:pt x="63500" y="181738"/>
                  <a:pt x="56387" y="174625"/>
                  <a:pt x="47625" y="174625"/>
                </a:cubicBezTo>
                <a:cubicBezTo>
                  <a:pt x="38863" y="174625"/>
                  <a:pt x="31750" y="181738"/>
                  <a:pt x="31750" y="190500"/>
                </a:cubicBezTo>
                <a:cubicBezTo>
                  <a:pt x="31750" y="199262"/>
                  <a:pt x="38863" y="206375"/>
                  <a:pt x="47625" y="206375"/>
                </a:cubicBezTo>
                <a:close/>
              </a:path>
            </a:pathLst>
          </a:custGeom>
          <a:solidFill>
            <a:srgbClr val="E89F5B"/>
          </a:solidFill>
          <a:ln/>
        </p:spPr>
      </p:sp>
      <p:sp>
        <p:nvSpPr>
          <p:cNvPr id="26" name="Text 24"/>
          <p:cNvSpPr/>
          <p:nvPr/>
        </p:nvSpPr>
        <p:spPr>
          <a:xfrm>
            <a:off x="1574800" y="6781800"/>
            <a:ext cx="35179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fr-FR" sz="1800" b="1" smtClean="0">
                <a:solidFill>
                  <a:srgbClr val="E8E8E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Traçabilité Limitée</a:t>
            </a:r>
            <a:endParaRPr lang="fr-FR" sz="1600" dirty="0"/>
          </a:p>
        </p:txBody>
      </p:sp>
      <p:sp>
        <p:nvSpPr>
          <p:cNvPr id="27" name="Text 25"/>
          <p:cNvSpPr/>
          <p:nvPr/>
        </p:nvSpPr>
        <p:spPr>
          <a:xfrm>
            <a:off x="1574800" y="7188200"/>
            <a:ext cx="35052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fr-FR" sz="1600" smtClean="0">
                <a:solidFill>
                  <a:srgbClr val="7D8A9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Enregistrements partiels, suivi difficile</a:t>
            </a:r>
            <a:endParaRPr lang="fr-FR" sz="1600" dirty="0"/>
          </a:p>
        </p:txBody>
      </p:sp>
      <p:sp>
        <p:nvSpPr>
          <p:cNvPr id="28" name="Shape 26"/>
          <p:cNvSpPr/>
          <p:nvPr/>
        </p:nvSpPr>
        <p:spPr>
          <a:xfrm>
            <a:off x="8504719" y="1689100"/>
            <a:ext cx="7020000" cy="4679950"/>
          </a:xfrm>
          <a:custGeom>
            <a:avLst/>
            <a:gdLst/>
            <a:ahLst/>
            <a:cxnLst/>
            <a:rect l="l" t="t" r="r" b="b"/>
            <a:pathLst>
              <a:path w="7454900" h="4686300">
                <a:moveTo>
                  <a:pt x="101599" y="0"/>
                </a:moveTo>
                <a:lnTo>
                  <a:pt x="7353301" y="0"/>
                </a:lnTo>
                <a:cubicBezTo>
                  <a:pt x="7409413" y="0"/>
                  <a:pt x="7454900" y="45487"/>
                  <a:pt x="7454900" y="101599"/>
                </a:cubicBezTo>
                <a:lnTo>
                  <a:pt x="7454900" y="4584701"/>
                </a:lnTo>
                <a:cubicBezTo>
                  <a:pt x="7454900" y="4640813"/>
                  <a:pt x="7409413" y="4686300"/>
                  <a:pt x="7353301" y="4686300"/>
                </a:cubicBezTo>
                <a:lnTo>
                  <a:pt x="101599" y="4686300"/>
                </a:lnTo>
                <a:cubicBezTo>
                  <a:pt x="45487" y="4686300"/>
                  <a:pt x="0" y="4640813"/>
                  <a:pt x="0" y="4584701"/>
                </a:cubicBezTo>
                <a:lnTo>
                  <a:pt x="0" y="101599"/>
                </a:lnTo>
                <a:cubicBezTo>
                  <a:pt x="0" y="45525"/>
                  <a:pt x="45525" y="0"/>
                  <a:pt x="101599" y="0"/>
                </a:cubicBezTo>
                <a:close/>
              </a:path>
            </a:pathLst>
          </a:custGeom>
          <a:solidFill>
            <a:srgbClr val="000000">
              <a:alpha val="0"/>
            </a:srgbClr>
          </a:solidFill>
          <a:ln w="12700">
            <a:solidFill>
              <a:srgbClr val="4A6C8C">
                <a:alpha val="30196"/>
              </a:srgbClr>
            </a:solidFill>
            <a:prstDash val="solid"/>
          </a:ln>
        </p:spPr>
      </p:sp>
      <p:pic>
        <p:nvPicPr>
          <p:cNvPr id="29" name="Image 0" descr="https://kimi-web-img.moonshot.cn/img/larsonsystems.com/a2e0428f4cf921eca0abd79f8a5e98451422b6c4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4718" y="1689100"/>
            <a:ext cx="7020000" cy="4674293"/>
          </a:xfrm>
          <a:prstGeom prst="roundRect">
            <a:avLst>
              <a:gd name="adj" fmla="val 2174"/>
            </a:avLst>
          </a:prstGeom>
        </p:spPr>
      </p:pic>
      <p:sp>
        <p:nvSpPr>
          <p:cNvPr id="30" name="Shape 27"/>
          <p:cNvSpPr/>
          <p:nvPr/>
        </p:nvSpPr>
        <p:spPr>
          <a:xfrm>
            <a:off x="8286750" y="6584950"/>
            <a:ext cx="7454900" cy="2044700"/>
          </a:xfrm>
          <a:custGeom>
            <a:avLst/>
            <a:gdLst/>
            <a:ahLst/>
            <a:cxnLst/>
            <a:rect l="l" t="t" r="r" b="b"/>
            <a:pathLst>
              <a:path w="7454900" h="2044700">
                <a:moveTo>
                  <a:pt x="101601" y="0"/>
                </a:moveTo>
                <a:lnTo>
                  <a:pt x="7353299" y="0"/>
                </a:lnTo>
                <a:cubicBezTo>
                  <a:pt x="7409412" y="0"/>
                  <a:pt x="7454900" y="45488"/>
                  <a:pt x="7454900" y="101601"/>
                </a:cubicBezTo>
                <a:lnTo>
                  <a:pt x="7454900" y="1943099"/>
                </a:lnTo>
                <a:cubicBezTo>
                  <a:pt x="7454900" y="1999212"/>
                  <a:pt x="7409412" y="2044700"/>
                  <a:pt x="7353299" y="2044700"/>
                </a:cubicBezTo>
                <a:lnTo>
                  <a:pt x="101601" y="2044700"/>
                </a:lnTo>
                <a:cubicBezTo>
                  <a:pt x="45488" y="2044700"/>
                  <a:pt x="0" y="1999212"/>
                  <a:pt x="0" y="1943099"/>
                </a:cubicBezTo>
                <a:lnTo>
                  <a:pt x="0" y="101601"/>
                </a:lnTo>
                <a:cubicBezTo>
                  <a:pt x="0" y="45488"/>
                  <a:pt x="45488" y="0"/>
                  <a:pt x="101601" y="0"/>
                </a:cubicBezTo>
                <a:close/>
              </a:path>
            </a:pathLst>
          </a:custGeom>
          <a:gradFill flip="none" rotWithShape="1">
            <a:gsLst>
              <a:gs pos="0">
                <a:srgbClr val="E89F5B">
                  <a:alpha val="20000"/>
                </a:srgbClr>
              </a:gs>
              <a:gs pos="100000">
                <a:srgbClr val="4A6C8C">
                  <a:alpha val="20000"/>
                </a:srgbClr>
              </a:gs>
            </a:gsLst>
            <a:lin ang="2700000" scaled="1"/>
          </a:gradFill>
          <a:ln w="12700">
            <a:solidFill>
              <a:srgbClr val="E89F5B">
                <a:alpha val="40000"/>
              </a:srgbClr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8483600" y="6845300"/>
            <a:ext cx="70612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fr-FR" sz="2000" b="1" smtClean="0">
                <a:solidFill>
                  <a:srgbClr val="E8E8E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Productivité Actuelle</a:t>
            </a:r>
            <a:endParaRPr lang="fr-FR" sz="1600" dirty="0"/>
          </a:p>
        </p:txBody>
      </p:sp>
      <p:sp>
        <p:nvSpPr>
          <p:cNvPr id="32" name="Text 29"/>
          <p:cNvSpPr/>
          <p:nvPr/>
        </p:nvSpPr>
        <p:spPr>
          <a:xfrm>
            <a:off x="9161264" y="7404100"/>
            <a:ext cx="1079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80000"/>
              </a:lnSpc>
            </a:pPr>
            <a:r>
              <a:rPr lang="fr-FR" sz="4800" b="1" smtClean="0">
                <a:solidFill>
                  <a:srgbClr val="E89F5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2</a:t>
            </a:r>
            <a:endParaRPr lang="fr-FR" sz="1600" dirty="0"/>
          </a:p>
        </p:txBody>
      </p:sp>
      <p:sp>
        <p:nvSpPr>
          <p:cNvPr id="33" name="Text 30"/>
          <p:cNvSpPr/>
          <p:nvPr/>
        </p:nvSpPr>
        <p:spPr>
          <a:xfrm>
            <a:off x="9262864" y="8064500"/>
            <a:ext cx="8763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fr-FR" sz="1600" smtClean="0">
                <a:solidFill>
                  <a:srgbClr val="7D8A9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clés/jour</a:t>
            </a:r>
            <a:endParaRPr lang="fr-FR" sz="1600" dirty="0"/>
          </a:p>
        </p:txBody>
      </p:sp>
      <p:sp>
        <p:nvSpPr>
          <p:cNvPr id="34" name="Shape 31"/>
          <p:cNvSpPr/>
          <p:nvPr/>
        </p:nvSpPr>
        <p:spPr>
          <a:xfrm>
            <a:off x="11670109" y="7696200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>
                <a:moveTo>
                  <a:pt x="374005" y="207318"/>
                </a:moveTo>
                <a:cubicBezTo>
                  <a:pt x="383307" y="198016"/>
                  <a:pt x="383307" y="182910"/>
                  <a:pt x="374005" y="173608"/>
                </a:cubicBezTo>
                <a:lnTo>
                  <a:pt x="254943" y="54546"/>
                </a:lnTo>
                <a:cubicBezTo>
                  <a:pt x="245641" y="45244"/>
                  <a:pt x="230535" y="45244"/>
                  <a:pt x="221233" y="54546"/>
                </a:cubicBezTo>
                <a:cubicBezTo>
                  <a:pt x="211931" y="63847"/>
                  <a:pt x="211931" y="78953"/>
                  <a:pt x="221233" y="88255"/>
                </a:cubicBezTo>
                <a:lnTo>
                  <a:pt x="299665" y="166688"/>
                </a:lnTo>
                <a:lnTo>
                  <a:pt x="23812" y="166688"/>
                </a:lnTo>
                <a:cubicBezTo>
                  <a:pt x="10641" y="166688"/>
                  <a:pt x="0" y="177329"/>
                  <a:pt x="0" y="190500"/>
                </a:cubicBezTo>
                <a:cubicBezTo>
                  <a:pt x="0" y="203671"/>
                  <a:pt x="10641" y="214313"/>
                  <a:pt x="23812" y="214313"/>
                </a:cubicBezTo>
                <a:lnTo>
                  <a:pt x="299665" y="214313"/>
                </a:lnTo>
                <a:lnTo>
                  <a:pt x="221233" y="292745"/>
                </a:lnTo>
                <a:cubicBezTo>
                  <a:pt x="211931" y="302047"/>
                  <a:pt x="211931" y="317153"/>
                  <a:pt x="221233" y="326454"/>
                </a:cubicBezTo>
                <a:cubicBezTo>
                  <a:pt x="230535" y="335756"/>
                  <a:pt x="245641" y="335756"/>
                  <a:pt x="254943" y="326454"/>
                </a:cubicBezTo>
                <a:lnTo>
                  <a:pt x="374005" y="207392"/>
                </a:lnTo>
                <a:close/>
              </a:path>
            </a:pathLst>
          </a:custGeom>
          <a:solidFill>
            <a:srgbClr val="4A6C8C"/>
          </a:solidFill>
          <a:ln/>
        </p:spPr>
      </p:sp>
      <p:sp>
        <p:nvSpPr>
          <p:cNvPr id="35" name="Text 32"/>
          <p:cNvSpPr/>
          <p:nvPr/>
        </p:nvSpPr>
        <p:spPr>
          <a:xfrm>
            <a:off x="13476486" y="7404100"/>
            <a:ext cx="13843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80000"/>
              </a:lnSpc>
            </a:pPr>
            <a:r>
              <a:rPr lang="fr-FR" sz="4800" b="1" smtClean="0">
                <a:solidFill>
                  <a:srgbClr val="4A6C8C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~8</a:t>
            </a:r>
            <a:endParaRPr lang="fr-FR" sz="1600" dirty="0"/>
          </a:p>
        </p:txBody>
      </p:sp>
      <p:sp>
        <p:nvSpPr>
          <p:cNvPr id="36" name="Text 33"/>
          <p:cNvSpPr/>
          <p:nvPr/>
        </p:nvSpPr>
        <p:spPr>
          <a:xfrm>
            <a:off x="13578086" y="8064500"/>
            <a:ext cx="11811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fr-FR" sz="1600" smtClean="0">
                <a:solidFill>
                  <a:srgbClr val="7D8A9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objectif/jour</a:t>
            </a:r>
            <a:endParaRPr lang="fr-FR" sz="1600" dirty="0"/>
          </a:p>
        </p:txBody>
      </p:sp>
      <p:sp>
        <p:nvSpPr>
          <p:cNvPr id="38" name="Rectangle 37"/>
          <p:cNvSpPr/>
          <p:nvPr/>
        </p:nvSpPr>
        <p:spPr>
          <a:xfrm>
            <a:off x="8504720" y="1689100"/>
            <a:ext cx="7019999" cy="4674293"/>
          </a:xfrm>
          <a:prstGeom prst="rect">
            <a:avLst/>
          </a:prstGeom>
          <a:solidFill>
            <a:srgbClr val="1A1D2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pic>
        <p:nvPicPr>
          <p:cNvPr id="39" name="Image 38" descr="décomposition banc S-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3363" y="1177636"/>
            <a:ext cx="8288287" cy="5231240"/>
          </a:xfrm>
          <a:prstGeom prst="rect">
            <a:avLst/>
          </a:prstGeom>
        </p:spPr>
      </p:pic>
      <p:sp>
        <p:nvSpPr>
          <p:cNvPr id="40" name="ZoneTexte 39"/>
          <p:cNvSpPr txBox="1"/>
          <p:nvPr/>
        </p:nvSpPr>
        <p:spPr>
          <a:xfrm>
            <a:off x="8483600" y="4888468"/>
            <a:ext cx="14105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mtClean="0">
                <a:solidFill>
                  <a:srgbClr val="FF0000"/>
                </a:solidFill>
              </a:rPr>
              <a:t>Capteur VISA</a:t>
            </a:r>
            <a:endParaRPr lang="fr-FR" dirty="0">
              <a:solidFill>
                <a:srgbClr val="FF0000"/>
              </a:solidFill>
            </a:endParaRPr>
          </a:p>
        </p:txBody>
      </p:sp>
      <p:sp>
        <p:nvSpPr>
          <p:cNvPr id="41" name="ZoneTexte 40"/>
          <p:cNvSpPr txBox="1"/>
          <p:nvPr/>
        </p:nvSpPr>
        <p:spPr>
          <a:xfrm>
            <a:off x="14291750" y="1371600"/>
            <a:ext cx="93487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mtClean="0">
                <a:solidFill>
                  <a:srgbClr val="FF0000"/>
                </a:solidFill>
              </a:rPr>
              <a:t>Support</a:t>
            </a:r>
          </a:p>
          <a:p>
            <a:r>
              <a:rPr lang="fr-FR" smtClean="0">
                <a:solidFill>
                  <a:srgbClr val="FF0000"/>
                </a:solidFill>
              </a:rPr>
              <a:t> torsion</a:t>
            </a:r>
            <a:endParaRPr lang="fr-FR" dirty="0">
              <a:solidFill>
                <a:srgbClr val="FF0000"/>
              </a:solidFill>
            </a:endParaRPr>
          </a:p>
        </p:txBody>
      </p:sp>
      <p:cxnSp>
        <p:nvCxnSpPr>
          <p:cNvPr id="43" name="Connecteur droit avec flèche 42"/>
          <p:cNvCxnSpPr/>
          <p:nvPr/>
        </p:nvCxnSpPr>
        <p:spPr>
          <a:xfrm rot="16200000" flipH="1">
            <a:off x="9393822" y="2496843"/>
            <a:ext cx="596900" cy="403815"/>
          </a:xfrm>
          <a:prstGeom prst="straightConnector1">
            <a:avLst/>
          </a:prstGeom>
          <a:ln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ZoneTexte 43"/>
          <p:cNvSpPr txBox="1"/>
          <p:nvPr/>
        </p:nvSpPr>
        <p:spPr>
          <a:xfrm>
            <a:off x="8221136" y="1694765"/>
            <a:ext cx="208345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mtClean="0">
                <a:solidFill>
                  <a:srgbClr val="FF0000"/>
                </a:solidFill>
              </a:rPr>
              <a:t>Chariot transversal </a:t>
            </a:r>
          </a:p>
          <a:p>
            <a:r>
              <a:rPr lang="fr-FR" smtClean="0">
                <a:solidFill>
                  <a:srgbClr val="FF0000"/>
                </a:solidFill>
              </a:rPr>
              <a:t>pour le chargement </a:t>
            </a:r>
            <a:endParaRPr lang="fr-FR" dirty="0">
              <a:solidFill>
                <a:srgbClr val="FF0000"/>
              </a:solidFill>
            </a:endParaRPr>
          </a:p>
        </p:txBody>
      </p:sp>
      <p:sp>
        <p:nvSpPr>
          <p:cNvPr id="47" name="Rectangle 46"/>
          <p:cNvSpPr/>
          <p:nvPr/>
        </p:nvSpPr>
        <p:spPr>
          <a:xfrm>
            <a:off x="8504720" y="4098635"/>
            <a:ext cx="4726371" cy="2264758"/>
          </a:xfrm>
          <a:prstGeom prst="rect">
            <a:avLst/>
          </a:prstGeom>
          <a:solidFill>
            <a:srgbClr val="1A1D2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pic>
        <p:nvPicPr>
          <p:cNvPr id="48" name="Image 47" descr="capteur vis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04720" y="4054475"/>
            <a:ext cx="4598269" cy="2308918"/>
          </a:xfrm>
          <a:prstGeom prst="rect">
            <a:avLst/>
          </a:prstGeom>
        </p:spPr>
      </p:pic>
      <p:cxnSp>
        <p:nvCxnSpPr>
          <p:cNvPr id="50" name="Connecteur droit 49"/>
          <p:cNvCxnSpPr/>
          <p:nvPr/>
        </p:nvCxnSpPr>
        <p:spPr>
          <a:xfrm rot="10800000">
            <a:off x="10304591" y="4098635"/>
            <a:ext cx="806754" cy="31635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Connecteur droit 52"/>
          <p:cNvCxnSpPr/>
          <p:nvPr/>
        </p:nvCxnSpPr>
        <p:spPr>
          <a:xfrm rot="5400000" flipH="1" flipV="1">
            <a:off x="9997895" y="4239905"/>
            <a:ext cx="447965" cy="165427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ZoneTexte 53"/>
          <p:cNvSpPr txBox="1"/>
          <p:nvPr/>
        </p:nvSpPr>
        <p:spPr>
          <a:xfrm>
            <a:off x="8809045" y="3729303"/>
            <a:ext cx="17055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mtClean="0">
                <a:solidFill>
                  <a:srgbClr val="FF0000"/>
                </a:solidFill>
              </a:rPr>
              <a:t>Corps d’épreuve</a:t>
            </a:r>
            <a:endParaRPr lang="fr-FR" dirty="0">
              <a:solidFill>
                <a:srgbClr val="FF0000"/>
              </a:solidFill>
            </a:endParaRPr>
          </a:p>
        </p:txBody>
      </p:sp>
      <p:sp>
        <p:nvSpPr>
          <p:cNvPr id="55" name="ZoneTexte 54"/>
          <p:cNvSpPr txBox="1"/>
          <p:nvPr/>
        </p:nvSpPr>
        <p:spPr>
          <a:xfrm>
            <a:off x="8328315" y="5248870"/>
            <a:ext cx="131023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mtClean="0">
                <a:solidFill>
                  <a:srgbClr val="FF0000"/>
                </a:solidFill>
              </a:rPr>
              <a:t>Boitier </a:t>
            </a:r>
          </a:p>
          <a:p>
            <a:r>
              <a:rPr lang="fr-FR" smtClean="0">
                <a:solidFill>
                  <a:srgbClr val="FF0000"/>
                </a:solidFill>
              </a:rPr>
              <a:t>(traitement </a:t>
            </a:r>
          </a:p>
          <a:p>
            <a:r>
              <a:rPr lang="fr-FR" smtClean="0">
                <a:solidFill>
                  <a:srgbClr val="FF0000"/>
                </a:solidFill>
              </a:rPr>
              <a:t>du signal)</a:t>
            </a:r>
            <a:endParaRPr lang="fr-FR" dirty="0">
              <a:solidFill>
                <a:srgbClr val="FF0000"/>
              </a:solidFill>
            </a:endParaRPr>
          </a:p>
        </p:txBody>
      </p:sp>
      <p:sp>
        <p:nvSpPr>
          <p:cNvPr id="56" name="ZoneTexte 55"/>
          <p:cNvSpPr txBox="1"/>
          <p:nvPr/>
        </p:nvSpPr>
        <p:spPr>
          <a:xfrm>
            <a:off x="11995689" y="4655130"/>
            <a:ext cx="10464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mtClean="0">
                <a:solidFill>
                  <a:srgbClr val="FF0000"/>
                </a:solidFill>
              </a:rPr>
              <a:t>Afficheur</a:t>
            </a:r>
            <a:endParaRPr lang="fr-FR" dirty="0">
              <a:solidFill>
                <a:srgbClr val="FF0000"/>
              </a:solidFill>
            </a:endParaRPr>
          </a:p>
        </p:txBody>
      </p:sp>
      <p:pic>
        <p:nvPicPr>
          <p:cNvPr id="57" name="Picture 1"/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14291750" y="3839140"/>
            <a:ext cx="1221597" cy="25143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8" name="Ellipse 57"/>
          <p:cNvSpPr/>
          <p:nvPr/>
        </p:nvSpPr>
        <p:spPr>
          <a:xfrm>
            <a:off x="11097490" y="4279900"/>
            <a:ext cx="558764" cy="43180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cxnSp>
        <p:nvCxnSpPr>
          <p:cNvPr id="60" name="Connecteur droit avec flèche 59"/>
          <p:cNvCxnSpPr/>
          <p:nvPr/>
        </p:nvCxnSpPr>
        <p:spPr>
          <a:xfrm>
            <a:off x="11628544" y="4412670"/>
            <a:ext cx="2663206" cy="600498"/>
          </a:xfrm>
          <a:prstGeom prst="straightConnector1">
            <a:avLst/>
          </a:prstGeom>
          <a:ln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NumPage"/>
          <p:cNvSpPr txBox="1"/>
          <p:nvPr/>
        </p:nvSpPr>
        <p:spPr>
          <a:xfrm>
            <a:off x="15240000" y="8636000"/>
            <a:ext cx="889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fr-FR" sz="1400" smtClean="0">
                <a:solidFill>
                  <a:srgbClr val="E89F5B"/>
                </a:solidFill>
              </a:rPr>
              <a:t>6</a:t>
            </a:r>
            <a:endParaRPr lang="fr-FR" sz="1400" dirty="0">
              <a:solidFill>
                <a:srgbClr val="E89F5B"/>
              </a:solidFill>
            </a:endParaRP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5" presetClass="entr" presetSubtype="1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1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4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5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5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20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23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28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500"/>
                            </p:stCondLst>
                            <p:childTnLst>
                              <p:par>
                                <p:cTn id="30" presetID="5" presetClass="entr" presetSubtype="1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32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5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35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38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41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44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5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47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50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53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56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" grpId="0" animBg="1"/>
      <p:bldP spid="40" grpId="0"/>
      <p:bldP spid="41" grpId="0"/>
      <p:bldP spid="44" grpId="0"/>
      <p:bldP spid="47" grpId="0" animBg="1"/>
      <p:bldP spid="54" grpId="0"/>
      <p:bldP spid="55" grpId="0"/>
      <p:bldP spid="56" grpId="0"/>
      <p:bldP spid="58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14350" y="69850"/>
            <a:ext cx="153289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fr-FR" sz="1400" b="1" kern="0" spc="140" smtClean="0">
                <a:solidFill>
                  <a:srgbClr val="E89F5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02. OBJECTIFS</a:t>
            </a:r>
            <a:endParaRPr lang="fr-FR" sz="1600" dirty="0"/>
          </a:p>
        </p:txBody>
      </p:sp>
      <p:sp>
        <p:nvSpPr>
          <p:cNvPr id="3" name="Text 1"/>
          <p:cNvSpPr/>
          <p:nvPr/>
        </p:nvSpPr>
        <p:spPr>
          <a:xfrm>
            <a:off x="514350" y="425450"/>
            <a:ext cx="154686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fr-FR" sz="3600" b="1" smtClean="0">
                <a:solidFill>
                  <a:srgbClr val="E8E8E8"/>
                </a:solidFill>
                <a:latin typeface="Hedvig Letters Sans" pitchFamily="34" charset="0"/>
                <a:ea typeface="Hedvig Letters Sans" pitchFamily="34" charset="-122"/>
                <a:cs typeface="Hedvig Letters Sans" pitchFamily="34" charset="-120"/>
              </a:rPr>
              <a:t>Objectifs du Futur Banc Automatisé</a:t>
            </a:r>
            <a:endParaRPr lang="fr-FR" sz="1600" dirty="0"/>
          </a:p>
        </p:txBody>
      </p:sp>
      <p:sp>
        <p:nvSpPr>
          <p:cNvPr id="4" name="Shape 2"/>
          <p:cNvSpPr/>
          <p:nvPr/>
        </p:nvSpPr>
        <p:spPr>
          <a:xfrm>
            <a:off x="520700" y="1244600"/>
            <a:ext cx="4902200" cy="3721100"/>
          </a:xfrm>
          <a:custGeom>
            <a:avLst/>
            <a:gdLst/>
            <a:ahLst/>
            <a:cxnLst/>
            <a:rect l="l" t="t" r="r" b="b"/>
            <a:pathLst>
              <a:path w="4902200" h="3721100">
                <a:moveTo>
                  <a:pt x="101586" y="0"/>
                </a:moveTo>
                <a:lnTo>
                  <a:pt x="4800614" y="0"/>
                </a:lnTo>
                <a:cubicBezTo>
                  <a:pt x="4856718" y="0"/>
                  <a:pt x="4902200" y="45482"/>
                  <a:pt x="4902200" y="101586"/>
                </a:cubicBezTo>
                <a:lnTo>
                  <a:pt x="4902200" y="3619514"/>
                </a:lnTo>
                <a:cubicBezTo>
                  <a:pt x="4902200" y="3675618"/>
                  <a:pt x="4856718" y="3721100"/>
                  <a:pt x="4800614" y="3721100"/>
                </a:cubicBezTo>
                <a:lnTo>
                  <a:pt x="101586" y="3721100"/>
                </a:lnTo>
                <a:cubicBezTo>
                  <a:pt x="45482" y="3721100"/>
                  <a:pt x="0" y="3675618"/>
                  <a:pt x="0" y="3619514"/>
                </a:cubicBezTo>
                <a:lnTo>
                  <a:pt x="0" y="101586"/>
                </a:lnTo>
                <a:cubicBezTo>
                  <a:pt x="0" y="45519"/>
                  <a:pt x="45519" y="0"/>
                  <a:pt x="101586" y="0"/>
                </a:cubicBezTo>
                <a:close/>
              </a:path>
            </a:pathLst>
          </a:custGeom>
          <a:gradFill flip="none" rotWithShape="1">
            <a:gsLst>
              <a:gs pos="0">
                <a:srgbClr val="4A6C8C">
                  <a:alpha val="20000"/>
                </a:srgbClr>
              </a:gs>
              <a:gs pos="100000">
                <a:srgbClr val="4A6C8C">
                  <a:alpha val="5000"/>
                </a:srgbClr>
              </a:gs>
            </a:gsLst>
            <a:lin ang="2700000" scaled="1"/>
          </a:gradFill>
          <a:ln w="12700">
            <a:solidFill>
              <a:srgbClr val="4A6C8C">
                <a:alpha val="4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81050" y="1504950"/>
            <a:ext cx="711200" cy="711200"/>
          </a:xfrm>
          <a:custGeom>
            <a:avLst/>
            <a:gdLst/>
            <a:ahLst/>
            <a:cxnLst/>
            <a:rect l="l" t="t" r="r" b="b"/>
            <a:pathLst>
              <a:path w="711200" h="711200">
                <a:moveTo>
                  <a:pt x="355600" y="0"/>
                </a:moveTo>
                <a:lnTo>
                  <a:pt x="355600" y="0"/>
                </a:lnTo>
                <a:cubicBezTo>
                  <a:pt x="551861" y="0"/>
                  <a:pt x="711200" y="159339"/>
                  <a:pt x="711200" y="355600"/>
                </a:cubicBezTo>
                <a:lnTo>
                  <a:pt x="711200" y="355600"/>
                </a:lnTo>
                <a:cubicBezTo>
                  <a:pt x="711200" y="551861"/>
                  <a:pt x="551861" y="711200"/>
                  <a:pt x="355600" y="711200"/>
                </a:cubicBezTo>
                <a:lnTo>
                  <a:pt x="355600" y="711200"/>
                </a:lnTo>
                <a:cubicBezTo>
                  <a:pt x="159339" y="711200"/>
                  <a:pt x="0" y="551861"/>
                  <a:pt x="0" y="355600"/>
                </a:cubicBezTo>
                <a:lnTo>
                  <a:pt x="0" y="355600"/>
                </a:lnTo>
                <a:cubicBezTo>
                  <a:pt x="0" y="159339"/>
                  <a:pt x="159339" y="0"/>
                  <a:pt x="355600" y="0"/>
                </a:cubicBezTo>
                <a:close/>
              </a:path>
            </a:pathLst>
          </a:custGeom>
          <a:solidFill>
            <a:srgbClr val="4A6C8C"/>
          </a:solidFill>
          <a:ln/>
        </p:spPr>
      </p:sp>
      <p:sp>
        <p:nvSpPr>
          <p:cNvPr id="6" name="Shape 4"/>
          <p:cNvSpPr/>
          <p:nvPr/>
        </p:nvSpPr>
        <p:spPr>
          <a:xfrm>
            <a:off x="984250" y="170815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0" y="152400"/>
                </a:moveTo>
                <a:cubicBezTo>
                  <a:pt x="0" y="68288"/>
                  <a:pt x="68288" y="0"/>
                  <a:pt x="152400" y="0"/>
                </a:cubicBezTo>
                <a:cubicBezTo>
                  <a:pt x="236512" y="0"/>
                  <a:pt x="304800" y="68288"/>
                  <a:pt x="304800" y="152400"/>
                </a:cubicBezTo>
                <a:cubicBezTo>
                  <a:pt x="304800" y="236512"/>
                  <a:pt x="236512" y="304800"/>
                  <a:pt x="152400" y="304800"/>
                </a:cubicBezTo>
                <a:cubicBezTo>
                  <a:pt x="68288" y="304800"/>
                  <a:pt x="0" y="236512"/>
                  <a:pt x="0" y="152400"/>
                </a:cubicBezTo>
                <a:close/>
                <a:moveTo>
                  <a:pt x="171450" y="57150"/>
                </a:moveTo>
                <a:cubicBezTo>
                  <a:pt x="171450" y="46636"/>
                  <a:pt x="162914" y="38100"/>
                  <a:pt x="152400" y="38100"/>
                </a:cubicBezTo>
                <a:cubicBezTo>
                  <a:pt x="141886" y="38100"/>
                  <a:pt x="133350" y="46636"/>
                  <a:pt x="133350" y="57150"/>
                </a:cubicBezTo>
                <a:cubicBezTo>
                  <a:pt x="133350" y="67664"/>
                  <a:pt x="141886" y="76200"/>
                  <a:pt x="152400" y="76200"/>
                </a:cubicBezTo>
                <a:cubicBezTo>
                  <a:pt x="162914" y="76200"/>
                  <a:pt x="171450" y="67664"/>
                  <a:pt x="171450" y="57150"/>
                </a:cubicBezTo>
                <a:close/>
                <a:moveTo>
                  <a:pt x="152400" y="247650"/>
                </a:moveTo>
                <a:cubicBezTo>
                  <a:pt x="173415" y="247650"/>
                  <a:pt x="190500" y="230565"/>
                  <a:pt x="190500" y="209550"/>
                </a:cubicBezTo>
                <a:cubicBezTo>
                  <a:pt x="190500" y="199906"/>
                  <a:pt x="186928" y="191036"/>
                  <a:pt x="180975" y="184368"/>
                </a:cubicBezTo>
                <a:lnTo>
                  <a:pt x="222349" y="101679"/>
                </a:lnTo>
                <a:cubicBezTo>
                  <a:pt x="225862" y="94595"/>
                  <a:pt x="223004" y="86023"/>
                  <a:pt x="215979" y="82510"/>
                </a:cubicBezTo>
                <a:cubicBezTo>
                  <a:pt x="208955" y="78998"/>
                  <a:pt x="200323" y="81855"/>
                  <a:pt x="196810" y="88880"/>
                </a:cubicBezTo>
                <a:lnTo>
                  <a:pt x="155436" y="171569"/>
                </a:lnTo>
                <a:cubicBezTo>
                  <a:pt x="154424" y="171510"/>
                  <a:pt x="153412" y="171450"/>
                  <a:pt x="152400" y="171450"/>
                </a:cubicBezTo>
                <a:cubicBezTo>
                  <a:pt x="131385" y="171450"/>
                  <a:pt x="114300" y="188535"/>
                  <a:pt x="114300" y="209550"/>
                </a:cubicBezTo>
                <a:cubicBezTo>
                  <a:pt x="114300" y="230565"/>
                  <a:pt x="131385" y="247650"/>
                  <a:pt x="152400" y="247650"/>
                </a:cubicBezTo>
                <a:close/>
                <a:moveTo>
                  <a:pt x="104775" y="85725"/>
                </a:moveTo>
                <a:cubicBezTo>
                  <a:pt x="104775" y="75211"/>
                  <a:pt x="96239" y="66675"/>
                  <a:pt x="85725" y="66675"/>
                </a:cubicBezTo>
                <a:cubicBezTo>
                  <a:pt x="75211" y="66675"/>
                  <a:pt x="66675" y="75211"/>
                  <a:pt x="66675" y="85725"/>
                </a:cubicBezTo>
                <a:cubicBezTo>
                  <a:pt x="66675" y="96239"/>
                  <a:pt x="75211" y="104775"/>
                  <a:pt x="85725" y="104775"/>
                </a:cubicBezTo>
                <a:cubicBezTo>
                  <a:pt x="96239" y="104775"/>
                  <a:pt x="104775" y="96239"/>
                  <a:pt x="104775" y="85725"/>
                </a:cubicBezTo>
                <a:close/>
                <a:moveTo>
                  <a:pt x="57150" y="171450"/>
                </a:moveTo>
                <a:cubicBezTo>
                  <a:pt x="67664" y="171450"/>
                  <a:pt x="76200" y="162914"/>
                  <a:pt x="76200" y="152400"/>
                </a:cubicBezTo>
                <a:cubicBezTo>
                  <a:pt x="76200" y="141886"/>
                  <a:pt x="67664" y="133350"/>
                  <a:pt x="57150" y="133350"/>
                </a:cubicBezTo>
                <a:cubicBezTo>
                  <a:pt x="46636" y="133350"/>
                  <a:pt x="38100" y="141886"/>
                  <a:pt x="38100" y="152400"/>
                </a:cubicBezTo>
                <a:cubicBezTo>
                  <a:pt x="38100" y="162914"/>
                  <a:pt x="46636" y="171450"/>
                  <a:pt x="57150" y="171450"/>
                </a:cubicBezTo>
                <a:close/>
                <a:moveTo>
                  <a:pt x="266700" y="152400"/>
                </a:moveTo>
                <a:cubicBezTo>
                  <a:pt x="266700" y="141886"/>
                  <a:pt x="258164" y="133350"/>
                  <a:pt x="247650" y="133350"/>
                </a:cubicBezTo>
                <a:cubicBezTo>
                  <a:pt x="237136" y="133350"/>
                  <a:pt x="228600" y="141886"/>
                  <a:pt x="228600" y="152400"/>
                </a:cubicBezTo>
                <a:cubicBezTo>
                  <a:pt x="228600" y="162914"/>
                  <a:pt x="237136" y="171450"/>
                  <a:pt x="247650" y="171450"/>
                </a:cubicBezTo>
                <a:cubicBezTo>
                  <a:pt x="258164" y="171450"/>
                  <a:pt x="266700" y="162914"/>
                  <a:pt x="266700" y="152400"/>
                </a:cubicBezTo>
                <a:close/>
              </a:path>
            </a:pathLst>
          </a:custGeom>
          <a:solidFill>
            <a:srgbClr val="E8E8E8"/>
          </a:solidFill>
          <a:ln/>
        </p:spPr>
      </p:sp>
      <p:sp>
        <p:nvSpPr>
          <p:cNvPr id="7" name="Text 5"/>
          <p:cNvSpPr/>
          <p:nvPr/>
        </p:nvSpPr>
        <p:spPr>
          <a:xfrm>
            <a:off x="781050" y="2419350"/>
            <a:ext cx="45085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fr-FR" sz="2000" b="1" smtClean="0">
                <a:solidFill>
                  <a:srgbClr val="E8E8E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Gain de Temps</a:t>
            </a:r>
            <a:endParaRPr lang="fr-FR" sz="1600" dirty="0"/>
          </a:p>
        </p:txBody>
      </p:sp>
      <p:sp>
        <p:nvSpPr>
          <p:cNvPr id="8" name="Text 6"/>
          <p:cNvSpPr/>
          <p:nvPr/>
        </p:nvSpPr>
        <p:spPr>
          <a:xfrm>
            <a:off x="781050" y="2927350"/>
            <a:ext cx="44831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fr-FR" sz="1600" dirty="0" smtClean="0">
                <a:solidFill>
                  <a:srgbClr val="7D8A9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Réduire le temps de test de 2h25 à ~1h par clé</a:t>
            </a:r>
            <a:endParaRPr lang="fr-FR" sz="1600" dirty="0"/>
          </a:p>
        </p:txBody>
      </p:sp>
      <p:sp>
        <p:nvSpPr>
          <p:cNvPr id="9" name="Shape 7"/>
          <p:cNvSpPr/>
          <p:nvPr/>
        </p:nvSpPr>
        <p:spPr>
          <a:xfrm>
            <a:off x="781050" y="3689350"/>
            <a:ext cx="4381500" cy="1016000"/>
          </a:xfrm>
          <a:custGeom>
            <a:avLst/>
            <a:gdLst/>
            <a:ahLst/>
            <a:cxnLst/>
            <a:rect l="l" t="t" r="r" b="b"/>
            <a:pathLst>
              <a:path w="4381500" h="1016000">
                <a:moveTo>
                  <a:pt x="50800" y="0"/>
                </a:moveTo>
                <a:lnTo>
                  <a:pt x="4330700" y="0"/>
                </a:lnTo>
                <a:cubicBezTo>
                  <a:pt x="4358737" y="0"/>
                  <a:pt x="4381500" y="22763"/>
                  <a:pt x="4381500" y="50800"/>
                </a:cubicBezTo>
                <a:lnTo>
                  <a:pt x="4381500" y="965200"/>
                </a:lnTo>
                <a:cubicBezTo>
                  <a:pt x="4381500" y="993237"/>
                  <a:pt x="4358737" y="1016000"/>
                  <a:pt x="4330700" y="1016000"/>
                </a:cubicBezTo>
                <a:lnTo>
                  <a:pt x="50800" y="1016000"/>
                </a:lnTo>
                <a:cubicBezTo>
                  <a:pt x="22763" y="1016000"/>
                  <a:pt x="0" y="993237"/>
                  <a:pt x="0" y="965200"/>
                </a:cubicBezTo>
                <a:lnTo>
                  <a:pt x="0" y="50800"/>
                </a:lnTo>
                <a:cubicBezTo>
                  <a:pt x="0" y="22763"/>
                  <a:pt x="22763" y="0"/>
                  <a:pt x="50800" y="0"/>
                </a:cubicBezTo>
                <a:close/>
              </a:path>
            </a:pathLst>
          </a:custGeom>
          <a:solidFill>
            <a:srgbClr val="1A1D21"/>
          </a:solidFill>
          <a:ln/>
        </p:spPr>
      </p:sp>
      <p:sp>
        <p:nvSpPr>
          <p:cNvPr id="10" name="Text 8"/>
          <p:cNvSpPr/>
          <p:nvPr/>
        </p:nvSpPr>
        <p:spPr>
          <a:xfrm>
            <a:off x="838200" y="3841750"/>
            <a:ext cx="426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fr-FR" sz="3000" b="1" smtClean="0">
                <a:solidFill>
                  <a:srgbClr val="E89F5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-70%</a:t>
            </a:r>
            <a:endParaRPr lang="fr-FR" sz="1600" dirty="0"/>
          </a:p>
        </p:txBody>
      </p:sp>
      <p:sp>
        <p:nvSpPr>
          <p:cNvPr id="11" name="Text 9"/>
          <p:cNvSpPr/>
          <p:nvPr/>
        </p:nvSpPr>
        <p:spPr>
          <a:xfrm>
            <a:off x="889000" y="4298950"/>
            <a:ext cx="41656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fr-FR" sz="1400" smtClean="0">
                <a:solidFill>
                  <a:srgbClr val="7D8A9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de temps gagné</a:t>
            </a:r>
            <a:endParaRPr lang="fr-FR" sz="1600" dirty="0"/>
          </a:p>
        </p:txBody>
      </p:sp>
      <p:sp>
        <p:nvSpPr>
          <p:cNvPr id="12" name="Shape 10"/>
          <p:cNvSpPr/>
          <p:nvPr/>
        </p:nvSpPr>
        <p:spPr>
          <a:xfrm>
            <a:off x="5685234" y="1244600"/>
            <a:ext cx="4902200" cy="3721100"/>
          </a:xfrm>
          <a:custGeom>
            <a:avLst/>
            <a:gdLst/>
            <a:ahLst/>
            <a:cxnLst/>
            <a:rect l="l" t="t" r="r" b="b"/>
            <a:pathLst>
              <a:path w="4902200" h="3721100">
                <a:moveTo>
                  <a:pt x="101586" y="0"/>
                </a:moveTo>
                <a:lnTo>
                  <a:pt x="4800614" y="0"/>
                </a:lnTo>
                <a:cubicBezTo>
                  <a:pt x="4856718" y="0"/>
                  <a:pt x="4902200" y="45482"/>
                  <a:pt x="4902200" y="101586"/>
                </a:cubicBezTo>
                <a:lnTo>
                  <a:pt x="4902200" y="3619514"/>
                </a:lnTo>
                <a:cubicBezTo>
                  <a:pt x="4902200" y="3675618"/>
                  <a:pt x="4856718" y="3721100"/>
                  <a:pt x="4800614" y="3721100"/>
                </a:cubicBezTo>
                <a:lnTo>
                  <a:pt x="101586" y="3721100"/>
                </a:lnTo>
                <a:cubicBezTo>
                  <a:pt x="45482" y="3721100"/>
                  <a:pt x="0" y="3675618"/>
                  <a:pt x="0" y="3619514"/>
                </a:cubicBezTo>
                <a:lnTo>
                  <a:pt x="0" y="101586"/>
                </a:lnTo>
                <a:cubicBezTo>
                  <a:pt x="0" y="45519"/>
                  <a:pt x="45519" y="0"/>
                  <a:pt x="101586" y="0"/>
                </a:cubicBezTo>
                <a:close/>
              </a:path>
            </a:pathLst>
          </a:custGeom>
          <a:gradFill flip="none" rotWithShape="1">
            <a:gsLst>
              <a:gs pos="0">
                <a:srgbClr val="E89F5B">
                  <a:alpha val="20000"/>
                </a:srgbClr>
              </a:gs>
              <a:gs pos="100000">
                <a:srgbClr val="E89F5B">
                  <a:alpha val="5000"/>
                </a:srgbClr>
              </a:gs>
            </a:gsLst>
            <a:lin ang="2700000" scaled="1"/>
          </a:gradFill>
          <a:ln w="12700">
            <a:solidFill>
              <a:srgbClr val="E89F5B">
                <a:alpha val="40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945584" y="1504950"/>
            <a:ext cx="711200" cy="711200"/>
          </a:xfrm>
          <a:custGeom>
            <a:avLst/>
            <a:gdLst/>
            <a:ahLst/>
            <a:cxnLst/>
            <a:rect l="l" t="t" r="r" b="b"/>
            <a:pathLst>
              <a:path w="711200" h="711200">
                <a:moveTo>
                  <a:pt x="355600" y="0"/>
                </a:moveTo>
                <a:lnTo>
                  <a:pt x="355600" y="0"/>
                </a:lnTo>
                <a:cubicBezTo>
                  <a:pt x="551861" y="0"/>
                  <a:pt x="711200" y="159339"/>
                  <a:pt x="711200" y="355600"/>
                </a:cubicBezTo>
                <a:lnTo>
                  <a:pt x="711200" y="355600"/>
                </a:lnTo>
                <a:cubicBezTo>
                  <a:pt x="711200" y="551861"/>
                  <a:pt x="551861" y="711200"/>
                  <a:pt x="355600" y="711200"/>
                </a:cubicBezTo>
                <a:lnTo>
                  <a:pt x="355600" y="711200"/>
                </a:lnTo>
                <a:cubicBezTo>
                  <a:pt x="159339" y="711200"/>
                  <a:pt x="0" y="551861"/>
                  <a:pt x="0" y="355600"/>
                </a:cubicBezTo>
                <a:lnTo>
                  <a:pt x="0" y="355600"/>
                </a:lnTo>
                <a:cubicBezTo>
                  <a:pt x="0" y="159339"/>
                  <a:pt x="159339" y="0"/>
                  <a:pt x="355600" y="0"/>
                </a:cubicBezTo>
                <a:close/>
              </a:path>
            </a:pathLst>
          </a:custGeom>
          <a:solidFill>
            <a:srgbClr val="E89F5B"/>
          </a:solidFill>
          <a:ln/>
        </p:spPr>
      </p:sp>
      <p:sp>
        <p:nvSpPr>
          <p:cNvPr id="14" name="Shape 12"/>
          <p:cNvSpPr/>
          <p:nvPr/>
        </p:nvSpPr>
        <p:spPr>
          <a:xfrm>
            <a:off x="6129734" y="1708150"/>
            <a:ext cx="342900" cy="304800"/>
          </a:xfrm>
          <a:custGeom>
            <a:avLst/>
            <a:gdLst/>
            <a:ahLst/>
            <a:cxnLst/>
            <a:rect l="l" t="t" r="r" b="b"/>
            <a:pathLst>
              <a:path w="342900" h="304800">
                <a:moveTo>
                  <a:pt x="142399" y="-4762"/>
                </a:moveTo>
                <a:cubicBezTo>
                  <a:pt x="138767" y="-8453"/>
                  <a:pt x="133469" y="-9942"/>
                  <a:pt x="128468" y="-8573"/>
                </a:cubicBezTo>
                <a:cubicBezTo>
                  <a:pt x="123468" y="-7203"/>
                  <a:pt x="119598" y="-3334"/>
                  <a:pt x="118348" y="1667"/>
                </a:cubicBezTo>
                <a:lnTo>
                  <a:pt x="109240" y="37505"/>
                </a:lnTo>
                <a:cubicBezTo>
                  <a:pt x="108585" y="40124"/>
                  <a:pt x="105906" y="41672"/>
                  <a:pt x="103346" y="40898"/>
                </a:cubicBezTo>
                <a:lnTo>
                  <a:pt x="67747" y="30897"/>
                </a:lnTo>
                <a:cubicBezTo>
                  <a:pt x="62746" y="29468"/>
                  <a:pt x="57388" y="30897"/>
                  <a:pt x="53757" y="34528"/>
                </a:cubicBezTo>
                <a:cubicBezTo>
                  <a:pt x="50125" y="38160"/>
                  <a:pt x="48697" y="43517"/>
                  <a:pt x="50125" y="48518"/>
                </a:cubicBezTo>
                <a:lnTo>
                  <a:pt x="60186" y="84118"/>
                </a:lnTo>
                <a:cubicBezTo>
                  <a:pt x="60900" y="86678"/>
                  <a:pt x="59353" y="89356"/>
                  <a:pt x="56793" y="90011"/>
                </a:cubicBezTo>
                <a:lnTo>
                  <a:pt x="20895" y="99120"/>
                </a:lnTo>
                <a:cubicBezTo>
                  <a:pt x="15895" y="100370"/>
                  <a:pt x="11966" y="104299"/>
                  <a:pt x="10597" y="109299"/>
                </a:cubicBezTo>
                <a:cubicBezTo>
                  <a:pt x="9227" y="114300"/>
                  <a:pt x="10716" y="119598"/>
                  <a:pt x="14407" y="123230"/>
                </a:cubicBezTo>
                <a:lnTo>
                  <a:pt x="40898" y="149007"/>
                </a:lnTo>
                <a:cubicBezTo>
                  <a:pt x="42803" y="150852"/>
                  <a:pt x="42803" y="153948"/>
                  <a:pt x="40898" y="155853"/>
                </a:cubicBezTo>
                <a:lnTo>
                  <a:pt x="14466" y="181630"/>
                </a:lnTo>
                <a:cubicBezTo>
                  <a:pt x="10775" y="185261"/>
                  <a:pt x="9287" y="190560"/>
                  <a:pt x="10656" y="195560"/>
                </a:cubicBezTo>
                <a:cubicBezTo>
                  <a:pt x="12025" y="200561"/>
                  <a:pt x="15954" y="204430"/>
                  <a:pt x="20955" y="205740"/>
                </a:cubicBezTo>
                <a:lnTo>
                  <a:pt x="56793" y="214848"/>
                </a:lnTo>
                <a:cubicBezTo>
                  <a:pt x="59412" y="215503"/>
                  <a:pt x="60960" y="218182"/>
                  <a:pt x="60186" y="220742"/>
                </a:cubicBezTo>
                <a:lnTo>
                  <a:pt x="50125" y="256282"/>
                </a:lnTo>
                <a:cubicBezTo>
                  <a:pt x="48697" y="261283"/>
                  <a:pt x="50125" y="266640"/>
                  <a:pt x="53757" y="270272"/>
                </a:cubicBezTo>
                <a:cubicBezTo>
                  <a:pt x="57388" y="273903"/>
                  <a:pt x="62746" y="275332"/>
                  <a:pt x="67747" y="273903"/>
                </a:cubicBezTo>
                <a:lnTo>
                  <a:pt x="103346" y="263843"/>
                </a:lnTo>
                <a:cubicBezTo>
                  <a:pt x="105906" y="263128"/>
                  <a:pt x="108585" y="264676"/>
                  <a:pt x="109240" y="267236"/>
                </a:cubicBezTo>
                <a:lnTo>
                  <a:pt x="118348" y="303074"/>
                </a:lnTo>
                <a:cubicBezTo>
                  <a:pt x="119598" y="308074"/>
                  <a:pt x="123527" y="312003"/>
                  <a:pt x="128528" y="313373"/>
                </a:cubicBezTo>
                <a:cubicBezTo>
                  <a:pt x="133529" y="314742"/>
                  <a:pt x="138827" y="313253"/>
                  <a:pt x="142458" y="309563"/>
                </a:cubicBezTo>
                <a:lnTo>
                  <a:pt x="168235" y="283071"/>
                </a:lnTo>
                <a:cubicBezTo>
                  <a:pt x="170081" y="281166"/>
                  <a:pt x="173176" y="281166"/>
                  <a:pt x="175081" y="283071"/>
                </a:cubicBezTo>
                <a:lnTo>
                  <a:pt x="200799" y="309563"/>
                </a:lnTo>
                <a:cubicBezTo>
                  <a:pt x="204430" y="313253"/>
                  <a:pt x="209729" y="314742"/>
                  <a:pt x="214729" y="313373"/>
                </a:cubicBezTo>
                <a:cubicBezTo>
                  <a:pt x="219730" y="312003"/>
                  <a:pt x="223599" y="308074"/>
                  <a:pt x="224909" y="303074"/>
                </a:cubicBezTo>
                <a:lnTo>
                  <a:pt x="234017" y="267295"/>
                </a:lnTo>
                <a:cubicBezTo>
                  <a:pt x="234672" y="264676"/>
                  <a:pt x="237351" y="263128"/>
                  <a:pt x="239911" y="263902"/>
                </a:cubicBezTo>
                <a:lnTo>
                  <a:pt x="275511" y="273963"/>
                </a:lnTo>
                <a:cubicBezTo>
                  <a:pt x="280511" y="275392"/>
                  <a:pt x="285869" y="273963"/>
                  <a:pt x="289500" y="270331"/>
                </a:cubicBezTo>
                <a:cubicBezTo>
                  <a:pt x="293132" y="266700"/>
                  <a:pt x="294561" y="261342"/>
                  <a:pt x="293132" y="256342"/>
                </a:cubicBezTo>
                <a:lnTo>
                  <a:pt x="283071" y="220742"/>
                </a:lnTo>
                <a:cubicBezTo>
                  <a:pt x="282357" y="218182"/>
                  <a:pt x="283905" y="215503"/>
                  <a:pt x="286464" y="214848"/>
                </a:cubicBezTo>
                <a:lnTo>
                  <a:pt x="322302" y="205740"/>
                </a:lnTo>
                <a:cubicBezTo>
                  <a:pt x="327303" y="204490"/>
                  <a:pt x="331232" y="200561"/>
                  <a:pt x="332601" y="195560"/>
                </a:cubicBezTo>
                <a:cubicBezTo>
                  <a:pt x="333970" y="190560"/>
                  <a:pt x="332482" y="185202"/>
                  <a:pt x="328791" y="181630"/>
                </a:cubicBezTo>
                <a:lnTo>
                  <a:pt x="302300" y="155853"/>
                </a:lnTo>
                <a:cubicBezTo>
                  <a:pt x="300395" y="154007"/>
                  <a:pt x="300395" y="150912"/>
                  <a:pt x="302300" y="149007"/>
                </a:cubicBezTo>
                <a:lnTo>
                  <a:pt x="328791" y="123230"/>
                </a:lnTo>
                <a:cubicBezTo>
                  <a:pt x="332482" y="119598"/>
                  <a:pt x="333970" y="114300"/>
                  <a:pt x="332601" y="109299"/>
                </a:cubicBezTo>
                <a:cubicBezTo>
                  <a:pt x="331232" y="104299"/>
                  <a:pt x="327303" y="100429"/>
                  <a:pt x="322302" y="99120"/>
                </a:cubicBezTo>
                <a:lnTo>
                  <a:pt x="286464" y="90011"/>
                </a:lnTo>
                <a:cubicBezTo>
                  <a:pt x="283845" y="89356"/>
                  <a:pt x="282297" y="86677"/>
                  <a:pt x="283071" y="84118"/>
                </a:cubicBezTo>
                <a:lnTo>
                  <a:pt x="293132" y="48518"/>
                </a:lnTo>
                <a:cubicBezTo>
                  <a:pt x="294561" y="43517"/>
                  <a:pt x="293132" y="38160"/>
                  <a:pt x="289500" y="34528"/>
                </a:cubicBezTo>
                <a:cubicBezTo>
                  <a:pt x="285869" y="30897"/>
                  <a:pt x="280511" y="29468"/>
                  <a:pt x="275511" y="30897"/>
                </a:cubicBezTo>
                <a:lnTo>
                  <a:pt x="239911" y="40957"/>
                </a:lnTo>
                <a:cubicBezTo>
                  <a:pt x="237351" y="41672"/>
                  <a:pt x="234672" y="40124"/>
                  <a:pt x="234017" y="37564"/>
                </a:cubicBezTo>
                <a:lnTo>
                  <a:pt x="224909" y="1667"/>
                </a:lnTo>
                <a:cubicBezTo>
                  <a:pt x="223659" y="-3334"/>
                  <a:pt x="219730" y="-7263"/>
                  <a:pt x="214729" y="-8632"/>
                </a:cubicBezTo>
                <a:cubicBezTo>
                  <a:pt x="209729" y="-10001"/>
                  <a:pt x="204430" y="-8513"/>
                  <a:pt x="200799" y="-4822"/>
                </a:cubicBezTo>
                <a:lnTo>
                  <a:pt x="175022" y="21729"/>
                </a:lnTo>
                <a:cubicBezTo>
                  <a:pt x="173176" y="23634"/>
                  <a:pt x="170081" y="23634"/>
                  <a:pt x="168176" y="21729"/>
                </a:cubicBezTo>
                <a:lnTo>
                  <a:pt x="142399" y="-4762"/>
                </a:lnTo>
                <a:close/>
              </a:path>
            </a:pathLst>
          </a:custGeom>
          <a:solidFill>
            <a:srgbClr val="1A1D21"/>
          </a:solidFill>
          <a:ln/>
        </p:spPr>
      </p:sp>
      <p:sp>
        <p:nvSpPr>
          <p:cNvPr id="15" name="Text 13"/>
          <p:cNvSpPr/>
          <p:nvPr/>
        </p:nvSpPr>
        <p:spPr>
          <a:xfrm>
            <a:off x="5945584" y="2419350"/>
            <a:ext cx="45085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fr-FR" sz="2000" b="1" smtClean="0">
                <a:solidFill>
                  <a:srgbClr val="E8E8E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Conformité ISO</a:t>
            </a:r>
            <a:endParaRPr lang="fr-FR" sz="1600" dirty="0"/>
          </a:p>
        </p:txBody>
      </p:sp>
      <p:sp>
        <p:nvSpPr>
          <p:cNvPr id="16" name="Text 14"/>
          <p:cNvSpPr/>
          <p:nvPr/>
        </p:nvSpPr>
        <p:spPr>
          <a:xfrm>
            <a:off x="5945584" y="2927350"/>
            <a:ext cx="4483100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fr-FR" sz="1600" smtClean="0">
                <a:solidFill>
                  <a:srgbClr val="7D8A9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Respect strict de la norme ISO 6789-1:2017</a:t>
            </a:r>
            <a:endParaRPr lang="fr-FR" sz="1600" dirty="0"/>
          </a:p>
        </p:txBody>
      </p:sp>
      <p:sp>
        <p:nvSpPr>
          <p:cNvPr id="17" name="Shape 15"/>
          <p:cNvSpPr/>
          <p:nvPr/>
        </p:nvSpPr>
        <p:spPr>
          <a:xfrm>
            <a:off x="5945584" y="3790950"/>
            <a:ext cx="4381500" cy="914400"/>
          </a:xfrm>
          <a:custGeom>
            <a:avLst/>
            <a:gdLst/>
            <a:ahLst/>
            <a:cxnLst/>
            <a:rect l="l" t="t" r="r" b="b"/>
            <a:pathLst>
              <a:path w="4381500" h="914400">
                <a:moveTo>
                  <a:pt x="50804" y="0"/>
                </a:moveTo>
                <a:lnTo>
                  <a:pt x="4330696" y="0"/>
                </a:lnTo>
                <a:cubicBezTo>
                  <a:pt x="4358754" y="0"/>
                  <a:pt x="4381500" y="22746"/>
                  <a:pt x="4381500" y="50804"/>
                </a:cubicBezTo>
                <a:lnTo>
                  <a:pt x="4381500" y="863596"/>
                </a:lnTo>
                <a:cubicBezTo>
                  <a:pt x="4381500" y="891654"/>
                  <a:pt x="4358754" y="914400"/>
                  <a:pt x="4330696" y="914400"/>
                </a:cubicBezTo>
                <a:lnTo>
                  <a:pt x="50804" y="914400"/>
                </a:lnTo>
                <a:cubicBezTo>
                  <a:pt x="22746" y="914400"/>
                  <a:pt x="0" y="891654"/>
                  <a:pt x="0" y="863596"/>
                </a:cubicBezTo>
                <a:lnTo>
                  <a:pt x="0" y="50804"/>
                </a:lnTo>
                <a:cubicBezTo>
                  <a:pt x="0" y="22765"/>
                  <a:pt x="22765" y="0"/>
                  <a:pt x="50804" y="0"/>
                </a:cubicBezTo>
                <a:close/>
              </a:path>
            </a:pathLst>
          </a:custGeom>
          <a:solidFill>
            <a:srgbClr val="1A1D21"/>
          </a:solidFill>
          <a:ln/>
        </p:spPr>
      </p:sp>
      <p:sp>
        <p:nvSpPr>
          <p:cNvPr id="18" name="Text 16"/>
          <p:cNvSpPr/>
          <p:nvPr/>
        </p:nvSpPr>
        <p:spPr>
          <a:xfrm>
            <a:off x="6040834" y="3943350"/>
            <a:ext cx="4191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fr-FR" sz="1800" b="1" smtClean="0">
                <a:solidFill>
                  <a:srgbClr val="E89F5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100%</a:t>
            </a:r>
            <a:endParaRPr lang="fr-FR" sz="1600" dirty="0"/>
          </a:p>
        </p:txBody>
      </p:sp>
      <p:sp>
        <p:nvSpPr>
          <p:cNvPr id="19" name="Text 17"/>
          <p:cNvSpPr/>
          <p:nvPr/>
        </p:nvSpPr>
        <p:spPr>
          <a:xfrm>
            <a:off x="6053534" y="4298950"/>
            <a:ext cx="41656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fr-FR" sz="1400" smtClean="0">
                <a:solidFill>
                  <a:srgbClr val="7D8A9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conforme</a:t>
            </a:r>
            <a:endParaRPr lang="fr-FR" sz="1600" dirty="0"/>
          </a:p>
        </p:txBody>
      </p:sp>
      <p:sp>
        <p:nvSpPr>
          <p:cNvPr id="20" name="Shape 18"/>
          <p:cNvSpPr/>
          <p:nvPr/>
        </p:nvSpPr>
        <p:spPr>
          <a:xfrm>
            <a:off x="10849967" y="1244600"/>
            <a:ext cx="4902200" cy="3721100"/>
          </a:xfrm>
          <a:custGeom>
            <a:avLst/>
            <a:gdLst/>
            <a:ahLst/>
            <a:cxnLst/>
            <a:rect l="l" t="t" r="r" b="b"/>
            <a:pathLst>
              <a:path w="4902200" h="3721100">
                <a:moveTo>
                  <a:pt x="101586" y="0"/>
                </a:moveTo>
                <a:lnTo>
                  <a:pt x="4800614" y="0"/>
                </a:lnTo>
                <a:cubicBezTo>
                  <a:pt x="4856718" y="0"/>
                  <a:pt x="4902200" y="45482"/>
                  <a:pt x="4902200" y="101586"/>
                </a:cubicBezTo>
                <a:lnTo>
                  <a:pt x="4902200" y="3619514"/>
                </a:lnTo>
                <a:cubicBezTo>
                  <a:pt x="4902200" y="3675618"/>
                  <a:pt x="4856718" y="3721100"/>
                  <a:pt x="4800614" y="3721100"/>
                </a:cubicBezTo>
                <a:lnTo>
                  <a:pt x="101586" y="3721100"/>
                </a:lnTo>
                <a:cubicBezTo>
                  <a:pt x="45482" y="3721100"/>
                  <a:pt x="0" y="3675618"/>
                  <a:pt x="0" y="3619514"/>
                </a:cubicBezTo>
                <a:lnTo>
                  <a:pt x="0" y="101586"/>
                </a:lnTo>
                <a:cubicBezTo>
                  <a:pt x="0" y="45519"/>
                  <a:pt x="45519" y="0"/>
                  <a:pt x="101586" y="0"/>
                </a:cubicBezTo>
                <a:close/>
              </a:path>
            </a:pathLst>
          </a:custGeom>
          <a:gradFill flip="none" rotWithShape="1">
            <a:gsLst>
              <a:gs pos="0">
                <a:srgbClr val="4A6C8C">
                  <a:alpha val="20000"/>
                </a:srgbClr>
              </a:gs>
              <a:gs pos="100000">
                <a:srgbClr val="4A6C8C">
                  <a:alpha val="5000"/>
                </a:srgbClr>
              </a:gs>
            </a:gsLst>
            <a:lin ang="2700000" scaled="1"/>
          </a:gradFill>
          <a:ln w="12700">
            <a:solidFill>
              <a:srgbClr val="4A6C8C">
                <a:alpha val="40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110317" y="1504950"/>
            <a:ext cx="711200" cy="711200"/>
          </a:xfrm>
          <a:custGeom>
            <a:avLst/>
            <a:gdLst/>
            <a:ahLst/>
            <a:cxnLst/>
            <a:rect l="l" t="t" r="r" b="b"/>
            <a:pathLst>
              <a:path w="711200" h="711200">
                <a:moveTo>
                  <a:pt x="355600" y="0"/>
                </a:moveTo>
                <a:lnTo>
                  <a:pt x="355600" y="0"/>
                </a:lnTo>
                <a:cubicBezTo>
                  <a:pt x="551861" y="0"/>
                  <a:pt x="711200" y="159339"/>
                  <a:pt x="711200" y="355600"/>
                </a:cubicBezTo>
                <a:lnTo>
                  <a:pt x="711200" y="355600"/>
                </a:lnTo>
                <a:cubicBezTo>
                  <a:pt x="711200" y="551861"/>
                  <a:pt x="551861" y="711200"/>
                  <a:pt x="355600" y="711200"/>
                </a:cubicBezTo>
                <a:lnTo>
                  <a:pt x="355600" y="711200"/>
                </a:lnTo>
                <a:cubicBezTo>
                  <a:pt x="159339" y="711200"/>
                  <a:pt x="0" y="551861"/>
                  <a:pt x="0" y="355600"/>
                </a:cubicBezTo>
                <a:lnTo>
                  <a:pt x="0" y="355600"/>
                </a:lnTo>
                <a:cubicBezTo>
                  <a:pt x="0" y="159339"/>
                  <a:pt x="159339" y="0"/>
                  <a:pt x="355600" y="0"/>
                </a:cubicBezTo>
                <a:close/>
              </a:path>
            </a:pathLst>
          </a:custGeom>
          <a:solidFill>
            <a:srgbClr val="4A6C8C"/>
          </a:solidFill>
          <a:ln/>
        </p:spPr>
      </p:sp>
      <p:sp>
        <p:nvSpPr>
          <p:cNvPr id="22" name="Shape 20"/>
          <p:cNvSpPr/>
          <p:nvPr/>
        </p:nvSpPr>
        <p:spPr>
          <a:xfrm>
            <a:off x="11313517" y="170815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259973" y="44470"/>
                </a:moveTo>
                <a:lnTo>
                  <a:pt x="266700" y="50840"/>
                </a:lnTo>
                <a:lnTo>
                  <a:pt x="266700" y="19050"/>
                </a:lnTo>
                <a:cubicBezTo>
                  <a:pt x="266700" y="8513"/>
                  <a:pt x="275213" y="0"/>
                  <a:pt x="285750" y="0"/>
                </a:cubicBezTo>
                <a:cubicBezTo>
                  <a:pt x="296287" y="0"/>
                  <a:pt x="304800" y="8513"/>
                  <a:pt x="304800" y="19050"/>
                </a:cubicBezTo>
                <a:lnTo>
                  <a:pt x="304800" y="95250"/>
                </a:lnTo>
                <a:cubicBezTo>
                  <a:pt x="304800" y="105787"/>
                  <a:pt x="296287" y="114300"/>
                  <a:pt x="285750" y="114300"/>
                </a:cubicBezTo>
                <a:lnTo>
                  <a:pt x="209550" y="114300"/>
                </a:lnTo>
                <a:cubicBezTo>
                  <a:pt x="199013" y="114300"/>
                  <a:pt x="190500" y="105787"/>
                  <a:pt x="190500" y="95250"/>
                </a:cubicBezTo>
                <a:cubicBezTo>
                  <a:pt x="190500" y="84713"/>
                  <a:pt x="199013" y="76200"/>
                  <a:pt x="209550" y="76200"/>
                </a:cubicBezTo>
                <a:lnTo>
                  <a:pt x="238065" y="76200"/>
                </a:lnTo>
                <a:lnTo>
                  <a:pt x="233541" y="71914"/>
                </a:lnTo>
                <a:cubicBezTo>
                  <a:pt x="233422" y="71795"/>
                  <a:pt x="233303" y="71676"/>
                  <a:pt x="233184" y="71557"/>
                </a:cubicBezTo>
                <a:cubicBezTo>
                  <a:pt x="188535" y="26908"/>
                  <a:pt x="116205" y="26908"/>
                  <a:pt x="71557" y="71557"/>
                </a:cubicBezTo>
                <a:cubicBezTo>
                  <a:pt x="26908" y="116205"/>
                  <a:pt x="26908" y="188535"/>
                  <a:pt x="71557" y="233184"/>
                </a:cubicBezTo>
                <a:cubicBezTo>
                  <a:pt x="116205" y="277832"/>
                  <a:pt x="188535" y="277832"/>
                  <a:pt x="233184" y="233184"/>
                </a:cubicBezTo>
                <a:cubicBezTo>
                  <a:pt x="238065" y="228302"/>
                  <a:pt x="242411" y="223123"/>
                  <a:pt x="246221" y="217646"/>
                </a:cubicBezTo>
                <a:cubicBezTo>
                  <a:pt x="252234" y="209014"/>
                  <a:pt x="264140" y="206931"/>
                  <a:pt x="272772" y="212943"/>
                </a:cubicBezTo>
                <a:cubicBezTo>
                  <a:pt x="281404" y="218956"/>
                  <a:pt x="283488" y="230862"/>
                  <a:pt x="277475" y="239494"/>
                </a:cubicBezTo>
                <a:cubicBezTo>
                  <a:pt x="272415" y="246757"/>
                  <a:pt x="266640" y="253663"/>
                  <a:pt x="260152" y="260152"/>
                </a:cubicBezTo>
                <a:cubicBezTo>
                  <a:pt x="200620" y="319683"/>
                  <a:pt x="104120" y="319683"/>
                  <a:pt x="44648" y="260152"/>
                </a:cubicBezTo>
                <a:cubicBezTo>
                  <a:pt x="-14823" y="200620"/>
                  <a:pt x="-14883" y="104180"/>
                  <a:pt x="44648" y="44648"/>
                </a:cubicBezTo>
                <a:cubicBezTo>
                  <a:pt x="104120" y="-14823"/>
                  <a:pt x="200442" y="-14883"/>
                  <a:pt x="259973" y="44470"/>
                </a:cubicBezTo>
                <a:close/>
              </a:path>
            </a:pathLst>
          </a:custGeom>
          <a:solidFill>
            <a:srgbClr val="E8E8E8"/>
          </a:solidFill>
          <a:ln/>
        </p:spPr>
      </p:sp>
      <p:sp>
        <p:nvSpPr>
          <p:cNvPr id="23" name="Text 21"/>
          <p:cNvSpPr/>
          <p:nvPr/>
        </p:nvSpPr>
        <p:spPr>
          <a:xfrm>
            <a:off x="11110317" y="2419350"/>
            <a:ext cx="45085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fr-FR" sz="2000" b="1" smtClean="0">
                <a:solidFill>
                  <a:srgbClr val="E8E8E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Répétabilité</a:t>
            </a:r>
            <a:endParaRPr lang="fr-FR" sz="1600" dirty="0"/>
          </a:p>
        </p:txBody>
      </p:sp>
      <p:sp>
        <p:nvSpPr>
          <p:cNvPr id="24" name="Text 22"/>
          <p:cNvSpPr/>
          <p:nvPr/>
        </p:nvSpPr>
        <p:spPr>
          <a:xfrm>
            <a:off x="11110317" y="2927350"/>
            <a:ext cx="4483100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fr-FR" sz="1600" smtClean="0">
                <a:solidFill>
                  <a:srgbClr val="7D8A9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Mesures reproductibles, indépendantes de l'opérateur</a:t>
            </a:r>
            <a:endParaRPr lang="fr-FR" sz="1600" dirty="0"/>
          </a:p>
        </p:txBody>
      </p:sp>
      <p:sp>
        <p:nvSpPr>
          <p:cNvPr id="25" name="Shape 23"/>
          <p:cNvSpPr/>
          <p:nvPr/>
        </p:nvSpPr>
        <p:spPr>
          <a:xfrm>
            <a:off x="11110317" y="3790950"/>
            <a:ext cx="4381500" cy="914400"/>
          </a:xfrm>
          <a:custGeom>
            <a:avLst/>
            <a:gdLst/>
            <a:ahLst/>
            <a:cxnLst/>
            <a:rect l="l" t="t" r="r" b="b"/>
            <a:pathLst>
              <a:path w="4381500" h="914400">
                <a:moveTo>
                  <a:pt x="50804" y="0"/>
                </a:moveTo>
                <a:lnTo>
                  <a:pt x="4330696" y="0"/>
                </a:lnTo>
                <a:cubicBezTo>
                  <a:pt x="4358754" y="0"/>
                  <a:pt x="4381500" y="22746"/>
                  <a:pt x="4381500" y="50804"/>
                </a:cubicBezTo>
                <a:lnTo>
                  <a:pt x="4381500" y="863596"/>
                </a:lnTo>
                <a:cubicBezTo>
                  <a:pt x="4381500" y="891654"/>
                  <a:pt x="4358754" y="914400"/>
                  <a:pt x="4330696" y="914400"/>
                </a:cubicBezTo>
                <a:lnTo>
                  <a:pt x="50804" y="914400"/>
                </a:lnTo>
                <a:cubicBezTo>
                  <a:pt x="22746" y="914400"/>
                  <a:pt x="0" y="891654"/>
                  <a:pt x="0" y="863596"/>
                </a:cubicBezTo>
                <a:lnTo>
                  <a:pt x="0" y="50804"/>
                </a:lnTo>
                <a:cubicBezTo>
                  <a:pt x="0" y="22765"/>
                  <a:pt x="22765" y="0"/>
                  <a:pt x="50804" y="0"/>
                </a:cubicBezTo>
                <a:close/>
              </a:path>
            </a:pathLst>
          </a:custGeom>
          <a:solidFill>
            <a:srgbClr val="1A1D21"/>
          </a:solidFill>
          <a:ln/>
        </p:spPr>
      </p:sp>
      <p:sp>
        <p:nvSpPr>
          <p:cNvPr id="26" name="Text 24"/>
          <p:cNvSpPr/>
          <p:nvPr/>
        </p:nvSpPr>
        <p:spPr>
          <a:xfrm>
            <a:off x="11205567" y="3943350"/>
            <a:ext cx="4191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fr-FR" sz="1800" b="1" smtClean="0">
                <a:solidFill>
                  <a:srgbClr val="4A6C8C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±0.5%</a:t>
            </a:r>
            <a:endParaRPr lang="fr-FR" sz="1600" dirty="0"/>
          </a:p>
        </p:txBody>
      </p:sp>
      <p:sp>
        <p:nvSpPr>
          <p:cNvPr id="27" name="Text 25"/>
          <p:cNvSpPr/>
          <p:nvPr/>
        </p:nvSpPr>
        <p:spPr>
          <a:xfrm>
            <a:off x="11218267" y="4298950"/>
            <a:ext cx="41656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fr-FR" sz="1400" smtClean="0">
                <a:solidFill>
                  <a:srgbClr val="7D8A9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précision</a:t>
            </a:r>
            <a:endParaRPr lang="fr-FR" sz="1600" dirty="0"/>
          </a:p>
        </p:txBody>
      </p:sp>
      <p:sp>
        <p:nvSpPr>
          <p:cNvPr id="28" name="Shape 26"/>
          <p:cNvSpPr/>
          <p:nvPr/>
        </p:nvSpPr>
        <p:spPr>
          <a:xfrm>
            <a:off x="520700" y="5232400"/>
            <a:ext cx="4902200" cy="3822700"/>
          </a:xfrm>
          <a:custGeom>
            <a:avLst/>
            <a:gdLst/>
            <a:ahLst/>
            <a:cxnLst/>
            <a:rect l="l" t="t" r="r" b="b"/>
            <a:pathLst>
              <a:path w="4902200" h="3822700">
                <a:moveTo>
                  <a:pt x="101607" y="0"/>
                </a:moveTo>
                <a:lnTo>
                  <a:pt x="4800593" y="0"/>
                </a:lnTo>
                <a:cubicBezTo>
                  <a:pt x="4856709" y="0"/>
                  <a:pt x="4902200" y="45491"/>
                  <a:pt x="4902200" y="101607"/>
                </a:cubicBezTo>
                <a:lnTo>
                  <a:pt x="4902200" y="3721093"/>
                </a:lnTo>
                <a:cubicBezTo>
                  <a:pt x="4902200" y="3777209"/>
                  <a:pt x="4856709" y="3822700"/>
                  <a:pt x="4800593" y="3822700"/>
                </a:cubicBezTo>
                <a:lnTo>
                  <a:pt x="101607" y="3822700"/>
                </a:lnTo>
                <a:cubicBezTo>
                  <a:pt x="45491" y="3822700"/>
                  <a:pt x="0" y="3777209"/>
                  <a:pt x="0" y="3721093"/>
                </a:cubicBezTo>
                <a:lnTo>
                  <a:pt x="0" y="101607"/>
                </a:lnTo>
                <a:cubicBezTo>
                  <a:pt x="0" y="45491"/>
                  <a:pt x="45491" y="0"/>
                  <a:pt x="101607" y="0"/>
                </a:cubicBezTo>
                <a:close/>
              </a:path>
            </a:pathLst>
          </a:custGeom>
          <a:gradFill flip="none" rotWithShape="1">
            <a:gsLst>
              <a:gs pos="0">
                <a:srgbClr val="E89F5B">
                  <a:alpha val="20000"/>
                </a:srgbClr>
              </a:gs>
              <a:gs pos="100000">
                <a:srgbClr val="E89F5B">
                  <a:alpha val="5000"/>
                </a:srgbClr>
              </a:gs>
            </a:gsLst>
            <a:lin ang="2700000" scaled="1"/>
          </a:gradFill>
          <a:ln w="12700">
            <a:solidFill>
              <a:srgbClr val="E89F5B">
                <a:alpha val="40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81050" y="5492750"/>
            <a:ext cx="711200" cy="711200"/>
          </a:xfrm>
          <a:custGeom>
            <a:avLst/>
            <a:gdLst/>
            <a:ahLst/>
            <a:cxnLst/>
            <a:rect l="l" t="t" r="r" b="b"/>
            <a:pathLst>
              <a:path w="711200" h="711200">
                <a:moveTo>
                  <a:pt x="355600" y="0"/>
                </a:moveTo>
                <a:lnTo>
                  <a:pt x="355600" y="0"/>
                </a:lnTo>
                <a:cubicBezTo>
                  <a:pt x="551861" y="0"/>
                  <a:pt x="711200" y="159339"/>
                  <a:pt x="711200" y="355600"/>
                </a:cubicBezTo>
                <a:lnTo>
                  <a:pt x="711200" y="355600"/>
                </a:lnTo>
                <a:cubicBezTo>
                  <a:pt x="711200" y="551861"/>
                  <a:pt x="551861" y="711200"/>
                  <a:pt x="355600" y="711200"/>
                </a:cubicBezTo>
                <a:lnTo>
                  <a:pt x="355600" y="711200"/>
                </a:lnTo>
                <a:cubicBezTo>
                  <a:pt x="159339" y="711200"/>
                  <a:pt x="0" y="551861"/>
                  <a:pt x="0" y="355600"/>
                </a:cubicBezTo>
                <a:lnTo>
                  <a:pt x="0" y="355600"/>
                </a:lnTo>
                <a:cubicBezTo>
                  <a:pt x="0" y="159339"/>
                  <a:pt x="159339" y="0"/>
                  <a:pt x="355600" y="0"/>
                </a:cubicBezTo>
                <a:close/>
              </a:path>
            </a:pathLst>
          </a:custGeom>
          <a:solidFill>
            <a:srgbClr val="E89F5B"/>
          </a:solidFill>
          <a:ln/>
        </p:spPr>
      </p:sp>
      <p:sp>
        <p:nvSpPr>
          <p:cNvPr id="30" name="Shape 28"/>
          <p:cNvSpPr/>
          <p:nvPr/>
        </p:nvSpPr>
        <p:spPr>
          <a:xfrm>
            <a:off x="1022350" y="5695950"/>
            <a:ext cx="228600" cy="304800"/>
          </a:xfrm>
          <a:custGeom>
            <a:avLst/>
            <a:gdLst/>
            <a:ahLst/>
            <a:cxnLst/>
            <a:rect l="l" t="t" r="r" b="b"/>
            <a:pathLst>
              <a:path w="228600" h="304800">
                <a:moveTo>
                  <a:pt x="0" y="38100"/>
                </a:moveTo>
                <a:cubicBezTo>
                  <a:pt x="0" y="17085"/>
                  <a:pt x="17085" y="0"/>
                  <a:pt x="38100" y="0"/>
                </a:cubicBezTo>
                <a:lnTo>
                  <a:pt x="127099" y="0"/>
                </a:lnTo>
                <a:cubicBezTo>
                  <a:pt x="137220" y="0"/>
                  <a:pt x="146923" y="3989"/>
                  <a:pt x="154067" y="11132"/>
                </a:cubicBezTo>
                <a:lnTo>
                  <a:pt x="217468" y="74593"/>
                </a:lnTo>
                <a:cubicBezTo>
                  <a:pt x="224611" y="81736"/>
                  <a:pt x="228600" y="91440"/>
                  <a:pt x="228600" y="101560"/>
                </a:cubicBezTo>
                <a:lnTo>
                  <a:pt x="228600" y="266700"/>
                </a:lnTo>
                <a:cubicBezTo>
                  <a:pt x="228600" y="287715"/>
                  <a:pt x="211515" y="304800"/>
                  <a:pt x="190500" y="304800"/>
                </a:cubicBezTo>
                <a:lnTo>
                  <a:pt x="38100" y="304800"/>
                </a:lnTo>
                <a:cubicBezTo>
                  <a:pt x="17085" y="304800"/>
                  <a:pt x="0" y="287715"/>
                  <a:pt x="0" y="266700"/>
                </a:cubicBezTo>
                <a:lnTo>
                  <a:pt x="0" y="38100"/>
                </a:lnTo>
                <a:close/>
                <a:moveTo>
                  <a:pt x="123825" y="34826"/>
                </a:moveTo>
                <a:lnTo>
                  <a:pt x="123825" y="90488"/>
                </a:lnTo>
                <a:cubicBezTo>
                  <a:pt x="123825" y="98405"/>
                  <a:pt x="130195" y="104775"/>
                  <a:pt x="138113" y="104775"/>
                </a:cubicBezTo>
                <a:lnTo>
                  <a:pt x="193774" y="104775"/>
                </a:lnTo>
                <a:lnTo>
                  <a:pt x="123825" y="34826"/>
                </a:lnTo>
                <a:close/>
                <a:moveTo>
                  <a:pt x="71438" y="152400"/>
                </a:moveTo>
                <a:cubicBezTo>
                  <a:pt x="63520" y="152400"/>
                  <a:pt x="57150" y="158770"/>
                  <a:pt x="57150" y="166688"/>
                </a:cubicBezTo>
                <a:cubicBezTo>
                  <a:pt x="57150" y="174605"/>
                  <a:pt x="63520" y="180975"/>
                  <a:pt x="71438" y="180975"/>
                </a:cubicBezTo>
                <a:lnTo>
                  <a:pt x="157163" y="180975"/>
                </a:lnTo>
                <a:cubicBezTo>
                  <a:pt x="165080" y="180975"/>
                  <a:pt x="171450" y="174605"/>
                  <a:pt x="171450" y="166688"/>
                </a:cubicBezTo>
                <a:cubicBezTo>
                  <a:pt x="171450" y="158770"/>
                  <a:pt x="165080" y="152400"/>
                  <a:pt x="157163" y="152400"/>
                </a:cubicBezTo>
                <a:lnTo>
                  <a:pt x="71438" y="152400"/>
                </a:lnTo>
                <a:close/>
                <a:moveTo>
                  <a:pt x="71438" y="209550"/>
                </a:moveTo>
                <a:cubicBezTo>
                  <a:pt x="63520" y="209550"/>
                  <a:pt x="57150" y="215920"/>
                  <a:pt x="57150" y="223838"/>
                </a:cubicBezTo>
                <a:cubicBezTo>
                  <a:pt x="57150" y="231755"/>
                  <a:pt x="63520" y="238125"/>
                  <a:pt x="71438" y="238125"/>
                </a:cubicBezTo>
                <a:lnTo>
                  <a:pt x="157163" y="238125"/>
                </a:lnTo>
                <a:cubicBezTo>
                  <a:pt x="165080" y="238125"/>
                  <a:pt x="171450" y="231755"/>
                  <a:pt x="171450" y="223838"/>
                </a:cubicBezTo>
                <a:cubicBezTo>
                  <a:pt x="171450" y="215920"/>
                  <a:pt x="165080" y="209550"/>
                  <a:pt x="157163" y="209550"/>
                </a:cubicBezTo>
                <a:lnTo>
                  <a:pt x="71438" y="209550"/>
                </a:lnTo>
                <a:close/>
              </a:path>
            </a:pathLst>
          </a:custGeom>
          <a:solidFill>
            <a:srgbClr val="1A1D21"/>
          </a:solidFill>
          <a:ln/>
        </p:spPr>
      </p:sp>
      <p:sp>
        <p:nvSpPr>
          <p:cNvPr id="31" name="Text 29"/>
          <p:cNvSpPr/>
          <p:nvPr/>
        </p:nvSpPr>
        <p:spPr>
          <a:xfrm>
            <a:off x="781050" y="6407150"/>
            <a:ext cx="45085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fr-FR" sz="2000" b="1" smtClean="0">
                <a:solidFill>
                  <a:srgbClr val="E8E8E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Traçabilité</a:t>
            </a:r>
            <a:endParaRPr lang="fr-FR" sz="1600" dirty="0"/>
          </a:p>
        </p:txBody>
      </p:sp>
      <p:sp>
        <p:nvSpPr>
          <p:cNvPr id="32" name="Text 30"/>
          <p:cNvSpPr/>
          <p:nvPr/>
        </p:nvSpPr>
        <p:spPr>
          <a:xfrm>
            <a:off x="781050" y="6915150"/>
            <a:ext cx="44831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fr-FR" sz="1600" smtClean="0">
                <a:solidFill>
                  <a:srgbClr val="7D8A9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Rapports automatiques avec horodatage complet</a:t>
            </a:r>
            <a:endParaRPr lang="fr-FR" sz="1600" dirty="0"/>
          </a:p>
        </p:txBody>
      </p:sp>
      <p:sp>
        <p:nvSpPr>
          <p:cNvPr id="33" name="Shape 31"/>
          <p:cNvSpPr/>
          <p:nvPr/>
        </p:nvSpPr>
        <p:spPr>
          <a:xfrm>
            <a:off x="781050" y="7880350"/>
            <a:ext cx="4381500" cy="914400"/>
          </a:xfrm>
          <a:custGeom>
            <a:avLst/>
            <a:gdLst/>
            <a:ahLst/>
            <a:cxnLst/>
            <a:rect l="l" t="t" r="r" b="b"/>
            <a:pathLst>
              <a:path w="4381500" h="914400">
                <a:moveTo>
                  <a:pt x="50804" y="0"/>
                </a:moveTo>
                <a:lnTo>
                  <a:pt x="4330696" y="0"/>
                </a:lnTo>
                <a:cubicBezTo>
                  <a:pt x="4358754" y="0"/>
                  <a:pt x="4381500" y="22746"/>
                  <a:pt x="4381500" y="50804"/>
                </a:cubicBezTo>
                <a:lnTo>
                  <a:pt x="4381500" y="863596"/>
                </a:lnTo>
                <a:cubicBezTo>
                  <a:pt x="4381500" y="891654"/>
                  <a:pt x="4358754" y="914400"/>
                  <a:pt x="4330696" y="914400"/>
                </a:cubicBezTo>
                <a:lnTo>
                  <a:pt x="50804" y="914400"/>
                </a:lnTo>
                <a:cubicBezTo>
                  <a:pt x="22746" y="914400"/>
                  <a:pt x="0" y="891654"/>
                  <a:pt x="0" y="863596"/>
                </a:cubicBezTo>
                <a:lnTo>
                  <a:pt x="0" y="50804"/>
                </a:lnTo>
                <a:cubicBezTo>
                  <a:pt x="0" y="22765"/>
                  <a:pt x="22765" y="0"/>
                  <a:pt x="50804" y="0"/>
                </a:cubicBezTo>
                <a:close/>
              </a:path>
            </a:pathLst>
          </a:custGeom>
          <a:solidFill>
            <a:srgbClr val="1A1D21"/>
          </a:solidFill>
          <a:ln/>
        </p:spPr>
      </p:sp>
      <p:sp>
        <p:nvSpPr>
          <p:cNvPr id="34" name="Text 32"/>
          <p:cNvSpPr/>
          <p:nvPr/>
        </p:nvSpPr>
        <p:spPr>
          <a:xfrm>
            <a:off x="876300" y="8032750"/>
            <a:ext cx="4191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fr-FR" sz="1800" b="1" smtClean="0">
                <a:solidFill>
                  <a:srgbClr val="E89F5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Auto</a:t>
            </a:r>
            <a:endParaRPr lang="fr-FR" sz="1600" dirty="0"/>
          </a:p>
        </p:txBody>
      </p:sp>
      <p:sp>
        <p:nvSpPr>
          <p:cNvPr id="35" name="Text 33"/>
          <p:cNvSpPr/>
          <p:nvPr/>
        </p:nvSpPr>
        <p:spPr>
          <a:xfrm>
            <a:off x="889000" y="8388350"/>
            <a:ext cx="41656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fr-FR" sz="1400" smtClean="0">
                <a:solidFill>
                  <a:srgbClr val="7D8A9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génération</a:t>
            </a:r>
            <a:endParaRPr lang="fr-FR" sz="1600" dirty="0"/>
          </a:p>
        </p:txBody>
      </p:sp>
      <p:sp>
        <p:nvSpPr>
          <p:cNvPr id="36" name="Shape 34"/>
          <p:cNvSpPr/>
          <p:nvPr/>
        </p:nvSpPr>
        <p:spPr>
          <a:xfrm>
            <a:off x="5685234" y="5232400"/>
            <a:ext cx="4902200" cy="3822700"/>
          </a:xfrm>
          <a:custGeom>
            <a:avLst/>
            <a:gdLst/>
            <a:ahLst/>
            <a:cxnLst/>
            <a:rect l="l" t="t" r="r" b="b"/>
            <a:pathLst>
              <a:path w="4902200" h="3822700">
                <a:moveTo>
                  <a:pt x="101607" y="0"/>
                </a:moveTo>
                <a:lnTo>
                  <a:pt x="4800593" y="0"/>
                </a:lnTo>
                <a:cubicBezTo>
                  <a:pt x="4856709" y="0"/>
                  <a:pt x="4902200" y="45491"/>
                  <a:pt x="4902200" y="101607"/>
                </a:cubicBezTo>
                <a:lnTo>
                  <a:pt x="4902200" y="3721093"/>
                </a:lnTo>
                <a:cubicBezTo>
                  <a:pt x="4902200" y="3777209"/>
                  <a:pt x="4856709" y="3822700"/>
                  <a:pt x="4800593" y="3822700"/>
                </a:cubicBezTo>
                <a:lnTo>
                  <a:pt x="101607" y="3822700"/>
                </a:lnTo>
                <a:cubicBezTo>
                  <a:pt x="45491" y="3822700"/>
                  <a:pt x="0" y="3777209"/>
                  <a:pt x="0" y="3721093"/>
                </a:cubicBezTo>
                <a:lnTo>
                  <a:pt x="0" y="101607"/>
                </a:lnTo>
                <a:cubicBezTo>
                  <a:pt x="0" y="45491"/>
                  <a:pt x="45491" y="0"/>
                  <a:pt x="101607" y="0"/>
                </a:cubicBezTo>
                <a:close/>
              </a:path>
            </a:pathLst>
          </a:custGeom>
          <a:gradFill flip="none" rotWithShape="1">
            <a:gsLst>
              <a:gs pos="0">
                <a:srgbClr val="4A6C8C">
                  <a:alpha val="20000"/>
                </a:srgbClr>
              </a:gs>
              <a:gs pos="100000">
                <a:srgbClr val="4A6C8C">
                  <a:alpha val="5000"/>
                </a:srgbClr>
              </a:gs>
            </a:gsLst>
            <a:lin ang="2700000" scaled="1"/>
          </a:gradFill>
          <a:ln w="12700">
            <a:solidFill>
              <a:srgbClr val="4A6C8C">
                <a:alpha val="4000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945584" y="5492750"/>
            <a:ext cx="711200" cy="711200"/>
          </a:xfrm>
          <a:custGeom>
            <a:avLst/>
            <a:gdLst/>
            <a:ahLst/>
            <a:cxnLst/>
            <a:rect l="l" t="t" r="r" b="b"/>
            <a:pathLst>
              <a:path w="711200" h="711200">
                <a:moveTo>
                  <a:pt x="355600" y="0"/>
                </a:moveTo>
                <a:lnTo>
                  <a:pt x="355600" y="0"/>
                </a:lnTo>
                <a:cubicBezTo>
                  <a:pt x="551861" y="0"/>
                  <a:pt x="711200" y="159339"/>
                  <a:pt x="711200" y="355600"/>
                </a:cubicBezTo>
                <a:lnTo>
                  <a:pt x="711200" y="355600"/>
                </a:lnTo>
                <a:cubicBezTo>
                  <a:pt x="711200" y="551861"/>
                  <a:pt x="551861" y="711200"/>
                  <a:pt x="355600" y="711200"/>
                </a:cubicBezTo>
                <a:lnTo>
                  <a:pt x="355600" y="711200"/>
                </a:lnTo>
                <a:cubicBezTo>
                  <a:pt x="159339" y="711200"/>
                  <a:pt x="0" y="551861"/>
                  <a:pt x="0" y="355600"/>
                </a:cubicBezTo>
                <a:lnTo>
                  <a:pt x="0" y="355600"/>
                </a:lnTo>
                <a:cubicBezTo>
                  <a:pt x="0" y="159339"/>
                  <a:pt x="159339" y="0"/>
                  <a:pt x="355600" y="0"/>
                </a:cubicBezTo>
                <a:close/>
              </a:path>
            </a:pathLst>
          </a:custGeom>
          <a:solidFill>
            <a:srgbClr val="4A6C8C"/>
          </a:solidFill>
          <a:ln/>
        </p:spPr>
      </p:sp>
      <p:sp>
        <p:nvSpPr>
          <p:cNvPr id="38" name="Shape 36"/>
          <p:cNvSpPr/>
          <p:nvPr/>
        </p:nvSpPr>
        <p:spPr>
          <a:xfrm>
            <a:off x="6129734" y="5695950"/>
            <a:ext cx="342900" cy="304800"/>
          </a:xfrm>
          <a:custGeom>
            <a:avLst/>
            <a:gdLst/>
            <a:ahLst/>
            <a:cxnLst/>
            <a:rect l="l" t="t" r="r" b="b"/>
            <a:pathLst>
              <a:path w="342900" h="304800">
                <a:moveTo>
                  <a:pt x="133350" y="147638"/>
                </a:moveTo>
                <a:cubicBezTo>
                  <a:pt x="172777" y="147638"/>
                  <a:pt x="204787" y="115627"/>
                  <a:pt x="204787" y="76200"/>
                </a:cubicBezTo>
                <a:cubicBezTo>
                  <a:pt x="204787" y="36773"/>
                  <a:pt x="172777" y="4763"/>
                  <a:pt x="133350" y="4763"/>
                </a:cubicBezTo>
                <a:cubicBezTo>
                  <a:pt x="93923" y="4763"/>
                  <a:pt x="61913" y="36773"/>
                  <a:pt x="61912" y="76200"/>
                </a:cubicBezTo>
                <a:cubicBezTo>
                  <a:pt x="61912" y="115627"/>
                  <a:pt x="93923" y="147638"/>
                  <a:pt x="133350" y="147638"/>
                </a:cubicBezTo>
                <a:close/>
                <a:moveTo>
                  <a:pt x="115669" y="180975"/>
                </a:moveTo>
                <a:cubicBezTo>
                  <a:pt x="57031" y="180975"/>
                  <a:pt x="9525" y="228481"/>
                  <a:pt x="9525" y="287119"/>
                </a:cubicBezTo>
                <a:cubicBezTo>
                  <a:pt x="9525" y="296882"/>
                  <a:pt x="17443" y="304800"/>
                  <a:pt x="27206" y="304800"/>
                </a:cubicBezTo>
                <a:lnTo>
                  <a:pt x="176927" y="304800"/>
                </a:lnTo>
                <a:cubicBezTo>
                  <a:pt x="155377" y="279440"/>
                  <a:pt x="142875" y="246757"/>
                  <a:pt x="142875" y="212169"/>
                </a:cubicBezTo>
                <a:lnTo>
                  <a:pt x="142875" y="193655"/>
                </a:lnTo>
                <a:cubicBezTo>
                  <a:pt x="142875" y="189309"/>
                  <a:pt x="143470" y="185023"/>
                  <a:pt x="144601" y="180975"/>
                </a:cubicBezTo>
                <a:lnTo>
                  <a:pt x="115669" y="180975"/>
                </a:lnTo>
                <a:close/>
                <a:moveTo>
                  <a:pt x="265093" y="290810"/>
                </a:moveTo>
                <a:lnTo>
                  <a:pt x="257175" y="294561"/>
                </a:lnTo>
                <a:lnTo>
                  <a:pt x="257175" y="182582"/>
                </a:lnTo>
                <a:lnTo>
                  <a:pt x="314325" y="201632"/>
                </a:lnTo>
                <a:lnTo>
                  <a:pt x="314325" y="213300"/>
                </a:lnTo>
                <a:cubicBezTo>
                  <a:pt x="314325" y="246519"/>
                  <a:pt x="295156" y="276701"/>
                  <a:pt x="265093" y="290870"/>
                </a:cubicBezTo>
                <a:close/>
                <a:moveTo>
                  <a:pt x="251162" y="154484"/>
                </a:moveTo>
                <a:lnTo>
                  <a:pt x="184487" y="176689"/>
                </a:lnTo>
                <a:cubicBezTo>
                  <a:pt x="176689" y="179308"/>
                  <a:pt x="171450" y="186571"/>
                  <a:pt x="171450" y="194786"/>
                </a:cubicBezTo>
                <a:lnTo>
                  <a:pt x="171450" y="213300"/>
                </a:lnTo>
                <a:cubicBezTo>
                  <a:pt x="171450" y="257592"/>
                  <a:pt x="197048" y="297894"/>
                  <a:pt x="237053" y="316706"/>
                </a:cubicBezTo>
                <a:lnTo>
                  <a:pt x="248067" y="321885"/>
                </a:lnTo>
                <a:cubicBezTo>
                  <a:pt x="250924" y="323195"/>
                  <a:pt x="254020" y="323910"/>
                  <a:pt x="257115" y="323910"/>
                </a:cubicBezTo>
                <a:cubicBezTo>
                  <a:pt x="260211" y="323910"/>
                  <a:pt x="263366" y="323195"/>
                  <a:pt x="266164" y="321885"/>
                </a:cubicBezTo>
                <a:lnTo>
                  <a:pt x="277178" y="316706"/>
                </a:lnTo>
                <a:cubicBezTo>
                  <a:pt x="317302" y="297835"/>
                  <a:pt x="342900" y="257532"/>
                  <a:pt x="342900" y="213241"/>
                </a:cubicBezTo>
                <a:lnTo>
                  <a:pt x="342900" y="194727"/>
                </a:lnTo>
                <a:cubicBezTo>
                  <a:pt x="342900" y="186511"/>
                  <a:pt x="337661" y="179249"/>
                  <a:pt x="329863" y="176629"/>
                </a:cubicBezTo>
                <a:lnTo>
                  <a:pt x="263188" y="154424"/>
                </a:lnTo>
                <a:cubicBezTo>
                  <a:pt x="259259" y="153114"/>
                  <a:pt x="255032" y="153114"/>
                  <a:pt x="251162" y="154424"/>
                </a:cubicBezTo>
                <a:close/>
              </a:path>
            </a:pathLst>
          </a:custGeom>
          <a:solidFill>
            <a:srgbClr val="E8E8E8"/>
          </a:solidFill>
          <a:ln/>
        </p:spPr>
      </p:sp>
      <p:sp>
        <p:nvSpPr>
          <p:cNvPr id="39" name="Text 37"/>
          <p:cNvSpPr/>
          <p:nvPr/>
        </p:nvSpPr>
        <p:spPr>
          <a:xfrm>
            <a:off x="5945584" y="6407150"/>
            <a:ext cx="45085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fr-FR" sz="2000" b="1" smtClean="0">
                <a:solidFill>
                  <a:srgbClr val="E8E8E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Sécurité</a:t>
            </a:r>
            <a:endParaRPr lang="fr-FR" sz="1600" dirty="0"/>
          </a:p>
        </p:txBody>
      </p:sp>
      <p:sp>
        <p:nvSpPr>
          <p:cNvPr id="40" name="Text 38"/>
          <p:cNvSpPr/>
          <p:nvPr/>
        </p:nvSpPr>
        <p:spPr>
          <a:xfrm>
            <a:off x="5945584" y="6915150"/>
            <a:ext cx="44831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fr-FR" sz="1600" smtClean="0">
                <a:solidFill>
                  <a:srgbClr val="7D8A9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Protection complète de l'opérateur et du matériel</a:t>
            </a:r>
            <a:endParaRPr lang="fr-FR" sz="1600" dirty="0"/>
          </a:p>
        </p:txBody>
      </p:sp>
      <p:sp>
        <p:nvSpPr>
          <p:cNvPr id="41" name="Shape 39"/>
          <p:cNvSpPr/>
          <p:nvPr/>
        </p:nvSpPr>
        <p:spPr>
          <a:xfrm>
            <a:off x="5945584" y="7880350"/>
            <a:ext cx="4381500" cy="914400"/>
          </a:xfrm>
          <a:custGeom>
            <a:avLst/>
            <a:gdLst/>
            <a:ahLst/>
            <a:cxnLst/>
            <a:rect l="l" t="t" r="r" b="b"/>
            <a:pathLst>
              <a:path w="4381500" h="914400">
                <a:moveTo>
                  <a:pt x="50804" y="0"/>
                </a:moveTo>
                <a:lnTo>
                  <a:pt x="4330696" y="0"/>
                </a:lnTo>
                <a:cubicBezTo>
                  <a:pt x="4358754" y="0"/>
                  <a:pt x="4381500" y="22746"/>
                  <a:pt x="4381500" y="50804"/>
                </a:cubicBezTo>
                <a:lnTo>
                  <a:pt x="4381500" y="863596"/>
                </a:lnTo>
                <a:cubicBezTo>
                  <a:pt x="4381500" y="891654"/>
                  <a:pt x="4358754" y="914400"/>
                  <a:pt x="4330696" y="914400"/>
                </a:cubicBezTo>
                <a:lnTo>
                  <a:pt x="50804" y="914400"/>
                </a:lnTo>
                <a:cubicBezTo>
                  <a:pt x="22746" y="914400"/>
                  <a:pt x="0" y="891654"/>
                  <a:pt x="0" y="863596"/>
                </a:cubicBezTo>
                <a:lnTo>
                  <a:pt x="0" y="50804"/>
                </a:lnTo>
                <a:cubicBezTo>
                  <a:pt x="0" y="22765"/>
                  <a:pt x="22765" y="0"/>
                  <a:pt x="50804" y="0"/>
                </a:cubicBezTo>
                <a:close/>
              </a:path>
            </a:pathLst>
          </a:custGeom>
          <a:solidFill>
            <a:srgbClr val="1A1D21"/>
          </a:solidFill>
          <a:ln/>
        </p:spPr>
      </p:sp>
      <p:sp>
        <p:nvSpPr>
          <p:cNvPr id="42" name="Text 40"/>
          <p:cNvSpPr/>
          <p:nvPr/>
        </p:nvSpPr>
        <p:spPr>
          <a:xfrm>
            <a:off x="6040834" y="8032750"/>
            <a:ext cx="4191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fr-FR" sz="1800" b="1" smtClean="0">
                <a:solidFill>
                  <a:srgbClr val="4A6C8C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Multi</a:t>
            </a:r>
            <a:endParaRPr lang="fr-FR" sz="1600" dirty="0"/>
          </a:p>
        </p:txBody>
      </p:sp>
      <p:sp>
        <p:nvSpPr>
          <p:cNvPr id="43" name="Text 41"/>
          <p:cNvSpPr/>
          <p:nvPr/>
        </p:nvSpPr>
        <p:spPr>
          <a:xfrm>
            <a:off x="6053534" y="8388350"/>
            <a:ext cx="41656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fr-FR" sz="1400" smtClean="0">
                <a:solidFill>
                  <a:srgbClr val="7D8A9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sécurités</a:t>
            </a:r>
            <a:endParaRPr lang="fr-FR" sz="1600" dirty="0"/>
          </a:p>
        </p:txBody>
      </p:sp>
      <p:sp>
        <p:nvSpPr>
          <p:cNvPr id="44" name="Shape 42"/>
          <p:cNvSpPr/>
          <p:nvPr/>
        </p:nvSpPr>
        <p:spPr>
          <a:xfrm>
            <a:off x="10849967" y="5232400"/>
            <a:ext cx="4902200" cy="3822700"/>
          </a:xfrm>
          <a:custGeom>
            <a:avLst/>
            <a:gdLst/>
            <a:ahLst/>
            <a:cxnLst/>
            <a:rect l="l" t="t" r="r" b="b"/>
            <a:pathLst>
              <a:path w="4902200" h="3822700">
                <a:moveTo>
                  <a:pt x="101607" y="0"/>
                </a:moveTo>
                <a:lnTo>
                  <a:pt x="4800593" y="0"/>
                </a:lnTo>
                <a:cubicBezTo>
                  <a:pt x="4856709" y="0"/>
                  <a:pt x="4902200" y="45491"/>
                  <a:pt x="4902200" y="101607"/>
                </a:cubicBezTo>
                <a:lnTo>
                  <a:pt x="4902200" y="3721093"/>
                </a:lnTo>
                <a:cubicBezTo>
                  <a:pt x="4902200" y="3777209"/>
                  <a:pt x="4856709" y="3822700"/>
                  <a:pt x="4800593" y="3822700"/>
                </a:cubicBezTo>
                <a:lnTo>
                  <a:pt x="101607" y="3822700"/>
                </a:lnTo>
                <a:cubicBezTo>
                  <a:pt x="45491" y="3822700"/>
                  <a:pt x="0" y="3777209"/>
                  <a:pt x="0" y="3721093"/>
                </a:cubicBezTo>
                <a:lnTo>
                  <a:pt x="0" y="101607"/>
                </a:lnTo>
                <a:cubicBezTo>
                  <a:pt x="0" y="45491"/>
                  <a:pt x="45491" y="0"/>
                  <a:pt x="101607" y="0"/>
                </a:cubicBezTo>
                <a:close/>
              </a:path>
            </a:pathLst>
          </a:custGeom>
          <a:gradFill flip="none" rotWithShape="1">
            <a:gsLst>
              <a:gs pos="0">
                <a:srgbClr val="E89F5B">
                  <a:alpha val="20000"/>
                </a:srgbClr>
              </a:gs>
              <a:gs pos="100000">
                <a:srgbClr val="E89F5B">
                  <a:alpha val="5000"/>
                </a:srgbClr>
              </a:gs>
            </a:gsLst>
            <a:lin ang="2700000" scaled="1"/>
          </a:gradFill>
          <a:ln w="12700">
            <a:solidFill>
              <a:srgbClr val="E89F5B">
                <a:alpha val="40000"/>
              </a:srgbClr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1110317" y="5492750"/>
            <a:ext cx="711200" cy="711200"/>
          </a:xfrm>
          <a:custGeom>
            <a:avLst/>
            <a:gdLst/>
            <a:ahLst/>
            <a:cxnLst/>
            <a:rect l="l" t="t" r="r" b="b"/>
            <a:pathLst>
              <a:path w="711200" h="711200">
                <a:moveTo>
                  <a:pt x="355600" y="0"/>
                </a:moveTo>
                <a:lnTo>
                  <a:pt x="355600" y="0"/>
                </a:lnTo>
                <a:cubicBezTo>
                  <a:pt x="551861" y="0"/>
                  <a:pt x="711200" y="159339"/>
                  <a:pt x="711200" y="355600"/>
                </a:cubicBezTo>
                <a:lnTo>
                  <a:pt x="711200" y="355600"/>
                </a:lnTo>
                <a:cubicBezTo>
                  <a:pt x="711200" y="551861"/>
                  <a:pt x="551861" y="711200"/>
                  <a:pt x="355600" y="711200"/>
                </a:cubicBezTo>
                <a:lnTo>
                  <a:pt x="355600" y="711200"/>
                </a:lnTo>
                <a:cubicBezTo>
                  <a:pt x="159339" y="711200"/>
                  <a:pt x="0" y="551861"/>
                  <a:pt x="0" y="355600"/>
                </a:cubicBezTo>
                <a:lnTo>
                  <a:pt x="0" y="355600"/>
                </a:lnTo>
                <a:cubicBezTo>
                  <a:pt x="0" y="159339"/>
                  <a:pt x="159339" y="0"/>
                  <a:pt x="355600" y="0"/>
                </a:cubicBezTo>
                <a:close/>
              </a:path>
            </a:pathLst>
          </a:custGeom>
          <a:solidFill>
            <a:srgbClr val="E89F5B"/>
          </a:solidFill>
          <a:ln/>
        </p:spPr>
      </p:sp>
      <p:sp>
        <p:nvSpPr>
          <p:cNvPr id="46" name="Shape 44"/>
          <p:cNvSpPr/>
          <p:nvPr/>
        </p:nvSpPr>
        <p:spPr>
          <a:xfrm>
            <a:off x="11313517" y="569595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38100" y="38100"/>
                </a:moveTo>
                <a:cubicBezTo>
                  <a:pt x="38100" y="27563"/>
                  <a:pt x="29587" y="19050"/>
                  <a:pt x="19050" y="19050"/>
                </a:cubicBezTo>
                <a:cubicBezTo>
                  <a:pt x="8513" y="19050"/>
                  <a:pt x="0" y="27563"/>
                  <a:pt x="0" y="38100"/>
                </a:cubicBezTo>
                <a:lnTo>
                  <a:pt x="0" y="238125"/>
                </a:lnTo>
                <a:cubicBezTo>
                  <a:pt x="0" y="264438"/>
                  <a:pt x="21312" y="285750"/>
                  <a:pt x="47625" y="285750"/>
                </a:cubicBezTo>
                <a:lnTo>
                  <a:pt x="285750" y="285750"/>
                </a:lnTo>
                <a:cubicBezTo>
                  <a:pt x="296287" y="285750"/>
                  <a:pt x="304800" y="277237"/>
                  <a:pt x="304800" y="266700"/>
                </a:cubicBezTo>
                <a:cubicBezTo>
                  <a:pt x="304800" y="256163"/>
                  <a:pt x="296287" y="247650"/>
                  <a:pt x="285750" y="247650"/>
                </a:cubicBezTo>
                <a:lnTo>
                  <a:pt x="47625" y="247650"/>
                </a:lnTo>
                <a:cubicBezTo>
                  <a:pt x="42386" y="247650"/>
                  <a:pt x="38100" y="243364"/>
                  <a:pt x="38100" y="238125"/>
                </a:cubicBezTo>
                <a:lnTo>
                  <a:pt x="38100" y="38100"/>
                </a:lnTo>
                <a:close/>
                <a:moveTo>
                  <a:pt x="280154" y="89654"/>
                </a:moveTo>
                <a:cubicBezTo>
                  <a:pt x="287595" y="82213"/>
                  <a:pt x="287595" y="70128"/>
                  <a:pt x="280154" y="62686"/>
                </a:cubicBezTo>
                <a:cubicBezTo>
                  <a:pt x="272713" y="55245"/>
                  <a:pt x="260628" y="55245"/>
                  <a:pt x="253186" y="62686"/>
                </a:cubicBezTo>
                <a:lnTo>
                  <a:pt x="190500" y="125432"/>
                </a:lnTo>
                <a:lnTo>
                  <a:pt x="156329" y="91321"/>
                </a:lnTo>
                <a:cubicBezTo>
                  <a:pt x="148888" y="83880"/>
                  <a:pt x="136803" y="83880"/>
                  <a:pt x="129361" y="91321"/>
                </a:cubicBezTo>
                <a:lnTo>
                  <a:pt x="72211" y="148471"/>
                </a:lnTo>
                <a:cubicBezTo>
                  <a:pt x="64770" y="155912"/>
                  <a:pt x="64770" y="167997"/>
                  <a:pt x="72211" y="175439"/>
                </a:cubicBezTo>
                <a:cubicBezTo>
                  <a:pt x="79653" y="182880"/>
                  <a:pt x="91738" y="182880"/>
                  <a:pt x="99179" y="175439"/>
                </a:cubicBezTo>
                <a:lnTo>
                  <a:pt x="142875" y="131743"/>
                </a:lnTo>
                <a:lnTo>
                  <a:pt x="177046" y="165914"/>
                </a:lnTo>
                <a:cubicBezTo>
                  <a:pt x="184487" y="173355"/>
                  <a:pt x="196572" y="173355"/>
                  <a:pt x="204014" y="165914"/>
                </a:cubicBezTo>
                <a:lnTo>
                  <a:pt x="280214" y="89714"/>
                </a:lnTo>
                <a:close/>
              </a:path>
            </a:pathLst>
          </a:custGeom>
          <a:solidFill>
            <a:srgbClr val="1A1D21"/>
          </a:solidFill>
          <a:ln/>
        </p:spPr>
      </p:sp>
      <p:sp>
        <p:nvSpPr>
          <p:cNvPr id="47" name="Text 45"/>
          <p:cNvSpPr/>
          <p:nvPr/>
        </p:nvSpPr>
        <p:spPr>
          <a:xfrm>
            <a:off x="11110317" y="6407150"/>
            <a:ext cx="45085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fr-FR" sz="2000" b="1" smtClean="0">
                <a:solidFill>
                  <a:srgbClr val="E8E8E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Productivité</a:t>
            </a:r>
            <a:endParaRPr lang="fr-FR" sz="1600" dirty="0"/>
          </a:p>
        </p:txBody>
      </p:sp>
      <p:sp>
        <p:nvSpPr>
          <p:cNvPr id="48" name="Text 46"/>
          <p:cNvSpPr/>
          <p:nvPr/>
        </p:nvSpPr>
        <p:spPr>
          <a:xfrm>
            <a:off x="11110317" y="6915150"/>
            <a:ext cx="4483100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fr-FR" sz="1600" smtClean="0">
                <a:solidFill>
                  <a:srgbClr val="7D8A9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Augmenter le nombre de clés traitées quotidiennement</a:t>
            </a:r>
            <a:endParaRPr lang="fr-FR" sz="1600" dirty="0"/>
          </a:p>
        </p:txBody>
      </p:sp>
      <p:sp>
        <p:nvSpPr>
          <p:cNvPr id="49" name="Shape 47"/>
          <p:cNvSpPr/>
          <p:nvPr/>
        </p:nvSpPr>
        <p:spPr>
          <a:xfrm>
            <a:off x="11110317" y="7778750"/>
            <a:ext cx="4381500" cy="1016000"/>
          </a:xfrm>
          <a:custGeom>
            <a:avLst/>
            <a:gdLst/>
            <a:ahLst/>
            <a:cxnLst/>
            <a:rect l="l" t="t" r="r" b="b"/>
            <a:pathLst>
              <a:path w="4381500" h="1016000">
                <a:moveTo>
                  <a:pt x="50800" y="0"/>
                </a:moveTo>
                <a:lnTo>
                  <a:pt x="4330700" y="0"/>
                </a:lnTo>
                <a:cubicBezTo>
                  <a:pt x="4358737" y="0"/>
                  <a:pt x="4381500" y="22763"/>
                  <a:pt x="4381500" y="50800"/>
                </a:cubicBezTo>
                <a:lnTo>
                  <a:pt x="4381500" y="965200"/>
                </a:lnTo>
                <a:cubicBezTo>
                  <a:pt x="4381500" y="993237"/>
                  <a:pt x="4358737" y="1016000"/>
                  <a:pt x="4330700" y="1016000"/>
                </a:cubicBezTo>
                <a:lnTo>
                  <a:pt x="50800" y="1016000"/>
                </a:lnTo>
                <a:cubicBezTo>
                  <a:pt x="22763" y="1016000"/>
                  <a:pt x="0" y="993237"/>
                  <a:pt x="0" y="965200"/>
                </a:cubicBezTo>
                <a:lnTo>
                  <a:pt x="0" y="50800"/>
                </a:lnTo>
                <a:cubicBezTo>
                  <a:pt x="0" y="22763"/>
                  <a:pt x="22763" y="0"/>
                  <a:pt x="50800" y="0"/>
                </a:cubicBezTo>
                <a:close/>
              </a:path>
            </a:pathLst>
          </a:custGeom>
          <a:solidFill>
            <a:srgbClr val="1A1D21"/>
          </a:solidFill>
          <a:ln/>
        </p:spPr>
      </p:sp>
      <p:sp>
        <p:nvSpPr>
          <p:cNvPr id="50" name="Text 48"/>
          <p:cNvSpPr/>
          <p:nvPr/>
        </p:nvSpPr>
        <p:spPr>
          <a:xfrm>
            <a:off x="11167467" y="7931150"/>
            <a:ext cx="426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fr-FR" sz="3000" b="1" smtClean="0">
                <a:solidFill>
                  <a:srgbClr val="E89F5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x4</a:t>
            </a:r>
            <a:endParaRPr lang="fr-FR" sz="1600" dirty="0"/>
          </a:p>
        </p:txBody>
      </p:sp>
      <p:sp>
        <p:nvSpPr>
          <p:cNvPr id="51" name="Text 49"/>
          <p:cNvSpPr/>
          <p:nvPr/>
        </p:nvSpPr>
        <p:spPr>
          <a:xfrm>
            <a:off x="11218267" y="8388350"/>
            <a:ext cx="41656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fr-FR" sz="1400" smtClean="0">
                <a:solidFill>
                  <a:srgbClr val="7D8A9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productivité</a:t>
            </a:r>
            <a:endParaRPr lang="fr-FR" sz="1600" dirty="0"/>
          </a:p>
        </p:txBody>
      </p:sp>
      <p:sp>
        <p:nvSpPr>
          <p:cNvPr id="52" name="NumPage"/>
          <p:cNvSpPr txBox="1"/>
          <p:nvPr/>
        </p:nvSpPr>
        <p:spPr>
          <a:xfrm>
            <a:off x="15240000" y="8636000"/>
            <a:ext cx="889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fr-FR" sz="1400" smtClean="0">
                <a:solidFill>
                  <a:srgbClr val="E89F5B"/>
                </a:solidFill>
              </a:rPr>
              <a:t>7</a:t>
            </a:r>
            <a:endParaRPr lang="fr-FR" sz="1400" dirty="0">
              <a:solidFill>
                <a:srgbClr val="E89F5B"/>
              </a:solidFill>
            </a:endParaRP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1650" y="190500"/>
            <a:ext cx="153289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fr-FR" sz="1400" b="1" kern="0" spc="140" smtClean="0">
                <a:solidFill>
                  <a:srgbClr val="E89F5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03. ARCHITECTURE MATÉRIELLE</a:t>
            </a:r>
            <a:endParaRPr lang="fr-FR" sz="1600" dirty="0"/>
          </a:p>
        </p:txBody>
      </p:sp>
      <p:sp>
        <p:nvSpPr>
          <p:cNvPr id="3" name="Text 1"/>
          <p:cNvSpPr/>
          <p:nvPr/>
        </p:nvSpPr>
        <p:spPr>
          <a:xfrm>
            <a:off x="501650" y="546100"/>
            <a:ext cx="154686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fr-FR" sz="3600" b="1" smtClean="0">
                <a:solidFill>
                  <a:srgbClr val="E8E8E8"/>
                </a:solidFill>
                <a:latin typeface="Hedvig Letters Sans" pitchFamily="34" charset="0"/>
                <a:ea typeface="Hedvig Letters Sans" pitchFamily="34" charset="-122"/>
                <a:cs typeface="Hedvig Letters Sans" pitchFamily="34" charset="-120"/>
              </a:rPr>
              <a:t>Architecture du Système</a:t>
            </a:r>
            <a:endParaRPr lang="fr-FR" sz="1600" dirty="0"/>
          </a:p>
        </p:txBody>
      </p:sp>
      <p:sp>
        <p:nvSpPr>
          <p:cNvPr id="4" name="Shape 2"/>
          <p:cNvSpPr/>
          <p:nvPr/>
        </p:nvSpPr>
        <p:spPr>
          <a:xfrm>
            <a:off x="508000" y="1263650"/>
            <a:ext cx="8978900" cy="1231900"/>
          </a:xfrm>
          <a:custGeom>
            <a:avLst/>
            <a:gdLst/>
            <a:ahLst/>
            <a:cxnLst/>
            <a:rect l="l" t="t" r="r" b="b"/>
            <a:pathLst>
              <a:path w="8978900" h="1231900">
                <a:moveTo>
                  <a:pt x="101595" y="0"/>
                </a:moveTo>
                <a:lnTo>
                  <a:pt x="8877305" y="0"/>
                </a:lnTo>
                <a:cubicBezTo>
                  <a:pt x="8933414" y="0"/>
                  <a:pt x="8978900" y="45486"/>
                  <a:pt x="8978900" y="101595"/>
                </a:cubicBezTo>
                <a:lnTo>
                  <a:pt x="8978900" y="1130305"/>
                </a:lnTo>
                <a:cubicBezTo>
                  <a:pt x="8978900" y="1186414"/>
                  <a:pt x="8933414" y="1231900"/>
                  <a:pt x="8877305" y="1231900"/>
                </a:cubicBezTo>
                <a:lnTo>
                  <a:pt x="101595" y="1231900"/>
                </a:lnTo>
                <a:cubicBezTo>
                  <a:pt x="45486" y="1231900"/>
                  <a:pt x="0" y="1186414"/>
                  <a:pt x="0" y="1130305"/>
                </a:cubicBezTo>
                <a:lnTo>
                  <a:pt x="0" y="101595"/>
                </a:lnTo>
                <a:cubicBezTo>
                  <a:pt x="0" y="45523"/>
                  <a:pt x="45523" y="0"/>
                  <a:pt x="101595" y="0"/>
                </a:cubicBezTo>
                <a:close/>
              </a:path>
            </a:pathLst>
          </a:custGeom>
          <a:solidFill>
            <a:srgbClr val="4A6C8C">
              <a:alpha val="10196"/>
            </a:srgbClr>
          </a:solidFill>
          <a:ln w="12700">
            <a:solidFill>
              <a:srgbClr val="4A6C8C">
                <a:alpha val="30196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66750" y="1422400"/>
            <a:ext cx="508000" cy="508000"/>
          </a:xfrm>
          <a:custGeom>
            <a:avLst/>
            <a:gdLst/>
            <a:ahLst/>
            <a:cxnLst/>
            <a:rect l="l" t="t" r="r" b="b"/>
            <a:pathLst>
              <a:path w="508000" h="508000">
                <a:moveTo>
                  <a:pt x="50800" y="0"/>
                </a:moveTo>
                <a:lnTo>
                  <a:pt x="457200" y="0"/>
                </a:lnTo>
                <a:cubicBezTo>
                  <a:pt x="485237" y="0"/>
                  <a:pt x="508000" y="22763"/>
                  <a:pt x="508000" y="50800"/>
                </a:cubicBezTo>
                <a:lnTo>
                  <a:pt x="508000" y="457200"/>
                </a:lnTo>
                <a:cubicBezTo>
                  <a:pt x="508000" y="485237"/>
                  <a:pt x="485237" y="508000"/>
                  <a:pt x="457200" y="508000"/>
                </a:cubicBezTo>
                <a:lnTo>
                  <a:pt x="50800" y="508000"/>
                </a:lnTo>
                <a:cubicBezTo>
                  <a:pt x="22763" y="508000"/>
                  <a:pt x="0" y="485237"/>
                  <a:pt x="0" y="457200"/>
                </a:cubicBezTo>
                <a:lnTo>
                  <a:pt x="0" y="50800"/>
                </a:lnTo>
                <a:cubicBezTo>
                  <a:pt x="0" y="22763"/>
                  <a:pt x="22763" y="0"/>
                  <a:pt x="50800" y="0"/>
                </a:cubicBezTo>
                <a:close/>
              </a:path>
            </a:pathLst>
          </a:custGeom>
          <a:solidFill>
            <a:srgbClr val="E89F5B"/>
          </a:solidFill>
          <a:ln/>
        </p:spPr>
      </p:sp>
      <p:sp>
        <p:nvSpPr>
          <p:cNvPr id="6" name="Shape 4"/>
          <p:cNvSpPr/>
          <p:nvPr/>
        </p:nvSpPr>
        <p:spPr>
          <a:xfrm>
            <a:off x="809625" y="15621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78581" y="10716"/>
                </a:moveTo>
                <a:cubicBezTo>
                  <a:pt x="78581" y="4777"/>
                  <a:pt x="73804" y="0"/>
                  <a:pt x="67866" y="0"/>
                </a:cubicBezTo>
                <a:cubicBezTo>
                  <a:pt x="61927" y="0"/>
                  <a:pt x="57150" y="4777"/>
                  <a:pt x="57150" y="10716"/>
                </a:cubicBezTo>
                <a:lnTo>
                  <a:pt x="57150" y="28575"/>
                </a:lnTo>
                <a:cubicBezTo>
                  <a:pt x="41389" y="28575"/>
                  <a:pt x="28575" y="41389"/>
                  <a:pt x="28575" y="57150"/>
                </a:cubicBezTo>
                <a:lnTo>
                  <a:pt x="10716" y="57150"/>
                </a:lnTo>
                <a:cubicBezTo>
                  <a:pt x="4777" y="57150"/>
                  <a:pt x="0" y="61927"/>
                  <a:pt x="0" y="67866"/>
                </a:cubicBezTo>
                <a:cubicBezTo>
                  <a:pt x="0" y="73804"/>
                  <a:pt x="4777" y="78581"/>
                  <a:pt x="10716" y="78581"/>
                </a:cubicBezTo>
                <a:lnTo>
                  <a:pt x="28575" y="78581"/>
                </a:lnTo>
                <a:lnTo>
                  <a:pt x="28575" y="103584"/>
                </a:lnTo>
                <a:lnTo>
                  <a:pt x="10716" y="103584"/>
                </a:lnTo>
                <a:cubicBezTo>
                  <a:pt x="4777" y="103584"/>
                  <a:pt x="0" y="108362"/>
                  <a:pt x="0" y="114300"/>
                </a:cubicBezTo>
                <a:cubicBezTo>
                  <a:pt x="0" y="120238"/>
                  <a:pt x="4777" y="125016"/>
                  <a:pt x="10716" y="125016"/>
                </a:cubicBezTo>
                <a:lnTo>
                  <a:pt x="28575" y="125016"/>
                </a:lnTo>
                <a:lnTo>
                  <a:pt x="28575" y="150019"/>
                </a:lnTo>
                <a:lnTo>
                  <a:pt x="10716" y="150019"/>
                </a:lnTo>
                <a:cubicBezTo>
                  <a:pt x="4777" y="150019"/>
                  <a:pt x="0" y="154796"/>
                  <a:pt x="0" y="160734"/>
                </a:cubicBezTo>
                <a:cubicBezTo>
                  <a:pt x="0" y="166673"/>
                  <a:pt x="4777" y="171450"/>
                  <a:pt x="10716" y="171450"/>
                </a:cubicBezTo>
                <a:lnTo>
                  <a:pt x="28575" y="171450"/>
                </a:lnTo>
                <a:cubicBezTo>
                  <a:pt x="28575" y="187211"/>
                  <a:pt x="41389" y="200025"/>
                  <a:pt x="57150" y="200025"/>
                </a:cubicBezTo>
                <a:lnTo>
                  <a:pt x="57150" y="217884"/>
                </a:lnTo>
                <a:cubicBezTo>
                  <a:pt x="57150" y="223823"/>
                  <a:pt x="61927" y="228600"/>
                  <a:pt x="67866" y="228600"/>
                </a:cubicBezTo>
                <a:cubicBezTo>
                  <a:pt x="73804" y="228600"/>
                  <a:pt x="78581" y="223823"/>
                  <a:pt x="78581" y="217884"/>
                </a:cubicBezTo>
                <a:lnTo>
                  <a:pt x="78581" y="200025"/>
                </a:lnTo>
                <a:lnTo>
                  <a:pt x="103584" y="200025"/>
                </a:lnTo>
                <a:lnTo>
                  <a:pt x="103584" y="217884"/>
                </a:lnTo>
                <a:cubicBezTo>
                  <a:pt x="103584" y="223823"/>
                  <a:pt x="108362" y="228600"/>
                  <a:pt x="114300" y="228600"/>
                </a:cubicBezTo>
                <a:cubicBezTo>
                  <a:pt x="120238" y="228600"/>
                  <a:pt x="125016" y="223823"/>
                  <a:pt x="125016" y="217884"/>
                </a:cubicBezTo>
                <a:lnTo>
                  <a:pt x="125016" y="200025"/>
                </a:lnTo>
                <a:lnTo>
                  <a:pt x="150019" y="200025"/>
                </a:lnTo>
                <a:lnTo>
                  <a:pt x="150019" y="217884"/>
                </a:lnTo>
                <a:cubicBezTo>
                  <a:pt x="150019" y="223823"/>
                  <a:pt x="154796" y="228600"/>
                  <a:pt x="160734" y="228600"/>
                </a:cubicBezTo>
                <a:cubicBezTo>
                  <a:pt x="166673" y="228600"/>
                  <a:pt x="171450" y="223823"/>
                  <a:pt x="171450" y="217884"/>
                </a:cubicBezTo>
                <a:lnTo>
                  <a:pt x="171450" y="200025"/>
                </a:lnTo>
                <a:cubicBezTo>
                  <a:pt x="187211" y="200025"/>
                  <a:pt x="200025" y="187211"/>
                  <a:pt x="200025" y="171450"/>
                </a:cubicBezTo>
                <a:lnTo>
                  <a:pt x="217884" y="171450"/>
                </a:lnTo>
                <a:cubicBezTo>
                  <a:pt x="223823" y="171450"/>
                  <a:pt x="228600" y="166673"/>
                  <a:pt x="228600" y="160734"/>
                </a:cubicBezTo>
                <a:cubicBezTo>
                  <a:pt x="228600" y="154796"/>
                  <a:pt x="223823" y="150019"/>
                  <a:pt x="217884" y="150019"/>
                </a:cubicBezTo>
                <a:lnTo>
                  <a:pt x="200025" y="150019"/>
                </a:lnTo>
                <a:lnTo>
                  <a:pt x="200025" y="125016"/>
                </a:lnTo>
                <a:lnTo>
                  <a:pt x="217884" y="125016"/>
                </a:lnTo>
                <a:cubicBezTo>
                  <a:pt x="223823" y="125016"/>
                  <a:pt x="228600" y="120238"/>
                  <a:pt x="228600" y="114300"/>
                </a:cubicBezTo>
                <a:cubicBezTo>
                  <a:pt x="228600" y="108362"/>
                  <a:pt x="223823" y="103584"/>
                  <a:pt x="217884" y="103584"/>
                </a:cubicBezTo>
                <a:lnTo>
                  <a:pt x="200025" y="103584"/>
                </a:lnTo>
                <a:lnTo>
                  <a:pt x="200025" y="78581"/>
                </a:lnTo>
                <a:lnTo>
                  <a:pt x="217884" y="78581"/>
                </a:lnTo>
                <a:cubicBezTo>
                  <a:pt x="223823" y="78581"/>
                  <a:pt x="228600" y="73804"/>
                  <a:pt x="228600" y="67866"/>
                </a:cubicBezTo>
                <a:cubicBezTo>
                  <a:pt x="228600" y="61927"/>
                  <a:pt x="223823" y="57150"/>
                  <a:pt x="217884" y="57150"/>
                </a:cubicBezTo>
                <a:lnTo>
                  <a:pt x="200025" y="57150"/>
                </a:lnTo>
                <a:cubicBezTo>
                  <a:pt x="200025" y="41389"/>
                  <a:pt x="187211" y="28575"/>
                  <a:pt x="171450" y="28575"/>
                </a:cubicBezTo>
                <a:lnTo>
                  <a:pt x="171450" y="10716"/>
                </a:lnTo>
                <a:cubicBezTo>
                  <a:pt x="171450" y="4777"/>
                  <a:pt x="166673" y="0"/>
                  <a:pt x="160734" y="0"/>
                </a:cubicBezTo>
                <a:cubicBezTo>
                  <a:pt x="154796" y="0"/>
                  <a:pt x="150019" y="4777"/>
                  <a:pt x="150019" y="10716"/>
                </a:cubicBezTo>
                <a:lnTo>
                  <a:pt x="150019" y="28575"/>
                </a:lnTo>
                <a:lnTo>
                  <a:pt x="125016" y="28575"/>
                </a:lnTo>
                <a:lnTo>
                  <a:pt x="125016" y="10716"/>
                </a:lnTo>
                <a:cubicBezTo>
                  <a:pt x="125016" y="4777"/>
                  <a:pt x="120238" y="0"/>
                  <a:pt x="114300" y="0"/>
                </a:cubicBezTo>
                <a:cubicBezTo>
                  <a:pt x="108362" y="0"/>
                  <a:pt x="103584" y="4777"/>
                  <a:pt x="103584" y="10716"/>
                </a:cubicBezTo>
                <a:lnTo>
                  <a:pt x="103584" y="28575"/>
                </a:lnTo>
                <a:lnTo>
                  <a:pt x="78581" y="28575"/>
                </a:lnTo>
                <a:lnTo>
                  <a:pt x="78581" y="10716"/>
                </a:lnTo>
                <a:close/>
                <a:moveTo>
                  <a:pt x="71438" y="57150"/>
                </a:moveTo>
                <a:lnTo>
                  <a:pt x="157163" y="57150"/>
                </a:lnTo>
                <a:cubicBezTo>
                  <a:pt x="165065" y="57150"/>
                  <a:pt x="171450" y="63535"/>
                  <a:pt x="171450" y="71438"/>
                </a:cubicBezTo>
                <a:lnTo>
                  <a:pt x="171450" y="157163"/>
                </a:lnTo>
                <a:cubicBezTo>
                  <a:pt x="171450" y="165065"/>
                  <a:pt x="165065" y="171450"/>
                  <a:pt x="157163" y="171450"/>
                </a:cubicBezTo>
                <a:lnTo>
                  <a:pt x="71438" y="171450"/>
                </a:lnTo>
                <a:cubicBezTo>
                  <a:pt x="63535" y="171450"/>
                  <a:pt x="57150" y="165065"/>
                  <a:pt x="57150" y="157163"/>
                </a:cubicBezTo>
                <a:lnTo>
                  <a:pt x="57150" y="71438"/>
                </a:lnTo>
                <a:cubicBezTo>
                  <a:pt x="57150" y="63535"/>
                  <a:pt x="63535" y="57150"/>
                  <a:pt x="71438" y="57150"/>
                </a:cubicBezTo>
                <a:close/>
                <a:moveTo>
                  <a:pt x="78581" y="78581"/>
                </a:moveTo>
                <a:lnTo>
                  <a:pt x="78581" y="150019"/>
                </a:lnTo>
                <a:lnTo>
                  <a:pt x="150019" y="150019"/>
                </a:lnTo>
                <a:lnTo>
                  <a:pt x="150019" y="78581"/>
                </a:lnTo>
                <a:lnTo>
                  <a:pt x="78581" y="78581"/>
                </a:lnTo>
                <a:close/>
              </a:path>
            </a:pathLst>
          </a:custGeom>
          <a:solidFill>
            <a:srgbClr val="1A1D21"/>
          </a:solidFill>
          <a:ln/>
        </p:spPr>
      </p:sp>
      <p:sp>
        <p:nvSpPr>
          <p:cNvPr id="7" name="Text 5"/>
          <p:cNvSpPr/>
          <p:nvPr/>
        </p:nvSpPr>
        <p:spPr>
          <a:xfrm>
            <a:off x="1327150" y="1498600"/>
            <a:ext cx="21209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fr-FR" sz="1800" b="1" smtClean="0">
                <a:solidFill>
                  <a:srgbClr val="E8E8E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Automate Siemens</a:t>
            </a:r>
            <a:endParaRPr lang="fr-FR" sz="1600" dirty="0"/>
          </a:p>
        </p:txBody>
      </p:sp>
      <p:sp>
        <p:nvSpPr>
          <p:cNvPr id="8" name="Text 6"/>
          <p:cNvSpPr/>
          <p:nvPr/>
        </p:nvSpPr>
        <p:spPr>
          <a:xfrm>
            <a:off x="666750" y="2032000"/>
            <a:ext cx="876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fr-FR" sz="1600" smtClean="0">
                <a:solidFill>
                  <a:srgbClr val="7D8A9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Cœur du pilotage : gestion cycle, sécurités, communication PC</a:t>
            </a:r>
            <a:endParaRPr lang="fr-FR" sz="1600" dirty="0"/>
          </a:p>
        </p:txBody>
      </p:sp>
      <p:sp>
        <p:nvSpPr>
          <p:cNvPr id="9" name="Shape 7"/>
          <p:cNvSpPr/>
          <p:nvPr/>
        </p:nvSpPr>
        <p:spPr>
          <a:xfrm>
            <a:off x="508000" y="2660650"/>
            <a:ext cx="4406900" cy="1536700"/>
          </a:xfrm>
          <a:custGeom>
            <a:avLst/>
            <a:gdLst/>
            <a:ahLst/>
            <a:cxnLst/>
            <a:rect l="l" t="t" r="r" b="b"/>
            <a:pathLst>
              <a:path w="4406900" h="1536700">
                <a:moveTo>
                  <a:pt x="101607" y="0"/>
                </a:moveTo>
                <a:lnTo>
                  <a:pt x="4305293" y="0"/>
                </a:lnTo>
                <a:cubicBezTo>
                  <a:pt x="4361409" y="0"/>
                  <a:pt x="4406900" y="45491"/>
                  <a:pt x="4406900" y="101607"/>
                </a:cubicBezTo>
                <a:lnTo>
                  <a:pt x="4406900" y="1435093"/>
                </a:lnTo>
                <a:cubicBezTo>
                  <a:pt x="4406900" y="1491209"/>
                  <a:pt x="4361409" y="1536700"/>
                  <a:pt x="4305293" y="1536700"/>
                </a:cubicBezTo>
                <a:lnTo>
                  <a:pt x="101607" y="1536700"/>
                </a:lnTo>
                <a:cubicBezTo>
                  <a:pt x="45491" y="1536700"/>
                  <a:pt x="0" y="1491209"/>
                  <a:pt x="0" y="1435093"/>
                </a:cubicBezTo>
                <a:lnTo>
                  <a:pt x="0" y="101607"/>
                </a:lnTo>
                <a:cubicBezTo>
                  <a:pt x="0" y="45528"/>
                  <a:pt x="45528" y="0"/>
                  <a:pt x="101607" y="0"/>
                </a:cubicBezTo>
                <a:close/>
              </a:path>
            </a:pathLst>
          </a:custGeom>
          <a:solidFill>
            <a:srgbClr val="4A6C8C">
              <a:alpha val="10196"/>
            </a:srgbClr>
          </a:solidFill>
          <a:ln w="12700">
            <a:solidFill>
              <a:srgbClr val="4A6C8C">
                <a:alpha val="30196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66750" y="2819400"/>
            <a:ext cx="508000" cy="508000"/>
          </a:xfrm>
          <a:custGeom>
            <a:avLst/>
            <a:gdLst/>
            <a:ahLst/>
            <a:cxnLst/>
            <a:rect l="l" t="t" r="r" b="b"/>
            <a:pathLst>
              <a:path w="508000" h="508000">
                <a:moveTo>
                  <a:pt x="50800" y="0"/>
                </a:moveTo>
                <a:lnTo>
                  <a:pt x="457200" y="0"/>
                </a:lnTo>
                <a:cubicBezTo>
                  <a:pt x="485237" y="0"/>
                  <a:pt x="508000" y="22763"/>
                  <a:pt x="508000" y="50800"/>
                </a:cubicBezTo>
                <a:lnTo>
                  <a:pt x="508000" y="457200"/>
                </a:lnTo>
                <a:cubicBezTo>
                  <a:pt x="508000" y="485237"/>
                  <a:pt x="485237" y="508000"/>
                  <a:pt x="457200" y="508000"/>
                </a:cubicBezTo>
                <a:lnTo>
                  <a:pt x="50800" y="508000"/>
                </a:lnTo>
                <a:cubicBezTo>
                  <a:pt x="22763" y="508000"/>
                  <a:pt x="0" y="485237"/>
                  <a:pt x="0" y="457200"/>
                </a:cubicBezTo>
                <a:lnTo>
                  <a:pt x="0" y="50800"/>
                </a:lnTo>
                <a:cubicBezTo>
                  <a:pt x="0" y="22763"/>
                  <a:pt x="22763" y="0"/>
                  <a:pt x="50800" y="0"/>
                </a:cubicBezTo>
                <a:close/>
              </a:path>
            </a:pathLst>
          </a:custGeom>
          <a:solidFill>
            <a:srgbClr val="4A6C8C"/>
          </a:solidFill>
          <a:ln/>
        </p:spPr>
      </p:sp>
      <p:sp>
        <p:nvSpPr>
          <p:cNvPr id="11" name="Shape 9"/>
          <p:cNvSpPr/>
          <p:nvPr/>
        </p:nvSpPr>
        <p:spPr>
          <a:xfrm>
            <a:off x="809625" y="29591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87109" y="4242"/>
                </a:moveTo>
                <a:cubicBezTo>
                  <a:pt x="88449" y="-2366"/>
                  <a:pt x="94298" y="-7144"/>
                  <a:pt x="101084" y="-7144"/>
                </a:cubicBezTo>
                <a:lnTo>
                  <a:pt x="127784" y="-7144"/>
                </a:lnTo>
                <a:cubicBezTo>
                  <a:pt x="134570" y="-7144"/>
                  <a:pt x="140419" y="-2366"/>
                  <a:pt x="141759" y="4242"/>
                </a:cubicBezTo>
                <a:lnTo>
                  <a:pt x="148233" y="35496"/>
                </a:lnTo>
                <a:cubicBezTo>
                  <a:pt x="154528" y="38174"/>
                  <a:pt x="160422" y="41612"/>
                  <a:pt x="165780" y="45675"/>
                </a:cubicBezTo>
                <a:lnTo>
                  <a:pt x="196051" y="35629"/>
                </a:lnTo>
                <a:cubicBezTo>
                  <a:pt x="202481" y="33486"/>
                  <a:pt x="209535" y="36165"/>
                  <a:pt x="212928" y="42059"/>
                </a:cubicBezTo>
                <a:lnTo>
                  <a:pt x="226278" y="65187"/>
                </a:lnTo>
                <a:cubicBezTo>
                  <a:pt x="229672" y="71080"/>
                  <a:pt x="228466" y="78492"/>
                  <a:pt x="223376" y="83001"/>
                </a:cubicBezTo>
                <a:lnTo>
                  <a:pt x="199579" y="104165"/>
                </a:lnTo>
                <a:cubicBezTo>
                  <a:pt x="199980" y="107469"/>
                  <a:pt x="200159" y="110862"/>
                  <a:pt x="200159" y="114300"/>
                </a:cubicBezTo>
                <a:cubicBezTo>
                  <a:pt x="200159" y="117738"/>
                  <a:pt x="199936" y="121131"/>
                  <a:pt x="199579" y="124435"/>
                </a:cubicBezTo>
                <a:lnTo>
                  <a:pt x="223421" y="145643"/>
                </a:lnTo>
                <a:cubicBezTo>
                  <a:pt x="228511" y="150153"/>
                  <a:pt x="229672" y="157609"/>
                  <a:pt x="226323" y="163458"/>
                </a:cubicBezTo>
                <a:lnTo>
                  <a:pt x="212973" y="186586"/>
                </a:lnTo>
                <a:cubicBezTo>
                  <a:pt x="209580" y="192435"/>
                  <a:pt x="202525" y="195158"/>
                  <a:pt x="196096" y="193015"/>
                </a:cubicBezTo>
                <a:lnTo>
                  <a:pt x="165824" y="182969"/>
                </a:lnTo>
                <a:cubicBezTo>
                  <a:pt x="160422" y="187032"/>
                  <a:pt x="154528" y="190426"/>
                  <a:pt x="148277" y="193149"/>
                </a:cubicBezTo>
                <a:lnTo>
                  <a:pt x="141848" y="224358"/>
                </a:lnTo>
                <a:cubicBezTo>
                  <a:pt x="140464" y="231011"/>
                  <a:pt x="134615" y="235744"/>
                  <a:pt x="127873" y="235744"/>
                </a:cubicBezTo>
                <a:lnTo>
                  <a:pt x="101173" y="235744"/>
                </a:lnTo>
                <a:cubicBezTo>
                  <a:pt x="94387" y="235744"/>
                  <a:pt x="88538" y="230966"/>
                  <a:pt x="87198" y="224358"/>
                </a:cubicBezTo>
                <a:lnTo>
                  <a:pt x="80769" y="193149"/>
                </a:lnTo>
                <a:cubicBezTo>
                  <a:pt x="74474" y="190470"/>
                  <a:pt x="68625" y="187032"/>
                  <a:pt x="63222" y="182969"/>
                </a:cubicBezTo>
                <a:lnTo>
                  <a:pt x="32817" y="193015"/>
                </a:lnTo>
                <a:cubicBezTo>
                  <a:pt x="26387" y="195158"/>
                  <a:pt x="19333" y="192479"/>
                  <a:pt x="15939" y="186586"/>
                </a:cubicBezTo>
                <a:lnTo>
                  <a:pt x="2590" y="163458"/>
                </a:lnTo>
                <a:cubicBezTo>
                  <a:pt x="-804" y="157564"/>
                  <a:pt x="402" y="150153"/>
                  <a:pt x="5492" y="145643"/>
                </a:cubicBezTo>
                <a:lnTo>
                  <a:pt x="29334" y="124435"/>
                </a:lnTo>
                <a:cubicBezTo>
                  <a:pt x="28932" y="121131"/>
                  <a:pt x="28754" y="117738"/>
                  <a:pt x="28754" y="114300"/>
                </a:cubicBezTo>
                <a:cubicBezTo>
                  <a:pt x="28754" y="110862"/>
                  <a:pt x="28977" y="107469"/>
                  <a:pt x="29334" y="104165"/>
                </a:cubicBezTo>
                <a:lnTo>
                  <a:pt x="5492" y="82957"/>
                </a:lnTo>
                <a:cubicBezTo>
                  <a:pt x="402" y="78447"/>
                  <a:pt x="-759" y="70991"/>
                  <a:pt x="2590" y="65142"/>
                </a:cubicBezTo>
                <a:lnTo>
                  <a:pt x="15939" y="42014"/>
                </a:lnTo>
                <a:cubicBezTo>
                  <a:pt x="19333" y="36121"/>
                  <a:pt x="26387" y="33442"/>
                  <a:pt x="32817" y="35585"/>
                </a:cubicBezTo>
                <a:lnTo>
                  <a:pt x="63088" y="45631"/>
                </a:lnTo>
                <a:cubicBezTo>
                  <a:pt x="68491" y="41568"/>
                  <a:pt x="74384" y="38174"/>
                  <a:pt x="80635" y="35451"/>
                </a:cubicBezTo>
                <a:lnTo>
                  <a:pt x="87109" y="4242"/>
                </a:lnTo>
                <a:close/>
                <a:moveTo>
                  <a:pt x="114434" y="150019"/>
                </a:moveTo>
                <a:cubicBezTo>
                  <a:pt x="127195" y="149971"/>
                  <a:pt x="138961" y="143119"/>
                  <a:pt x="145300" y="132043"/>
                </a:cubicBezTo>
                <a:cubicBezTo>
                  <a:pt x="151639" y="120968"/>
                  <a:pt x="151588" y="107352"/>
                  <a:pt x="145166" y="96325"/>
                </a:cubicBezTo>
                <a:cubicBezTo>
                  <a:pt x="138744" y="85297"/>
                  <a:pt x="126927" y="78533"/>
                  <a:pt x="114166" y="78581"/>
                </a:cubicBezTo>
                <a:cubicBezTo>
                  <a:pt x="101405" y="78629"/>
                  <a:pt x="89639" y="85481"/>
                  <a:pt x="83300" y="96557"/>
                </a:cubicBezTo>
                <a:cubicBezTo>
                  <a:pt x="76961" y="107632"/>
                  <a:pt x="77012" y="121248"/>
                  <a:pt x="83434" y="132275"/>
                </a:cubicBezTo>
                <a:cubicBezTo>
                  <a:pt x="89856" y="143303"/>
                  <a:pt x="101673" y="150067"/>
                  <a:pt x="114434" y="150019"/>
                </a:cubicBezTo>
                <a:close/>
              </a:path>
            </a:pathLst>
          </a:custGeom>
          <a:solidFill>
            <a:srgbClr val="E8E8E8"/>
          </a:solidFill>
          <a:ln/>
        </p:spPr>
      </p:sp>
      <p:sp>
        <p:nvSpPr>
          <p:cNvPr id="12" name="Text 10"/>
          <p:cNvSpPr/>
          <p:nvPr/>
        </p:nvSpPr>
        <p:spPr>
          <a:xfrm>
            <a:off x="1327150" y="2921000"/>
            <a:ext cx="21336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fr-FR" sz="1600" b="1" smtClean="0">
                <a:solidFill>
                  <a:srgbClr val="E8E8E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Moteur Faible Couple</a:t>
            </a:r>
            <a:endParaRPr lang="fr-FR" sz="1600" dirty="0"/>
          </a:p>
        </p:txBody>
      </p:sp>
      <p:sp>
        <p:nvSpPr>
          <p:cNvPr id="13" name="Text 11"/>
          <p:cNvSpPr/>
          <p:nvPr/>
        </p:nvSpPr>
        <p:spPr>
          <a:xfrm>
            <a:off x="666750" y="3429000"/>
            <a:ext cx="4191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fr-FR" sz="1600" smtClean="0">
                <a:solidFill>
                  <a:srgbClr val="7D8A9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Plage : 4 - 40 Nm</a:t>
            </a:r>
            <a:endParaRPr lang="fr-FR" sz="1600" dirty="0"/>
          </a:p>
        </p:txBody>
      </p:sp>
      <p:sp>
        <p:nvSpPr>
          <p:cNvPr id="14" name="Text 12"/>
          <p:cNvSpPr/>
          <p:nvPr/>
        </p:nvSpPr>
        <p:spPr>
          <a:xfrm>
            <a:off x="666750" y="3784600"/>
            <a:ext cx="41783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fr-FR" sz="1400" smtClean="0">
                <a:solidFill>
                  <a:srgbClr val="7D8A9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Haute précision petite plage</a:t>
            </a:r>
            <a:endParaRPr lang="fr-FR" sz="1600" dirty="0"/>
          </a:p>
        </p:txBody>
      </p:sp>
      <p:sp>
        <p:nvSpPr>
          <p:cNvPr id="15" name="Shape 13"/>
          <p:cNvSpPr/>
          <p:nvPr/>
        </p:nvSpPr>
        <p:spPr>
          <a:xfrm>
            <a:off x="5080000" y="2660650"/>
            <a:ext cx="4406900" cy="1536700"/>
          </a:xfrm>
          <a:custGeom>
            <a:avLst/>
            <a:gdLst/>
            <a:ahLst/>
            <a:cxnLst/>
            <a:rect l="l" t="t" r="r" b="b"/>
            <a:pathLst>
              <a:path w="4406900" h="1536700">
                <a:moveTo>
                  <a:pt x="101607" y="0"/>
                </a:moveTo>
                <a:lnTo>
                  <a:pt x="4305293" y="0"/>
                </a:lnTo>
                <a:cubicBezTo>
                  <a:pt x="4361409" y="0"/>
                  <a:pt x="4406900" y="45491"/>
                  <a:pt x="4406900" y="101607"/>
                </a:cubicBezTo>
                <a:lnTo>
                  <a:pt x="4406900" y="1435093"/>
                </a:lnTo>
                <a:cubicBezTo>
                  <a:pt x="4406900" y="1491209"/>
                  <a:pt x="4361409" y="1536700"/>
                  <a:pt x="4305293" y="1536700"/>
                </a:cubicBezTo>
                <a:lnTo>
                  <a:pt x="101607" y="1536700"/>
                </a:lnTo>
                <a:cubicBezTo>
                  <a:pt x="45491" y="1536700"/>
                  <a:pt x="0" y="1491209"/>
                  <a:pt x="0" y="1435093"/>
                </a:cubicBezTo>
                <a:lnTo>
                  <a:pt x="0" y="101607"/>
                </a:lnTo>
                <a:cubicBezTo>
                  <a:pt x="0" y="45528"/>
                  <a:pt x="45528" y="0"/>
                  <a:pt x="101607" y="0"/>
                </a:cubicBezTo>
                <a:close/>
              </a:path>
            </a:pathLst>
          </a:custGeom>
          <a:solidFill>
            <a:srgbClr val="4A6C8C">
              <a:alpha val="10196"/>
            </a:srgbClr>
          </a:solidFill>
          <a:ln w="12700">
            <a:solidFill>
              <a:srgbClr val="4A6C8C">
                <a:alpha val="30196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238750" y="2819400"/>
            <a:ext cx="508000" cy="508000"/>
          </a:xfrm>
          <a:custGeom>
            <a:avLst/>
            <a:gdLst/>
            <a:ahLst/>
            <a:cxnLst/>
            <a:rect l="l" t="t" r="r" b="b"/>
            <a:pathLst>
              <a:path w="508000" h="508000">
                <a:moveTo>
                  <a:pt x="50800" y="0"/>
                </a:moveTo>
                <a:lnTo>
                  <a:pt x="457200" y="0"/>
                </a:lnTo>
                <a:cubicBezTo>
                  <a:pt x="485237" y="0"/>
                  <a:pt x="508000" y="22763"/>
                  <a:pt x="508000" y="50800"/>
                </a:cubicBezTo>
                <a:lnTo>
                  <a:pt x="508000" y="457200"/>
                </a:lnTo>
                <a:cubicBezTo>
                  <a:pt x="508000" y="485237"/>
                  <a:pt x="485237" y="508000"/>
                  <a:pt x="457200" y="508000"/>
                </a:cubicBezTo>
                <a:lnTo>
                  <a:pt x="50800" y="508000"/>
                </a:lnTo>
                <a:cubicBezTo>
                  <a:pt x="22763" y="508000"/>
                  <a:pt x="0" y="485237"/>
                  <a:pt x="0" y="457200"/>
                </a:cubicBezTo>
                <a:lnTo>
                  <a:pt x="0" y="50800"/>
                </a:lnTo>
                <a:cubicBezTo>
                  <a:pt x="0" y="22763"/>
                  <a:pt x="22763" y="0"/>
                  <a:pt x="50800" y="0"/>
                </a:cubicBezTo>
                <a:close/>
              </a:path>
            </a:pathLst>
          </a:custGeom>
          <a:solidFill>
            <a:srgbClr val="4A6C8C"/>
          </a:solidFill>
          <a:ln/>
        </p:spPr>
      </p:sp>
      <p:sp>
        <p:nvSpPr>
          <p:cNvPr id="17" name="Shape 15"/>
          <p:cNvSpPr/>
          <p:nvPr/>
        </p:nvSpPr>
        <p:spPr>
          <a:xfrm>
            <a:off x="5353050" y="2959100"/>
            <a:ext cx="285750" cy="228600"/>
          </a:xfrm>
          <a:custGeom>
            <a:avLst/>
            <a:gdLst/>
            <a:ahLst/>
            <a:cxnLst/>
            <a:rect l="l" t="t" r="r" b="b"/>
            <a:pathLst>
              <a:path w="285750" h="228600">
                <a:moveTo>
                  <a:pt x="185693" y="93985"/>
                </a:moveTo>
                <a:cubicBezTo>
                  <a:pt x="191140" y="92512"/>
                  <a:pt x="196855" y="95101"/>
                  <a:pt x="199311" y="100146"/>
                </a:cubicBezTo>
                <a:lnTo>
                  <a:pt x="207615" y="116934"/>
                </a:lnTo>
                <a:cubicBezTo>
                  <a:pt x="212214" y="117559"/>
                  <a:pt x="216724" y="118809"/>
                  <a:pt x="220965" y="120551"/>
                </a:cubicBezTo>
                <a:lnTo>
                  <a:pt x="236592" y="110148"/>
                </a:lnTo>
                <a:cubicBezTo>
                  <a:pt x="241280" y="107022"/>
                  <a:pt x="247486" y="107647"/>
                  <a:pt x="251460" y="111621"/>
                </a:cubicBezTo>
                <a:lnTo>
                  <a:pt x="260033" y="120194"/>
                </a:lnTo>
                <a:cubicBezTo>
                  <a:pt x="264006" y="124167"/>
                  <a:pt x="264631" y="130418"/>
                  <a:pt x="261506" y="135062"/>
                </a:cubicBezTo>
                <a:lnTo>
                  <a:pt x="251103" y="150644"/>
                </a:lnTo>
                <a:cubicBezTo>
                  <a:pt x="251951" y="152742"/>
                  <a:pt x="252710" y="154930"/>
                  <a:pt x="253335" y="157207"/>
                </a:cubicBezTo>
                <a:cubicBezTo>
                  <a:pt x="253960" y="159484"/>
                  <a:pt x="254362" y="161717"/>
                  <a:pt x="254675" y="163994"/>
                </a:cubicBezTo>
                <a:lnTo>
                  <a:pt x="271507" y="172298"/>
                </a:lnTo>
                <a:cubicBezTo>
                  <a:pt x="276552" y="174799"/>
                  <a:pt x="279142" y="180514"/>
                  <a:pt x="277669" y="185916"/>
                </a:cubicBezTo>
                <a:lnTo>
                  <a:pt x="274543" y="197614"/>
                </a:lnTo>
                <a:cubicBezTo>
                  <a:pt x="273070" y="203016"/>
                  <a:pt x="268025" y="206678"/>
                  <a:pt x="262399" y="206320"/>
                </a:cubicBezTo>
                <a:lnTo>
                  <a:pt x="243647" y="205115"/>
                </a:lnTo>
                <a:cubicBezTo>
                  <a:pt x="240834" y="208731"/>
                  <a:pt x="237574" y="212080"/>
                  <a:pt x="233869" y="214938"/>
                </a:cubicBezTo>
                <a:lnTo>
                  <a:pt x="235074" y="233645"/>
                </a:lnTo>
                <a:cubicBezTo>
                  <a:pt x="235431" y="239271"/>
                  <a:pt x="231770" y="244361"/>
                  <a:pt x="226368" y="245790"/>
                </a:cubicBezTo>
                <a:lnTo>
                  <a:pt x="214670" y="248915"/>
                </a:lnTo>
                <a:cubicBezTo>
                  <a:pt x="209223" y="250388"/>
                  <a:pt x="203552" y="247799"/>
                  <a:pt x="201052" y="242754"/>
                </a:cubicBezTo>
                <a:lnTo>
                  <a:pt x="192747" y="225966"/>
                </a:lnTo>
                <a:cubicBezTo>
                  <a:pt x="188149" y="225341"/>
                  <a:pt x="183639" y="224091"/>
                  <a:pt x="179397" y="222349"/>
                </a:cubicBezTo>
                <a:lnTo>
                  <a:pt x="163770" y="232752"/>
                </a:lnTo>
                <a:cubicBezTo>
                  <a:pt x="159082" y="235878"/>
                  <a:pt x="152876" y="235253"/>
                  <a:pt x="148903" y="231279"/>
                </a:cubicBezTo>
                <a:lnTo>
                  <a:pt x="140330" y="222706"/>
                </a:lnTo>
                <a:cubicBezTo>
                  <a:pt x="136356" y="218733"/>
                  <a:pt x="135731" y="212527"/>
                  <a:pt x="138857" y="207838"/>
                </a:cubicBezTo>
                <a:lnTo>
                  <a:pt x="149260" y="192212"/>
                </a:lnTo>
                <a:cubicBezTo>
                  <a:pt x="148411" y="190113"/>
                  <a:pt x="147652" y="187925"/>
                  <a:pt x="147027" y="185648"/>
                </a:cubicBezTo>
                <a:cubicBezTo>
                  <a:pt x="146402" y="183371"/>
                  <a:pt x="146000" y="181094"/>
                  <a:pt x="145688" y="178862"/>
                </a:cubicBezTo>
                <a:lnTo>
                  <a:pt x="128855" y="170557"/>
                </a:lnTo>
                <a:cubicBezTo>
                  <a:pt x="123810" y="168057"/>
                  <a:pt x="121265" y="162342"/>
                  <a:pt x="122694" y="156939"/>
                </a:cubicBezTo>
                <a:lnTo>
                  <a:pt x="125819" y="145241"/>
                </a:lnTo>
                <a:cubicBezTo>
                  <a:pt x="127293" y="139839"/>
                  <a:pt x="132338" y="136178"/>
                  <a:pt x="137964" y="136535"/>
                </a:cubicBezTo>
                <a:lnTo>
                  <a:pt x="156671" y="137740"/>
                </a:lnTo>
                <a:cubicBezTo>
                  <a:pt x="159484" y="134124"/>
                  <a:pt x="162744" y="130775"/>
                  <a:pt x="166449" y="127918"/>
                </a:cubicBezTo>
                <a:lnTo>
                  <a:pt x="165244" y="109255"/>
                </a:lnTo>
                <a:cubicBezTo>
                  <a:pt x="164887" y="103629"/>
                  <a:pt x="168548" y="98539"/>
                  <a:pt x="173950" y="97110"/>
                </a:cubicBezTo>
                <a:lnTo>
                  <a:pt x="185648" y="93985"/>
                </a:lnTo>
                <a:close/>
                <a:moveTo>
                  <a:pt x="200204" y="151805"/>
                </a:moveTo>
                <a:cubicBezTo>
                  <a:pt x="189361" y="151817"/>
                  <a:pt x="180568" y="160630"/>
                  <a:pt x="180581" y="171472"/>
                </a:cubicBezTo>
                <a:cubicBezTo>
                  <a:pt x="180593" y="182315"/>
                  <a:pt x="189406" y="191108"/>
                  <a:pt x="200248" y="191095"/>
                </a:cubicBezTo>
                <a:cubicBezTo>
                  <a:pt x="211091" y="191083"/>
                  <a:pt x="219884" y="182270"/>
                  <a:pt x="219871" y="171428"/>
                </a:cubicBezTo>
                <a:cubicBezTo>
                  <a:pt x="219859" y="160585"/>
                  <a:pt x="211046" y="151792"/>
                  <a:pt x="200204" y="151805"/>
                </a:cubicBezTo>
                <a:close/>
                <a:moveTo>
                  <a:pt x="100414" y="-20315"/>
                </a:moveTo>
                <a:lnTo>
                  <a:pt x="112112" y="-17190"/>
                </a:lnTo>
                <a:cubicBezTo>
                  <a:pt x="117515" y="-15716"/>
                  <a:pt x="121176" y="-10626"/>
                  <a:pt x="120819" y="-5045"/>
                </a:cubicBezTo>
                <a:lnTo>
                  <a:pt x="119613" y="13618"/>
                </a:lnTo>
                <a:cubicBezTo>
                  <a:pt x="123319" y="16475"/>
                  <a:pt x="126578" y="19779"/>
                  <a:pt x="129391" y="23440"/>
                </a:cubicBezTo>
                <a:lnTo>
                  <a:pt x="148144" y="22235"/>
                </a:lnTo>
                <a:cubicBezTo>
                  <a:pt x="153725" y="21878"/>
                  <a:pt x="158814" y="25539"/>
                  <a:pt x="160288" y="30941"/>
                </a:cubicBezTo>
                <a:lnTo>
                  <a:pt x="163413" y="42639"/>
                </a:lnTo>
                <a:cubicBezTo>
                  <a:pt x="164842" y="48042"/>
                  <a:pt x="162297" y="53757"/>
                  <a:pt x="157252" y="56257"/>
                </a:cubicBezTo>
                <a:lnTo>
                  <a:pt x="140419" y="64562"/>
                </a:lnTo>
                <a:cubicBezTo>
                  <a:pt x="140107" y="66839"/>
                  <a:pt x="139660" y="69116"/>
                  <a:pt x="139080" y="71348"/>
                </a:cubicBezTo>
                <a:cubicBezTo>
                  <a:pt x="138499" y="73581"/>
                  <a:pt x="137696" y="75813"/>
                  <a:pt x="136847" y="77912"/>
                </a:cubicBezTo>
                <a:lnTo>
                  <a:pt x="147251" y="93538"/>
                </a:lnTo>
                <a:cubicBezTo>
                  <a:pt x="150376" y="98227"/>
                  <a:pt x="149751" y="104433"/>
                  <a:pt x="145777" y="108406"/>
                </a:cubicBezTo>
                <a:lnTo>
                  <a:pt x="137205" y="116979"/>
                </a:lnTo>
                <a:cubicBezTo>
                  <a:pt x="133231" y="120953"/>
                  <a:pt x="127025" y="121578"/>
                  <a:pt x="122337" y="118452"/>
                </a:cubicBezTo>
                <a:lnTo>
                  <a:pt x="106710" y="108049"/>
                </a:lnTo>
                <a:cubicBezTo>
                  <a:pt x="102468" y="109791"/>
                  <a:pt x="97959" y="111041"/>
                  <a:pt x="93360" y="111666"/>
                </a:cubicBezTo>
                <a:lnTo>
                  <a:pt x="85055" y="128454"/>
                </a:lnTo>
                <a:cubicBezTo>
                  <a:pt x="82555" y="133499"/>
                  <a:pt x="76840" y="136044"/>
                  <a:pt x="71438" y="134615"/>
                </a:cubicBezTo>
                <a:lnTo>
                  <a:pt x="59740" y="131490"/>
                </a:lnTo>
                <a:cubicBezTo>
                  <a:pt x="54293" y="130016"/>
                  <a:pt x="50676" y="124926"/>
                  <a:pt x="51033" y="119345"/>
                </a:cubicBezTo>
                <a:lnTo>
                  <a:pt x="52239" y="100638"/>
                </a:lnTo>
                <a:cubicBezTo>
                  <a:pt x="48533" y="97780"/>
                  <a:pt x="45274" y="94476"/>
                  <a:pt x="42461" y="90815"/>
                </a:cubicBezTo>
                <a:lnTo>
                  <a:pt x="23708" y="92020"/>
                </a:lnTo>
                <a:cubicBezTo>
                  <a:pt x="18127" y="92378"/>
                  <a:pt x="13037" y="88716"/>
                  <a:pt x="11564" y="83314"/>
                </a:cubicBezTo>
                <a:lnTo>
                  <a:pt x="8439" y="71616"/>
                </a:lnTo>
                <a:cubicBezTo>
                  <a:pt x="7010" y="66214"/>
                  <a:pt x="9555" y="60499"/>
                  <a:pt x="14600" y="57998"/>
                </a:cubicBezTo>
                <a:lnTo>
                  <a:pt x="31433" y="49694"/>
                </a:lnTo>
                <a:cubicBezTo>
                  <a:pt x="31745" y="47417"/>
                  <a:pt x="32192" y="45184"/>
                  <a:pt x="32772" y="42907"/>
                </a:cubicBezTo>
                <a:cubicBezTo>
                  <a:pt x="33397" y="40630"/>
                  <a:pt x="34111" y="38442"/>
                  <a:pt x="35004" y="36344"/>
                </a:cubicBezTo>
                <a:lnTo>
                  <a:pt x="24601" y="20762"/>
                </a:lnTo>
                <a:cubicBezTo>
                  <a:pt x="21476" y="16073"/>
                  <a:pt x="22101" y="9867"/>
                  <a:pt x="26075" y="5894"/>
                </a:cubicBezTo>
                <a:lnTo>
                  <a:pt x="34647" y="-2679"/>
                </a:lnTo>
                <a:cubicBezTo>
                  <a:pt x="38621" y="-6653"/>
                  <a:pt x="44827" y="-7278"/>
                  <a:pt x="49515" y="-4152"/>
                </a:cubicBezTo>
                <a:lnTo>
                  <a:pt x="65142" y="6251"/>
                </a:lnTo>
                <a:cubicBezTo>
                  <a:pt x="69384" y="4509"/>
                  <a:pt x="73893" y="3259"/>
                  <a:pt x="78492" y="2634"/>
                </a:cubicBezTo>
                <a:lnTo>
                  <a:pt x="86797" y="-14154"/>
                </a:lnTo>
                <a:cubicBezTo>
                  <a:pt x="89297" y="-19199"/>
                  <a:pt x="94967" y="-21744"/>
                  <a:pt x="100414" y="-20315"/>
                </a:cubicBezTo>
                <a:close/>
                <a:moveTo>
                  <a:pt x="85904" y="37505"/>
                </a:moveTo>
                <a:cubicBezTo>
                  <a:pt x="75061" y="37505"/>
                  <a:pt x="66258" y="46307"/>
                  <a:pt x="66258" y="57150"/>
                </a:cubicBezTo>
                <a:cubicBezTo>
                  <a:pt x="66258" y="67993"/>
                  <a:pt x="75061" y="76795"/>
                  <a:pt x="85904" y="76795"/>
                </a:cubicBezTo>
                <a:cubicBezTo>
                  <a:pt x="96746" y="76795"/>
                  <a:pt x="105549" y="67993"/>
                  <a:pt x="105549" y="57150"/>
                </a:cubicBezTo>
                <a:cubicBezTo>
                  <a:pt x="105549" y="46307"/>
                  <a:pt x="96746" y="37505"/>
                  <a:pt x="85904" y="37505"/>
                </a:cubicBezTo>
                <a:close/>
              </a:path>
            </a:pathLst>
          </a:custGeom>
          <a:solidFill>
            <a:srgbClr val="E8E8E8"/>
          </a:solidFill>
          <a:ln/>
        </p:spPr>
      </p:sp>
      <p:sp>
        <p:nvSpPr>
          <p:cNvPr id="18" name="Text 16"/>
          <p:cNvSpPr/>
          <p:nvPr/>
        </p:nvSpPr>
        <p:spPr>
          <a:xfrm>
            <a:off x="5899150" y="2921000"/>
            <a:ext cx="19431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fr-FR" sz="1600" b="1" smtClean="0">
                <a:solidFill>
                  <a:srgbClr val="E8E8E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Moteur Fort Couple</a:t>
            </a:r>
            <a:endParaRPr lang="fr-FR" sz="1600" dirty="0"/>
          </a:p>
        </p:txBody>
      </p:sp>
      <p:sp>
        <p:nvSpPr>
          <p:cNvPr id="19" name="Text 17"/>
          <p:cNvSpPr/>
          <p:nvPr/>
        </p:nvSpPr>
        <p:spPr>
          <a:xfrm>
            <a:off x="5238750" y="3429000"/>
            <a:ext cx="4191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fr-FR" sz="1600" smtClean="0">
                <a:solidFill>
                  <a:srgbClr val="7D8A9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Plage : 20 - 200 Nm</a:t>
            </a:r>
            <a:endParaRPr lang="fr-FR" sz="1600" dirty="0"/>
          </a:p>
        </p:txBody>
      </p:sp>
      <p:sp>
        <p:nvSpPr>
          <p:cNvPr id="20" name="Text 18"/>
          <p:cNvSpPr/>
          <p:nvPr/>
        </p:nvSpPr>
        <p:spPr>
          <a:xfrm>
            <a:off x="5238750" y="3784600"/>
            <a:ext cx="41783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fr-FR" sz="1400" smtClean="0">
                <a:solidFill>
                  <a:srgbClr val="7D8A9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Couples élevés</a:t>
            </a:r>
            <a:endParaRPr lang="fr-FR" sz="1600" dirty="0"/>
          </a:p>
        </p:txBody>
      </p:sp>
      <p:sp>
        <p:nvSpPr>
          <p:cNvPr id="21" name="Shape 19"/>
          <p:cNvSpPr/>
          <p:nvPr/>
        </p:nvSpPr>
        <p:spPr>
          <a:xfrm>
            <a:off x="508000" y="4362450"/>
            <a:ext cx="8978900" cy="1231900"/>
          </a:xfrm>
          <a:custGeom>
            <a:avLst/>
            <a:gdLst/>
            <a:ahLst/>
            <a:cxnLst/>
            <a:rect l="l" t="t" r="r" b="b"/>
            <a:pathLst>
              <a:path w="8978900" h="1231900">
                <a:moveTo>
                  <a:pt x="101595" y="0"/>
                </a:moveTo>
                <a:lnTo>
                  <a:pt x="8877305" y="0"/>
                </a:lnTo>
                <a:cubicBezTo>
                  <a:pt x="8933414" y="0"/>
                  <a:pt x="8978900" y="45486"/>
                  <a:pt x="8978900" y="101595"/>
                </a:cubicBezTo>
                <a:lnTo>
                  <a:pt x="8978900" y="1130305"/>
                </a:lnTo>
                <a:cubicBezTo>
                  <a:pt x="8978900" y="1186414"/>
                  <a:pt x="8933414" y="1231900"/>
                  <a:pt x="8877305" y="1231900"/>
                </a:cubicBezTo>
                <a:lnTo>
                  <a:pt x="101595" y="1231900"/>
                </a:lnTo>
                <a:cubicBezTo>
                  <a:pt x="45486" y="1231900"/>
                  <a:pt x="0" y="1186414"/>
                  <a:pt x="0" y="1130305"/>
                </a:cubicBezTo>
                <a:lnTo>
                  <a:pt x="0" y="101595"/>
                </a:lnTo>
                <a:cubicBezTo>
                  <a:pt x="0" y="45523"/>
                  <a:pt x="45523" y="0"/>
                  <a:pt x="101595" y="0"/>
                </a:cubicBezTo>
                <a:close/>
              </a:path>
            </a:pathLst>
          </a:custGeom>
          <a:solidFill>
            <a:srgbClr val="4A6C8C">
              <a:alpha val="10196"/>
            </a:srgbClr>
          </a:solidFill>
          <a:ln w="12700">
            <a:solidFill>
              <a:srgbClr val="4A6C8C">
                <a:alpha val="30196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66750" y="4521200"/>
            <a:ext cx="508000" cy="508000"/>
          </a:xfrm>
          <a:custGeom>
            <a:avLst/>
            <a:gdLst/>
            <a:ahLst/>
            <a:cxnLst/>
            <a:rect l="l" t="t" r="r" b="b"/>
            <a:pathLst>
              <a:path w="508000" h="508000">
                <a:moveTo>
                  <a:pt x="50800" y="0"/>
                </a:moveTo>
                <a:lnTo>
                  <a:pt x="457200" y="0"/>
                </a:lnTo>
                <a:cubicBezTo>
                  <a:pt x="485237" y="0"/>
                  <a:pt x="508000" y="22763"/>
                  <a:pt x="508000" y="50800"/>
                </a:cubicBezTo>
                <a:lnTo>
                  <a:pt x="508000" y="457200"/>
                </a:lnTo>
                <a:cubicBezTo>
                  <a:pt x="508000" y="485237"/>
                  <a:pt x="485237" y="508000"/>
                  <a:pt x="457200" y="508000"/>
                </a:cubicBezTo>
                <a:lnTo>
                  <a:pt x="50800" y="508000"/>
                </a:lnTo>
                <a:cubicBezTo>
                  <a:pt x="22763" y="508000"/>
                  <a:pt x="0" y="485237"/>
                  <a:pt x="0" y="457200"/>
                </a:cubicBezTo>
                <a:lnTo>
                  <a:pt x="0" y="50800"/>
                </a:lnTo>
                <a:cubicBezTo>
                  <a:pt x="0" y="22763"/>
                  <a:pt x="22763" y="0"/>
                  <a:pt x="50800" y="0"/>
                </a:cubicBezTo>
                <a:close/>
              </a:path>
            </a:pathLst>
          </a:custGeom>
          <a:solidFill>
            <a:srgbClr val="E89F5B"/>
          </a:solidFill>
          <a:ln/>
        </p:spPr>
      </p:sp>
      <p:sp>
        <p:nvSpPr>
          <p:cNvPr id="23" name="Shape 21"/>
          <p:cNvSpPr/>
          <p:nvPr/>
        </p:nvSpPr>
        <p:spPr>
          <a:xfrm>
            <a:off x="809625" y="46609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224403" y="181541"/>
                </a:moveTo>
                <a:lnTo>
                  <a:pt x="181541" y="224403"/>
                </a:lnTo>
                <a:cubicBezTo>
                  <a:pt x="177433" y="228511"/>
                  <a:pt x="171316" y="229716"/>
                  <a:pt x="165958" y="227484"/>
                </a:cubicBezTo>
                <a:cubicBezTo>
                  <a:pt x="160600" y="225251"/>
                  <a:pt x="157163" y="220072"/>
                  <a:pt x="157163" y="214313"/>
                </a:cubicBezTo>
                <a:lnTo>
                  <a:pt x="157163" y="185738"/>
                </a:lnTo>
                <a:lnTo>
                  <a:pt x="14288" y="185738"/>
                </a:lnTo>
                <a:cubicBezTo>
                  <a:pt x="6385" y="185738"/>
                  <a:pt x="0" y="179353"/>
                  <a:pt x="0" y="171450"/>
                </a:cubicBezTo>
                <a:cubicBezTo>
                  <a:pt x="0" y="163547"/>
                  <a:pt x="6385" y="157163"/>
                  <a:pt x="14288" y="157163"/>
                </a:cubicBezTo>
                <a:lnTo>
                  <a:pt x="157163" y="157163"/>
                </a:lnTo>
                <a:lnTo>
                  <a:pt x="157163" y="128588"/>
                </a:lnTo>
                <a:cubicBezTo>
                  <a:pt x="157163" y="122828"/>
                  <a:pt x="160645" y="117604"/>
                  <a:pt x="166003" y="115372"/>
                </a:cubicBezTo>
                <a:cubicBezTo>
                  <a:pt x="171361" y="113139"/>
                  <a:pt x="177478" y="114389"/>
                  <a:pt x="181585" y="118452"/>
                </a:cubicBezTo>
                <a:lnTo>
                  <a:pt x="224448" y="161315"/>
                </a:lnTo>
                <a:cubicBezTo>
                  <a:pt x="230029" y="166896"/>
                  <a:pt x="230029" y="175959"/>
                  <a:pt x="224448" y="181541"/>
                </a:cubicBezTo>
                <a:close/>
                <a:moveTo>
                  <a:pt x="4197" y="67241"/>
                </a:moveTo>
                <a:cubicBezTo>
                  <a:pt x="-1384" y="61659"/>
                  <a:pt x="-1384" y="52596"/>
                  <a:pt x="4197" y="47015"/>
                </a:cubicBezTo>
                <a:lnTo>
                  <a:pt x="47059" y="4152"/>
                </a:lnTo>
                <a:cubicBezTo>
                  <a:pt x="51167" y="45"/>
                  <a:pt x="57284" y="-1161"/>
                  <a:pt x="62642" y="1072"/>
                </a:cubicBezTo>
                <a:cubicBezTo>
                  <a:pt x="68000" y="3304"/>
                  <a:pt x="71438" y="8528"/>
                  <a:pt x="71438" y="14288"/>
                </a:cubicBezTo>
                <a:lnTo>
                  <a:pt x="71438" y="42863"/>
                </a:lnTo>
                <a:lnTo>
                  <a:pt x="214313" y="42863"/>
                </a:lnTo>
                <a:cubicBezTo>
                  <a:pt x="222215" y="42863"/>
                  <a:pt x="228600" y="49247"/>
                  <a:pt x="228600" y="57150"/>
                </a:cubicBezTo>
                <a:cubicBezTo>
                  <a:pt x="228600" y="65053"/>
                  <a:pt x="222215" y="71438"/>
                  <a:pt x="214313" y="71438"/>
                </a:cubicBezTo>
                <a:lnTo>
                  <a:pt x="71438" y="71438"/>
                </a:lnTo>
                <a:lnTo>
                  <a:pt x="71438" y="100013"/>
                </a:lnTo>
                <a:cubicBezTo>
                  <a:pt x="71438" y="105772"/>
                  <a:pt x="67955" y="110996"/>
                  <a:pt x="62597" y="113228"/>
                </a:cubicBezTo>
                <a:cubicBezTo>
                  <a:pt x="57239" y="115461"/>
                  <a:pt x="51122" y="114211"/>
                  <a:pt x="47015" y="110148"/>
                </a:cubicBezTo>
                <a:lnTo>
                  <a:pt x="4152" y="67285"/>
                </a:lnTo>
                <a:close/>
              </a:path>
            </a:pathLst>
          </a:custGeom>
          <a:solidFill>
            <a:srgbClr val="1A1D21"/>
          </a:solidFill>
          <a:ln/>
        </p:spPr>
      </p:sp>
      <p:sp>
        <p:nvSpPr>
          <p:cNvPr id="24" name="Text 22"/>
          <p:cNvSpPr/>
          <p:nvPr/>
        </p:nvSpPr>
        <p:spPr>
          <a:xfrm>
            <a:off x="1327150" y="4597400"/>
            <a:ext cx="18161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fr-FR" sz="1800" b="1" smtClean="0">
                <a:solidFill>
                  <a:srgbClr val="E8E8E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Vérin Électrique</a:t>
            </a:r>
            <a:endParaRPr lang="fr-FR" sz="1600" dirty="0"/>
          </a:p>
        </p:txBody>
      </p:sp>
      <p:sp>
        <p:nvSpPr>
          <p:cNvPr id="25" name="Text 23"/>
          <p:cNvSpPr/>
          <p:nvPr/>
        </p:nvSpPr>
        <p:spPr>
          <a:xfrm>
            <a:off x="666750" y="5130800"/>
            <a:ext cx="876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fr-FR" sz="1600" smtClean="0">
                <a:solidFill>
                  <a:srgbClr val="7D8A9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Positionnement butée : 3 positions (AV, MIL, AR) avec fins de course</a:t>
            </a:r>
            <a:endParaRPr lang="fr-FR" sz="1600" dirty="0"/>
          </a:p>
        </p:txBody>
      </p:sp>
      <p:sp>
        <p:nvSpPr>
          <p:cNvPr id="26" name="Shape 24"/>
          <p:cNvSpPr/>
          <p:nvPr/>
        </p:nvSpPr>
        <p:spPr>
          <a:xfrm>
            <a:off x="508000" y="5759450"/>
            <a:ext cx="4406900" cy="1181100"/>
          </a:xfrm>
          <a:custGeom>
            <a:avLst/>
            <a:gdLst/>
            <a:ahLst/>
            <a:cxnLst/>
            <a:rect l="l" t="t" r="r" b="b"/>
            <a:pathLst>
              <a:path w="4406900" h="1181100">
                <a:moveTo>
                  <a:pt x="101598" y="0"/>
                </a:moveTo>
                <a:lnTo>
                  <a:pt x="4305302" y="0"/>
                </a:lnTo>
                <a:cubicBezTo>
                  <a:pt x="4361413" y="0"/>
                  <a:pt x="4406900" y="45487"/>
                  <a:pt x="4406900" y="101598"/>
                </a:cubicBezTo>
                <a:lnTo>
                  <a:pt x="4406900" y="1079502"/>
                </a:lnTo>
                <a:cubicBezTo>
                  <a:pt x="4406900" y="1135613"/>
                  <a:pt x="4361413" y="1181100"/>
                  <a:pt x="4305302" y="1181100"/>
                </a:cubicBezTo>
                <a:lnTo>
                  <a:pt x="101598" y="1181100"/>
                </a:lnTo>
                <a:cubicBezTo>
                  <a:pt x="45487" y="1181100"/>
                  <a:pt x="0" y="1135613"/>
                  <a:pt x="0" y="1079502"/>
                </a:cubicBezTo>
                <a:lnTo>
                  <a:pt x="0" y="101598"/>
                </a:lnTo>
                <a:cubicBezTo>
                  <a:pt x="0" y="45525"/>
                  <a:pt x="45525" y="0"/>
                  <a:pt x="101598" y="0"/>
                </a:cubicBezTo>
                <a:close/>
              </a:path>
            </a:pathLst>
          </a:custGeom>
          <a:solidFill>
            <a:srgbClr val="4A6C8C">
              <a:alpha val="10196"/>
            </a:srgbClr>
          </a:solidFill>
          <a:ln w="12700">
            <a:solidFill>
              <a:srgbClr val="4A6C8C">
                <a:alpha val="30196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66750" y="5918200"/>
            <a:ext cx="508000" cy="508000"/>
          </a:xfrm>
          <a:custGeom>
            <a:avLst/>
            <a:gdLst/>
            <a:ahLst/>
            <a:cxnLst/>
            <a:rect l="l" t="t" r="r" b="b"/>
            <a:pathLst>
              <a:path w="508000" h="508000">
                <a:moveTo>
                  <a:pt x="50800" y="0"/>
                </a:moveTo>
                <a:lnTo>
                  <a:pt x="457200" y="0"/>
                </a:lnTo>
                <a:cubicBezTo>
                  <a:pt x="485237" y="0"/>
                  <a:pt x="508000" y="22763"/>
                  <a:pt x="508000" y="50800"/>
                </a:cubicBezTo>
                <a:lnTo>
                  <a:pt x="508000" y="457200"/>
                </a:lnTo>
                <a:cubicBezTo>
                  <a:pt x="508000" y="485237"/>
                  <a:pt x="485237" y="508000"/>
                  <a:pt x="457200" y="508000"/>
                </a:cubicBezTo>
                <a:lnTo>
                  <a:pt x="50800" y="508000"/>
                </a:lnTo>
                <a:cubicBezTo>
                  <a:pt x="22763" y="508000"/>
                  <a:pt x="0" y="485237"/>
                  <a:pt x="0" y="457200"/>
                </a:cubicBezTo>
                <a:lnTo>
                  <a:pt x="0" y="50800"/>
                </a:lnTo>
                <a:cubicBezTo>
                  <a:pt x="0" y="22763"/>
                  <a:pt x="22763" y="0"/>
                  <a:pt x="50800" y="0"/>
                </a:cubicBezTo>
                <a:close/>
              </a:path>
            </a:pathLst>
          </a:custGeom>
          <a:solidFill>
            <a:srgbClr val="4A6C8C"/>
          </a:solidFill>
          <a:ln/>
        </p:spPr>
      </p:sp>
      <p:sp>
        <p:nvSpPr>
          <p:cNvPr id="28" name="Shape 26"/>
          <p:cNvSpPr/>
          <p:nvPr/>
        </p:nvSpPr>
        <p:spPr>
          <a:xfrm>
            <a:off x="809625" y="60579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28575" y="42863"/>
                </a:moveTo>
                <a:cubicBezTo>
                  <a:pt x="28575" y="34960"/>
                  <a:pt x="34960" y="28575"/>
                  <a:pt x="42863" y="28575"/>
                </a:cubicBezTo>
                <a:lnTo>
                  <a:pt x="114300" y="28575"/>
                </a:lnTo>
                <a:cubicBezTo>
                  <a:pt x="122203" y="28575"/>
                  <a:pt x="128588" y="34960"/>
                  <a:pt x="128588" y="42863"/>
                </a:cubicBezTo>
                <a:lnTo>
                  <a:pt x="128588" y="171450"/>
                </a:lnTo>
                <a:lnTo>
                  <a:pt x="171450" y="171450"/>
                </a:lnTo>
                <a:lnTo>
                  <a:pt x="171450" y="114300"/>
                </a:lnTo>
                <a:cubicBezTo>
                  <a:pt x="171450" y="106397"/>
                  <a:pt x="177835" y="100013"/>
                  <a:pt x="185738" y="100013"/>
                </a:cubicBezTo>
                <a:lnTo>
                  <a:pt x="214313" y="100013"/>
                </a:lnTo>
                <a:cubicBezTo>
                  <a:pt x="222215" y="100013"/>
                  <a:pt x="228600" y="106397"/>
                  <a:pt x="228600" y="114300"/>
                </a:cubicBezTo>
                <a:cubicBezTo>
                  <a:pt x="228600" y="122203"/>
                  <a:pt x="222215" y="128588"/>
                  <a:pt x="214313" y="128588"/>
                </a:cubicBezTo>
                <a:lnTo>
                  <a:pt x="200025" y="128588"/>
                </a:lnTo>
                <a:lnTo>
                  <a:pt x="200025" y="185738"/>
                </a:lnTo>
                <a:cubicBezTo>
                  <a:pt x="200025" y="193640"/>
                  <a:pt x="193640" y="200025"/>
                  <a:pt x="185738" y="200025"/>
                </a:cubicBezTo>
                <a:lnTo>
                  <a:pt x="114300" y="200025"/>
                </a:lnTo>
                <a:cubicBezTo>
                  <a:pt x="106397" y="200025"/>
                  <a:pt x="100013" y="193640"/>
                  <a:pt x="100013" y="185738"/>
                </a:cubicBezTo>
                <a:lnTo>
                  <a:pt x="100013" y="57150"/>
                </a:lnTo>
                <a:lnTo>
                  <a:pt x="57150" y="57150"/>
                </a:lnTo>
                <a:lnTo>
                  <a:pt x="57150" y="114300"/>
                </a:lnTo>
                <a:cubicBezTo>
                  <a:pt x="57150" y="122203"/>
                  <a:pt x="50765" y="128588"/>
                  <a:pt x="42863" y="128588"/>
                </a:cubicBezTo>
                <a:lnTo>
                  <a:pt x="14288" y="128588"/>
                </a:lnTo>
                <a:cubicBezTo>
                  <a:pt x="6385" y="128588"/>
                  <a:pt x="0" y="122203"/>
                  <a:pt x="0" y="114300"/>
                </a:cubicBezTo>
                <a:cubicBezTo>
                  <a:pt x="0" y="106397"/>
                  <a:pt x="6385" y="100013"/>
                  <a:pt x="14288" y="100013"/>
                </a:cubicBezTo>
                <a:lnTo>
                  <a:pt x="28575" y="100013"/>
                </a:lnTo>
                <a:lnTo>
                  <a:pt x="28575" y="42863"/>
                </a:lnTo>
                <a:close/>
              </a:path>
            </a:pathLst>
          </a:custGeom>
          <a:solidFill>
            <a:srgbClr val="E8E8E8"/>
          </a:solidFill>
          <a:ln/>
        </p:spPr>
      </p:sp>
      <p:sp>
        <p:nvSpPr>
          <p:cNvPr id="29" name="Text 27"/>
          <p:cNvSpPr/>
          <p:nvPr/>
        </p:nvSpPr>
        <p:spPr>
          <a:xfrm>
            <a:off x="1327150" y="6019800"/>
            <a:ext cx="14224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fr-FR" sz="1600" b="1" smtClean="0">
                <a:solidFill>
                  <a:srgbClr val="E8E8E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Capteurs TOR</a:t>
            </a:r>
            <a:endParaRPr lang="fr-FR" sz="1600" dirty="0"/>
          </a:p>
        </p:txBody>
      </p:sp>
      <p:sp>
        <p:nvSpPr>
          <p:cNvPr id="30" name="Text 28"/>
          <p:cNvSpPr/>
          <p:nvPr/>
        </p:nvSpPr>
        <p:spPr>
          <a:xfrm>
            <a:off x="666750" y="6527800"/>
            <a:ext cx="41783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fr-FR" sz="1400" smtClean="0">
                <a:solidFill>
                  <a:srgbClr val="7D8A9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Capot, AU, présence clé, FDC, température</a:t>
            </a:r>
            <a:endParaRPr lang="fr-FR" sz="1600" dirty="0"/>
          </a:p>
        </p:txBody>
      </p:sp>
      <p:sp>
        <p:nvSpPr>
          <p:cNvPr id="31" name="Shape 29"/>
          <p:cNvSpPr/>
          <p:nvPr/>
        </p:nvSpPr>
        <p:spPr>
          <a:xfrm>
            <a:off x="5080000" y="5759450"/>
            <a:ext cx="4406900" cy="1181100"/>
          </a:xfrm>
          <a:custGeom>
            <a:avLst/>
            <a:gdLst/>
            <a:ahLst/>
            <a:cxnLst/>
            <a:rect l="l" t="t" r="r" b="b"/>
            <a:pathLst>
              <a:path w="4406900" h="1181100">
                <a:moveTo>
                  <a:pt x="101598" y="0"/>
                </a:moveTo>
                <a:lnTo>
                  <a:pt x="4305302" y="0"/>
                </a:lnTo>
                <a:cubicBezTo>
                  <a:pt x="4361413" y="0"/>
                  <a:pt x="4406900" y="45487"/>
                  <a:pt x="4406900" y="101598"/>
                </a:cubicBezTo>
                <a:lnTo>
                  <a:pt x="4406900" y="1079502"/>
                </a:lnTo>
                <a:cubicBezTo>
                  <a:pt x="4406900" y="1135613"/>
                  <a:pt x="4361413" y="1181100"/>
                  <a:pt x="4305302" y="1181100"/>
                </a:cubicBezTo>
                <a:lnTo>
                  <a:pt x="101598" y="1181100"/>
                </a:lnTo>
                <a:cubicBezTo>
                  <a:pt x="45487" y="1181100"/>
                  <a:pt x="0" y="1135613"/>
                  <a:pt x="0" y="1079502"/>
                </a:cubicBezTo>
                <a:lnTo>
                  <a:pt x="0" y="101598"/>
                </a:lnTo>
                <a:cubicBezTo>
                  <a:pt x="0" y="45525"/>
                  <a:pt x="45525" y="0"/>
                  <a:pt x="101598" y="0"/>
                </a:cubicBezTo>
                <a:close/>
              </a:path>
            </a:pathLst>
          </a:custGeom>
          <a:solidFill>
            <a:srgbClr val="4A6C8C">
              <a:alpha val="10196"/>
            </a:srgbClr>
          </a:solidFill>
          <a:ln w="12700">
            <a:solidFill>
              <a:srgbClr val="4A6C8C">
                <a:alpha val="30196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238750" y="5918200"/>
            <a:ext cx="508000" cy="508000"/>
          </a:xfrm>
          <a:custGeom>
            <a:avLst/>
            <a:gdLst/>
            <a:ahLst/>
            <a:cxnLst/>
            <a:rect l="l" t="t" r="r" b="b"/>
            <a:pathLst>
              <a:path w="508000" h="508000">
                <a:moveTo>
                  <a:pt x="50800" y="0"/>
                </a:moveTo>
                <a:lnTo>
                  <a:pt x="457200" y="0"/>
                </a:lnTo>
                <a:cubicBezTo>
                  <a:pt x="485237" y="0"/>
                  <a:pt x="508000" y="22763"/>
                  <a:pt x="508000" y="50800"/>
                </a:cubicBezTo>
                <a:lnTo>
                  <a:pt x="508000" y="457200"/>
                </a:lnTo>
                <a:cubicBezTo>
                  <a:pt x="508000" y="485237"/>
                  <a:pt x="485237" y="508000"/>
                  <a:pt x="457200" y="508000"/>
                </a:cubicBezTo>
                <a:lnTo>
                  <a:pt x="50800" y="508000"/>
                </a:lnTo>
                <a:cubicBezTo>
                  <a:pt x="22763" y="508000"/>
                  <a:pt x="0" y="485237"/>
                  <a:pt x="0" y="457200"/>
                </a:cubicBezTo>
                <a:lnTo>
                  <a:pt x="0" y="50800"/>
                </a:lnTo>
                <a:cubicBezTo>
                  <a:pt x="0" y="22763"/>
                  <a:pt x="22763" y="0"/>
                  <a:pt x="50800" y="0"/>
                </a:cubicBezTo>
                <a:close/>
              </a:path>
            </a:pathLst>
          </a:custGeom>
          <a:solidFill>
            <a:srgbClr val="4A6C8C"/>
          </a:solidFill>
          <a:ln/>
        </p:spPr>
      </p:sp>
      <p:sp>
        <p:nvSpPr>
          <p:cNvPr id="33" name="Shape 31"/>
          <p:cNvSpPr/>
          <p:nvPr/>
        </p:nvSpPr>
        <p:spPr>
          <a:xfrm>
            <a:off x="5381625" y="60579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0" y="114300"/>
                </a:moveTo>
                <a:cubicBezTo>
                  <a:pt x="0" y="51216"/>
                  <a:pt x="51216" y="0"/>
                  <a:pt x="114300" y="0"/>
                </a:cubicBezTo>
                <a:cubicBezTo>
                  <a:pt x="177384" y="0"/>
                  <a:pt x="228600" y="51216"/>
                  <a:pt x="228600" y="114300"/>
                </a:cubicBezTo>
                <a:cubicBezTo>
                  <a:pt x="228600" y="177384"/>
                  <a:pt x="177384" y="228600"/>
                  <a:pt x="114300" y="228600"/>
                </a:cubicBezTo>
                <a:cubicBezTo>
                  <a:pt x="51216" y="228600"/>
                  <a:pt x="0" y="177384"/>
                  <a:pt x="0" y="114300"/>
                </a:cubicBezTo>
                <a:close/>
                <a:moveTo>
                  <a:pt x="128588" y="42863"/>
                </a:moveTo>
                <a:cubicBezTo>
                  <a:pt x="128588" y="34977"/>
                  <a:pt x="122185" y="28575"/>
                  <a:pt x="114300" y="28575"/>
                </a:cubicBezTo>
                <a:cubicBezTo>
                  <a:pt x="106415" y="28575"/>
                  <a:pt x="100013" y="34977"/>
                  <a:pt x="100013" y="42863"/>
                </a:cubicBezTo>
                <a:cubicBezTo>
                  <a:pt x="100013" y="50748"/>
                  <a:pt x="106415" y="57150"/>
                  <a:pt x="114300" y="57150"/>
                </a:cubicBezTo>
                <a:cubicBezTo>
                  <a:pt x="122185" y="57150"/>
                  <a:pt x="128588" y="50748"/>
                  <a:pt x="128588" y="42863"/>
                </a:cubicBezTo>
                <a:close/>
                <a:moveTo>
                  <a:pt x="114300" y="185738"/>
                </a:moveTo>
                <a:cubicBezTo>
                  <a:pt x="130061" y="185738"/>
                  <a:pt x="142875" y="172923"/>
                  <a:pt x="142875" y="157163"/>
                </a:cubicBezTo>
                <a:cubicBezTo>
                  <a:pt x="142875" y="149929"/>
                  <a:pt x="140196" y="143277"/>
                  <a:pt x="135731" y="138276"/>
                </a:cubicBezTo>
                <a:lnTo>
                  <a:pt x="166762" y="76260"/>
                </a:lnTo>
                <a:cubicBezTo>
                  <a:pt x="169396" y="70946"/>
                  <a:pt x="167253" y="64517"/>
                  <a:pt x="161985" y="61883"/>
                </a:cubicBezTo>
                <a:cubicBezTo>
                  <a:pt x="156716" y="59248"/>
                  <a:pt x="150242" y="61392"/>
                  <a:pt x="147608" y="66660"/>
                </a:cubicBezTo>
                <a:lnTo>
                  <a:pt x="116577" y="128677"/>
                </a:lnTo>
                <a:cubicBezTo>
                  <a:pt x="115818" y="128632"/>
                  <a:pt x="115059" y="128588"/>
                  <a:pt x="114300" y="128588"/>
                </a:cubicBezTo>
                <a:cubicBezTo>
                  <a:pt x="98539" y="128588"/>
                  <a:pt x="85725" y="141402"/>
                  <a:pt x="85725" y="157163"/>
                </a:cubicBezTo>
                <a:cubicBezTo>
                  <a:pt x="85725" y="172923"/>
                  <a:pt x="98539" y="185738"/>
                  <a:pt x="114300" y="185738"/>
                </a:cubicBezTo>
                <a:close/>
                <a:moveTo>
                  <a:pt x="78581" y="64294"/>
                </a:moveTo>
                <a:cubicBezTo>
                  <a:pt x="78581" y="56408"/>
                  <a:pt x="72179" y="50006"/>
                  <a:pt x="64294" y="50006"/>
                </a:cubicBezTo>
                <a:cubicBezTo>
                  <a:pt x="56408" y="50006"/>
                  <a:pt x="50006" y="56408"/>
                  <a:pt x="50006" y="64294"/>
                </a:cubicBezTo>
                <a:cubicBezTo>
                  <a:pt x="50006" y="72179"/>
                  <a:pt x="56408" y="78581"/>
                  <a:pt x="64294" y="78581"/>
                </a:cubicBezTo>
                <a:cubicBezTo>
                  <a:pt x="72179" y="78581"/>
                  <a:pt x="78581" y="72179"/>
                  <a:pt x="78581" y="64294"/>
                </a:cubicBezTo>
                <a:close/>
                <a:moveTo>
                  <a:pt x="42863" y="128588"/>
                </a:moveTo>
                <a:cubicBezTo>
                  <a:pt x="50748" y="128588"/>
                  <a:pt x="57150" y="122185"/>
                  <a:pt x="57150" y="114300"/>
                </a:cubicBezTo>
                <a:cubicBezTo>
                  <a:pt x="57150" y="106415"/>
                  <a:pt x="50748" y="100013"/>
                  <a:pt x="42863" y="100013"/>
                </a:cubicBezTo>
                <a:cubicBezTo>
                  <a:pt x="34977" y="100013"/>
                  <a:pt x="28575" y="106415"/>
                  <a:pt x="28575" y="114300"/>
                </a:cubicBezTo>
                <a:cubicBezTo>
                  <a:pt x="28575" y="122185"/>
                  <a:pt x="34977" y="128588"/>
                  <a:pt x="42863" y="128588"/>
                </a:cubicBezTo>
                <a:close/>
                <a:moveTo>
                  <a:pt x="200025" y="114300"/>
                </a:moveTo>
                <a:cubicBezTo>
                  <a:pt x="200025" y="106415"/>
                  <a:pt x="193623" y="100013"/>
                  <a:pt x="185738" y="100013"/>
                </a:cubicBezTo>
                <a:cubicBezTo>
                  <a:pt x="177852" y="100013"/>
                  <a:pt x="171450" y="106415"/>
                  <a:pt x="171450" y="114300"/>
                </a:cubicBezTo>
                <a:cubicBezTo>
                  <a:pt x="171450" y="122185"/>
                  <a:pt x="177852" y="128588"/>
                  <a:pt x="185738" y="128588"/>
                </a:cubicBezTo>
                <a:cubicBezTo>
                  <a:pt x="193623" y="128588"/>
                  <a:pt x="200025" y="122185"/>
                  <a:pt x="200025" y="114300"/>
                </a:cubicBezTo>
                <a:close/>
              </a:path>
            </a:pathLst>
          </a:custGeom>
          <a:solidFill>
            <a:srgbClr val="E8E8E8"/>
          </a:solidFill>
          <a:ln/>
        </p:spPr>
      </p:sp>
      <p:sp>
        <p:nvSpPr>
          <p:cNvPr id="34" name="Text 32"/>
          <p:cNvSpPr/>
          <p:nvPr/>
        </p:nvSpPr>
        <p:spPr>
          <a:xfrm>
            <a:off x="5899150" y="6019800"/>
            <a:ext cx="21844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fr-FR" sz="1600" b="1" smtClean="0">
                <a:solidFill>
                  <a:srgbClr val="E8E8E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Capteurs Analogiques</a:t>
            </a:r>
            <a:endParaRPr lang="fr-FR" sz="1600" dirty="0"/>
          </a:p>
        </p:txBody>
      </p:sp>
      <p:sp>
        <p:nvSpPr>
          <p:cNvPr id="35" name="Text 33"/>
          <p:cNvSpPr/>
          <p:nvPr/>
        </p:nvSpPr>
        <p:spPr>
          <a:xfrm>
            <a:off x="5238750" y="6527800"/>
            <a:ext cx="41783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fr-FR" sz="1400" smtClean="0">
                <a:solidFill>
                  <a:srgbClr val="7D8A9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Couplemètres (0-10V)</a:t>
            </a:r>
            <a:endParaRPr lang="fr-FR" sz="1600" dirty="0"/>
          </a:p>
        </p:txBody>
      </p:sp>
      <p:sp>
        <p:nvSpPr>
          <p:cNvPr id="36" name="Shape 34"/>
          <p:cNvSpPr/>
          <p:nvPr/>
        </p:nvSpPr>
        <p:spPr>
          <a:xfrm>
            <a:off x="9848850" y="2635250"/>
            <a:ext cx="5981700" cy="2882900"/>
          </a:xfrm>
          <a:custGeom>
            <a:avLst/>
            <a:gdLst/>
            <a:ahLst/>
            <a:cxnLst/>
            <a:rect l="l" t="t" r="r" b="b"/>
            <a:pathLst>
              <a:path w="5981700" h="5981700">
                <a:moveTo>
                  <a:pt x="101629" y="0"/>
                </a:moveTo>
                <a:lnTo>
                  <a:pt x="5880071" y="0"/>
                </a:lnTo>
                <a:cubicBezTo>
                  <a:pt x="5936199" y="0"/>
                  <a:pt x="5981700" y="45501"/>
                  <a:pt x="5981700" y="101629"/>
                </a:cubicBezTo>
                <a:lnTo>
                  <a:pt x="5981700" y="5880071"/>
                </a:lnTo>
                <a:cubicBezTo>
                  <a:pt x="5981700" y="5936199"/>
                  <a:pt x="5936199" y="5981700"/>
                  <a:pt x="5880071" y="5981700"/>
                </a:cubicBezTo>
                <a:lnTo>
                  <a:pt x="101629" y="5981700"/>
                </a:lnTo>
                <a:cubicBezTo>
                  <a:pt x="45501" y="5981700"/>
                  <a:pt x="0" y="5936199"/>
                  <a:pt x="0" y="5880071"/>
                </a:cubicBezTo>
                <a:lnTo>
                  <a:pt x="0" y="101629"/>
                </a:lnTo>
                <a:cubicBezTo>
                  <a:pt x="0" y="45538"/>
                  <a:pt x="45538" y="0"/>
                  <a:pt x="101629" y="0"/>
                </a:cubicBezTo>
                <a:close/>
              </a:path>
            </a:pathLst>
          </a:custGeom>
          <a:solidFill>
            <a:srgbClr val="000000">
              <a:alpha val="0"/>
            </a:srgbClr>
          </a:solidFill>
          <a:ln w="12700">
            <a:solidFill>
              <a:srgbClr val="4A6C8C">
                <a:alpha val="30196"/>
              </a:srgbClr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9848850" y="2635250"/>
            <a:ext cx="5981700" cy="1587500"/>
          </a:xfrm>
          <a:custGeom>
            <a:avLst/>
            <a:gdLst/>
            <a:ahLst/>
            <a:cxnLst/>
            <a:rect l="l" t="t" r="r" b="b"/>
            <a:pathLst>
              <a:path w="5981700" h="1587500">
                <a:moveTo>
                  <a:pt x="101600" y="0"/>
                </a:moveTo>
                <a:lnTo>
                  <a:pt x="5880100" y="0"/>
                </a:lnTo>
                <a:cubicBezTo>
                  <a:pt x="5936175" y="0"/>
                  <a:pt x="5981700" y="45525"/>
                  <a:pt x="5981700" y="101600"/>
                </a:cubicBezTo>
                <a:lnTo>
                  <a:pt x="5981700" y="1485900"/>
                </a:lnTo>
                <a:cubicBezTo>
                  <a:pt x="5981700" y="1541975"/>
                  <a:pt x="5936175" y="1587500"/>
                  <a:pt x="5880100" y="1587500"/>
                </a:cubicBezTo>
                <a:lnTo>
                  <a:pt x="101600" y="1587500"/>
                </a:lnTo>
                <a:cubicBezTo>
                  <a:pt x="45525" y="1587500"/>
                  <a:pt x="0" y="1541975"/>
                  <a:pt x="0" y="1485900"/>
                </a:cubicBezTo>
                <a:lnTo>
                  <a:pt x="0" y="101600"/>
                </a:lnTo>
                <a:cubicBezTo>
                  <a:pt x="0" y="45525"/>
                  <a:pt x="45525" y="0"/>
                  <a:pt x="101600" y="0"/>
                </a:cubicBezTo>
                <a:close/>
              </a:path>
            </a:pathLst>
          </a:custGeom>
          <a:gradFill flip="none" rotWithShape="1">
            <a:gsLst>
              <a:gs pos="0">
                <a:srgbClr val="E89F5B">
                  <a:alpha val="20000"/>
                </a:srgbClr>
              </a:gs>
              <a:gs pos="100000">
                <a:srgbClr val="4A6C8C">
                  <a:alpha val="20000"/>
                </a:srgbClr>
              </a:gs>
            </a:gsLst>
            <a:lin ang="2700000" scaled="1"/>
          </a:gradFill>
          <a:ln w="12700">
            <a:solidFill>
              <a:srgbClr val="E89F5B">
                <a:alpha val="40000"/>
              </a:srgbClr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10077450" y="2870200"/>
            <a:ext cx="342900" cy="304800"/>
          </a:xfrm>
          <a:custGeom>
            <a:avLst/>
            <a:gdLst/>
            <a:ahLst/>
            <a:cxnLst/>
            <a:rect l="l" t="t" r="r" b="b"/>
            <a:pathLst>
              <a:path w="342900" h="304800">
                <a:moveTo>
                  <a:pt x="147638" y="52388"/>
                </a:moveTo>
                <a:lnTo>
                  <a:pt x="195263" y="52388"/>
                </a:lnTo>
                <a:lnTo>
                  <a:pt x="195263" y="80962"/>
                </a:lnTo>
                <a:lnTo>
                  <a:pt x="147638" y="80962"/>
                </a:lnTo>
                <a:lnTo>
                  <a:pt x="147638" y="52388"/>
                </a:lnTo>
                <a:close/>
                <a:moveTo>
                  <a:pt x="142875" y="19050"/>
                </a:moveTo>
                <a:cubicBezTo>
                  <a:pt x="127099" y="19050"/>
                  <a:pt x="114300" y="31849"/>
                  <a:pt x="114300" y="47625"/>
                </a:cubicBezTo>
                <a:lnTo>
                  <a:pt x="114300" y="85725"/>
                </a:lnTo>
                <a:cubicBezTo>
                  <a:pt x="114300" y="101501"/>
                  <a:pt x="127099" y="114300"/>
                  <a:pt x="142875" y="114300"/>
                </a:cubicBezTo>
                <a:lnTo>
                  <a:pt x="152400" y="114300"/>
                </a:lnTo>
                <a:lnTo>
                  <a:pt x="152400" y="133350"/>
                </a:lnTo>
                <a:lnTo>
                  <a:pt x="19050" y="133350"/>
                </a:lnTo>
                <a:cubicBezTo>
                  <a:pt x="8513" y="133350"/>
                  <a:pt x="0" y="141863"/>
                  <a:pt x="0" y="152400"/>
                </a:cubicBezTo>
                <a:cubicBezTo>
                  <a:pt x="0" y="162937"/>
                  <a:pt x="8513" y="171450"/>
                  <a:pt x="19050" y="171450"/>
                </a:cubicBezTo>
                <a:lnTo>
                  <a:pt x="76200" y="171450"/>
                </a:lnTo>
                <a:lnTo>
                  <a:pt x="76200" y="190500"/>
                </a:lnTo>
                <a:lnTo>
                  <a:pt x="66675" y="190500"/>
                </a:lnTo>
                <a:cubicBezTo>
                  <a:pt x="50899" y="190500"/>
                  <a:pt x="38100" y="203299"/>
                  <a:pt x="38100" y="219075"/>
                </a:cubicBezTo>
                <a:lnTo>
                  <a:pt x="38100" y="257175"/>
                </a:lnTo>
                <a:cubicBezTo>
                  <a:pt x="38100" y="272951"/>
                  <a:pt x="50899" y="285750"/>
                  <a:pt x="66675" y="285750"/>
                </a:cubicBezTo>
                <a:lnTo>
                  <a:pt x="123825" y="285750"/>
                </a:lnTo>
                <a:cubicBezTo>
                  <a:pt x="139601" y="285750"/>
                  <a:pt x="152400" y="272951"/>
                  <a:pt x="152400" y="257175"/>
                </a:cubicBezTo>
                <a:lnTo>
                  <a:pt x="152400" y="219075"/>
                </a:lnTo>
                <a:cubicBezTo>
                  <a:pt x="152400" y="203299"/>
                  <a:pt x="139601" y="190500"/>
                  <a:pt x="123825" y="190500"/>
                </a:cubicBezTo>
                <a:lnTo>
                  <a:pt x="114300" y="190500"/>
                </a:lnTo>
                <a:lnTo>
                  <a:pt x="114300" y="171450"/>
                </a:lnTo>
                <a:lnTo>
                  <a:pt x="228600" y="171450"/>
                </a:lnTo>
                <a:lnTo>
                  <a:pt x="228600" y="190500"/>
                </a:lnTo>
                <a:lnTo>
                  <a:pt x="219075" y="190500"/>
                </a:lnTo>
                <a:cubicBezTo>
                  <a:pt x="203299" y="190500"/>
                  <a:pt x="190500" y="203299"/>
                  <a:pt x="190500" y="219075"/>
                </a:cubicBezTo>
                <a:lnTo>
                  <a:pt x="190500" y="257175"/>
                </a:lnTo>
                <a:cubicBezTo>
                  <a:pt x="190500" y="272951"/>
                  <a:pt x="203299" y="285750"/>
                  <a:pt x="219075" y="285750"/>
                </a:cubicBezTo>
                <a:lnTo>
                  <a:pt x="276225" y="285750"/>
                </a:lnTo>
                <a:cubicBezTo>
                  <a:pt x="292001" y="285750"/>
                  <a:pt x="304800" y="272951"/>
                  <a:pt x="304800" y="257175"/>
                </a:cubicBezTo>
                <a:lnTo>
                  <a:pt x="304800" y="219075"/>
                </a:lnTo>
                <a:cubicBezTo>
                  <a:pt x="304800" y="203299"/>
                  <a:pt x="292001" y="190500"/>
                  <a:pt x="276225" y="190500"/>
                </a:cubicBezTo>
                <a:lnTo>
                  <a:pt x="266700" y="190500"/>
                </a:lnTo>
                <a:lnTo>
                  <a:pt x="266700" y="171450"/>
                </a:lnTo>
                <a:lnTo>
                  <a:pt x="323850" y="171450"/>
                </a:lnTo>
                <a:cubicBezTo>
                  <a:pt x="334387" y="171450"/>
                  <a:pt x="342900" y="162937"/>
                  <a:pt x="342900" y="152400"/>
                </a:cubicBezTo>
                <a:cubicBezTo>
                  <a:pt x="342900" y="141863"/>
                  <a:pt x="334387" y="133350"/>
                  <a:pt x="323850" y="133350"/>
                </a:cubicBezTo>
                <a:lnTo>
                  <a:pt x="190500" y="133350"/>
                </a:lnTo>
                <a:lnTo>
                  <a:pt x="190500" y="114300"/>
                </a:lnTo>
                <a:lnTo>
                  <a:pt x="200025" y="114300"/>
                </a:lnTo>
                <a:cubicBezTo>
                  <a:pt x="215801" y="114300"/>
                  <a:pt x="228600" y="101501"/>
                  <a:pt x="228600" y="85725"/>
                </a:cubicBezTo>
                <a:lnTo>
                  <a:pt x="228600" y="47625"/>
                </a:lnTo>
                <a:cubicBezTo>
                  <a:pt x="228600" y="31849"/>
                  <a:pt x="215801" y="19050"/>
                  <a:pt x="200025" y="19050"/>
                </a:cubicBezTo>
                <a:lnTo>
                  <a:pt x="142875" y="19050"/>
                </a:lnTo>
                <a:close/>
                <a:moveTo>
                  <a:pt x="266700" y="223838"/>
                </a:moveTo>
                <a:lnTo>
                  <a:pt x="271463" y="223838"/>
                </a:lnTo>
                <a:lnTo>
                  <a:pt x="271463" y="252413"/>
                </a:lnTo>
                <a:lnTo>
                  <a:pt x="223838" y="252413"/>
                </a:lnTo>
                <a:lnTo>
                  <a:pt x="223838" y="223838"/>
                </a:lnTo>
                <a:lnTo>
                  <a:pt x="266700" y="223838"/>
                </a:lnTo>
                <a:close/>
                <a:moveTo>
                  <a:pt x="114300" y="223838"/>
                </a:moveTo>
                <a:lnTo>
                  <a:pt x="119062" y="223838"/>
                </a:lnTo>
                <a:lnTo>
                  <a:pt x="119062" y="252413"/>
                </a:lnTo>
                <a:lnTo>
                  <a:pt x="71438" y="252413"/>
                </a:lnTo>
                <a:lnTo>
                  <a:pt x="71438" y="223838"/>
                </a:lnTo>
                <a:lnTo>
                  <a:pt x="114300" y="223838"/>
                </a:lnTo>
                <a:close/>
              </a:path>
            </a:pathLst>
          </a:custGeom>
          <a:solidFill>
            <a:srgbClr val="E89F5B"/>
          </a:solidFill>
          <a:ln/>
        </p:spPr>
      </p:sp>
      <p:sp>
        <p:nvSpPr>
          <p:cNvPr id="40" name="Text 37"/>
          <p:cNvSpPr/>
          <p:nvPr/>
        </p:nvSpPr>
        <p:spPr>
          <a:xfrm>
            <a:off x="10591800" y="2844800"/>
            <a:ext cx="18034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fr-FR" sz="1800" b="1" smtClean="0">
                <a:solidFill>
                  <a:srgbClr val="E8E8E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Communication</a:t>
            </a:r>
            <a:endParaRPr lang="fr-FR" sz="1600" dirty="0"/>
          </a:p>
        </p:txBody>
      </p:sp>
      <p:sp>
        <p:nvSpPr>
          <p:cNvPr id="41" name="Text 38"/>
          <p:cNvSpPr/>
          <p:nvPr/>
        </p:nvSpPr>
        <p:spPr>
          <a:xfrm>
            <a:off x="10058400" y="3352800"/>
            <a:ext cx="1619639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fr-FR" sz="1600" b="1" smtClean="0">
                <a:solidFill>
                  <a:srgbClr val="E8E8E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Ethernet TCP/IP</a:t>
            </a:r>
            <a:endParaRPr lang="fr-FR" sz="1600" dirty="0"/>
          </a:p>
        </p:txBody>
      </p:sp>
      <p:sp>
        <p:nvSpPr>
          <p:cNvPr id="42" name="Text 39"/>
          <p:cNvSpPr/>
          <p:nvPr/>
        </p:nvSpPr>
        <p:spPr>
          <a:xfrm>
            <a:off x="10058400" y="3759200"/>
            <a:ext cx="5651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fr-FR" sz="1400" smtClean="0">
                <a:solidFill>
                  <a:srgbClr val="7D8A9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Échange rapide données, supervision PC, génération rapports</a:t>
            </a:r>
            <a:endParaRPr lang="fr-FR" sz="1600" dirty="0"/>
          </a:p>
        </p:txBody>
      </p:sp>
      <p:sp>
        <p:nvSpPr>
          <p:cNvPr id="43" name="Shape 40"/>
          <p:cNvSpPr/>
          <p:nvPr/>
        </p:nvSpPr>
        <p:spPr>
          <a:xfrm>
            <a:off x="9848850" y="4387850"/>
            <a:ext cx="5981700" cy="1130300"/>
          </a:xfrm>
          <a:custGeom>
            <a:avLst/>
            <a:gdLst/>
            <a:ahLst/>
            <a:cxnLst/>
            <a:rect l="l" t="t" r="r" b="b"/>
            <a:pathLst>
              <a:path w="5981700" h="1130300">
                <a:moveTo>
                  <a:pt x="101603" y="0"/>
                </a:moveTo>
                <a:lnTo>
                  <a:pt x="5880097" y="0"/>
                </a:lnTo>
                <a:cubicBezTo>
                  <a:pt x="5936211" y="0"/>
                  <a:pt x="5981700" y="45489"/>
                  <a:pt x="5981700" y="101603"/>
                </a:cubicBezTo>
                <a:lnTo>
                  <a:pt x="5981700" y="1028697"/>
                </a:lnTo>
                <a:cubicBezTo>
                  <a:pt x="5981700" y="1084811"/>
                  <a:pt x="5936211" y="1130300"/>
                  <a:pt x="5880097" y="1130300"/>
                </a:cubicBezTo>
                <a:lnTo>
                  <a:pt x="101603" y="1130300"/>
                </a:lnTo>
                <a:cubicBezTo>
                  <a:pt x="45489" y="1130300"/>
                  <a:pt x="0" y="1084811"/>
                  <a:pt x="0" y="1028697"/>
                </a:cubicBezTo>
                <a:lnTo>
                  <a:pt x="0" y="101603"/>
                </a:lnTo>
                <a:cubicBezTo>
                  <a:pt x="0" y="45527"/>
                  <a:pt x="45527" y="0"/>
                  <a:pt x="101603" y="0"/>
                </a:cubicBezTo>
                <a:close/>
              </a:path>
            </a:pathLst>
          </a:custGeom>
          <a:solidFill>
            <a:srgbClr val="4A6C8C">
              <a:alpha val="10196"/>
            </a:srgbClr>
          </a:solidFill>
          <a:ln w="12700">
            <a:solidFill>
              <a:srgbClr val="4A6C8C">
                <a:alpha val="30196"/>
              </a:srgbClr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10007600" y="4572000"/>
            <a:ext cx="21971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fr-FR" sz="1600" smtClean="0">
                <a:solidFill>
                  <a:srgbClr val="7D8A9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Alimentation Puissance</a:t>
            </a:r>
            <a:endParaRPr lang="fr-FR" sz="1600" dirty="0"/>
          </a:p>
        </p:txBody>
      </p:sp>
      <p:sp>
        <p:nvSpPr>
          <p:cNvPr id="45" name="Text 42"/>
          <p:cNvSpPr/>
          <p:nvPr/>
        </p:nvSpPr>
        <p:spPr>
          <a:xfrm>
            <a:off x="15080059" y="4546600"/>
            <a:ext cx="7112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fr-FR" b="1" dirty="0" smtClean="0">
                <a:solidFill>
                  <a:srgbClr val="E89F5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380</a:t>
            </a:r>
            <a:r>
              <a:rPr lang="fr-FR" sz="1800" b="1" dirty="0" smtClean="0">
                <a:solidFill>
                  <a:srgbClr val="E89F5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V</a:t>
            </a:r>
            <a:endParaRPr lang="fr-FR" sz="1600" dirty="0"/>
          </a:p>
        </p:txBody>
      </p:sp>
      <p:sp>
        <p:nvSpPr>
          <p:cNvPr id="46" name="Text 43"/>
          <p:cNvSpPr/>
          <p:nvPr/>
        </p:nvSpPr>
        <p:spPr>
          <a:xfrm>
            <a:off x="10007600" y="5029200"/>
            <a:ext cx="23241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fr-FR" sz="1600" smtClean="0">
                <a:solidFill>
                  <a:srgbClr val="7D8A9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Alimentation Commande</a:t>
            </a:r>
            <a:endParaRPr lang="fr-FR" sz="1600" dirty="0"/>
          </a:p>
        </p:txBody>
      </p:sp>
      <p:sp>
        <p:nvSpPr>
          <p:cNvPr id="47" name="Text 44"/>
          <p:cNvSpPr/>
          <p:nvPr/>
        </p:nvSpPr>
        <p:spPr>
          <a:xfrm>
            <a:off x="14849872" y="5003800"/>
            <a:ext cx="9398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fr-FR" sz="1800" b="1" smtClean="0">
                <a:solidFill>
                  <a:srgbClr val="4A6C8C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24V DC</a:t>
            </a:r>
            <a:endParaRPr lang="fr-FR" sz="1600" dirty="0"/>
          </a:p>
        </p:txBody>
      </p:sp>
      <p:pic>
        <p:nvPicPr>
          <p:cNvPr id="48" name="Image 47" descr="Mini-vérins-électriques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9625" y="7155872"/>
            <a:ext cx="2591345" cy="1622157"/>
          </a:xfrm>
          <a:prstGeom prst="rect">
            <a:avLst/>
          </a:prstGeom>
        </p:spPr>
      </p:pic>
      <p:pic>
        <p:nvPicPr>
          <p:cNvPr id="49" name="Image 48" descr="motoréducteur 4-40Nm.png">
            <a:hlinkClick r:id="rId5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69704" y="7079100"/>
            <a:ext cx="2306971" cy="1892300"/>
          </a:xfrm>
          <a:prstGeom prst="rect">
            <a:avLst/>
          </a:prstGeom>
        </p:spPr>
      </p:pic>
      <p:pic>
        <p:nvPicPr>
          <p:cNvPr id="50" name="Image 49" descr="motoréducteur 20-200Nm.png">
            <a:hlinkClick r:id="rId7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270738" y="7009825"/>
            <a:ext cx="2509837" cy="1983477"/>
          </a:xfrm>
          <a:prstGeom prst="rect">
            <a:avLst/>
          </a:prstGeom>
        </p:spPr>
      </p:pic>
      <p:pic>
        <p:nvPicPr>
          <p:cNvPr id="51" name="Image 50" descr="S7-300.png">
            <a:hlinkClick r:id="rId9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340850" y="6057900"/>
            <a:ext cx="6915150" cy="3276600"/>
          </a:xfrm>
          <a:prstGeom prst="rect">
            <a:avLst/>
          </a:prstGeom>
        </p:spPr>
      </p:pic>
      <p:pic>
        <p:nvPicPr>
          <p:cNvPr id="52" name="Image 51" descr="Ethernet TCP_IP.png">
            <a:hlinkClick r:id="rId11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924381" y="91281"/>
            <a:ext cx="2941637" cy="2941637"/>
          </a:xfrm>
          <a:prstGeom prst="rect">
            <a:avLst/>
          </a:prstGeom>
        </p:spPr>
      </p:pic>
      <p:sp>
        <p:nvSpPr>
          <p:cNvPr id="53" name="NumPage"/>
          <p:cNvSpPr txBox="1"/>
          <p:nvPr/>
        </p:nvSpPr>
        <p:spPr>
          <a:xfrm>
            <a:off x="15240000" y="8636000"/>
            <a:ext cx="889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fr-FR" sz="1400" smtClean="0">
                <a:solidFill>
                  <a:srgbClr val="E89F5B"/>
                </a:solidFill>
              </a:rPr>
              <a:t>8</a:t>
            </a:r>
            <a:endParaRPr lang="fr-FR" sz="1400" dirty="0">
              <a:solidFill>
                <a:srgbClr val="E89F5B"/>
              </a:solidFill>
            </a:endParaRPr>
          </a:p>
        </p:txBody>
      </p:sp>
      <p:sp>
        <p:nvSpPr>
          <p:cNvPr id="54" name="Rectangle 53"/>
          <p:cNvSpPr/>
          <p:nvPr/>
        </p:nvSpPr>
        <p:spPr>
          <a:xfrm>
            <a:off x="501650" y="1054100"/>
            <a:ext cx="9278925" cy="7889677"/>
          </a:xfrm>
          <a:prstGeom prst="rect">
            <a:avLst/>
          </a:prstGeom>
          <a:solidFill>
            <a:srgbClr val="1A1D2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5" name="Shape 40"/>
          <p:cNvSpPr/>
          <p:nvPr/>
        </p:nvSpPr>
        <p:spPr>
          <a:xfrm>
            <a:off x="1182688" y="1320800"/>
            <a:ext cx="200025" cy="177800"/>
          </a:xfrm>
          <a:custGeom>
            <a:avLst/>
            <a:gdLst/>
            <a:ahLst/>
            <a:cxnLst/>
            <a:rect l="l" t="t" r="r" b="b"/>
            <a:pathLst>
              <a:path w="200025" h="177800">
                <a:moveTo>
                  <a:pt x="86122" y="30559"/>
                </a:moveTo>
                <a:lnTo>
                  <a:pt x="113903" y="30559"/>
                </a:lnTo>
                <a:lnTo>
                  <a:pt x="113903" y="47228"/>
                </a:lnTo>
                <a:lnTo>
                  <a:pt x="86122" y="47228"/>
                </a:lnTo>
                <a:lnTo>
                  <a:pt x="86122" y="30559"/>
                </a:lnTo>
                <a:close/>
                <a:moveTo>
                  <a:pt x="83344" y="11112"/>
                </a:moveTo>
                <a:cubicBezTo>
                  <a:pt x="74141" y="11112"/>
                  <a:pt x="66675" y="18579"/>
                  <a:pt x="66675" y="27781"/>
                </a:cubicBezTo>
                <a:lnTo>
                  <a:pt x="66675" y="50006"/>
                </a:lnTo>
                <a:cubicBezTo>
                  <a:pt x="66675" y="59209"/>
                  <a:pt x="74141" y="66675"/>
                  <a:pt x="83344" y="66675"/>
                </a:cubicBezTo>
                <a:lnTo>
                  <a:pt x="88900" y="66675"/>
                </a:lnTo>
                <a:lnTo>
                  <a:pt x="88900" y="77788"/>
                </a:lnTo>
                <a:lnTo>
                  <a:pt x="11112" y="77788"/>
                </a:lnTo>
                <a:cubicBezTo>
                  <a:pt x="4966" y="77788"/>
                  <a:pt x="0" y="82753"/>
                  <a:pt x="0" y="88900"/>
                </a:cubicBezTo>
                <a:cubicBezTo>
                  <a:pt x="0" y="95047"/>
                  <a:pt x="4966" y="100013"/>
                  <a:pt x="11112" y="100013"/>
                </a:cubicBezTo>
                <a:lnTo>
                  <a:pt x="44450" y="100013"/>
                </a:lnTo>
                <a:lnTo>
                  <a:pt x="44450" y="111125"/>
                </a:lnTo>
                <a:lnTo>
                  <a:pt x="38894" y="111125"/>
                </a:lnTo>
                <a:cubicBezTo>
                  <a:pt x="29691" y="111125"/>
                  <a:pt x="22225" y="118591"/>
                  <a:pt x="22225" y="127794"/>
                </a:cubicBezTo>
                <a:lnTo>
                  <a:pt x="22225" y="150019"/>
                </a:lnTo>
                <a:cubicBezTo>
                  <a:pt x="22225" y="159221"/>
                  <a:pt x="29691" y="166688"/>
                  <a:pt x="38894" y="166688"/>
                </a:cubicBezTo>
                <a:lnTo>
                  <a:pt x="72231" y="166688"/>
                </a:lnTo>
                <a:cubicBezTo>
                  <a:pt x="81434" y="166688"/>
                  <a:pt x="88900" y="159221"/>
                  <a:pt x="88900" y="150019"/>
                </a:cubicBezTo>
                <a:lnTo>
                  <a:pt x="88900" y="127794"/>
                </a:lnTo>
                <a:cubicBezTo>
                  <a:pt x="88900" y="118591"/>
                  <a:pt x="81434" y="111125"/>
                  <a:pt x="72231" y="111125"/>
                </a:cubicBezTo>
                <a:lnTo>
                  <a:pt x="66675" y="111125"/>
                </a:lnTo>
                <a:lnTo>
                  <a:pt x="66675" y="100013"/>
                </a:lnTo>
                <a:lnTo>
                  <a:pt x="133350" y="100013"/>
                </a:lnTo>
                <a:lnTo>
                  <a:pt x="133350" y="111125"/>
                </a:lnTo>
                <a:lnTo>
                  <a:pt x="127794" y="111125"/>
                </a:lnTo>
                <a:cubicBezTo>
                  <a:pt x="118591" y="111125"/>
                  <a:pt x="111125" y="118591"/>
                  <a:pt x="111125" y="127794"/>
                </a:cubicBezTo>
                <a:lnTo>
                  <a:pt x="111125" y="150019"/>
                </a:lnTo>
                <a:cubicBezTo>
                  <a:pt x="111125" y="159221"/>
                  <a:pt x="118591" y="166688"/>
                  <a:pt x="127794" y="166688"/>
                </a:cubicBezTo>
                <a:lnTo>
                  <a:pt x="161131" y="166688"/>
                </a:lnTo>
                <a:cubicBezTo>
                  <a:pt x="170334" y="166688"/>
                  <a:pt x="177800" y="159221"/>
                  <a:pt x="177800" y="150019"/>
                </a:cubicBezTo>
                <a:lnTo>
                  <a:pt x="177800" y="127794"/>
                </a:lnTo>
                <a:cubicBezTo>
                  <a:pt x="177800" y="118591"/>
                  <a:pt x="170334" y="111125"/>
                  <a:pt x="161131" y="111125"/>
                </a:cubicBezTo>
                <a:lnTo>
                  <a:pt x="155575" y="111125"/>
                </a:lnTo>
                <a:lnTo>
                  <a:pt x="155575" y="100013"/>
                </a:lnTo>
                <a:lnTo>
                  <a:pt x="188913" y="100013"/>
                </a:lnTo>
                <a:cubicBezTo>
                  <a:pt x="195059" y="100013"/>
                  <a:pt x="200025" y="95047"/>
                  <a:pt x="200025" y="88900"/>
                </a:cubicBezTo>
                <a:cubicBezTo>
                  <a:pt x="200025" y="82753"/>
                  <a:pt x="195059" y="77788"/>
                  <a:pt x="188913" y="77788"/>
                </a:cubicBezTo>
                <a:lnTo>
                  <a:pt x="111125" y="77788"/>
                </a:lnTo>
                <a:lnTo>
                  <a:pt x="111125" y="66675"/>
                </a:lnTo>
                <a:lnTo>
                  <a:pt x="116681" y="66675"/>
                </a:lnTo>
                <a:cubicBezTo>
                  <a:pt x="125884" y="66675"/>
                  <a:pt x="133350" y="59209"/>
                  <a:pt x="133350" y="50006"/>
                </a:cubicBezTo>
                <a:lnTo>
                  <a:pt x="133350" y="27781"/>
                </a:lnTo>
                <a:cubicBezTo>
                  <a:pt x="133350" y="18579"/>
                  <a:pt x="125884" y="11112"/>
                  <a:pt x="116681" y="11112"/>
                </a:cubicBezTo>
                <a:lnTo>
                  <a:pt x="83344" y="11112"/>
                </a:lnTo>
                <a:close/>
                <a:moveTo>
                  <a:pt x="155575" y="130572"/>
                </a:moveTo>
                <a:lnTo>
                  <a:pt x="158353" y="130572"/>
                </a:lnTo>
                <a:lnTo>
                  <a:pt x="158353" y="147241"/>
                </a:lnTo>
                <a:lnTo>
                  <a:pt x="130572" y="147241"/>
                </a:lnTo>
                <a:lnTo>
                  <a:pt x="130572" y="130572"/>
                </a:lnTo>
                <a:lnTo>
                  <a:pt x="155575" y="130572"/>
                </a:lnTo>
                <a:close/>
                <a:moveTo>
                  <a:pt x="66675" y="130572"/>
                </a:moveTo>
                <a:lnTo>
                  <a:pt x="69453" y="130572"/>
                </a:lnTo>
                <a:lnTo>
                  <a:pt x="69453" y="147241"/>
                </a:lnTo>
                <a:lnTo>
                  <a:pt x="41672" y="147241"/>
                </a:lnTo>
                <a:lnTo>
                  <a:pt x="41672" y="130572"/>
                </a:lnTo>
                <a:lnTo>
                  <a:pt x="66675" y="130572"/>
                </a:lnTo>
                <a:close/>
              </a:path>
            </a:pathLst>
          </a:custGeom>
          <a:solidFill>
            <a:srgbClr val="FBBF24"/>
          </a:solidFill>
          <a:ln/>
        </p:spPr>
      </p:sp>
      <p:sp>
        <p:nvSpPr>
          <p:cNvPr id="56" name="Text 41"/>
          <p:cNvSpPr/>
          <p:nvPr/>
        </p:nvSpPr>
        <p:spPr>
          <a:xfrm>
            <a:off x="1498600" y="1282700"/>
            <a:ext cx="72517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fr-FR" sz="1400" b="1" smtClean="0">
                <a:solidFill>
                  <a:srgbClr val="FBBF24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Architecture Communication PC ↔ API</a:t>
            </a:r>
            <a:endParaRPr lang="fr-FR" sz="1600" dirty="0"/>
          </a:p>
        </p:txBody>
      </p:sp>
      <p:sp>
        <p:nvSpPr>
          <p:cNvPr id="57" name="Shape 42"/>
          <p:cNvSpPr/>
          <p:nvPr/>
        </p:nvSpPr>
        <p:spPr>
          <a:xfrm>
            <a:off x="1174750" y="1746250"/>
            <a:ext cx="7480300" cy="4368800"/>
          </a:xfrm>
          <a:prstGeom prst="roundRect">
            <a:avLst>
              <a:gd name="adj" fmla="val 2326"/>
            </a:avLst>
          </a:prstGeom>
          <a:solidFill>
            <a:srgbClr val="FFFFFF">
              <a:alpha val="5098"/>
            </a:srgbClr>
          </a:solidFill>
          <a:ln w="12700">
            <a:solidFill>
              <a:srgbClr val="FFFFFF">
                <a:alpha val="10196"/>
              </a:srgbClr>
            </a:solidFill>
            <a:prstDash val="solid"/>
          </a:ln>
        </p:spPr>
      </p:sp>
      <p:sp>
        <p:nvSpPr>
          <p:cNvPr id="58" name="Shape 43"/>
          <p:cNvSpPr/>
          <p:nvPr/>
        </p:nvSpPr>
        <p:spPr>
          <a:xfrm>
            <a:off x="1390650" y="1962150"/>
            <a:ext cx="7048500" cy="1257300"/>
          </a:xfrm>
          <a:prstGeom prst="roundRect">
            <a:avLst>
              <a:gd name="adj" fmla="val 8081"/>
            </a:avLst>
          </a:prstGeom>
          <a:solidFill>
            <a:srgbClr val="1C398E">
              <a:alpha val="30196"/>
            </a:srgbClr>
          </a:solidFill>
          <a:ln w="12700">
            <a:solidFill>
              <a:srgbClr val="2B7FFF">
                <a:alpha val="30196"/>
              </a:srgbClr>
            </a:solidFill>
            <a:prstDash val="solid"/>
          </a:ln>
        </p:spPr>
      </p:sp>
      <p:sp>
        <p:nvSpPr>
          <p:cNvPr id="59" name="Shape 44"/>
          <p:cNvSpPr/>
          <p:nvPr/>
        </p:nvSpPr>
        <p:spPr>
          <a:xfrm>
            <a:off x="1549400" y="2120900"/>
            <a:ext cx="406400" cy="406400"/>
          </a:xfrm>
          <a:prstGeom prst="roundRect">
            <a:avLst>
              <a:gd name="adj" fmla="val 12500"/>
            </a:avLst>
          </a:prstGeom>
          <a:solidFill>
            <a:srgbClr val="2B7FFF">
              <a:alpha val="20000"/>
            </a:srgbClr>
          </a:solidFill>
          <a:ln/>
        </p:spPr>
      </p:sp>
      <p:sp>
        <p:nvSpPr>
          <p:cNvPr id="60" name="Shape 45"/>
          <p:cNvSpPr/>
          <p:nvPr/>
        </p:nvSpPr>
        <p:spPr>
          <a:xfrm>
            <a:off x="1651000" y="2222500"/>
            <a:ext cx="203200" cy="203200"/>
          </a:xfrm>
          <a:custGeom>
            <a:avLst/>
            <a:gdLst/>
            <a:ahLst/>
            <a:cxnLst/>
            <a:rect l="l" t="t" r="r" b="b"/>
            <a:pathLst>
              <a:path w="203200" h="203200">
                <a:moveTo>
                  <a:pt x="25400" y="12700"/>
                </a:moveTo>
                <a:cubicBezTo>
                  <a:pt x="11390" y="12700"/>
                  <a:pt x="0" y="24090"/>
                  <a:pt x="0" y="38100"/>
                </a:cubicBezTo>
                <a:lnTo>
                  <a:pt x="0" y="139700"/>
                </a:lnTo>
                <a:cubicBezTo>
                  <a:pt x="0" y="153710"/>
                  <a:pt x="11390" y="165100"/>
                  <a:pt x="25400" y="165100"/>
                </a:cubicBezTo>
                <a:lnTo>
                  <a:pt x="82550" y="165100"/>
                </a:lnTo>
                <a:lnTo>
                  <a:pt x="76200" y="184150"/>
                </a:lnTo>
                <a:lnTo>
                  <a:pt x="47625" y="184150"/>
                </a:lnTo>
                <a:cubicBezTo>
                  <a:pt x="42347" y="184150"/>
                  <a:pt x="38100" y="188397"/>
                  <a:pt x="38100" y="193675"/>
                </a:cubicBezTo>
                <a:cubicBezTo>
                  <a:pt x="38100" y="198953"/>
                  <a:pt x="42347" y="203200"/>
                  <a:pt x="47625" y="203200"/>
                </a:cubicBezTo>
                <a:lnTo>
                  <a:pt x="155575" y="203200"/>
                </a:lnTo>
                <a:cubicBezTo>
                  <a:pt x="160853" y="203200"/>
                  <a:pt x="165100" y="198953"/>
                  <a:pt x="165100" y="193675"/>
                </a:cubicBezTo>
                <a:cubicBezTo>
                  <a:pt x="165100" y="188397"/>
                  <a:pt x="160853" y="184150"/>
                  <a:pt x="155575" y="184150"/>
                </a:cubicBezTo>
                <a:lnTo>
                  <a:pt x="127000" y="184150"/>
                </a:lnTo>
                <a:lnTo>
                  <a:pt x="120650" y="165100"/>
                </a:lnTo>
                <a:lnTo>
                  <a:pt x="177800" y="165100"/>
                </a:lnTo>
                <a:cubicBezTo>
                  <a:pt x="191810" y="165100"/>
                  <a:pt x="203200" y="153710"/>
                  <a:pt x="203200" y="139700"/>
                </a:cubicBezTo>
                <a:lnTo>
                  <a:pt x="203200" y="38100"/>
                </a:lnTo>
                <a:cubicBezTo>
                  <a:pt x="203200" y="24090"/>
                  <a:pt x="191810" y="12700"/>
                  <a:pt x="177800" y="12700"/>
                </a:cubicBezTo>
                <a:lnTo>
                  <a:pt x="25400" y="12700"/>
                </a:lnTo>
                <a:close/>
                <a:moveTo>
                  <a:pt x="38100" y="38100"/>
                </a:moveTo>
                <a:lnTo>
                  <a:pt x="165100" y="38100"/>
                </a:lnTo>
                <a:cubicBezTo>
                  <a:pt x="172125" y="38100"/>
                  <a:pt x="177800" y="43775"/>
                  <a:pt x="177800" y="50800"/>
                </a:cubicBezTo>
                <a:lnTo>
                  <a:pt x="177800" y="114300"/>
                </a:lnTo>
                <a:cubicBezTo>
                  <a:pt x="177800" y="121325"/>
                  <a:pt x="172125" y="127000"/>
                  <a:pt x="165100" y="127000"/>
                </a:cubicBezTo>
                <a:lnTo>
                  <a:pt x="38100" y="127000"/>
                </a:lnTo>
                <a:cubicBezTo>
                  <a:pt x="31075" y="127000"/>
                  <a:pt x="25400" y="121325"/>
                  <a:pt x="25400" y="114300"/>
                </a:cubicBezTo>
                <a:lnTo>
                  <a:pt x="25400" y="50800"/>
                </a:lnTo>
                <a:cubicBezTo>
                  <a:pt x="25400" y="43775"/>
                  <a:pt x="31075" y="38100"/>
                  <a:pt x="38100" y="38100"/>
                </a:cubicBezTo>
                <a:close/>
              </a:path>
            </a:pathLst>
          </a:custGeom>
          <a:solidFill>
            <a:srgbClr val="51A2FF"/>
          </a:solidFill>
          <a:ln/>
        </p:spPr>
      </p:sp>
      <p:sp>
        <p:nvSpPr>
          <p:cNvPr id="61" name="Text 46"/>
          <p:cNvSpPr/>
          <p:nvPr/>
        </p:nvSpPr>
        <p:spPr>
          <a:xfrm>
            <a:off x="2108200" y="2197100"/>
            <a:ext cx="2095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fr-FR" sz="1400" b="1" smtClean="0">
                <a:solidFill>
                  <a:srgbClr val="FFFFF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PC Supervision (MAÎTRE)</a:t>
            </a:r>
            <a:endParaRPr lang="fr-FR" sz="1600" dirty="0"/>
          </a:p>
        </p:txBody>
      </p:sp>
      <p:sp>
        <p:nvSpPr>
          <p:cNvPr id="62" name="Shape 47"/>
          <p:cNvSpPr/>
          <p:nvPr/>
        </p:nvSpPr>
        <p:spPr>
          <a:xfrm>
            <a:off x="1577975" y="2641600"/>
            <a:ext cx="133350" cy="152400"/>
          </a:xfrm>
          <a:custGeom>
            <a:avLst/>
            <a:gdLst/>
            <a:ahLst/>
            <a:cxnLst/>
            <a:rect l="l" t="t" r="r" b="b"/>
            <a:pathLst>
              <a:path w="133350" h="152400">
                <a:moveTo>
                  <a:pt x="27146" y="10984"/>
                </a:moveTo>
                <a:cubicBezTo>
                  <a:pt x="23455" y="8959"/>
                  <a:pt x="18990" y="9049"/>
                  <a:pt x="15359" y="11192"/>
                </a:cubicBezTo>
                <a:cubicBezTo>
                  <a:pt x="11728" y="13335"/>
                  <a:pt x="9525" y="17234"/>
                  <a:pt x="9525" y="21431"/>
                </a:cubicBezTo>
                <a:lnTo>
                  <a:pt x="9525" y="130969"/>
                </a:lnTo>
                <a:cubicBezTo>
                  <a:pt x="9525" y="135166"/>
                  <a:pt x="11757" y="139065"/>
                  <a:pt x="15359" y="141208"/>
                </a:cubicBezTo>
                <a:cubicBezTo>
                  <a:pt x="18961" y="143351"/>
                  <a:pt x="23455" y="143441"/>
                  <a:pt x="27146" y="141416"/>
                </a:cubicBezTo>
                <a:lnTo>
                  <a:pt x="127159" y="86648"/>
                </a:lnTo>
                <a:cubicBezTo>
                  <a:pt x="130969" y="84564"/>
                  <a:pt x="133350" y="80546"/>
                  <a:pt x="133350" y="76200"/>
                </a:cubicBezTo>
                <a:cubicBezTo>
                  <a:pt x="133350" y="71854"/>
                  <a:pt x="130969" y="67836"/>
                  <a:pt x="127159" y="65752"/>
                </a:cubicBezTo>
                <a:lnTo>
                  <a:pt x="27146" y="10984"/>
                </a:lnTo>
                <a:close/>
              </a:path>
            </a:pathLst>
          </a:custGeom>
          <a:solidFill>
            <a:srgbClr val="05DF72"/>
          </a:solidFill>
          <a:ln/>
        </p:spPr>
      </p:sp>
      <p:sp>
        <p:nvSpPr>
          <p:cNvPr id="63" name="Text 48"/>
          <p:cNvSpPr/>
          <p:nvPr/>
        </p:nvSpPr>
        <p:spPr>
          <a:xfrm>
            <a:off x="1790700" y="2628900"/>
            <a:ext cx="317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fr-FR" sz="1200" smtClean="0">
                <a:solidFill>
                  <a:srgbClr val="99A1A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Lancer cycles</a:t>
            </a:r>
            <a:endParaRPr lang="fr-FR" sz="1600" dirty="0"/>
          </a:p>
        </p:txBody>
      </p:sp>
      <p:sp>
        <p:nvSpPr>
          <p:cNvPr id="64" name="Shape 49"/>
          <p:cNvSpPr/>
          <p:nvPr/>
        </p:nvSpPr>
        <p:spPr>
          <a:xfrm>
            <a:off x="4949825" y="2641600"/>
            <a:ext cx="171450" cy="152400"/>
          </a:xfrm>
          <a:custGeom>
            <a:avLst/>
            <a:gdLst/>
            <a:ahLst/>
            <a:cxnLst/>
            <a:rect l="l" t="t" r="r" b="b"/>
            <a:pathLst>
              <a:path w="171450" h="152400">
                <a:moveTo>
                  <a:pt x="85725" y="9525"/>
                </a:moveTo>
                <a:cubicBezTo>
                  <a:pt x="61674" y="9525"/>
                  <a:pt x="42416" y="20479"/>
                  <a:pt x="28396" y="33516"/>
                </a:cubicBezTo>
                <a:cubicBezTo>
                  <a:pt x="14466" y="46464"/>
                  <a:pt x="5149" y="61912"/>
                  <a:pt x="714" y="72539"/>
                </a:cubicBezTo>
                <a:cubicBezTo>
                  <a:pt x="-268" y="74890"/>
                  <a:pt x="-268" y="77510"/>
                  <a:pt x="714" y="79861"/>
                </a:cubicBezTo>
                <a:cubicBezTo>
                  <a:pt x="5149" y="90488"/>
                  <a:pt x="14466" y="105966"/>
                  <a:pt x="28396" y="118884"/>
                </a:cubicBezTo>
                <a:cubicBezTo>
                  <a:pt x="42416" y="131891"/>
                  <a:pt x="61674" y="142875"/>
                  <a:pt x="85725" y="142875"/>
                </a:cubicBezTo>
                <a:cubicBezTo>
                  <a:pt x="109776" y="142875"/>
                  <a:pt x="129034" y="131921"/>
                  <a:pt x="143054" y="118884"/>
                </a:cubicBezTo>
                <a:cubicBezTo>
                  <a:pt x="156984" y="105936"/>
                  <a:pt x="166301" y="90488"/>
                  <a:pt x="170736" y="79861"/>
                </a:cubicBezTo>
                <a:cubicBezTo>
                  <a:pt x="171718" y="77510"/>
                  <a:pt x="171718" y="74890"/>
                  <a:pt x="170736" y="72539"/>
                </a:cubicBezTo>
                <a:cubicBezTo>
                  <a:pt x="166301" y="61912"/>
                  <a:pt x="156984" y="46434"/>
                  <a:pt x="143054" y="33516"/>
                </a:cubicBezTo>
                <a:cubicBezTo>
                  <a:pt x="129034" y="20509"/>
                  <a:pt x="109776" y="9525"/>
                  <a:pt x="85725" y="9525"/>
                </a:cubicBezTo>
                <a:close/>
                <a:moveTo>
                  <a:pt x="42863" y="76200"/>
                </a:moveTo>
                <a:cubicBezTo>
                  <a:pt x="42863" y="52544"/>
                  <a:pt x="62069" y="33338"/>
                  <a:pt x="85725" y="33338"/>
                </a:cubicBezTo>
                <a:cubicBezTo>
                  <a:pt x="109381" y="33338"/>
                  <a:pt x="128588" y="52544"/>
                  <a:pt x="128588" y="76200"/>
                </a:cubicBezTo>
                <a:cubicBezTo>
                  <a:pt x="128588" y="99856"/>
                  <a:pt x="109381" y="119062"/>
                  <a:pt x="85725" y="119062"/>
                </a:cubicBezTo>
                <a:cubicBezTo>
                  <a:pt x="62069" y="119062"/>
                  <a:pt x="42863" y="99856"/>
                  <a:pt x="42863" y="76200"/>
                </a:cubicBezTo>
                <a:close/>
                <a:moveTo>
                  <a:pt x="85725" y="57150"/>
                </a:moveTo>
                <a:cubicBezTo>
                  <a:pt x="85725" y="67657"/>
                  <a:pt x="77182" y="76200"/>
                  <a:pt x="66675" y="76200"/>
                </a:cubicBezTo>
                <a:cubicBezTo>
                  <a:pt x="63252" y="76200"/>
                  <a:pt x="60037" y="75307"/>
                  <a:pt x="57239" y="73700"/>
                </a:cubicBezTo>
                <a:cubicBezTo>
                  <a:pt x="56942" y="76944"/>
                  <a:pt x="57210" y="80278"/>
                  <a:pt x="58103" y="83582"/>
                </a:cubicBezTo>
                <a:cubicBezTo>
                  <a:pt x="62180" y="98822"/>
                  <a:pt x="77867" y="107871"/>
                  <a:pt x="93107" y="103793"/>
                </a:cubicBezTo>
                <a:cubicBezTo>
                  <a:pt x="108347" y="99715"/>
                  <a:pt x="117396" y="84028"/>
                  <a:pt x="113318" y="68788"/>
                </a:cubicBezTo>
                <a:cubicBezTo>
                  <a:pt x="109686" y="55185"/>
                  <a:pt x="96798" y="46524"/>
                  <a:pt x="83225" y="47714"/>
                </a:cubicBezTo>
                <a:cubicBezTo>
                  <a:pt x="84802" y="50483"/>
                  <a:pt x="85725" y="53697"/>
                  <a:pt x="85725" y="57150"/>
                </a:cubicBezTo>
                <a:close/>
              </a:path>
            </a:pathLst>
          </a:custGeom>
          <a:solidFill>
            <a:srgbClr val="05DF72"/>
          </a:solidFill>
          <a:ln/>
        </p:spPr>
      </p:sp>
      <p:sp>
        <p:nvSpPr>
          <p:cNvPr id="65" name="Text 50"/>
          <p:cNvSpPr/>
          <p:nvPr/>
        </p:nvSpPr>
        <p:spPr>
          <a:xfrm>
            <a:off x="5181600" y="2628900"/>
            <a:ext cx="317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fr-FR" sz="1200" smtClean="0">
                <a:solidFill>
                  <a:srgbClr val="99A1A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Visualiser mesures</a:t>
            </a:r>
            <a:endParaRPr lang="fr-FR" sz="1600" dirty="0"/>
          </a:p>
        </p:txBody>
      </p:sp>
      <p:sp>
        <p:nvSpPr>
          <p:cNvPr id="66" name="Shape 51"/>
          <p:cNvSpPr/>
          <p:nvPr/>
        </p:nvSpPr>
        <p:spPr>
          <a:xfrm>
            <a:off x="1587500" y="2882900"/>
            <a:ext cx="114300" cy="152400"/>
          </a:xfrm>
          <a:custGeom>
            <a:avLst/>
            <a:gdLst/>
            <a:ahLst/>
            <a:cxnLst/>
            <a:rect l="l" t="t" r="r" b="b"/>
            <a:pathLst>
              <a:path w="114300" h="152400">
                <a:moveTo>
                  <a:pt x="0" y="19050"/>
                </a:moveTo>
                <a:cubicBezTo>
                  <a:pt x="0" y="8543"/>
                  <a:pt x="8543" y="0"/>
                  <a:pt x="19050" y="0"/>
                </a:cubicBezTo>
                <a:lnTo>
                  <a:pt x="63550" y="0"/>
                </a:lnTo>
                <a:cubicBezTo>
                  <a:pt x="68610" y="0"/>
                  <a:pt x="73462" y="1994"/>
                  <a:pt x="77033" y="5566"/>
                </a:cubicBezTo>
                <a:lnTo>
                  <a:pt x="108734" y="37296"/>
                </a:lnTo>
                <a:cubicBezTo>
                  <a:pt x="112306" y="40868"/>
                  <a:pt x="114300" y="45720"/>
                  <a:pt x="114300" y="50780"/>
                </a:cubicBezTo>
                <a:lnTo>
                  <a:pt x="114300" y="133350"/>
                </a:lnTo>
                <a:cubicBezTo>
                  <a:pt x="114300" y="143857"/>
                  <a:pt x="105757" y="152400"/>
                  <a:pt x="95250" y="152400"/>
                </a:cubicBezTo>
                <a:lnTo>
                  <a:pt x="19050" y="152400"/>
                </a:lnTo>
                <a:cubicBezTo>
                  <a:pt x="8543" y="152400"/>
                  <a:pt x="0" y="143857"/>
                  <a:pt x="0" y="133350"/>
                </a:cubicBezTo>
                <a:lnTo>
                  <a:pt x="0" y="19050"/>
                </a:lnTo>
                <a:close/>
                <a:moveTo>
                  <a:pt x="61912" y="17413"/>
                </a:moveTo>
                <a:lnTo>
                  <a:pt x="61912" y="45244"/>
                </a:lnTo>
                <a:cubicBezTo>
                  <a:pt x="61912" y="49203"/>
                  <a:pt x="65097" y="52388"/>
                  <a:pt x="69056" y="52388"/>
                </a:cubicBezTo>
                <a:lnTo>
                  <a:pt x="96887" y="52388"/>
                </a:lnTo>
                <a:lnTo>
                  <a:pt x="61912" y="17413"/>
                </a:lnTo>
                <a:close/>
                <a:moveTo>
                  <a:pt x="35719" y="76200"/>
                </a:moveTo>
                <a:cubicBezTo>
                  <a:pt x="31760" y="76200"/>
                  <a:pt x="28575" y="79385"/>
                  <a:pt x="28575" y="83344"/>
                </a:cubicBezTo>
                <a:cubicBezTo>
                  <a:pt x="28575" y="87303"/>
                  <a:pt x="31760" y="90488"/>
                  <a:pt x="35719" y="90488"/>
                </a:cubicBezTo>
                <a:lnTo>
                  <a:pt x="78581" y="90488"/>
                </a:lnTo>
                <a:cubicBezTo>
                  <a:pt x="82540" y="90488"/>
                  <a:pt x="85725" y="87303"/>
                  <a:pt x="85725" y="83344"/>
                </a:cubicBezTo>
                <a:cubicBezTo>
                  <a:pt x="85725" y="79385"/>
                  <a:pt x="82540" y="76200"/>
                  <a:pt x="78581" y="76200"/>
                </a:cubicBezTo>
                <a:lnTo>
                  <a:pt x="35719" y="76200"/>
                </a:lnTo>
                <a:close/>
                <a:moveTo>
                  <a:pt x="35719" y="104775"/>
                </a:moveTo>
                <a:cubicBezTo>
                  <a:pt x="31760" y="104775"/>
                  <a:pt x="28575" y="107960"/>
                  <a:pt x="28575" y="111919"/>
                </a:cubicBezTo>
                <a:cubicBezTo>
                  <a:pt x="28575" y="115878"/>
                  <a:pt x="31760" y="119062"/>
                  <a:pt x="35719" y="119062"/>
                </a:cubicBezTo>
                <a:lnTo>
                  <a:pt x="78581" y="119062"/>
                </a:lnTo>
                <a:cubicBezTo>
                  <a:pt x="82540" y="119062"/>
                  <a:pt x="85725" y="115878"/>
                  <a:pt x="85725" y="111919"/>
                </a:cubicBezTo>
                <a:cubicBezTo>
                  <a:pt x="85725" y="107960"/>
                  <a:pt x="82540" y="104775"/>
                  <a:pt x="78581" y="104775"/>
                </a:cubicBezTo>
                <a:lnTo>
                  <a:pt x="35719" y="104775"/>
                </a:lnTo>
                <a:close/>
              </a:path>
            </a:pathLst>
          </a:custGeom>
          <a:solidFill>
            <a:srgbClr val="05DF72"/>
          </a:solidFill>
          <a:ln/>
        </p:spPr>
      </p:sp>
      <p:sp>
        <p:nvSpPr>
          <p:cNvPr id="67" name="Text 52"/>
          <p:cNvSpPr/>
          <p:nvPr/>
        </p:nvSpPr>
        <p:spPr>
          <a:xfrm>
            <a:off x="1790700" y="2870200"/>
            <a:ext cx="317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fr-FR" sz="1200" smtClean="0">
                <a:solidFill>
                  <a:srgbClr val="99A1A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Générer rapports</a:t>
            </a:r>
            <a:endParaRPr lang="fr-FR" sz="1600" dirty="0"/>
          </a:p>
        </p:txBody>
      </p:sp>
      <p:sp>
        <p:nvSpPr>
          <p:cNvPr id="68" name="Shape 53"/>
          <p:cNvSpPr/>
          <p:nvPr/>
        </p:nvSpPr>
        <p:spPr>
          <a:xfrm>
            <a:off x="4940300" y="2882900"/>
            <a:ext cx="190500" cy="152400"/>
          </a:xfrm>
          <a:custGeom>
            <a:avLst/>
            <a:gdLst/>
            <a:ahLst/>
            <a:cxnLst/>
            <a:rect l="l" t="t" r="r" b="b"/>
            <a:pathLst>
              <a:path w="190500" h="152400">
                <a:moveTo>
                  <a:pt x="123795" y="62657"/>
                </a:moveTo>
                <a:cubicBezTo>
                  <a:pt x="127427" y="61674"/>
                  <a:pt x="131237" y="63401"/>
                  <a:pt x="132874" y="66764"/>
                </a:cubicBezTo>
                <a:lnTo>
                  <a:pt x="138410" y="77956"/>
                </a:lnTo>
                <a:cubicBezTo>
                  <a:pt x="141476" y="78373"/>
                  <a:pt x="144482" y="79206"/>
                  <a:pt x="147310" y="80367"/>
                </a:cubicBezTo>
                <a:lnTo>
                  <a:pt x="157728" y="73432"/>
                </a:lnTo>
                <a:cubicBezTo>
                  <a:pt x="160853" y="71348"/>
                  <a:pt x="164991" y="71765"/>
                  <a:pt x="167640" y="74414"/>
                </a:cubicBezTo>
                <a:lnTo>
                  <a:pt x="173355" y="80129"/>
                </a:lnTo>
                <a:cubicBezTo>
                  <a:pt x="176004" y="82778"/>
                  <a:pt x="176421" y="86945"/>
                  <a:pt x="174337" y="90041"/>
                </a:cubicBezTo>
                <a:lnTo>
                  <a:pt x="167402" y="100429"/>
                </a:lnTo>
                <a:cubicBezTo>
                  <a:pt x="167967" y="101828"/>
                  <a:pt x="168473" y="103287"/>
                  <a:pt x="168890" y="104805"/>
                </a:cubicBezTo>
                <a:cubicBezTo>
                  <a:pt x="169307" y="106323"/>
                  <a:pt x="169575" y="107811"/>
                  <a:pt x="169783" y="109329"/>
                </a:cubicBezTo>
                <a:lnTo>
                  <a:pt x="181005" y="114866"/>
                </a:lnTo>
                <a:cubicBezTo>
                  <a:pt x="184368" y="116532"/>
                  <a:pt x="186095" y="120342"/>
                  <a:pt x="185112" y="123944"/>
                </a:cubicBezTo>
                <a:lnTo>
                  <a:pt x="183029" y="131743"/>
                </a:lnTo>
                <a:cubicBezTo>
                  <a:pt x="182047" y="135344"/>
                  <a:pt x="178683" y="137785"/>
                  <a:pt x="174933" y="137547"/>
                </a:cubicBezTo>
                <a:lnTo>
                  <a:pt x="162431" y="136743"/>
                </a:lnTo>
                <a:cubicBezTo>
                  <a:pt x="160556" y="139154"/>
                  <a:pt x="158383" y="141387"/>
                  <a:pt x="155912" y="143292"/>
                </a:cubicBezTo>
                <a:lnTo>
                  <a:pt x="156716" y="155764"/>
                </a:lnTo>
                <a:cubicBezTo>
                  <a:pt x="156954" y="159514"/>
                  <a:pt x="154513" y="162907"/>
                  <a:pt x="150912" y="163860"/>
                </a:cubicBezTo>
                <a:lnTo>
                  <a:pt x="143113" y="165943"/>
                </a:lnTo>
                <a:cubicBezTo>
                  <a:pt x="139482" y="166926"/>
                  <a:pt x="135701" y="165199"/>
                  <a:pt x="134035" y="161836"/>
                </a:cubicBezTo>
                <a:lnTo>
                  <a:pt x="128498" y="150644"/>
                </a:lnTo>
                <a:cubicBezTo>
                  <a:pt x="125432" y="150227"/>
                  <a:pt x="122426" y="149394"/>
                  <a:pt x="119598" y="148233"/>
                </a:cubicBezTo>
                <a:lnTo>
                  <a:pt x="109180" y="155168"/>
                </a:lnTo>
                <a:cubicBezTo>
                  <a:pt x="106055" y="157252"/>
                  <a:pt x="101918" y="156835"/>
                  <a:pt x="99268" y="154186"/>
                </a:cubicBezTo>
                <a:lnTo>
                  <a:pt x="93553" y="148471"/>
                </a:lnTo>
                <a:cubicBezTo>
                  <a:pt x="90904" y="145822"/>
                  <a:pt x="90488" y="141684"/>
                  <a:pt x="92571" y="138559"/>
                </a:cubicBezTo>
                <a:lnTo>
                  <a:pt x="99506" y="128141"/>
                </a:lnTo>
                <a:cubicBezTo>
                  <a:pt x="98941" y="126742"/>
                  <a:pt x="98435" y="125284"/>
                  <a:pt x="98018" y="123765"/>
                </a:cubicBezTo>
                <a:cubicBezTo>
                  <a:pt x="97601" y="122247"/>
                  <a:pt x="97334" y="120729"/>
                  <a:pt x="97125" y="119241"/>
                </a:cubicBezTo>
                <a:lnTo>
                  <a:pt x="85904" y="113705"/>
                </a:lnTo>
                <a:cubicBezTo>
                  <a:pt x="82540" y="112038"/>
                  <a:pt x="80843" y="108228"/>
                  <a:pt x="81796" y="104626"/>
                </a:cubicBezTo>
                <a:lnTo>
                  <a:pt x="83880" y="96828"/>
                </a:lnTo>
                <a:cubicBezTo>
                  <a:pt x="84862" y="93226"/>
                  <a:pt x="88225" y="90785"/>
                  <a:pt x="91976" y="91023"/>
                </a:cubicBezTo>
                <a:lnTo>
                  <a:pt x="104448" y="91827"/>
                </a:lnTo>
                <a:cubicBezTo>
                  <a:pt x="106323" y="89416"/>
                  <a:pt x="108496" y="87184"/>
                  <a:pt x="110966" y="85279"/>
                </a:cubicBezTo>
                <a:lnTo>
                  <a:pt x="110163" y="72836"/>
                </a:lnTo>
                <a:cubicBezTo>
                  <a:pt x="109924" y="69086"/>
                  <a:pt x="112365" y="65693"/>
                  <a:pt x="115967" y="64740"/>
                </a:cubicBezTo>
                <a:lnTo>
                  <a:pt x="123765" y="62657"/>
                </a:lnTo>
                <a:close/>
                <a:moveTo>
                  <a:pt x="133469" y="101203"/>
                </a:moveTo>
                <a:cubicBezTo>
                  <a:pt x="126241" y="101211"/>
                  <a:pt x="120379" y="107087"/>
                  <a:pt x="120387" y="114315"/>
                </a:cubicBezTo>
                <a:cubicBezTo>
                  <a:pt x="120395" y="121543"/>
                  <a:pt x="126270" y="127405"/>
                  <a:pt x="133499" y="127397"/>
                </a:cubicBezTo>
                <a:cubicBezTo>
                  <a:pt x="140727" y="127389"/>
                  <a:pt x="146589" y="121513"/>
                  <a:pt x="146581" y="114285"/>
                </a:cubicBezTo>
                <a:cubicBezTo>
                  <a:pt x="146573" y="107057"/>
                  <a:pt x="140697" y="101195"/>
                  <a:pt x="133469" y="101203"/>
                </a:cubicBezTo>
                <a:close/>
                <a:moveTo>
                  <a:pt x="66943" y="-13543"/>
                </a:moveTo>
                <a:lnTo>
                  <a:pt x="74741" y="-11460"/>
                </a:lnTo>
                <a:cubicBezTo>
                  <a:pt x="78343" y="-10477"/>
                  <a:pt x="80784" y="-7084"/>
                  <a:pt x="80546" y="-3364"/>
                </a:cubicBezTo>
                <a:lnTo>
                  <a:pt x="79742" y="9079"/>
                </a:lnTo>
                <a:cubicBezTo>
                  <a:pt x="82213" y="10984"/>
                  <a:pt x="84386" y="13186"/>
                  <a:pt x="86261" y="15627"/>
                </a:cubicBezTo>
                <a:lnTo>
                  <a:pt x="98762" y="14823"/>
                </a:lnTo>
                <a:cubicBezTo>
                  <a:pt x="102483" y="14585"/>
                  <a:pt x="105876" y="17026"/>
                  <a:pt x="106859" y="20628"/>
                </a:cubicBezTo>
                <a:lnTo>
                  <a:pt x="108942" y="28426"/>
                </a:lnTo>
                <a:cubicBezTo>
                  <a:pt x="109895" y="32028"/>
                  <a:pt x="108198" y="35838"/>
                  <a:pt x="104835" y="37505"/>
                </a:cubicBezTo>
                <a:lnTo>
                  <a:pt x="93613" y="43041"/>
                </a:lnTo>
                <a:cubicBezTo>
                  <a:pt x="93405" y="44559"/>
                  <a:pt x="93107" y="46077"/>
                  <a:pt x="92720" y="47565"/>
                </a:cubicBezTo>
                <a:cubicBezTo>
                  <a:pt x="92333" y="49054"/>
                  <a:pt x="91797" y="50542"/>
                  <a:pt x="91232" y="51941"/>
                </a:cubicBezTo>
                <a:lnTo>
                  <a:pt x="98167" y="62359"/>
                </a:lnTo>
                <a:cubicBezTo>
                  <a:pt x="100251" y="65484"/>
                  <a:pt x="99834" y="69622"/>
                  <a:pt x="97185" y="72271"/>
                </a:cubicBezTo>
                <a:lnTo>
                  <a:pt x="91470" y="77986"/>
                </a:lnTo>
                <a:cubicBezTo>
                  <a:pt x="88821" y="80635"/>
                  <a:pt x="84683" y="81052"/>
                  <a:pt x="81558" y="78968"/>
                </a:cubicBezTo>
                <a:lnTo>
                  <a:pt x="71140" y="72033"/>
                </a:lnTo>
                <a:cubicBezTo>
                  <a:pt x="68312" y="73194"/>
                  <a:pt x="65306" y="74027"/>
                  <a:pt x="62240" y="74444"/>
                </a:cubicBezTo>
                <a:lnTo>
                  <a:pt x="56704" y="85636"/>
                </a:lnTo>
                <a:cubicBezTo>
                  <a:pt x="55037" y="88999"/>
                  <a:pt x="51227" y="90696"/>
                  <a:pt x="47625" y="89743"/>
                </a:cubicBezTo>
                <a:lnTo>
                  <a:pt x="39826" y="87660"/>
                </a:lnTo>
                <a:cubicBezTo>
                  <a:pt x="36195" y="86678"/>
                  <a:pt x="33784" y="83284"/>
                  <a:pt x="34022" y="79564"/>
                </a:cubicBezTo>
                <a:lnTo>
                  <a:pt x="34826" y="67092"/>
                </a:lnTo>
                <a:cubicBezTo>
                  <a:pt x="32355" y="65187"/>
                  <a:pt x="30182" y="62984"/>
                  <a:pt x="28307" y="60543"/>
                </a:cubicBezTo>
                <a:lnTo>
                  <a:pt x="15806" y="61347"/>
                </a:lnTo>
                <a:cubicBezTo>
                  <a:pt x="12085" y="61585"/>
                  <a:pt x="8692" y="59144"/>
                  <a:pt x="7709" y="55543"/>
                </a:cubicBezTo>
                <a:lnTo>
                  <a:pt x="5626" y="47744"/>
                </a:lnTo>
                <a:cubicBezTo>
                  <a:pt x="4673" y="44142"/>
                  <a:pt x="6370" y="40332"/>
                  <a:pt x="9733" y="38666"/>
                </a:cubicBezTo>
                <a:lnTo>
                  <a:pt x="20955" y="33129"/>
                </a:lnTo>
                <a:cubicBezTo>
                  <a:pt x="21163" y="31611"/>
                  <a:pt x="21461" y="30123"/>
                  <a:pt x="21848" y="28605"/>
                </a:cubicBezTo>
                <a:cubicBezTo>
                  <a:pt x="22265" y="27087"/>
                  <a:pt x="22741" y="25628"/>
                  <a:pt x="23336" y="24229"/>
                </a:cubicBezTo>
                <a:lnTo>
                  <a:pt x="16401" y="13841"/>
                </a:lnTo>
                <a:cubicBezTo>
                  <a:pt x="14317" y="10716"/>
                  <a:pt x="14734" y="6578"/>
                  <a:pt x="17383" y="3929"/>
                </a:cubicBezTo>
                <a:lnTo>
                  <a:pt x="23098" y="-1786"/>
                </a:lnTo>
                <a:cubicBezTo>
                  <a:pt x="25747" y="-4435"/>
                  <a:pt x="29885" y="-4852"/>
                  <a:pt x="33010" y="-2768"/>
                </a:cubicBezTo>
                <a:lnTo>
                  <a:pt x="43428" y="4167"/>
                </a:lnTo>
                <a:cubicBezTo>
                  <a:pt x="46256" y="3006"/>
                  <a:pt x="49262" y="2173"/>
                  <a:pt x="52328" y="1756"/>
                </a:cubicBezTo>
                <a:lnTo>
                  <a:pt x="57864" y="-9436"/>
                </a:lnTo>
                <a:cubicBezTo>
                  <a:pt x="59531" y="-12799"/>
                  <a:pt x="63311" y="-14496"/>
                  <a:pt x="66943" y="-13543"/>
                </a:cubicBezTo>
                <a:close/>
                <a:moveTo>
                  <a:pt x="57269" y="25003"/>
                </a:moveTo>
                <a:cubicBezTo>
                  <a:pt x="50041" y="25003"/>
                  <a:pt x="44172" y="30872"/>
                  <a:pt x="44172" y="38100"/>
                </a:cubicBezTo>
                <a:cubicBezTo>
                  <a:pt x="44172" y="45328"/>
                  <a:pt x="50041" y="51197"/>
                  <a:pt x="57269" y="51197"/>
                </a:cubicBezTo>
                <a:cubicBezTo>
                  <a:pt x="64497" y="51197"/>
                  <a:pt x="70366" y="45328"/>
                  <a:pt x="70366" y="38100"/>
                </a:cubicBezTo>
                <a:cubicBezTo>
                  <a:pt x="70366" y="30872"/>
                  <a:pt x="64497" y="25003"/>
                  <a:pt x="57269" y="25003"/>
                </a:cubicBezTo>
                <a:close/>
              </a:path>
            </a:pathLst>
          </a:custGeom>
          <a:solidFill>
            <a:srgbClr val="05DF72"/>
          </a:solidFill>
          <a:ln/>
        </p:spPr>
      </p:sp>
      <p:sp>
        <p:nvSpPr>
          <p:cNvPr id="69" name="Text 54"/>
          <p:cNvSpPr/>
          <p:nvPr/>
        </p:nvSpPr>
        <p:spPr>
          <a:xfrm>
            <a:off x="5181600" y="2870200"/>
            <a:ext cx="317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fr-FR" sz="1200" smtClean="0">
                <a:solidFill>
                  <a:srgbClr val="99A1A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Envoyer consignes</a:t>
            </a:r>
            <a:endParaRPr lang="fr-FR" sz="1600" dirty="0"/>
          </a:p>
        </p:txBody>
      </p:sp>
      <p:sp>
        <p:nvSpPr>
          <p:cNvPr id="70" name="Text 55"/>
          <p:cNvSpPr/>
          <p:nvPr/>
        </p:nvSpPr>
        <p:spPr>
          <a:xfrm>
            <a:off x="4372570" y="3594100"/>
            <a:ext cx="11557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fr-FR" sz="1200" smtClean="0">
                <a:solidFill>
                  <a:srgbClr val="6A728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Ethernet TCP/IP</a:t>
            </a:r>
            <a:endParaRPr lang="fr-FR" sz="1600" dirty="0"/>
          </a:p>
        </p:txBody>
      </p:sp>
      <p:sp>
        <p:nvSpPr>
          <p:cNvPr id="71" name="Text 56"/>
          <p:cNvSpPr/>
          <p:nvPr/>
        </p:nvSpPr>
        <p:spPr>
          <a:xfrm>
            <a:off x="3468291" y="3835400"/>
            <a:ext cx="8509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fr-FR" sz="1200" smtClean="0">
                <a:solidFill>
                  <a:srgbClr val="51A2F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← Données</a:t>
            </a:r>
            <a:endParaRPr lang="fr-FR" sz="1600" dirty="0"/>
          </a:p>
        </p:txBody>
      </p:sp>
      <p:sp>
        <p:nvSpPr>
          <p:cNvPr id="72" name="Shape 57"/>
          <p:cNvSpPr/>
          <p:nvPr/>
        </p:nvSpPr>
        <p:spPr>
          <a:xfrm>
            <a:off x="4348163" y="3917950"/>
            <a:ext cx="1016000" cy="25400"/>
          </a:xfrm>
          <a:prstGeom prst="roundRect">
            <a:avLst>
              <a:gd name="adj" fmla="val 0"/>
            </a:avLst>
          </a:prstGeom>
          <a:gradFill flip="none" rotWithShape="1">
            <a:gsLst>
              <a:gs pos="0">
                <a:srgbClr val="2B7FFF"/>
              </a:gs>
              <a:gs pos="100000">
                <a:srgbClr val="FF6900"/>
              </a:gs>
            </a:gsLst>
            <a:lin ang="0" scaled="1"/>
          </a:gradFill>
          <a:ln/>
        </p:spPr>
      </p:sp>
      <p:sp>
        <p:nvSpPr>
          <p:cNvPr id="73" name="Text 58"/>
          <p:cNvSpPr/>
          <p:nvPr/>
        </p:nvSpPr>
        <p:spPr>
          <a:xfrm>
            <a:off x="5465763" y="3835400"/>
            <a:ext cx="9779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fr-FR" sz="1200" smtClean="0">
                <a:solidFill>
                  <a:srgbClr val="FF8904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Consignes →</a:t>
            </a:r>
            <a:endParaRPr lang="fr-FR" sz="1600" dirty="0"/>
          </a:p>
        </p:txBody>
      </p:sp>
      <p:sp>
        <p:nvSpPr>
          <p:cNvPr id="74" name="Text 59"/>
          <p:cNvSpPr/>
          <p:nvPr/>
        </p:nvSpPr>
        <p:spPr>
          <a:xfrm>
            <a:off x="3634383" y="4076700"/>
            <a:ext cx="26416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fr-FR" sz="1200" smtClean="0">
                <a:solidFill>
                  <a:srgbClr val="6A728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Protocole Siemens S7 Communication</a:t>
            </a:r>
            <a:endParaRPr lang="fr-FR" sz="1600" dirty="0"/>
          </a:p>
        </p:txBody>
      </p:sp>
      <p:sp>
        <p:nvSpPr>
          <p:cNvPr id="75" name="Shape 60"/>
          <p:cNvSpPr/>
          <p:nvPr/>
        </p:nvSpPr>
        <p:spPr>
          <a:xfrm>
            <a:off x="1390650" y="4641850"/>
            <a:ext cx="7048500" cy="1257300"/>
          </a:xfrm>
          <a:prstGeom prst="roundRect">
            <a:avLst>
              <a:gd name="adj" fmla="val 8081"/>
            </a:avLst>
          </a:prstGeom>
          <a:solidFill>
            <a:srgbClr val="7E2A0C">
              <a:alpha val="30196"/>
            </a:srgbClr>
          </a:solidFill>
          <a:ln w="12700">
            <a:solidFill>
              <a:srgbClr val="FF6900">
                <a:alpha val="30196"/>
              </a:srgbClr>
            </a:solidFill>
            <a:prstDash val="solid"/>
          </a:ln>
        </p:spPr>
      </p:sp>
      <p:sp>
        <p:nvSpPr>
          <p:cNvPr id="76" name="Shape 61"/>
          <p:cNvSpPr/>
          <p:nvPr/>
        </p:nvSpPr>
        <p:spPr>
          <a:xfrm>
            <a:off x="1549400" y="4800600"/>
            <a:ext cx="406400" cy="406400"/>
          </a:xfrm>
          <a:prstGeom prst="roundRect">
            <a:avLst>
              <a:gd name="adj" fmla="val 12500"/>
            </a:avLst>
          </a:prstGeom>
          <a:solidFill>
            <a:srgbClr val="FF6900">
              <a:alpha val="20000"/>
            </a:srgbClr>
          </a:solidFill>
          <a:ln/>
        </p:spPr>
      </p:sp>
      <p:sp>
        <p:nvSpPr>
          <p:cNvPr id="77" name="Shape 62"/>
          <p:cNvSpPr/>
          <p:nvPr/>
        </p:nvSpPr>
        <p:spPr>
          <a:xfrm>
            <a:off x="1651000" y="4902200"/>
            <a:ext cx="203200" cy="203200"/>
          </a:xfrm>
          <a:custGeom>
            <a:avLst/>
            <a:gdLst/>
            <a:ahLst/>
            <a:cxnLst/>
            <a:rect l="l" t="t" r="r" b="b"/>
            <a:pathLst>
              <a:path w="203200" h="203200">
                <a:moveTo>
                  <a:pt x="69850" y="9525"/>
                </a:moveTo>
                <a:cubicBezTo>
                  <a:pt x="69850" y="4247"/>
                  <a:pt x="65603" y="0"/>
                  <a:pt x="60325" y="0"/>
                </a:cubicBezTo>
                <a:cubicBezTo>
                  <a:pt x="55047" y="0"/>
                  <a:pt x="50800" y="4247"/>
                  <a:pt x="50800" y="9525"/>
                </a:cubicBezTo>
                <a:lnTo>
                  <a:pt x="50800" y="25400"/>
                </a:lnTo>
                <a:cubicBezTo>
                  <a:pt x="36790" y="25400"/>
                  <a:pt x="25400" y="36790"/>
                  <a:pt x="25400" y="50800"/>
                </a:cubicBezTo>
                <a:lnTo>
                  <a:pt x="9525" y="50800"/>
                </a:lnTo>
                <a:cubicBezTo>
                  <a:pt x="4247" y="50800"/>
                  <a:pt x="0" y="55047"/>
                  <a:pt x="0" y="60325"/>
                </a:cubicBezTo>
                <a:cubicBezTo>
                  <a:pt x="0" y="65603"/>
                  <a:pt x="4247" y="69850"/>
                  <a:pt x="9525" y="69850"/>
                </a:cubicBezTo>
                <a:lnTo>
                  <a:pt x="25400" y="69850"/>
                </a:lnTo>
                <a:lnTo>
                  <a:pt x="25400" y="92075"/>
                </a:lnTo>
                <a:lnTo>
                  <a:pt x="9525" y="92075"/>
                </a:lnTo>
                <a:cubicBezTo>
                  <a:pt x="4247" y="92075"/>
                  <a:pt x="0" y="96322"/>
                  <a:pt x="0" y="101600"/>
                </a:cubicBezTo>
                <a:cubicBezTo>
                  <a:pt x="0" y="106878"/>
                  <a:pt x="4247" y="111125"/>
                  <a:pt x="9525" y="111125"/>
                </a:cubicBezTo>
                <a:lnTo>
                  <a:pt x="25400" y="111125"/>
                </a:lnTo>
                <a:lnTo>
                  <a:pt x="25400" y="133350"/>
                </a:lnTo>
                <a:lnTo>
                  <a:pt x="9525" y="133350"/>
                </a:lnTo>
                <a:cubicBezTo>
                  <a:pt x="4247" y="133350"/>
                  <a:pt x="0" y="137597"/>
                  <a:pt x="0" y="142875"/>
                </a:cubicBezTo>
                <a:cubicBezTo>
                  <a:pt x="0" y="148153"/>
                  <a:pt x="4247" y="152400"/>
                  <a:pt x="9525" y="152400"/>
                </a:cubicBezTo>
                <a:lnTo>
                  <a:pt x="25400" y="152400"/>
                </a:lnTo>
                <a:cubicBezTo>
                  <a:pt x="25400" y="166410"/>
                  <a:pt x="36790" y="177800"/>
                  <a:pt x="50800" y="177800"/>
                </a:cubicBezTo>
                <a:lnTo>
                  <a:pt x="50800" y="193675"/>
                </a:lnTo>
                <a:cubicBezTo>
                  <a:pt x="50800" y="198953"/>
                  <a:pt x="55047" y="203200"/>
                  <a:pt x="60325" y="203200"/>
                </a:cubicBezTo>
                <a:cubicBezTo>
                  <a:pt x="65603" y="203200"/>
                  <a:pt x="69850" y="198953"/>
                  <a:pt x="69850" y="193675"/>
                </a:cubicBezTo>
                <a:lnTo>
                  <a:pt x="69850" y="177800"/>
                </a:lnTo>
                <a:lnTo>
                  <a:pt x="92075" y="177800"/>
                </a:lnTo>
                <a:lnTo>
                  <a:pt x="92075" y="193675"/>
                </a:lnTo>
                <a:cubicBezTo>
                  <a:pt x="92075" y="198953"/>
                  <a:pt x="96322" y="203200"/>
                  <a:pt x="101600" y="203200"/>
                </a:cubicBezTo>
                <a:cubicBezTo>
                  <a:pt x="106878" y="203200"/>
                  <a:pt x="111125" y="198953"/>
                  <a:pt x="111125" y="193675"/>
                </a:cubicBezTo>
                <a:lnTo>
                  <a:pt x="111125" y="177800"/>
                </a:lnTo>
                <a:lnTo>
                  <a:pt x="133350" y="177800"/>
                </a:lnTo>
                <a:lnTo>
                  <a:pt x="133350" y="193675"/>
                </a:lnTo>
                <a:cubicBezTo>
                  <a:pt x="133350" y="198953"/>
                  <a:pt x="137597" y="203200"/>
                  <a:pt x="142875" y="203200"/>
                </a:cubicBezTo>
                <a:cubicBezTo>
                  <a:pt x="148153" y="203200"/>
                  <a:pt x="152400" y="198953"/>
                  <a:pt x="152400" y="193675"/>
                </a:cubicBezTo>
                <a:lnTo>
                  <a:pt x="152400" y="177800"/>
                </a:lnTo>
                <a:cubicBezTo>
                  <a:pt x="166410" y="177800"/>
                  <a:pt x="177800" y="166410"/>
                  <a:pt x="177800" y="152400"/>
                </a:cubicBezTo>
                <a:lnTo>
                  <a:pt x="193675" y="152400"/>
                </a:lnTo>
                <a:cubicBezTo>
                  <a:pt x="198953" y="152400"/>
                  <a:pt x="203200" y="148153"/>
                  <a:pt x="203200" y="142875"/>
                </a:cubicBezTo>
                <a:cubicBezTo>
                  <a:pt x="203200" y="137597"/>
                  <a:pt x="198953" y="133350"/>
                  <a:pt x="193675" y="133350"/>
                </a:cubicBezTo>
                <a:lnTo>
                  <a:pt x="177800" y="133350"/>
                </a:lnTo>
                <a:lnTo>
                  <a:pt x="177800" y="111125"/>
                </a:lnTo>
                <a:lnTo>
                  <a:pt x="193675" y="111125"/>
                </a:lnTo>
                <a:cubicBezTo>
                  <a:pt x="198953" y="111125"/>
                  <a:pt x="203200" y="106878"/>
                  <a:pt x="203200" y="101600"/>
                </a:cubicBezTo>
                <a:cubicBezTo>
                  <a:pt x="203200" y="96322"/>
                  <a:pt x="198953" y="92075"/>
                  <a:pt x="193675" y="92075"/>
                </a:cubicBezTo>
                <a:lnTo>
                  <a:pt x="177800" y="92075"/>
                </a:lnTo>
                <a:lnTo>
                  <a:pt x="177800" y="69850"/>
                </a:lnTo>
                <a:lnTo>
                  <a:pt x="193675" y="69850"/>
                </a:lnTo>
                <a:cubicBezTo>
                  <a:pt x="198953" y="69850"/>
                  <a:pt x="203200" y="65603"/>
                  <a:pt x="203200" y="60325"/>
                </a:cubicBezTo>
                <a:cubicBezTo>
                  <a:pt x="203200" y="55047"/>
                  <a:pt x="198953" y="50800"/>
                  <a:pt x="193675" y="50800"/>
                </a:cubicBezTo>
                <a:lnTo>
                  <a:pt x="177800" y="50800"/>
                </a:lnTo>
                <a:cubicBezTo>
                  <a:pt x="177800" y="36790"/>
                  <a:pt x="166410" y="25400"/>
                  <a:pt x="152400" y="25400"/>
                </a:cubicBezTo>
                <a:lnTo>
                  <a:pt x="152400" y="9525"/>
                </a:lnTo>
                <a:cubicBezTo>
                  <a:pt x="152400" y="4247"/>
                  <a:pt x="148153" y="0"/>
                  <a:pt x="142875" y="0"/>
                </a:cubicBezTo>
                <a:cubicBezTo>
                  <a:pt x="137597" y="0"/>
                  <a:pt x="133350" y="4247"/>
                  <a:pt x="133350" y="9525"/>
                </a:cubicBezTo>
                <a:lnTo>
                  <a:pt x="133350" y="25400"/>
                </a:lnTo>
                <a:lnTo>
                  <a:pt x="111125" y="25400"/>
                </a:lnTo>
                <a:lnTo>
                  <a:pt x="111125" y="9525"/>
                </a:lnTo>
                <a:cubicBezTo>
                  <a:pt x="111125" y="4247"/>
                  <a:pt x="106878" y="0"/>
                  <a:pt x="101600" y="0"/>
                </a:cubicBezTo>
                <a:cubicBezTo>
                  <a:pt x="96322" y="0"/>
                  <a:pt x="92075" y="4247"/>
                  <a:pt x="92075" y="9525"/>
                </a:cubicBezTo>
                <a:lnTo>
                  <a:pt x="92075" y="25400"/>
                </a:lnTo>
                <a:lnTo>
                  <a:pt x="69850" y="25400"/>
                </a:lnTo>
                <a:lnTo>
                  <a:pt x="69850" y="9525"/>
                </a:lnTo>
                <a:close/>
                <a:moveTo>
                  <a:pt x="63500" y="50800"/>
                </a:moveTo>
                <a:lnTo>
                  <a:pt x="139700" y="50800"/>
                </a:lnTo>
                <a:cubicBezTo>
                  <a:pt x="146725" y="50800"/>
                  <a:pt x="152400" y="56475"/>
                  <a:pt x="152400" y="63500"/>
                </a:cubicBezTo>
                <a:lnTo>
                  <a:pt x="152400" y="139700"/>
                </a:lnTo>
                <a:cubicBezTo>
                  <a:pt x="152400" y="146725"/>
                  <a:pt x="146725" y="152400"/>
                  <a:pt x="139700" y="152400"/>
                </a:cubicBezTo>
                <a:lnTo>
                  <a:pt x="63500" y="152400"/>
                </a:lnTo>
                <a:cubicBezTo>
                  <a:pt x="56475" y="152400"/>
                  <a:pt x="50800" y="146725"/>
                  <a:pt x="50800" y="139700"/>
                </a:cubicBezTo>
                <a:lnTo>
                  <a:pt x="50800" y="63500"/>
                </a:lnTo>
                <a:cubicBezTo>
                  <a:pt x="50800" y="56475"/>
                  <a:pt x="56475" y="50800"/>
                  <a:pt x="63500" y="50800"/>
                </a:cubicBezTo>
                <a:close/>
                <a:moveTo>
                  <a:pt x="69850" y="69850"/>
                </a:moveTo>
                <a:lnTo>
                  <a:pt x="69850" y="133350"/>
                </a:lnTo>
                <a:lnTo>
                  <a:pt x="133350" y="133350"/>
                </a:lnTo>
                <a:lnTo>
                  <a:pt x="133350" y="69850"/>
                </a:lnTo>
                <a:lnTo>
                  <a:pt x="69850" y="69850"/>
                </a:lnTo>
                <a:close/>
              </a:path>
            </a:pathLst>
          </a:custGeom>
          <a:solidFill>
            <a:srgbClr val="FF8904"/>
          </a:solidFill>
          <a:ln/>
        </p:spPr>
      </p:sp>
      <p:sp>
        <p:nvSpPr>
          <p:cNvPr id="78" name="Text 63"/>
          <p:cNvSpPr/>
          <p:nvPr/>
        </p:nvSpPr>
        <p:spPr>
          <a:xfrm>
            <a:off x="2108200" y="4876800"/>
            <a:ext cx="24384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fr-FR" sz="1400" b="1" smtClean="0">
                <a:solidFill>
                  <a:srgbClr val="FFFFF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Automate S7-300 (ESCLAVE)</a:t>
            </a:r>
            <a:endParaRPr lang="fr-FR" sz="1600" dirty="0"/>
          </a:p>
        </p:txBody>
      </p:sp>
      <p:sp>
        <p:nvSpPr>
          <p:cNvPr id="79" name="Shape 64"/>
          <p:cNvSpPr/>
          <p:nvPr/>
        </p:nvSpPr>
        <p:spPr>
          <a:xfrm>
            <a:off x="1568450" y="5321300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58073" y="2828"/>
                </a:moveTo>
                <a:cubicBezTo>
                  <a:pt x="58966" y="-1578"/>
                  <a:pt x="62865" y="-4762"/>
                  <a:pt x="67389" y="-4762"/>
                </a:cubicBezTo>
                <a:lnTo>
                  <a:pt x="85189" y="-4762"/>
                </a:lnTo>
                <a:cubicBezTo>
                  <a:pt x="89714" y="-4762"/>
                  <a:pt x="93613" y="-1578"/>
                  <a:pt x="94506" y="2828"/>
                </a:cubicBezTo>
                <a:lnTo>
                  <a:pt x="98822" y="23664"/>
                </a:lnTo>
                <a:cubicBezTo>
                  <a:pt x="103019" y="25450"/>
                  <a:pt x="106948" y="27742"/>
                  <a:pt x="110520" y="30450"/>
                </a:cubicBezTo>
                <a:lnTo>
                  <a:pt x="130701" y="23753"/>
                </a:lnTo>
                <a:cubicBezTo>
                  <a:pt x="134987" y="22324"/>
                  <a:pt x="139690" y="24110"/>
                  <a:pt x="141952" y="28039"/>
                </a:cubicBezTo>
                <a:lnTo>
                  <a:pt x="150852" y="43458"/>
                </a:lnTo>
                <a:cubicBezTo>
                  <a:pt x="153114" y="47387"/>
                  <a:pt x="152311" y="52328"/>
                  <a:pt x="148917" y="55334"/>
                </a:cubicBezTo>
                <a:lnTo>
                  <a:pt x="133052" y="69443"/>
                </a:lnTo>
                <a:cubicBezTo>
                  <a:pt x="133320" y="71646"/>
                  <a:pt x="133439" y="73908"/>
                  <a:pt x="133439" y="76200"/>
                </a:cubicBezTo>
                <a:cubicBezTo>
                  <a:pt x="133439" y="78492"/>
                  <a:pt x="133290" y="80754"/>
                  <a:pt x="133052" y="82957"/>
                </a:cubicBezTo>
                <a:lnTo>
                  <a:pt x="148947" y="97095"/>
                </a:lnTo>
                <a:cubicBezTo>
                  <a:pt x="152340" y="100102"/>
                  <a:pt x="153114" y="105073"/>
                  <a:pt x="150882" y="108972"/>
                </a:cubicBezTo>
                <a:lnTo>
                  <a:pt x="141982" y="124391"/>
                </a:lnTo>
                <a:cubicBezTo>
                  <a:pt x="139720" y="128290"/>
                  <a:pt x="135017" y="130106"/>
                  <a:pt x="130731" y="128677"/>
                </a:cubicBezTo>
                <a:lnTo>
                  <a:pt x="110550" y="121980"/>
                </a:lnTo>
                <a:cubicBezTo>
                  <a:pt x="106948" y="124688"/>
                  <a:pt x="103019" y="126950"/>
                  <a:pt x="98852" y="128766"/>
                </a:cubicBezTo>
                <a:lnTo>
                  <a:pt x="94565" y="149572"/>
                </a:lnTo>
                <a:cubicBezTo>
                  <a:pt x="93643" y="154007"/>
                  <a:pt x="89743" y="157163"/>
                  <a:pt x="85249" y="157163"/>
                </a:cubicBezTo>
                <a:lnTo>
                  <a:pt x="67449" y="157163"/>
                </a:lnTo>
                <a:cubicBezTo>
                  <a:pt x="62925" y="157163"/>
                  <a:pt x="59025" y="153978"/>
                  <a:pt x="58132" y="149572"/>
                </a:cubicBezTo>
                <a:lnTo>
                  <a:pt x="53846" y="128766"/>
                </a:lnTo>
                <a:cubicBezTo>
                  <a:pt x="49649" y="126980"/>
                  <a:pt x="45750" y="124688"/>
                  <a:pt x="42148" y="121980"/>
                </a:cubicBezTo>
                <a:lnTo>
                  <a:pt x="21878" y="128677"/>
                </a:lnTo>
                <a:cubicBezTo>
                  <a:pt x="17591" y="130106"/>
                  <a:pt x="12889" y="128320"/>
                  <a:pt x="10626" y="124391"/>
                </a:cubicBezTo>
                <a:lnTo>
                  <a:pt x="1726" y="108972"/>
                </a:lnTo>
                <a:cubicBezTo>
                  <a:pt x="-536" y="105043"/>
                  <a:pt x="268" y="100102"/>
                  <a:pt x="3661" y="97095"/>
                </a:cubicBezTo>
                <a:lnTo>
                  <a:pt x="19556" y="82957"/>
                </a:lnTo>
                <a:cubicBezTo>
                  <a:pt x="19288" y="80754"/>
                  <a:pt x="19169" y="78492"/>
                  <a:pt x="19169" y="76200"/>
                </a:cubicBezTo>
                <a:cubicBezTo>
                  <a:pt x="19169" y="73908"/>
                  <a:pt x="19318" y="71646"/>
                  <a:pt x="19556" y="69443"/>
                </a:cubicBezTo>
                <a:lnTo>
                  <a:pt x="3661" y="55305"/>
                </a:lnTo>
                <a:cubicBezTo>
                  <a:pt x="268" y="52298"/>
                  <a:pt x="-506" y="47327"/>
                  <a:pt x="1726" y="43428"/>
                </a:cubicBezTo>
                <a:lnTo>
                  <a:pt x="10626" y="28009"/>
                </a:lnTo>
                <a:cubicBezTo>
                  <a:pt x="12889" y="24080"/>
                  <a:pt x="17591" y="22294"/>
                  <a:pt x="21878" y="23723"/>
                </a:cubicBezTo>
                <a:lnTo>
                  <a:pt x="42059" y="30420"/>
                </a:lnTo>
                <a:cubicBezTo>
                  <a:pt x="45660" y="27712"/>
                  <a:pt x="49590" y="25450"/>
                  <a:pt x="53757" y="23634"/>
                </a:cubicBezTo>
                <a:lnTo>
                  <a:pt x="58073" y="2828"/>
                </a:lnTo>
                <a:close/>
                <a:moveTo>
                  <a:pt x="76289" y="100013"/>
                </a:moveTo>
                <a:cubicBezTo>
                  <a:pt x="84797" y="99981"/>
                  <a:pt x="92641" y="95412"/>
                  <a:pt x="96867" y="88029"/>
                </a:cubicBezTo>
                <a:cubicBezTo>
                  <a:pt x="101093" y="80645"/>
                  <a:pt x="101059" y="71568"/>
                  <a:pt x="96778" y="64216"/>
                </a:cubicBezTo>
                <a:cubicBezTo>
                  <a:pt x="92496" y="56865"/>
                  <a:pt x="84618" y="52356"/>
                  <a:pt x="76111" y="52387"/>
                </a:cubicBezTo>
                <a:cubicBezTo>
                  <a:pt x="67603" y="52419"/>
                  <a:pt x="59759" y="56988"/>
                  <a:pt x="55533" y="64371"/>
                </a:cubicBezTo>
                <a:cubicBezTo>
                  <a:pt x="51307" y="71755"/>
                  <a:pt x="51341" y="80832"/>
                  <a:pt x="55622" y="88184"/>
                </a:cubicBezTo>
                <a:cubicBezTo>
                  <a:pt x="59904" y="95535"/>
                  <a:pt x="67782" y="100044"/>
                  <a:pt x="76289" y="100013"/>
                </a:cubicBezTo>
                <a:close/>
              </a:path>
            </a:pathLst>
          </a:custGeom>
          <a:solidFill>
            <a:srgbClr val="FF8904"/>
          </a:solidFill>
          <a:ln/>
        </p:spPr>
      </p:sp>
      <p:sp>
        <p:nvSpPr>
          <p:cNvPr id="80" name="Text 65"/>
          <p:cNvSpPr/>
          <p:nvPr/>
        </p:nvSpPr>
        <p:spPr>
          <a:xfrm>
            <a:off x="1790700" y="5308600"/>
            <a:ext cx="317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fr-FR" sz="1200" smtClean="0">
                <a:solidFill>
                  <a:srgbClr val="99A1A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Piloter actionneurs</a:t>
            </a:r>
            <a:endParaRPr lang="fr-FR" sz="1600" dirty="0"/>
          </a:p>
        </p:txBody>
      </p:sp>
      <p:sp>
        <p:nvSpPr>
          <p:cNvPr id="81" name="Shape 66"/>
          <p:cNvSpPr/>
          <p:nvPr/>
        </p:nvSpPr>
        <p:spPr>
          <a:xfrm>
            <a:off x="4959350" y="5321300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76200" y="0"/>
                </a:moveTo>
                <a:cubicBezTo>
                  <a:pt x="77569" y="0"/>
                  <a:pt x="78938" y="298"/>
                  <a:pt x="80189" y="863"/>
                </a:cubicBezTo>
                <a:lnTo>
                  <a:pt x="136267" y="24646"/>
                </a:lnTo>
                <a:cubicBezTo>
                  <a:pt x="142815" y="27414"/>
                  <a:pt x="147697" y="33873"/>
                  <a:pt x="147667" y="41672"/>
                </a:cubicBezTo>
                <a:cubicBezTo>
                  <a:pt x="147518" y="71199"/>
                  <a:pt x="135374" y="125224"/>
                  <a:pt x="84088" y="149781"/>
                </a:cubicBezTo>
                <a:cubicBezTo>
                  <a:pt x="79117" y="152162"/>
                  <a:pt x="73343" y="152162"/>
                  <a:pt x="68372" y="149781"/>
                </a:cubicBezTo>
                <a:cubicBezTo>
                  <a:pt x="17056" y="125224"/>
                  <a:pt x="4941" y="71199"/>
                  <a:pt x="4792" y="41672"/>
                </a:cubicBezTo>
                <a:cubicBezTo>
                  <a:pt x="4762" y="33873"/>
                  <a:pt x="9644" y="27414"/>
                  <a:pt x="16192" y="24646"/>
                </a:cubicBezTo>
                <a:lnTo>
                  <a:pt x="72241" y="863"/>
                </a:lnTo>
                <a:cubicBezTo>
                  <a:pt x="73491" y="298"/>
                  <a:pt x="74831" y="0"/>
                  <a:pt x="76200" y="0"/>
                </a:cubicBezTo>
                <a:close/>
                <a:moveTo>
                  <a:pt x="76200" y="19883"/>
                </a:moveTo>
                <a:lnTo>
                  <a:pt x="76200" y="132427"/>
                </a:lnTo>
                <a:cubicBezTo>
                  <a:pt x="117277" y="112544"/>
                  <a:pt x="128320" y="68491"/>
                  <a:pt x="128588" y="42118"/>
                </a:cubicBezTo>
                <a:lnTo>
                  <a:pt x="76200" y="19913"/>
                </a:lnTo>
                <a:lnTo>
                  <a:pt x="76200" y="19913"/>
                </a:lnTo>
                <a:close/>
              </a:path>
            </a:pathLst>
          </a:custGeom>
          <a:solidFill>
            <a:srgbClr val="FF8904"/>
          </a:solidFill>
          <a:ln/>
        </p:spPr>
      </p:sp>
      <p:sp>
        <p:nvSpPr>
          <p:cNvPr id="82" name="Text 67"/>
          <p:cNvSpPr/>
          <p:nvPr/>
        </p:nvSpPr>
        <p:spPr>
          <a:xfrm>
            <a:off x="5181600" y="5308600"/>
            <a:ext cx="317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fr-FR" sz="1200" smtClean="0">
                <a:solidFill>
                  <a:srgbClr val="99A1A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Gérer sécurités</a:t>
            </a:r>
            <a:endParaRPr lang="fr-FR" sz="1600" dirty="0"/>
          </a:p>
        </p:txBody>
      </p:sp>
      <p:sp>
        <p:nvSpPr>
          <p:cNvPr id="83" name="Shape 68"/>
          <p:cNvSpPr/>
          <p:nvPr/>
        </p:nvSpPr>
        <p:spPr>
          <a:xfrm>
            <a:off x="1568450" y="5562600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19050" y="28575"/>
                </a:moveTo>
                <a:cubicBezTo>
                  <a:pt x="19050" y="23306"/>
                  <a:pt x="23306" y="19050"/>
                  <a:pt x="28575" y="19050"/>
                </a:cubicBezTo>
                <a:lnTo>
                  <a:pt x="76200" y="19050"/>
                </a:lnTo>
                <a:cubicBezTo>
                  <a:pt x="81469" y="19050"/>
                  <a:pt x="85725" y="23306"/>
                  <a:pt x="85725" y="28575"/>
                </a:cubicBezTo>
                <a:lnTo>
                  <a:pt x="85725" y="114300"/>
                </a:lnTo>
                <a:lnTo>
                  <a:pt x="114300" y="114300"/>
                </a:lnTo>
                <a:lnTo>
                  <a:pt x="114300" y="76200"/>
                </a:lnTo>
                <a:cubicBezTo>
                  <a:pt x="114300" y="70931"/>
                  <a:pt x="118556" y="66675"/>
                  <a:pt x="123825" y="66675"/>
                </a:cubicBezTo>
                <a:lnTo>
                  <a:pt x="142875" y="66675"/>
                </a:lnTo>
                <a:cubicBezTo>
                  <a:pt x="148144" y="66675"/>
                  <a:pt x="152400" y="70931"/>
                  <a:pt x="152400" y="76200"/>
                </a:cubicBezTo>
                <a:cubicBezTo>
                  <a:pt x="152400" y="81469"/>
                  <a:pt x="148144" y="85725"/>
                  <a:pt x="142875" y="85725"/>
                </a:cubicBezTo>
                <a:lnTo>
                  <a:pt x="133350" y="85725"/>
                </a:lnTo>
                <a:lnTo>
                  <a:pt x="133350" y="123825"/>
                </a:lnTo>
                <a:cubicBezTo>
                  <a:pt x="133350" y="129094"/>
                  <a:pt x="129094" y="133350"/>
                  <a:pt x="123825" y="133350"/>
                </a:cubicBezTo>
                <a:lnTo>
                  <a:pt x="76200" y="133350"/>
                </a:lnTo>
                <a:cubicBezTo>
                  <a:pt x="70931" y="133350"/>
                  <a:pt x="66675" y="129094"/>
                  <a:pt x="66675" y="123825"/>
                </a:cubicBezTo>
                <a:lnTo>
                  <a:pt x="66675" y="38100"/>
                </a:lnTo>
                <a:lnTo>
                  <a:pt x="38100" y="38100"/>
                </a:lnTo>
                <a:lnTo>
                  <a:pt x="38100" y="76200"/>
                </a:lnTo>
                <a:cubicBezTo>
                  <a:pt x="38100" y="81469"/>
                  <a:pt x="33844" y="85725"/>
                  <a:pt x="28575" y="85725"/>
                </a:cubicBezTo>
                <a:lnTo>
                  <a:pt x="9525" y="85725"/>
                </a:lnTo>
                <a:cubicBezTo>
                  <a:pt x="4256" y="85725"/>
                  <a:pt x="0" y="81469"/>
                  <a:pt x="0" y="76200"/>
                </a:cubicBezTo>
                <a:cubicBezTo>
                  <a:pt x="0" y="70931"/>
                  <a:pt x="4256" y="66675"/>
                  <a:pt x="9525" y="66675"/>
                </a:cubicBezTo>
                <a:lnTo>
                  <a:pt x="19050" y="66675"/>
                </a:lnTo>
                <a:lnTo>
                  <a:pt x="19050" y="28575"/>
                </a:lnTo>
                <a:close/>
              </a:path>
            </a:pathLst>
          </a:custGeom>
          <a:solidFill>
            <a:srgbClr val="FF8904"/>
          </a:solidFill>
          <a:ln/>
        </p:spPr>
      </p:sp>
      <p:sp>
        <p:nvSpPr>
          <p:cNvPr id="84" name="Text 69"/>
          <p:cNvSpPr/>
          <p:nvPr/>
        </p:nvSpPr>
        <p:spPr>
          <a:xfrm>
            <a:off x="1790700" y="5549900"/>
            <a:ext cx="317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fr-FR" sz="1200" smtClean="0">
                <a:solidFill>
                  <a:srgbClr val="99A1A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Acquisition capteurs</a:t>
            </a:r>
            <a:endParaRPr lang="fr-FR" sz="1600" dirty="0"/>
          </a:p>
        </p:txBody>
      </p:sp>
      <p:sp>
        <p:nvSpPr>
          <p:cNvPr id="85" name="Shape 70"/>
          <p:cNvSpPr/>
          <p:nvPr/>
        </p:nvSpPr>
        <p:spPr>
          <a:xfrm>
            <a:off x="4959350" y="5562600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149602" y="44827"/>
                </a:moveTo>
                <a:lnTo>
                  <a:pt x="121027" y="73402"/>
                </a:lnTo>
                <a:cubicBezTo>
                  <a:pt x="118289" y="76140"/>
                  <a:pt x="114211" y="76944"/>
                  <a:pt x="110639" y="75456"/>
                </a:cubicBezTo>
                <a:cubicBezTo>
                  <a:pt x="107067" y="73968"/>
                  <a:pt x="104775" y="70515"/>
                  <a:pt x="104775" y="66675"/>
                </a:cubicBezTo>
                <a:lnTo>
                  <a:pt x="104775" y="47625"/>
                </a:lnTo>
                <a:lnTo>
                  <a:pt x="9525" y="47625"/>
                </a:lnTo>
                <a:cubicBezTo>
                  <a:pt x="4256" y="47625"/>
                  <a:pt x="0" y="43369"/>
                  <a:pt x="0" y="38100"/>
                </a:cubicBezTo>
                <a:cubicBezTo>
                  <a:pt x="0" y="32831"/>
                  <a:pt x="4256" y="28575"/>
                  <a:pt x="9525" y="28575"/>
                </a:cubicBezTo>
                <a:lnTo>
                  <a:pt x="104775" y="28575"/>
                </a:lnTo>
                <a:lnTo>
                  <a:pt x="104775" y="9525"/>
                </a:lnTo>
                <a:cubicBezTo>
                  <a:pt x="104775" y="5685"/>
                  <a:pt x="107097" y="2203"/>
                  <a:pt x="110669" y="714"/>
                </a:cubicBezTo>
                <a:cubicBezTo>
                  <a:pt x="114240" y="-774"/>
                  <a:pt x="118318" y="60"/>
                  <a:pt x="121057" y="2768"/>
                </a:cubicBezTo>
                <a:lnTo>
                  <a:pt x="149632" y="31343"/>
                </a:lnTo>
                <a:cubicBezTo>
                  <a:pt x="153353" y="35064"/>
                  <a:pt x="153353" y="41106"/>
                  <a:pt x="149632" y="44827"/>
                </a:cubicBezTo>
                <a:close/>
                <a:moveTo>
                  <a:pt x="31343" y="149602"/>
                </a:moveTo>
                <a:lnTo>
                  <a:pt x="2768" y="121027"/>
                </a:lnTo>
                <a:cubicBezTo>
                  <a:pt x="-952" y="117306"/>
                  <a:pt x="-952" y="111264"/>
                  <a:pt x="2768" y="107543"/>
                </a:cubicBezTo>
                <a:lnTo>
                  <a:pt x="31343" y="78968"/>
                </a:lnTo>
                <a:cubicBezTo>
                  <a:pt x="34082" y="76230"/>
                  <a:pt x="38160" y="75426"/>
                  <a:pt x="41731" y="76914"/>
                </a:cubicBezTo>
                <a:cubicBezTo>
                  <a:pt x="45303" y="78403"/>
                  <a:pt x="47625" y="81885"/>
                  <a:pt x="47625" y="85725"/>
                </a:cubicBezTo>
                <a:lnTo>
                  <a:pt x="47625" y="104775"/>
                </a:lnTo>
                <a:lnTo>
                  <a:pt x="142875" y="104775"/>
                </a:lnTo>
                <a:cubicBezTo>
                  <a:pt x="148144" y="104775"/>
                  <a:pt x="152400" y="109031"/>
                  <a:pt x="152400" y="114300"/>
                </a:cubicBezTo>
                <a:cubicBezTo>
                  <a:pt x="152400" y="119569"/>
                  <a:pt x="148144" y="123825"/>
                  <a:pt x="142875" y="123825"/>
                </a:cubicBezTo>
                <a:lnTo>
                  <a:pt x="47625" y="123825"/>
                </a:lnTo>
                <a:lnTo>
                  <a:pt x="47625" y="142875"/>
                </a:lnTo>
                <a:cubicBezTo>
                  <a:pt x="47625" y="146715"/>
                  <a:pt x="45303" y="150197"/>
                  <a:pt x="41731" y="151686"/>
                </a:cubicBezTo>
                <a:cubicBezTo>
                  <a:pt x="38160" y="153174"/>
                  <a:pt x="34082" y="152340"/>
                  <a:pt x="31343" y="149632"/>
                </a:cubicBezTo>
                <a:close/>
              </a:path>
            </a:pathLst>
          </a:custGeom>
          <a:solidFill>
            <a:srgbClr val="FF8904"/>
          </a:solidFill>
          <a:ln/>
        </p:spPr>
      </p:sp>
      <p:sp>
        <p:nvSpPr>
          <p:cNvPr id="86" name="Text 71"/>
          <p:cNvSpPr/>
          <p:nvPr/>
        </p:nvSpPr>
        <p:spPr>
          <a:xfrm>
            <a:off x="5181600" y="5549900"/>
            <a:ext cx="317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fr-FR" sz="1200" smtClean="0">
                <a:solidFill>
                  <a:srgbClr val="99A1A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Traiter données</a:t>
            </a:r>
            <a:endParaRPr lang="fr-FR" sz="1600" dirty="0"/>
          </a:p>
        </p:txBody>
      </p:sp>
      <p:sp>
        <p:nvSpPr>
          <p:cNvPr id="87" name="Shape 72"/>
          <p:cNvSpPr/>
          <p:nvPr/>
        </p:nvSpPr>
        <p:spPr>
          <a:xfrm>
            <a:off x="1174750" y="6280150"/>
            <a:ext cx="7480300" cy="1816100"/>
          </a:xfrm>
          <a:prstGeom prst="roundRect">
            <a:avLst>
              <a:gd name="adj" fmla="val 5594"/>
            </a:avLst>
          </a:prstGeom>
          <a:solidFill>
            <a:srgbClr val="FFFFFF">
              <a:alpha val="5098"/>
            </a:srgbClr>
          </a:solidFill>
          <a:ln w="12700">
            <a:solidFill>
              <a:srgbClr val="FFFFFF">
                <a:alpha val="10196"/>
              </a:srgbClr>
            </a:solidFill>
            <a:prstDash val="solid"/>
          </a:ln>
        </p:spPr>
      </p:sp>
      <p:sp>
        <p:nvSpPr>
          <p:cNvPr id="88" name="Text 73"/>
          <p:cNvSpPr/>
          <p:nvPr/>
        </p:nvSpPr>
        <p:spPr>
          <a:xfrm>
            <a:off x="1333500" y="6438900"/>
            <a:ext cx="7239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fr-FR" sz="1200" b="1" smtClean="0">
                <a:solidFill>
                  <a:srgbClr val="FBBF24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Détail des Échanges</a:t>
            </a:r>
            <a:endParaRPr lang="fr-FR" sz="1600" dirty="0"/>
          </a:p>
        </p:txBody>
      </p:sp>
      <p:sp>
        <p:nvSpPr>
          <p:cNvPr id="89" name="Shape 74"/>
          <p:cNvSpPr/>
          <p:nvPr/>
        </p:nvSpPr>
        <p:spPr>
          <a:xfrm>
            <a:off x="1333500" y="6731000"/>
            <a:ext cx="3530600" cy="1206500"/>
          </a:xfrm>
          <a:prstGeom prst="roundRect">
            <a:avLst>
              <a:gd name="adj" fmla="val 4211"/>
            </a:avLst>
          </a:prstGeom>
          <a:solidFill>
            <a:srgbClr val="2B7FFF">
              <a:alpha val="10196"/>
            </a:srgbClr>
          </a:solidFill>
          <a:ln/>
        </p:spPr>
      </p:sp>
      <p:sp>
        <p:nvSpPr>
          <p:cNvPr id="90" name="Text 75"/>
          <p:cNvSpPr/>
          <p:nvPr/>
        </p:nvSpPr>
        <p:spPr>
          <a:xfrm>
            <a:off x="1435100" y="6832600"/>
            <a:ext cx="34036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fr-FR" sz="1200" b="1" smtClean="0">
                <a:solidFill>
                  <a:srgbClr val="51A2F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PC → API</a:t>
            </a:r>
            <a:endParaRPr lang="fr-FR" sz="1600" dirty="0"/>
          </a:p>
        </p:txBody>
      </p:sp>
      <p:sp>
        <p:nvSpPr>
          <p:cNvPr id="91" name="Text 76"/>
          <p:cNvSpPr/>
          <p:nvPr/>
        </p:nvSpPr>
        <p:spPr>
          <a:xfrm>
            <a:off x="1435100" y="7073900"/>
            <a:ext cx="34036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fr-FR" sz="1200" smtClean="0">
                <a:solidFill>
                  <a:srgbClr val="99A1A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• Programme (Vérif/Calib)</a:t>
            </a:r>
            <a:endParaRPr lang="fr-FR" sz="1600" dirty="0"/>
          </a:p>
        </p:txBody>
      </p:sp>
      <p:sp>
        <p:nvSpPr>
          <p:cNvPr id="92" name="Text 77"/>
          <p:cNvSpPr/>
          <p:nvPr/>
        </p:nvSpPr>
        <p:spPr>
          <a:xfrm>
            <a:off x="1435100" y="7350899"/>
            <a:ext cx="34036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fr-FR" sz="1200" smtClean="0">
                <a:solidFill>
                  <a:srgbClr val="99A1A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• Plage de couple</a:t>
            </a:r>
            <a:endParaRPr lang="fr-FR" sz="1600" dirty="0"/>
          </a:p>
        </p:txBody>
      </p:sp>
      <p:sp>
        <p:nvSpPr>
          <p:cNvPr id="94" name="Text 79"/>
          <p:cNvSpPr/>
          <p:nvPr/>
        </p:nvSpPr>
        <p:spPr>
          <a:xfrm>
            <a:off x="1435100" y="7620686"/>
            <a:ext cx="34036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fr-FR" sz="1200" smtClean="0">
                <a:solidFill>
                  <a:srgbClr val="99A1A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• Lancement cycle</a:t>
            </a:r>
            <a:endParaRPr lang="fr-FR" sz="1600" dirty="0"/>
          </a:p>
        </p:txBody>
      </p:sp>
      <p:sp>
        <p:nvSpPr>
          <p:cNvPr id="95" name="Shape 80"/>
          <p:cNvSpPr/>
          <p:nvPr/>
        </p:nvSpPr>
        <p:spPr>
          <a:xfrm>
            <a:off x="4965700" y="6731000"/>
            <a:ext cx="3530600" cy="1206500"/>
          </a:xfrm>
          <a:prstGeom prst="roundRect">
            <a:avLst>
              <a:gd name="adj" fmla="val 4211"/>
            </a:avLst>
          </a:prstGeom>
          <a:solidFill>
            <a:srgbClr val="FF6900">
              <a:alpha val="10196"/>
            </a:srgbClr>
          </a:solidFill>
          <a:ln/>
        </p:spPr>
      </p:sp>
      <p:sp>
        <p:nvSpPr>
          <p:cNvPr id="96" name="Text 81"/>
          <p:cNvSpPr/>
          <p:nvPr/>
        </p:nvSpPr>
        <p:spPr>
          <a:xfrm>
            <a:off x="5067300" y="6832600"/>
            <a:ext cx="34036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fr-FR" sz="1200" b="1" smtClean="0">
                <a:solidFill>
                  <a:srgbClr val="FF8904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API → PC</a:t>
            </a:r>
            <a:endParaRPr lang="fr-FR" sz="1600" dirty="0"/>
          </a:p>
        </p:txBody>
      </p:sp>
      <p:sp>
        <p:nvSpPr>
          <p:cNvPr id="97" name="Text 82"/>
          <p:cNvSpPr/>
          <p:nvPr/>
        </p:nvSpPr>
        <p:spPr>
          <a:xfrm>
            <a:off x="5067300" y="7073900"/>
            <a:ext cx="34036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fr-FR" sz="1200" smtClean="0">
                <a:solidFill>
                  <a:srgbClr val="99A1A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• Mesures couple (Nm)</a:t>
            </a:r>
            <a:endParaRPr lang="fr-FR" sz="1600" dirty="0"/>
          </a:p>
        </p:txBody>
      </p:sp>
      <p:sp>
        <p:nvSpPr>
          <p:cNvPr id="98" name="Text 83"/>
          <p:cNvSpPr/>
          <p:nvPr/>
        </p:nvSpPr>
        <p:spPr>
          <a:xfrm>
            <a:off x="5067300" y="7375613"/>
            <a:ext cx="34036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fr-FR" sz="1200" smtClean="0">
                <a:solidFill>
                  <a:srgbClr val="99A1A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• États du cycle</a:t>
            </a:r>
            <a:endParaRPr lang="fr-FR" sz="1600" dirty="0"/>
          </a:p>
        </p:txBody>
      </p:sp>
      <p:sp>
        <p:nvSpPr>
          <p:cNvPr id="100" name="Text 85"/>
          <p:cNvSpPr/>
          <p:nvPr/>
        </p:nvSpPr>
        <p:spPr>
          <a:xfrm>
            <a:off x="5067300" y="7645400"/>
            <a:ext cx="34036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fr-FR" sz="1200" smtClean="0">
                <a:solidFill>
                  <a:srgbClr val="99A1A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• Messages d'erreur</a:t>
            </a:r>
            <a:endParaRPr lang="fr-FR" sz="1600" dirty="0"/>
          </a:p>
        </p:txBody>
      </p:sp>
      <p:sp>
        <p:nvSpPr>
          <p:cNvPr id="101" name="Text 87"/>
          <p:cNvSpPr/>
          <p:nvPr/>
        </p:nvSpPr>
        <p:spPr>
          <a:xfrm>
            <a:off x="1371600" y="8255000"/>
            <a:ext cx="73279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fr-FR" sz="1200" dirty="0" smtClean="0">
                <a:solidFill>
                  <a:srgbClr val="6A728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Logiciel : Siemens TIA Portal / STEP 7 </a:t>
            </a:r>
            <a:r>
              <a:rPr lang="fr-FR" sz="1200" dirty="0" smtClean="0">
                <a:solidFill>
                  <a:srgbClr val="6A728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Professional (programmation)</a:t>
            </a:r>
            <a:endParaRPr lang="fr-FR" sz="1600" dirty="0"/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5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5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22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5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2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3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3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5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3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5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3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5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4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45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5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5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5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5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56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5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59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5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6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6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68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5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73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7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79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5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8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5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85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88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>
                      <p:stCondLst>
                        <p:cond delay="indefinite"/>
                      </p:stCondLst>
                      <p:childTnLst>
                        <p:par>
                          <p:cTn id="90" fill="hold">
                            <p:stCondLst>
                              <p:cond delay="0"/>
                            </p:stCondLst>
                            <p:childTnLst>
                              <p:par>
                                <p:cTn id="91" presetID="5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93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96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99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5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0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5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05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6" fill="hold">
                      <p:stCondLst>
                        <p:cond delay="indefinite"/>
                      </p:stCondLst>
                      <p:childTnLst>
                        <p:par>
                          <p:cTn id="107" fill="hold">
                            <p:stCondLst>
                              <p:cond delay="0"/>
                            </p:stCondLst>
                            <p:childTnLst>
                              <p:par>
                                <p:cTn id="108" presetID="5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10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1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13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4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16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7" presetID="5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19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5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22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3" fill="hold">
                      <p:stCondLst>
                        <p:cond delay="indefinite"/>
                      </p:stCondLst>
                      <p:childTnLst>
                        <p:par>
                          <p:cTn id="124" fill="hold">
                            <p:stCondLst>
                              <p:cond delay="0"/>
                            </p:stCondLst>
                            <p:childTnLst>
                              <p:par>
                                <p:cTn id="125" presetID="5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27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5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30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5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33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5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36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" presetID="5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39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0" fill="hold">
                      <p:stCondLst>
                        <p:cond delay="indefinite"/>
                      </p:stCondLst>
                      <p:childTnLst>
                        <p:par>
                          <p:cTn id="141" fill="hold">
                            <p:stCondLst>
                              <p:cond delay="0"/>
                            </p:stCondLst>
                            <p:childTnLst>
                              <p:par>
                                <p:cTn id="142" presetID="4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44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5" presetID="4" presetClass="entr" presetSubtype="16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47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50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1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53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56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7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59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62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3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65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6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68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9" presetID="5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71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74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5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77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80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1" presetID="5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83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4" presetID="5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86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7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89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0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92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3" presetID="5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95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6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98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9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201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2" presetID="5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204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5" presetID="5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207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8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210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1" presetID="5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213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4" presetID="5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216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7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219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0" presetID="5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222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3" presetID="5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225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6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228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9" presetID="5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231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2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234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5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237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8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240" dur="5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1" presetID="5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243" dur="5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4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246" dur="5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7" presetID="5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249" dur="5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0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252" dur="5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3" presetID="5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255" dur="5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6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258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9" presetID="5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261" dur="5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2" presetID="5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264" dur="5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5" presetID="5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267" dur="50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8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270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1" presetID="5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273" dur="5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4" presetID="5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276" dur="50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7" presetID="5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279" dur="50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0" presetID="5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282" dur="500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3" presetID="5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285" dur="500"/>
                                        <p:tgtEl>
                                          <p:spTgt spid="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6" presetID="5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288" dur="500"/>
                                        <p:tgtEl>
                                          <p:spTgt spid="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9" presetID="5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291" dur="5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2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294" dur="5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5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297" dur="5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8" presetID="5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300" dur="5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12" grpId="0" animBg="1"/>
      <p:bldP spid="13" grpId="0" animBg="1"/>
      <p:bldP spid="14" grpId="0" animBg="1"/>
      <p:bldP spid="18" grpId="0" animBg="1"/>
      <p:bldP spid="19" grpId="0" animBg="1"/>
      <p:bldP spid="20" grpId="0" animBg="1"/>
      <p:bldP spid="24" grpId="0" animBg="1"/>
      <p:bldP spid="25" grpId="0" animBg="1"/>
      <p:bldP spid="29" grpId="0" animBg="1"/>
      <p:bldP spid="30" grpId="0" animBg="1"/>
      <p:bldP spid="34" grpId="0" animBg="1"/>
      <p:bldP spid="35" grpId="0" animBg="1"/>
      <p:bldP spid="40" grpId="0" animBg="1"/>
      <p:bldP spid="41" grpId="0" animBg="1"/>
      <p:bldP spid="42" grpId="0" animBg="1"/>
      <p:bldP spid="44" grpId="0" animBg="1"/>
      <p:bldP spid="45" grpId="0" animBg="1"/>
      <p:bldP spid="46" grpId="0" animBg="1"/>
      <p:bldP spid="47" grpId="0" animBg="1"/>
      <p:bldP spid="54" grpId="0" animBg="1"/>
      <p:bldP spid="54" grpId="1" animBg="1"/>
      <p:bldP spid="56" grpId="0" animBg="1"/>
      <p:bldP spid="61" grpId="0" animBg="1"/>
      <p:bldP spid="63" grpId="0" animBg="1"/>
      <p:bldP spid="65" grpId="0" animBg="1"/>
      <p:bldP spid="67" grpId="0" animBg="1"/>
      <p:bldP spid="69" grpId="0" animBg="1"/>
      <p:bldP spid="70" grpId="0" animBg="1"/>
      <p:bldP spid="71" grpId="0" animBg="1"/>
      <p:bldP spid="73" grpId="0" animBg="1"/>
      <p:bldP spid="74" grpId="0" animBg="1"/>
      <p:bldP spid="78" grpId="0" animBg="1"/>
      <p:bldP spid="80" grpId="0" animBg="1"/>
      <p:bldP spid="82" grpId="0" animBg="1"/>
      <p:bldP spid="84" grpId="0" animBg="1"/>
      <p:bldP spid="86" grpId="0" animBg="1"/>
      <p:bldP spid="88" grpId="0" animBg="1"/>
      <p:bldP spid="90" grpId="0" animBg="1"/>
      <p:bldP spid="91" grpId="0" animBg="1"/>
      <p:bldP spid="92" grpId="0" animBg="1"/>
      <p:bldP spid="94" grpId="0" animBg="1"/>
      <p:bldP spid="96" grpId="0" animBg="1"/>
      <p:bldP spid="97" grpId="0" animBg="1"/>
      <p:bldP spid="98" grpId="0" animBg="1"/>
      <p:bldP spid="100" grpId="0" animBg="1"/>
      <p:bldP spid="101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8000" y="508000"/>
            <a:ext cx="153289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fr-FR" sz="1400" b="1" kern="0" spc="140" smtClean="0">
                <a:solidFill>
                  <a:srgbClr val="E89F5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04. ANALYSE FONCTIONNELLE</a:t>
            </a:r>
            <a:endParaRPr lang="fr-FR" sz="1600" dirty="0"/>
          </a:p>
        </p:txBody>
      </p:sp>
      <p:sp>
        <p:nvSpPr>
          <p:cNvPr id="3" name="Text 1"/>
          <p:cNvSpPr/>
          <p:nvPr/>
        </p:nvSpPr>
        <p:spPr>
          <a:xfrm>
            <a:off x="508000" y="863600"/>
            <a:ext cx="154686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fr-FR" sz="3600" b="1" smtClean="0">
                <a:solidFill>
                  <a:srgbClr val="E8E8E8"/>
                </a:solidFill>
                <a:latin typeface="Hedvig Letters Sans" pitchFamily="34" charset="0"/>
                <a:ea typeface="Hedvig Letters Sans" pitchFamily="34" charset="-122"/>
                <a:cs typeface="Hedvig Letters Sans" pitchFamily="34" charset="-120"/>
              </a:rPr>
              <a:t>Décomposition Fonctionnelle</a:t>
            </a:r>
            <a:endParaRPr lang="fr-FR" sz="1600" dirty="0"/>
          </a:p>
        </p:txBody>
      </p:sp>
      <p:sp>
        <p:nvSpPr>
          <p:cNvPr id="4" name="Shape 2"/>
          <p:cNvSpPr/>
          <p:nvPr/>
        </p:nvSpPr>
        <p:spPr>
          <a:xfrm>
            <a:off x="520700" y="1689100"/>
            <a:ext cx="15214600" cy="2209800"/>
          </a:xfrm>
          <a:custGeom>
            <a:avLst/>
            <a:gdLst/>
            <a:ahLst/>
            <a:cxnLst/>
            <a:rect l="l" t="t" r="r" b="b"/>
            <a:pathLst>
              <a:path w="15214600" h="2209800">
                <a:moveTo>
                  <a:pt x="101607" y="0"/>
                </a:moveTo>
                <a:lnTo>
                  <a:pt x="15112993" y="0"/>
                </a:lnTo>
                <a:cubicBezTo>
                  <a:pt x="15169109" y="0"/>
                  <a:pt x="15214600" y="45491"/>
                  <a:pt x="15214600" y="101607"/>
                </a:cubicBezTo>
                <a:lnTo>
                  <a:pt x="15214600" y="2108193"/>
                </a:lnTo>
                <a:cubicBezTo>
                  <a:pt x="15214600" y="2164309"/>
                  <a:pt x="15169109" y="2209800"/>
                  <a:pt x="15112993" y="2209800"/>
                </a:cubicBezTo>
                <a:lnTo>
                  <a:pt x="101607" y="2209800"/>
                </a:lnTo>
                <a:cubicBezTo>
                  <a:pt x="45491" y="2209800"/>
                  <a:pt x="0" y="2164309"/>
                  <a:pt x="0" y="2108193"/>
                </a:cubicBezTo>
                <a:lnTo>
                  <a:pt x="0" y="101607"/>
                </a:lnTo>
                <a:cubicBezTo>
                  <a:pt x="0" y="45528"/>
                  <a:pt x="45528" y="0"/>
                  <a:pt x="101607" y="0"/>
                </a:cubicBezTo>
                <a:close/>
              </a:path>
            </a:pathLst>
          </a:custGeom>
          <a:gradFill flip="none" rotWithShape="1">
            <a:gsLst>
              <a:gs pos="0">
                <a:srgbClr val="E89F5B">
                  <a:alpha val="30000"/>
                </a:srgbClr>
              </a:gs>
              <a:gs pos="100000">
                <a:srgbClr val="E89F5B">
                  <a:alpha val="10000"/>
                </a:srgbClr>
              </a:gs>
            </a:gsLst>
            <a:lin ang="0" scaled="1"/>
          </a:gradFill>
          <a:ln w="25400">
            <a:solidFill>
              <a:srgbClr val="E89F5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87400" y="1955800"/>
            <a:ext cx="711200" cy="711200"/>
          </a:xfrm>
          <a:custGeom>
            <a:avLst/>
            <a:gdLst/>
            <a:ahLst/>
            <a:cxnLst/>
            <a:rect l="l" t="t" r="r" b="b"/>
            <a:pathLst>
              <a:path w="711200" h="711200">
                <a:moveTo>
                  <a:pt x="355600" y="0"/>
                </a:moveTo>
                <a:lnTo>
                  <a:pt x="355600" y="0"/>
                </a:lnTo>
                <a:cubicBezTo>
                  <a:pt x="551861" y="0"/>
                  <a:pt x="711200" y="159339"/>
                  <a:pt x="711200" y="355600"/>
                </a:cubicBezTo>
                <a:lnTo>
                  <a:pt x="711200" y="355600"/>
                </a:lnTo>
                <a:cubicBezTo>
                  <a:pt x="711200" y="551861"/>
                  <a:pt x="551861" y="711200"/>
                  <a:pt x="355600" y="711200"/>
                </a:cubicBezTo>
                <a:lnTo>
                  <a:pt x="355600" y="711200"/>
                </a:lnTo>
                <a:cubicBezTo>
                  <a:pt x="159339" y="711200"/>
                  <a:pt x="0" y="551861"/>
                  <a:pt x="0" y="355600"/>
                </a:cubicBezTo>
                <a:lnTo>
                  <a:pt x="0" y="355600"/>
                </a:lnTo>
                <a:cubicBezTo>
                  <a:pt x="0" y="159339"/>
                  <a:pt x="159339" y="0"/>
                  <a:pt x="355600" y="0"/>
                </a:cubicBezTo>
                <a:close/>
              </a:path>
            </a:pathLst>
          </a:custGeom>
          <a:solidFill>
            <a:srgbClr val="E89F5B"/>
          </a:solidFill>
          <a:ln/>
        </p:spPr>
      </p:sp>
      <p:sp>
        <p:nvSpPr>
          <p:cNvPr id="6" name="Shape 4"/>
          <p:cNvSpPr/>
          <p:nvPr/>
        </p:nvSpPr>
        <p:spPr>
          <a:xfrm>
            <a:off x="990600" y="21590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266700" y="152400"/>
                </a:moveTo>
                <a:cubicBezTo>
                  <a:pt x="266700" y="89316"/>
                  <a:pt x="215484" y="38100"/>
                  <a:pt x="152400" y="38100"/>
                </a:cubicBezTo>
                <a:cubicBezTo>
                  <a:pt x="89316" y="38100"/>
                  <a:pt x="38100" y="89316"/>
                  <a:pt x="38100" y="152400"/>
                </a:cubicBezTo>
                <a:cubicBezTo>
                  <a:pt x="38100" y="215484"/>
                  <a:pt x="89316" y="266700"/>
                  <a:pt x="152400" y="266700"/>
                </a:cubicBezTo>
                <a:cubicBezTo>
                  <a:pt x="215484" y="266700"/>
                  <a:pt x="266700" y="215484"/>
                  <a:pt x="266700" y="152400"/>
                </a:cubicBezTo>
                <a:close/>
                <a:moveTo>
                  <a:pt x="0" y="152400"/>
                </a:moveTo>
                <a:cubicBezTo>
                  <a:pt x="0" y="68288"/>
                  <a:pt x="68288" y="0"/>
                  <a:pt x="152400" y="0"/>
                </a:cubicBezTo>
                <a:cubicBezTo>
                  <a:pt x="236512" y="0"/>
                  <a:pt x="304800" y="68288"/>
                  <a:pt x="304800" y="152400"/>
                </a:cubicBezTo>
                <a:cubicBezTo>
                  <a:pt x="304800" y="236512"/>
                  <a:pt x="236512" y="304800"/>
                  <a:pt x="152400" y="304800"/>
                </a:cubicBezTo>
                <a:cubicBezTo>
                  <a:pt x="68288" y="304800"/>
                  <a:pt x="0" y="236512"/>
                  <a:pt x="0" y="152400"/>
                </a:cubicBezTo>
                <a:close/>
                <a:moveTo>
                  <a:pt x="152400" y="200025"/>
                </a:moveTo>
                <a:cubicBezTo>
                  <a:pt x="178685" y="200025"/>
                  <a:pt x="200025" y="178685"/>
                  <a:pt x="200025" y="152400"/>
                </a:cubicBezTo>
                <a:cubicBezTo>
                  <a:pt x="200025" y="126115"/>
                  <a:pt x="178685" y="104775"/>
                  <a:pt x="152400" y="104775"/>
                </a:cubicBezTo>
                <a:cubicBezTo>
                  <a:pt x="126115" y="104775"/>
                  <a:pt x="104775" y="126115"/>
                  <a:pt x="104775" y="152400"/>
                </a:cubicBezTo>
                <a:cubicBezTo>
                  <a:pt x="104775" y="178685"/>
                  <a:pt x="126115" y="200025"/>
                  <a:pt x="152400" y="200025"/>
                </a:cubicBezTo>
                <a:close/>
                <a:moveTo>
                  <a:pt x="152400" y="66675"/>
                </a:moveTo>
                <a:cubicBezTo>
                  <a:pt x="199713" y="66675"/>
                  <a:pt x="238125" y="105087"/>
                  <a:pt x="238125" y="152400"/>
                </a:cubicBezTo>
                <a:cubicBezTo>
                  <a:pt x="238125" y="199713"/>
                  <a:pt x="199713" y="238125"/>
                  <a:pt x="152400" y="238125"/>
                </a:cubicBezTo>
                <a:cubicBezTo>
                  <a:pt x="105087" y="238125"/>
                  <a:pt x="66675" y="199713"/>
                  <a:pt x="66675" y="152400"/>
                </a:cubicBezTo>
                <a:cubicBezTo>
                  <a:pt x="66675" y="105087"/>
                  <a:pt x="105087" y="66675"/>
                  <a:pt x="152400" y="66675"/>
                </a:cubicBezTo>
                <a:close/>
                <a:moveTo>
                  <a:pt x="133350" y="152400"/>
                </a:moveTo>
                <a:cubicBezTo>
                  <a:pt x="133350" y="141886"/>
                  <a:pt x="141886" y="133350"/>
                  <a:pt x="152400" y="133350"/>
                </a:cubicBezTo>
                <a:cubicBezTo>
                  <a:pt x="162914" y="133350"/>
                  <a:pt x="171450" y="141886"/>
                  <a:pt x="171450" y="152400"/>
                </a:cubicBezTo>
                <a:cubicBezTo>
                  <a:pt x="171450" y="162914"/>
                  <a:pt x="162914" y="171450"/>
                  <a:pt x="152400" y="171450"/>
                </a:cubicBezTo>
                <a:cubicBezTo>
                  <a:pt x="141886" y="171450"/>
                  <a:pt x="133350" y="162914"/>
                  <a:pt x="133350" y="152400"/>
                </a:cubicBezTo>
                <a:close/>
              </a:path>
            </a:pathLst>
          </a:custGeom>
          <a:solidFill>
            <a:srgbClr val="1A1D21"/>
          </a:solidFill>
          <a:ln/>
        </p:spPr>
      </p:sp>
      <p:sp>
        <p:nvSpPr>
          <p:cNvPr id="7" name="Text 5"/>
          <p:cNvSpPr/>
          <p:nvPr/>
        </p:nvSpPr>
        <p:spPr>
          <a:xfrm>
            <a:off x="1701800" y="2114550"/>
            <a:ext cx="2552700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fr-FR" sz="2400" b="1" smtClean="0">
                <a:solidFill>
                  <a:srgbClr val="E8E8E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Fonction Globale</a:t>
            </a:r>
            <a:endParaRPr lang="fr-FR" sz="1600" dirty="0"/>
          </a:p>
        </p:txBody>
      </p:sp>
      <p:sp>
        <p:nvSpPr>
          <p:cNvPr id="8" name="Text 6"/>
          <p:cNvSpPr/>
          <p:nvPr/>
        </p:nvSpPr>
        <p:spPr>
          <a:xfrm>
            <a:off x="723900" y="2819400"/>
            <a:ext cx="14808200" cy="812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40000"/>
              </a:lnSpc>
            </a:pPr>
            <a:r>
              <a:rPr lang="fr-FR" sz="2000" dirty="0" smtClean="0">
                <a:solidFill>
                  <a:srgbClr val="E8E8E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Assurer automatiquement la </a:t>
            </a:r>
            <a:r>
              <a:rPr lang="fr-FR" sz="2000" b="1" dirty="0" smtClean="0">
                <a:solidFill>
                  <a:srgbClr val="E89F5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vérification</a:t>
            </a:r>
            <a:r>
              <a:rPr lang="fr-FR" sz="1600" b="1" dirty="0" smtClean="0">
                <a:solidFill>
                  <a:srgbClr val="E89F5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</a:t>
            </a:r>
            <a:r>
              <a:rPr lang="fr-FR" sz="2000" dirty="0" smtClean="0">
                <a:solidFill>
                  <a:srgbClr val="E8E8E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et la </a:t>
            </a:r>
            <a:r>
              <a:rPr lang="fr-FR" sz="2000" b="1" dirty="0" smtClean="0">
                <a:solidFill>
                  <a:srgbClr val="E89F5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calibration</a:t>
            </a:r>
            <a:r>
              <a:rPr lang="fr-FR" sz="2000" dirty="0" smtClean="0">
                <a:solidFill>
                  <a:srgbClr val="E8E8E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d'une clé dynamométrique Mt Alpha V1+, dans des conditions sécurisées et conformes à la norme </a:t>
            </a:r>
            <a:r>
              <a:rPr lang="fr-FR" sz="2000" b="1" dirty="0" smtClean="0">
                <a:solidFill>
                  <a:srgbClr val="E89F5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ISO 6789-1:2017</a:t>
            </a:r>
            <a:endParaRPr lang="fr-FR" sz="2000" b="1" dirty="0">
              <a:solidFill>
                <a:srgbClr val="E89F5B"/>
              </a:solidFill>
              <a:latin typeface="Liter" pitchFamily="34" charset="0"/>
              <a:ea typeface="Liter" pitchFamily="34" charset="-122"/>
              <a:cs typeface="Liter" pitchFamily="34" charset="-120"/>
            </a:endParaRPr>
          </a:p>
        </p:txBody>
      </p:sp>
      <p:sp>
        <p:nvSpPr>
          <p:cNvPr id="9" name="Shape 7"/>
          <p:cNvSpPr/>
          <p:nvPr/>
        </p:nvSpPr>
        <p:spPr>
          <a:xfrm>
            <a:off x="514350" y="4171950"/>
            <a:ext cx="4902200" cy="4457700"/>
          </a:xfrm>
          <a:custGeom>
            <a:avLst/>
            <a:gdLst/>
            <a:ahLst/>
            <a:cxnLst/>
            <a:rect l="l" t="t" r="r" b="b"/>
            <a:pathLst>
              <a:path w="4902200" h="4457700">
                <a:moveTo>
                  <a:pt x="101591" y="0"/>
                </a:moveTo>
                <a:lnTo>
                  <a:pt x="4800609" y="0"/>
                </a:lnTo>
                <a:cubicBezTo>
                  <a:pt x="4856716" y="0"/>
                  <a:pt x="4902200" y="45484"/>
                  <a:pt x="4902200" y="101591"/>
                </a:cubicBezTo>
                <a:lnTo>
                  <a:pt x="4902200" y="4356109"/>
                </a:lnTo>
                <a:cubicBezTo>
                  <a:pt x="4902200" y="4412216"/>
                  <a:pt x="4856716" y="4457700"/>
                  <a:pt x="4800609" y="4457700"/>
                </a:cubicBezTo>
                <a:lnTo>
                  <a:pt x="101591" y="4457700"/>
                </a:lnTo>
                <a:cubicBezTo>
                  <a:pt x="45484" y="4457700"/>
                  <a:pt x="0" y="4412216"/>
                  <a:pt x="0" y="4356109"/>
                </a:cubicBezTo>
                <a:lnTo>
                  <a:pt x="0" y="101591"/>
                </a:lnTo>
                <a:cubicBezTo>
                  <a:pt x="0" y="45521"/>
                  <a:pt x="45521" y="0"/>
                  <a:pt x="101591" y="0"/>
                </a:cubicBezTo>
                <a:close/>
              </a:path>
            </a:pathLst>
          </a:custGeom>
          <a:solidFill>
            <a:srgbClr val="4A6C8C">
              <a:alpha val="10196"/>
            </a:srgbClr>
          </a:solidFill>
          <a:ln w="12700">
            <a:solidFill>
              <a:srgbClr val="4A6C8C">
                <a:alpha val="30196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4700" y="4432300"/>
            <a:ext cx="609600" cy="609600"/>
          </a:xfrm>
          <a:custGeom>
            <a:avLst/>
            <a:gdLst/>
            <a:ahLst/>
            <a:cxnLst/>
            <a:rect l="l" t="t" r="r" b="b"/>
            <a:pathLst>
              <a:path w="609600" h="609600">
                <a:moveTo>
                  <a:pt x="50798" y="0"/>
                </a:moveTo>
                <a:lnTo>
                  <a:pt x="558802" y="0"/>
                </a:lnTo>
                <a:cubicBezTo>
                  <a:pt x="586857" y="0"/>
                  <a:pt x="609600" y="22743"/>
                  <a:pt x="609600" y="50798"/>
                </a:cubicBezTo>
                <a:lnTo>
                  <a:pt x="609600" y="558802"/>
                </a:lnTo>
                <a:cubicBezTo>
                  <a:pt x="609600" y="586857"/>
                  <a:pt x="586857" y="609600"/>
                  <a:pt x="558802" y="609600"/>
                </a:cubicBezTo>
                <a:lnTo>
                  <a:pt x="50798" y="609600"/>
                </a:lnTo>
                <a:cubicBezTo>
                  <a:pt x="22743" y="609600"/>
                  <a:pt x="0" y="586857"/>
                  <a:pt x="0" y="558802"/>
                </a:cubicBezTo>
                <a:lnTo>
                  <a:pt x="0" y="50798"/>
                </a:lnTo>
                <a:cubicBezTo>
                  <a:pt x="0" y="22762"/>
                  <a:pt x="22762" y="0"/>
                  <a:pt x="50798" y="0"/>
                </a:cubicBezTo>
                <a:close/>
              </a:path>
            </a:pathLst>
          </a:custGeom>
          <a:solidFill>
            <a:srgbClr val="E89F5B"/>
          </a:solidFill>
          <a:ln/>
        </p:spPr>
      </p:sp>
      <p:sp>
        <p:nvSpPr>
          <p:cNvPr id="11" name="Shape 9"/>
          <p:cNvSpPr/>
          <p:nvPr/>
        </p:nvSpPr>
        <p:spPr>
          <a:xfrm>
            <a:off x="952500" y="4610100"/>
            <a:ext cx="254000" cy="254000"/>
          </a:xfrm>
          <a:custGeom>
            <a:avLst/>
            <a:gdLst/>
            <a:ahLst/>
            <a:cxnLst/>
            <a:rect l="l" t="t" r="r" b="b"/>
            <a:pathLst>
              <a:path w="254000" h="254000">
                <a:moveTo>
                  <a:pt x="127000" y="254000"/>
                </a:moveTo>
                <a:cubicBezTo>
                  <a:pt x="197093" y="254000"/>
                  <a:pt x="254000" y="197093"/>
                  <a:pt x="254000" y="127000"/>
                </a:cubicBezTo>
                <a:cubicBezTo>
                  <a:pt x="254000" y="56907"/>
                  <a:pt x="197093" y="0"/>
                  <a:pt x="127000" y="0"/>
                </a:cubicBezTo>
                <a:cubicBezTo>
                  <a:pt x="56907" y="0"/>
                  <a:pt x="0" y="56907"/>
                  <a:pt x="0" y="127000"/>
                </a:cubicBezTo>
                <a:cubicBezTo>
                  <a:pt x="0" y="197093"/>
                  <a:pt x="56907" y="254000"/>
                  <a:pt x="127000" y="254000"/>
                </a:cubicBezTo>
                <a:close/>
                <a:moveTo>
                  <a:pt x="127000" y="67469"/>
                </a:moveTo>
                <a:cubicBezTo>
                  <a:pt x="133598" y="67469"/>
                  <a:pt x="138906" y="72777"/>
                  <a:pt x="138906" y="79375"/>
                </a:cubicBezTo>
                <a:lnTo>
                  <a:pt x="138906" y="134938"/>
                </a:lnTo>
                <a:cubicBezTo>
                  <a:pt x="138906" y="141536"/>
                  <a:pt x="133598" y="146844"/>
                  <a:pt x="127000" y="146844"/>
                </a:cubicBezTo>
                <a:cubicBezTo>
                  <a:pt x="120402" y="146844"/>
                  <a:pt x="115094" y="141536"/>
                  <a:pt x="115094" y="134938"/>
                </a:cubicBezTo>
                <a:lnTo>
                  <a:pt x="115094" y="79375"/>
                </a:lnTo>
                <a:cubicBezTo>
                  <a:pt x="115094" y="72777"/>
                  <a:pt x="120402" y="67469"/>
                  <a:pt x="127000" y="67469"/>
                </a:cubicBezTo>
                <a:close/>
                <a:moveTo>
                  <a:pt x="113754" y="174625"/>
                </a:moveTo>
                <a:cubicBezTo>
                  <a:pt x="113453" y="169708"/>
                  <a:pt x="115905" y="165031"/>
                  <a:pt x="120120" y="162481"/>
                </a:cubicBezTo>
                <a:cubicBezTo>
                  <a:pt x="124334" y="159932"/>
                  <a:pt x="129616" y="159932"/>
                  <a:pt x="133831" y="162481"/>
                </a:cubicBezTo>
                <a:cubicBezTo>
                  <a:pt x="138045" y="165031"/>
                  <a:pt x="140497" y="169708"/>
                  <a:pt x="140196" y="174625"/>
                </a:cubicBezTo>
                <a:cubicBezTo>
                  <a:pt x="140497" y="179542"/>
                  <a:pt x="138045" y="184219"/>
                  <a:pt x="133831" y="186769"/>
                </a:cubicBezTo>
                <a:cubicBezTo>
                  <a:pt x="129616" y="189318"/>
                  <a:pt x="124334" y="189318"/>
                  <a:pt x="120120" y="186769"/>
                </a:cubicBezTo>
                <a:cubicBezTo>
                  <a:pt x="115905" y="184219"/>
                  <a:pt x="113453" y="179542"/>
                  <a:pt x="113754" y="174625"/>
                </a:cubicBezTo>
                <a:close/>
              </a:path>
            </a:pathLst>
          </a:custGeom>
          <a:solidFill>
            <a:srgbClr val="1A1D21"/>
          </a:solidFill>
          <a:ln/>
        </p:spPr>
      </p:sp>
      <p:sp>
        <p:nvSpPr>
          <p:cNvPr id="12" name="Text 10"/>
          <p:cNvSpPr/>
          <p:nvPr/>
        </p:nvSpPr>
        <p:spPr>
          <a:xfrm>
            <a:off x="1536700" y="4559300"/>
            <a:ext cx="24384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fr-FR" sz="2000" b="1" smtClean="0">
                <a:solidFill>
                  <a:srgbClr val="E8E8E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Fonctions Critiques</a:t>
            </a:r>
            <a:endParaRPr lang="fr-FR" sz="1600" dirty="0"/>
          </a:p>
        </p:txBody>
      </p:sp>
      <p:sp>
        <p:nvSpPr>
          <p:cNvPr id="13" name="Shape 11"/>
          <p:cNvSpPr/>
          <p:nvPr/>
        </p:nvSpPr>
        <p:spPr>
          <a:xfrm>
            <a:off x="774700" y="5511800"/>
            <a:ext cx="4381500" cy="508000"/>
          </a:xfrm>
          <a:custGeom>
            <a:avLst/>
            <a:gdLst/>
            <a:ahLst/>
            <a:cxnLst/>
            <a:rect l="l" t="t" r="r" b="b"/>
            <a:pathLst>
              <a:path w="4381500" h="508000">
                <a:moveTo>
                  <a:pt x="50800" y="0"/>
                </a:moveTo>
                <a:lnTo>
                  <a:pt x="4330700" y="0"/>
                </a:lnTo>
                <a:cubicBezTo>
                  <a:pt x="4358737" y="0"/>
                  <a:pt x="4381500" y="22763"/>
                  <a:pt x="4381500" y="50800"/>
                </a:cubicBezTo>
                <a:lnTo>
                  <a:pt x="4381500" y="457200"/>
                </a:lnTo>
                <a:cubicBezTo>
                  <a:pt x="4381500" y="485237"/>
                  <a:pt x="4358737" y="508000"/>
                  <a:pt x="4330700" y="508000"/>
                </a:cubicBezTo>
                <a:lnTo>
                  <a:pt x="50800" y="508000"/>
                </a:lnTo>
                <a:cubicBezTo>
                  <a:pt x="22763" y="508000"/>
                  <a:pt x="0" y="485237"/>
                  <a:pt x="0" y="457200"/>
                </a:cubicBezTo>
                <a:lnTo>
                  <a:pt x="0" y="50800"/>
                </a:lnTo>
                <a:cubicBezTo>
                  <a:pt x="0" y="22763"/>
                  <a:pt x="22763" y="0"/>
                  <a:pt x="50800" y="0"/>
                </a:cubicBezTo>
                <a:close/>
              </a:path>
            </a:pathLst>
          </a:custGeom>
          <a:solidFill>
            <a:srgbClr val="1A1D21"/>
          </a:solidFill>
          <a:ln/>
        </p:spPr>
      </p:sp>
      <p:sp>
        <p:nvSpPr>
          <p:cNvPr id="14" name="Shape 12"/>
          <p:cNvSpPr/>
          <p:nvPr/>
        </p:nvSpPr>
        <p:spPr>
          <a:xfrm>
            <a:off x="901700" y="5664200"/>
            <a:ext cx="203200" cy="203200"/>
          </a:xfrm>
          <a:custGeom>
            <a:avLst/>
            <a:gdLst/>
            <a:ahLst/>
            <a:cxnLst/>
            <a:rect l="l" t="t" r="r" b="b"/>
            <a:pathLst>
              <a:path w="203200" h="203200">
                <a:moveTo>
                  <a:pt x="101600" y="0"/>
                </a:moveTo>
                <a:cubicBezTo>
                  <a:pt x="103426" y="0"/>
                  <a:pt x="105251" y="397"/>
                  <a:pt x="106918" y="1151"/>
                </a:cubicBezTo>
                <a:lnTo>
                  <a:pt x="181689" y="32861"/>
                </a:lnTo>
                <a:cubicBezTo>
                  <a:pt x="190421" y="36552"/>
                  <a:pt x="196929" y="45164"/>
                  <a:pt x="196890" y="55563"/>
                </a:cubicBezTo>
                <a:cubicBezTo>
                  <a:pt x="196691" y="94932"/>
                  <a:pt x="180499" y="166965"/>
                  <a:pt x="112117" y="199708"/>
                </a:cubicBezTo>
                <a:cubicBezTo>
                  <a:pt x="105489" y="202883"/>
                  <a:pt x="97790" y="202883"/>
                  <a:pt x="91162" y="199708"/>
                </a:cubicBezTo>
                <a:cubicBezTo>
                  <a:pt x="22741" y="166965"/>
                  <a:pt x="6588" y="94932"/>
                  <a:pt x="6390" y="55563"/>
                </a:cubicBezTo>
                <a:cubicBezTo>
                  <a:pt x="6350" y="45164"/>
                  <a:pt x="12859" y="36552"/>
                  <a:pt x="21590" y="32861"/>
                </a:cubicBezTo>
                <a:lnTo>
                  <a:pt x="96322" y="1151"/>
                </a:lnTo>
                <a:cubicBezTo>
                  <a:pt x="97988" y="397"/>
                  <a:pt x="99774" y="0"/>
                  <a:pt x="101600" y="0"/>
                </a:cubicBezTo>
                <a:close/>
                <a:moveTo>
                  <a:pt x="101600" y="26511"/>
                </a:moveTo>
                <a:lnTo>
                  <a:pt x="101600" y="176570"/>
                </a:lnTo>
                <a:cubicBezTo>
                  <a:pt x="156369" y="150058"/>
                  <a:pt x="171093" y="91321"/>
                  <a:pt x="171450" y="56158"/>
                </a:cubicBezTo>
                <a:lnTo>
                  <a:pt x="101600" y="26551"/>
                </a:lnTo>
                <a:lnTo>
                  <a:pt x="101600" y="26551"/>
                </a:lnTo>
                <a:close/>
              </a:path>
            </a:pathLst>
          </a:custGeom>
          <a:solidFill>
            <a:srgbClr val="E89F5B"/>
          </a:solidFill>
          <a:ln/>
        </p:spPr>
      </p:sp>
      <p:sp>
        <p:nvSpPr>
          <p:cNvPr id="15" name="Text 13"/>
          <p:cNvSpPr/>
          <p:nvPr/>
        </p:nvSpPr>
        <p:spPr>
          <a:xfrm>
            <a:off x="1282700" y="5613400"/>
            <a:ext cx="16256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fr-FR" sz="1600" smtClean="0">
                <a:solidFill>
                  <a:srgbClr val="E8E8E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Sécuriser le banc</a:t>
            </a:r>
            <a:endParaRPr lang="fr-FR" sz="1600" dirty="0"/>
          </a:p>
        </p:txBody>
      </p:sp>
      <p:sp>
        <p:nvSpPr>
          <p:cNvPr id="16" name="Shape 14"/>
          <p:cNvSpPr/>
          <p:nvPr/>
        </p:nvSpPr>
        <p:spPr>
          <a:xfrm>
            <a:off x="774700" y="6553200"/>
            <a:ext cx="4381500" cy="508000"/>
          </a:xfrm>
          <a:custGeom>
            <a:avLst/>
            <a:gdLst/>
            <a:ahLst/>
            <a:cxnLst/>
            <a:rect l="l" t="t" r="r" b="b"/>
            <a:pathLst>
              <a:path w="4381500" h="508000">
                <a:moveTo>
                  <a:pt x="50800" y="0"/>
                </a:moveTo>
                <a:lnTo>
                  <a:pt x="4330700" y="0"/>
                </a:lnTo>
                <a:cubicBezTo>
                  <a:pt x="4358737" y="0"/>
                  <a:pt x="4381500" y="22763"/>
                  <a:pt x="4381500" y="50800"/>
                </a:cubicBezTo>
                <a:lnTo>
                  <a:pt x="4381500" y="457200"/>
                </a:lnTo>
                <a:cubicBezTo>
                  <a:pt x="4381500" y="485237"/>
                  <a:pt x="4358737" y="508000"/>
                  <a:pt x="4330700" y="508000"/>
                </a:cubicBezTo>
                <a:lnTo>
                  <a:pt x="50800" y="508000"/>
                </a:lnTo>
                <a:cubicBezTo>
                  <a:pt x="22763" y="508000"/>
                  <a:pt x="0" y="485237"/>
                  <a:pt x="0" y="457200"/>
                </a:cubicBezTo>
                <a:lnTo>
                  <a:pt x="0" y="50800"/>
                </a:lnTo>
                <a:cubicBezTo>
                  <a:pt x="0" y="22763"/>
                  <a:pt x="22763" y="0"/>
                  <a:pt x="50800" y="0"/>
                </a:cubicBezTo>
                <a:close/>
              </a:path>
            </a:pathLst>
          </a:custGeom>
          <a:solidFill>
            <a:srgbClr val="1A1D21"/>
          </a:solidFill>
          <a:ln/>
        </p:spPr>
      </p:sp>
      <p:sp>
        <p:nvSpPr>
          <p:cNvPr id="17" name="Shape 15"/>
          <p:cNvSpPr/>
          <p:nvPr/>
        </p:nvSpPr>
        <p:spPr>
          <a:xfrm>
            <a:off x="901700" y="6705600"/>
            <a:ext cx="203200" cy="203200"/>
          </a:xfrm>
          <a:custGeom>
            <a:avLst/>
            <a:gdLst/>
            <a:ahLst/>
            <a:cxnLst/>
            <a:rect l="l" t="t" r="r" b="b"/>
            <a:pathLst>
              <a:path w="203200" h="203200">
                <a:moveTo>
                  <a:pt x="190540" y="76200"/>
                </a:moveTo>
                <a:lnTo>
                  <a:pt x="193675" y="76200"/>
                </a:lnTo>
                <a:cubicBezTo>
                  <a:pt x="198953" y="76200"/>
                  <a:pt x="203200" y="71953"/>
                  <a:pt x="203200" y="66675"/>
                </a:cubicBezTo>
                <a:lnTo>
                  <a:pt x="203200" y="9525"/>
                </a:lnTo>
                <a:cubicBezTo>
                  <a:pt x="203200" y="5675"/>
                  <a:pt x="200898" y="2183"/>
                  <a:pt x="197326" y="714"/>
                </a:cubicBezTo>
                <a:cubicBezTo>
                  <a:pt x="193754" y="-754"/>
                  <a:pt x="189667" y="79"/>
                  <a:pt x="186928" y="2778"/>
                </a:cubicBezTo>
                <a:lnTo>
                  <a:pt x="166410" y="23336"/>
                </a:lnTo>
                <a:cubicBezTo>
                  <a:pt x="148828" y="8771"/>
                  <a:pt x="126206" y="0"/>
                  <a:pt x="101600" y="0"/>
                </a:cubicBezTo>
                <a:cubicBezTo>
                  <a:pt x="50403" y="0"/>
                  <a:pt x="8057" y="37862"/>
                  <a:pt x="1032" y="87114"/>
                </a:cubicBezTo>
                <a:cubicBezTo>
                  <a:pt x="40" y="94059"/>
                  <a:pt x="4842" y="100489"/>
                  <a:pt x="11787" y="101481"/>
                </a:cubicBezTo>
                <a:cubicBezTo>
                  <a:pt x="18733" y="102473"/>
                  <a:pt x="25162" y="97631"/>
                  <a:pt x="26154" y="90726"/>
                </a:cubicBezTo>
                <a:cubicBezTo>
                  <a:pt x="31433" y="53777"/>
                  <a:pt x="63222" y="25400"/>
                  <a:pt x="101600" y="25400"/>
                </a:cubicBezTo>
                <a:cubicBezTo>
                  <a:pt x="119221" y="25400"/>
                  <a:pt x="135414" y="31353"/>
                  <a:pt x="148312" y="41394"/>
                </a:cubicBezTo>
                <a:lnTo>
                  <a:pt x="129778" y="59928"/>
                </a:lnTo>
                <a:cubicBezTo>
                  <a:pt x="127040" y="62667"/>
                  <a:pt x="126246" y="66754"/>
                  <a:pt x="127714" y="70326"/>
                </a:cubicBezTo>
                <a:cubicBezTo>
                  <a:pt x="129183" y="73898"/>
                  <a:pt x="132675" y="76200"/>
                  <a:pt x="136525" y="76200"/>
                </a:cubicBezTo>
                <a:lnTo>
                  <a:pt x="190540" y="76200"/>
                </a:lnTo>
                <a:close/>
                <a:moveTo>
                  <a:pt x="202208" y="116086"/>
                </a:moveTo>
                <a:cubicBezTo>
                  <a:pt x="203200" y="109141"/>
                  <a:pt x="198358" y="102711"/>
                  <a:pt x="191452" y="101719"/>
                </a:cubicBezTo>
                <a:cubicBezTo>
                  <a:pt x="184547" y="100727"/>
                  <a:pt x="178078" y="105569"/>
                  <a:pt x="177086" y="112474"/>
                </a:cubicBezTo>
                <a:cubicBezTo>
                  <a:pt x="171807" y="149384"/>
                  <a:pt x="140017" y="177760"/>
                  <a:pt x="101640" y="177760"/>
                </a:cubicBezTo>
                <a:cubicBezTo>
                  <a:pt x="84018" y="177760"/>
                  <a:pt x="67826" y="171807"/>
                  <a:pt x="54928" y="161766"/>
                </a:cubicBezTo>
                <a:lnTo>
                  <a:pt x="73422" y="143272"/>
                </a:lnTo>
                <a:cubicBezTo>
                  <a:pt x="76160" y="140533"/>
                  <a:pt x="76954" y="136446"/>
                  <a:pt x="75486" y="132874"/>
                </a:cubicBezTo>
                <a:cubicBezTo>
                  <a:pt x="74017" y="129302"/>
                  <a:pt x="70525" y="127000"/>
                  <a:pt x="66675" y="127000"/>
                </a:cubicBezTo>
                <a:lnTo>
                  <a:pt x="9525" y="127000"/>
                </a:lnTo>
                <a:cubicBezTo>
                  <a:pt x="4247" y="127000"/>
                  <a:pt x="0" y="131247"/>
                  <a:pt x="0" y="136525"/>
                </a:cubicBezTo>
                <a:lnTo>
                  <a:pt x="0" y="193675"/>
                </a:lnTo>
                <a:cubicBezTo>
                  <a:pt x="0" y="197525"/>
                  <a:pt x="2302" y="201017"/>
                  <a:pt x="5874" y="202486"/>
                </a:cubicBezTo>
                <a:cubicBezTo>
                  <a:pt x="9446" y="203954"/>
                  <a:pt x="13533" y="203121"/>
                  <a:pt x="16272" y="200422"/>
                </a:cubicBezTo>
                <a:lnTo>
                  <a:pt x="36830" y="179864"/>
                </a:lnTo>
                <a:cubicBezTo>
                  <a:pt x="54372" y="194429"/>
                  <a:pt x="76994" y="203200"/>
                  <a:pt x="101600" y="203200"/>
                </a:cubicBezTo>
                <a:cubicBezTo>
                  <a:pt x="152797" y="203200"/>
                  <a:pt x="195143" y="165338"/>
                  <a:pt x="202168" y="116086"/>
                </a:cubicBezTo>
                <a:close/>
              </a:path>
            </a:pathLst>
          </a:custGeom>
          <a:solidFill>
            <a:srgbClr val="E89F5B"/>
          </a:solidFill>
          <a:ln/>
        </p:spPr>
      </p:sp>
      <p:sp>
        <p:nvSpPr>
          <p:cNvPr id="18" name="Text 16"/>
          <p:cNvSpPr/>
          <p:nvPr/>
        </p:nvSpPr>
        <p:spPr>
          <a:xfrm>
            <a:off x="1282700" y="6654800"/>
            <a:ext cx="18161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fr-FR" sz="1600" smtClean="0">
                <a:solidFill>
                  <a:srgbClr val="E8E8E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Appliquer le couple</a:t>
            </a:r>
            <a:endParaRPr lang="fr-FR" sz="1600" dirty="0"/>
          </a:p>
        </p:txBody>
      </p:sp>
      <p:sp>
        <p:nvSpPr>
          <p:cNvPr id="19" name="Shape 17"/>
          <p:cNvSpPr/>
          <p:nvPr/>
        </p:nvSpPr>
        <p:spPr>
          <a:xfrm>
            <a:off x="774700" y="7594600"/>
            <a:ext cx="4381500" cy="508000"/>
          </a:xfrm>
          <a:custGeom>
            <a:avLst/>
            <a:gdLst/>
            <a:ahLst/>
            <a:cxnLst/>
            <a:rect l="l" t="t" r="r" b="b"/>
            <a:pathLst>
              <a:path w="4381500" h="508000">
                <a:moveTo>
                  <a:pt x="50800" y="0"/>
                </a:moveTo>
                <a:lnTo>
                  <a:pt x="4330700" y="0"/>
                </a:lnTo>
                <a:cubicBezTo>
                  <a:pt x="4358737" y="0"/>
                  <a:pt x="4381500" y="22763"/>
                  <a:pt x="4381500" y="50800"/>
                </a:cubicBezTo>
                <a:lnTo>
                  <a:pt x="4381500" y="457200"/>
                </a:lnTo>
                <a:cubicBezTo>
                  <a:pt x="4381500" y="485237"/>
                  <a:pt x="4358737" y="508000"/>
                  <a:pt x="4330700" y="508000"/>
                </a:cubicBezTo>
                <a:lnTo>
                  <a:pt x="50800" y="508000"/>
                </a:lnTo>
                <a:cubicBezTo>
                  <a:pt x="22763" y="508000"/>
                  <a:pt x="0" y="485237"/>
                  <a:pt x="0" y="457200"/>
                </a:cubicBezTo>
                <a:lnTo>
                  <a:pt x="0" y="50800"/>
                </a:lnTo>
                <a:cubicBezTo>
                  <a:pt x="0" y="22763"/>
                  <a:pt x="22763" y="0"/>
                  <a:pt x="50800" y="0"/>
                </a:cubicBezTo>
                <a:close/>
              </a:path>
            </a:pathLst>
          </a:custGeom>
          <a:solidFill>
            <a:srgbClr val="1A1D21"/>
          </a:solidFill>
          <a:ln/>
        </p:spPr>
      </p:sp>
      <p:sp>
        <p:nvSpPr>
          <p:cNvPr id="20" name="Shape 18"/>
          <p:cNvSpPr/>
          <p:nvPr/>
        </p:nvSpPr>
        <p:spPr>
          <a:xfrm>
            <a:off x="889000" y="7747000"/>
            <a:ext cx="228600" cy="203200"/>
          </a:xfrm>
          <a:custGeom>
            <a:avLst/>
            <a:gdLst/>
            <a:ahLst/>
            <a:cxnLst/>
            <a:rect l="l" t="t" r="r" b="b"/>
            <a:pathLst>
              <a:path w="228600" h="203200">
                <a:moveTo>
                  <a:pt x="82987" y="204867"/>
                </a:moveTo>
                <a:cubicBezTo>
                  <a:pt x="75565" y="212288"/>
                  <a:pt x="63500" y="212288"/>
                  <a:pt x="56039" y="204867"/>
                </a:cubicBezTo>
                <a:lnTo>
                  <a:pt x="11152" y="159980"/>
                </a:lnTo>
                <a:cubicBezTo>
                  <a:pt x="3731" y="152559"/>
                  <a:pt x="3731" y="140494"/>
                  <a:pt x="11152" y="133033"/>
                </a:cubicBezTo>
                <a:lnTo>
                  <a:pt x="17899" y="126286"/>
                </a:lnTo>
                <a:lnTo>
                  <a:pt x="47069" y="155456"/>
                </a:lnTo>
                <a:cubicBezTo>
                  <a:pt x="50800" y="159187"/>
                  <a:pt x="56832" y="159187"/>
                  <a:pt x="60523" y="155456"/>
                </a:cubicBezTo>
                <a:cubicBezTo>
                  <a:pt x="64214" y="151725"/>
                  <a:pt x="64254" y="145693"/>
                  <a:pt x="60523" y="142002"/>
                </a:cubicBezTo>
                <a:lnTo>
                  <a:pt x="31353" y="112832"/>
                </a:lnTo>
                <a:lnTo>
                  <a:pt x="44807" y="99378"/>
                </a:lnTo>
                <a:lnTo>
                  <a:pt x="65008" y="119578"/>
                </a:lnTo>
                <a:cubicBezTo>
                  <a:pt x="68739" y="123309"/>
                  <a:pt x="74771" y="123309"/>
                  <a:pt x="78462" y="119578"/>
                </a:cubicBezTo>
                <a:cubicBezTo>
                  <a:pt x="82153" y="115848"/>
                  <a:pt x="82193" y="109815"/>
                  <a:pt x="78462" y="106124"/>
                </a:cubicBezTo>
                <a:lnTo>
                  <a:pt x="58261" y="85923"/>
                </a:lnTo>
                <a:lnTo>
                  <a:pt x="71715" y="72469"/>
                </a:lnTo>
                <a:lnTo>
                  <a:pt x="100886" y="101640"/>
                </a:lnTo>
                <a:cubicBezTo>
                  <a:pt x="104616" y="105370"/>
                  <a:pt x="110649" y="105370"/>
                  <a:pt x="114340" y="101640"/>
                </a:cubicBezTo>
                <a:cubicBezTo>
                  <a:pt x="118031" y="97909"/>
                  <a:pt x="118070" y="91877"/>
                  <a:pt x="114340" y="88186"/>
                </a:cubicBezTo>
                <a:lnTo>
                  <a:pt x="85169" y="59015"/>
                </a:lnTo>
                <a:lnTo>
                  <a:pt x="98623" y="45561"/>
                </a:lnTo>
                <a:lnTo>
                  <a:pt x="118824" y="65762"/>
                </a:lnTo>
                <a:cubicBezTo>
                  <a:pt x="122555" y="69493"/>
                  <a:pt x="128588" y="69493"/>
                  <a:pt x="132278" y="65762"/>
                </a:cubicBezTo>
                <a:cubicBezTo>
                  <a:pt x="135969" y="62032"/>
                  <a:pt x="136009" y="55999"/>
                  <a:pt x="132278" y="52308"/>
                </a:cubicBezTo>
                <a:lnTo>
                  <a:pt x="112078" y="32107"/>
                </a:lnTo>
                <a:lnTo>
                  <a:pt x="125532" y="18653"/>
                </a:lnTo>
                <a:lnTo>
                  <a:pt x="154702" y="47823"/>
                </a:lnTo>
                <a:cubicBezTo>
                  <a:pt x="158433" y="51554"/>
                  <a:pt x="164465" y="51554"/>
                  <a:pt x="168156" y="47823"/>
                </a:cubicBezTo>
                <a:cubicBezTo>
                  <a:pt x="171847" y="44093"/>
                  <a:pt x="171887" y="38060"/>
                  <a:pt x="168156" y="34369"/>
                </a:cubicBezTo>
                <a:lnTo>
                  <a:pt x="138986" y="5199"/>
                </a:lnTo>
                <a:lnTo>
                  <a:pt x="145733" y="-1548"/>
                </a:lnTo>
                <a:cubicBezTo>
                  <a:pt x="153154" y="-8969"/>
                  <a:pt x="165219" y="-8969"/>
                  <a:pt x="172680" y="-1548"/>
                </a:cubicBezTo>
                <a:lnTo>
                  <a:pt x="217686" y="43220"/>
                </a:lnTo>
                <a:cubicBezTo>
                  <a:pt x="225108" y="50641"/>
                  <a:pt x="225108" y="62706"/>
                  <a:pt x="217686" y="70168"/>
                </a:cubicBezTo>
                <a:lnTo>
                  <a:pt x="82987" y="204867"/>
                </a:lnTo>
                <a:close/>
              </a:path>
            </a:pathLst>
          </a:custGeom>
          <a:solidFill>
            <a:srgbClr val="E89F5B"/>
          </a:solidFill>
          <a:ln/>
        </p:spPr>
      </p:sp>
      <p:sp>
        <p:nvSpPr>
          <p:cNvPr id="21" name="Text 19"/>
          <p:cNvSpPr/>
          <p:nvPr/>
        </p:nvSpPr>
        <p:spPr>
          <a:xfrm>
            <a:off x="1282700" y="7696200"/>
            <a:ext cx="16891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fr-FR" sz="1600" smtClean="0">
                <a:solidFill>
                  <a:srgbClr val="E8E8E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Mesurer le couple</a:t>
            </a:r>
            <a:endParaRPr lang="fr-FR" sz="1600" dirty="0"/>
          </a:p>
        </p:txBody>
      </p:sp>
      <p:sp>
        <p:nvSpPr>
          <p:cNvPr id="22" name="Shape 20"/>
          <p:cNvSpPr/>
          <p:nvPr/>
        </p:nvSpPr>
        <p:spPr>
          <a:xfrm>
            <a:off x="5678884" y="4171950"/>
            <a:ext cx="4902200" cy="4457700"/>
          </a:xfrm>
          <a:custGeom>
            <a:avLst/>
            <a:gdLst/>
            <a:ahLst/>
            <a:cxnLst/>
            <a:rect l="l" t="t" r="r" b="b"/>
            <a:pathLst>
              <a:path w="4902200" h="4457700">
                <a:moveTo>
                  <a:pt x="101591" y="0"/>
                </a:moveTo>
                <a:lnTo>
                  <a:pt x="4800609" y="0"/>
                </a:lnTo>
                <a:cubicBezTo>
                  <a:pt x="4856716" y="0"/>
                  <a:pt x="4902200" y="45484"/>
                  <a:pt x="4902200" y="101591"/>
                </a:cubicBezTo>
                <a:lnTo>
                  <a:pt x="4902200" y="4356109"/>
                </a:lnTo>
                <a:cubicBezTo>
                  <a:pt x="4902200" y="4412216"/>
                  <a:pt x="4856716" y="4457700"/>
                  <a:pt x="4800609" y="4457700"/>
                </a:cubicBezTo>
                <a:lnTo>
                  <a:pt x="101591" y="4457700"/>
                </a:lnTo>
                <a:cubicBezTo>
                  <a:pt x="45484" y="4457700"/>
                  <a:pt x="0" y="4412216"/>
                  <a:pt x="0" y="4356109"/>
                </a:cubicBezTo>
                <a:lnTo>
                  <a:pt x="0" y="101591"/>
                </a:lnTo>
                <a:cubicBezTo>
                  <a:pt x="0" y="45521"/>
                  <a:pt x="45521" y="0"/>
                  <a:pt x="101591" y="0"/>
                </a:cubicBezTo>
                <a:close/>
              </a:path>
            </a:pathLst>
          </a:custGeom>
          <a:solidFill>
            <a:srgbClr val="4A6C8C">
              <a:alpha val="10196"/>
            </a:srgbClr>
          </a:solidFill>
          <a:ln w="12700">
            <a:solidFill>
              <a:srgbClr val="4A6C8C">
                <a:alpha val="30196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39234" y="4432300"/>
            <a:ext cx="609600" cy="609600"/>
          </a:xfrm>
          <a:custGeom>
            <a:avLst/>
            <a:gdLst/>
            <a:ahLst/>
            <a:cxnLst/>
            <a:rect l="l" t="t" r="r" b="b"/>
            <a:pathLst>
              <a:path w="609600" h="609600">
                <a:moveTo>
                  <a:pt x="50798" y="0"/>
                </a:moveTo>
                <a:lnTo>
                  <a:pt x="558802" y="0"/>
                </a:lnTo>
                <a:cubicBezTo>
                  <a:pt x="586857" y="0"/>
                  <a:pt x="609600" y="22743"/>
                  <a:pt x="609600" y="50798"/>
                </a:cubicBezTo>
                <a:lnTo>
                  <a:pt x="609600" y="558802"/>
                </a:lnTo>
                <a:cubicBezTo>
                  <a:pt x="609600" y="586857"/>
                  <a:pt x="586857" y="609600"/>
                  <a:pt x="558802" y="609600"/>
                </a:cubicBezTo>
                <a:lnTo>
                  <a:pt x="50798" y="609600"/>
                </a:lnTo>
                <a:cubicBezTo>
                  <a:pt x="22743" y="609600"/>
                  <a:pt x="0" y="586857"/>
                  <a:pt x="0" y="558802"/>
                </a:cubicBezTo>
                <a:lnTo>
                  <a:pt x="0" y="50798"/>
                </a:lnTo>
                <a:cubicBezTo>
                  <a:pt x="0" y="22762"/>
                  <a:pt x="22762" y="0"/>
                  <a:pt x="50798" y="0"/>
                </a:cubicBezTo>
                <a:close/>
              </a:path>
            </a:pathLst>
          </a:custGeom>
          <a:solidFill>
            <a:srgbClr val="4A6C8C"/>
          </a:solidFill>
          <a:ln/>
        </p:spPr>
      </p:sp>
      <p:sp>
        <p:nvSpPr>
          <p:cNvPr id="24" name="Shape 22"/>
          <p:cNvSpPr/>
          <p:nvPr/>
        </p:nvSpPr>
        <p:spPr>
          <a:xfrm>
            <a:off x="6101159" y="4610100"/>
            <a:ext cx="285750" cy="254000"/>
          </a:xfrm>
          <a:custGeom>
            <a:avLst/>
            <a:gdLst/>
            <a:ahLst/>
            <a:cxnLst/>
            <a:rect l="l" t="t" r="r" b="b"/>
            <a:pathLst>
              <a:path w="285750" h="254000">
                <a:moveTo>
                  <a:pt x="153541" y="-9376"/>
                </a:moveTo>
                <a:cubicBezTo>
                  <a:pt x="151507" y="-13345"/>
                  <a:pt x="147389" y="-15875"/>
                  <a:pt x="142925" y="-15875"/>
                </a:cubicBezTo>
                <a:cubicBezTo>
                  <a:pt x="138460" y="-15875"/>
                  <a:pt x="134342" y="-13345"/>
                  <a:pt x="132308" y="-9376"/>
                </a:cubicBezTo>
                <a:lnTo>
                  <a:pt x="95796" y="62161"/>
                </a:lnTo>
                <a:lnTo>
                  <a:pt x="16470" y="74761"/>
                </a:lnTo>
                <a:cubicBezTo>
                  <a:pt x="12055" y="75456"/>
                  <a:pt x="8384" y="78581"/>
                  <a:pt x="6995" y="82848"/>
                </a:cubicBezTo>
                <a:cubicBezTo>
                  <a:pt x="5606" y="87114"/>
                  <a:pt x="6747" y="91777"/>
                  <a:pt x="9872" y="94952"/>
                </a:cubicBezTo>
                <a:lnTo>
                  <a:pt x="66625" y="151755"/>
                </a:lnTo>
                <a:lnTo>
                  <a:pt x="54124" y="231080"/>
                </a:lnTo>
                <a:cubicBezTo>
                  <a:pt x="53429" y="235496"/>
                  <a:pt x="55265" y="239961"/>
                  <a:pt x="58886" y="242590"/>
                </a:cubicBezTo>
                <a:cubicBezTo>
                  <a:pt x="62508" y="245219"/>
                  <a:pt x="67270" y="245616"/>
                  <a:pt x="71289" y="243582"/>
                </a:cubicBezTo>
                <a:lnTo>
                  <a:pt x="142925" y="207169"/>
                </a:lnTo>
                <a:lnTo>
                  <a:pt x="214511" y="243582"/>
                </a:lnTo>
                <a:cubicBezTo>
                  <a:pt x="218480" y="245616"/>
                  <a:pt x="223292" y="245219"/>
                  <a:pt x="226913" y="242590"/>
                </a:cubicBezTo>
                <a:cubicBezTo>
                  <a:pt x="230535" y="239961"/>
                  <a:pt x="232370" y="235545"/>
                  <a:pt x="231676" y="231080"/>
                </a:cubicBezTo>
                <a:lnTo>
                  <a:pt x="219125" y="151755"/>
                </a:lnTo>
                <a:lnTo>
                  <a:pt x="275878" y="94952"/>
                </a:lnTo>
                <a:cubicBezTo>
                  <a:pt x="279053" y="91777"/>
                  <a:pt x="280144" y="87114"/>
                  <a:pt x="278755" y="82848"/>
                </a:cubicBezTo>
                <a:cubicBezTo>
                  <a:pt x="277366" y="78581"/>
                  <a:pt x="273745" y="75456"/>
                  <a:pt x="269280" y="74761"/>
                </a:cubicBezTo>
                <a:lnTo>
                  <a:pt x="190004" y="62161"/>
                </a:lnTo>
                <a:lnTo>
                  <a:pt x="153541" y="-9376"/>
                </a:lnTo>
                <a:close/>
              </a:path>
            </a:pathLst>
          </a:custGeom>
          <a:solidFill>
            <a:srgbClr val="E8E8E8"/>
          </a:solidFill>
          <a:ln/>
        </p:spPr>
      </p:sp>
      <p:sp>
        <p:nvSpPr>
          <p:cNvPr id="25" name="Text 23"/>
          <p:cNvSpPr/>
          <p:nvPr/>
        </p:nvSpPr>
        <p:spPr>
          <a:xfrm>
            <a:off x="6701234" y="4559300"/>
            <a:ext cx="26543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fr-FR" sz="2000" b="1" smtClean="0">
                <a:solidFill>
                  <a:srgbClr val="E8E8E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Fonctions Principales</a:t>
            </a:r>
            <a:endParaRPr lang="fr-FR" sz="1600" dirty="0"/>
          </a:p>
        </p:txBody>
      </p:sp>
      <p:sp>
        <p:nvSpPr>
          <p:cNvPr id="26" name="Shape 24"/>
          <p:cNvSpPr/>
          <p:nvPr/>
        </p:nvSpPr>
        <p:spPr>
          <a:xfrm>
            <a:off x="5939234" y="5511800"/>
            <a:ext cx="4381500" cy="508000"/>
          </a:xfrm>
          <a:custGeom>
            <a:avLst/>
            <a:gdLst/>
            <a:ahLst/>
            <a:cxnLst/>
            <a:rect l="l" t="t" r="r" b="b"/>
            <a:pathLst>
              <a:path w="4381500" h="508000">
                <a:moveTo>
                  <a:pt x="50800" y="0"/>
                </a:moveTo>
                <a:lnTo>
                  <a:pt x="4330700" y="0"/>
                </a:lnTo>
                <a:cubicBezTo>
                  <a:pt x="4358737" y="0"/>
                  <a:pt x="4381500" y="22763"/>
                  <a:pt x="4381500" y="50800"/>
                </a:cubicBezTo>
                <a:lnTo>
                  <a:pt x="4381500" y="457200"/>
                </a:lnTo>
                <a:cubicBezTo>
                  <a:pt x="4381500" y="485237"/>
                  <a:pt x="4358737" y="508000"/>
                  <a:pt x="4330700" y="508000"/>
                </a:cubicBezTo>
                <a:lnTo>
                  <a:pt x="50800" y="508000"/>
                </a:lnTo>
                <a:cubicBezTo>
                  <a:pt x="22763" y="508000"/>
                  <a:pt x="0" y="485237"/>
                  <a:pt x="0" y="457200"/>
                </a:cubicBezTo>
                <a:lnTo>
                  <a:pt x="0" y="50800"/>
                </a:lnTo>
                <a:cubicBezTo>
                  <a:pt x="0" y="22763"/>
                  <a:pt x="22763" y="0"/>
                  <a:pt x="50800" y="0"/>
                </a:cubicBezTo>
                <a:close/>
              </a:path>
            </a:pathLst>
          </a:custGeom>
          <a:solidFill>
            <a:srgbClr val="1A1D21"/>
          </a:solidFill>
          <a:ln/>
        </p:spPr>
      </p:sp>
      <p:sp>
        <p:nvSpPr>
          <p:cNvPr id="27" name="Shape 25"/>
          <p:cNvSpPr/>
          <p:nvPr/>
        </p:nvSpPr>
        <p:spPr>
          <a:xfrm>
            <a:off x="6066234" y="5664200"/>
            <a:ext cx="203200" cy="203200"/>
          </a:xfrm>
          <a:custGeom>
            <a:avLst/>
            <a:gdLst/>
            <a:ahLst/>
            <a:cxnLst/>
            <a:rect l="l" t="t" r="r" b="b"/>
            <a:pathLst>
              <a:path w="203200" h="203200">
                <a:moveTo>
                  <a:pt x="101600" y="203200"/>
                </a:moveTo>
                <a:cubicBezTo>
                  <a:pt x="157675" y="203200"/>
                  <a:pt x="203200" y="157675"/>
                  <a:pt x="203200" y="101600"/>
                </a:cubicBezTo>
                <a:cubicBezTo>
                  <a:pt x="203200" y="45525"/>
                  <a:pt x="157675" y="0"/>
                  <a:pt x="101600" y="0"/>
                </a:cubicBezTo>
                <a:cubicBezTo>
                  <a:pt x="45525" y="0"/>
                  <a:pt x="0" y="45525"/>
                  <a:pt x="0" y="101600"/>
                </a:cubicBezTo>
                <a:cubicBezTo>
                  <a:pt x="0" y="157675"/>
                  <a:pt x="45525" y="203200"/>
                  <a:pt x="101600" y="203200"/>
                </a:cubicBezTo>
                <a:close/>
                <a:moveTo>
                  <a:pt x="135096" y="84415"/>
                </a:moveTo>
                <a:lnTo>
                  <a:pt x="103346" y="135215"/>
                </a:lnTo>
                <a:cubicBezTo>
                  <a:pt x="101679" y="137874"/>
                  <a:pt x="98822" y="139541"/>
                  <a:pt x="95687" y="139700"/>
                </a:cubicBezTo>
                <a:cubicBezTo>
                  <a:pt x="92551" y="139859"/>
                  <a:pt x="89535" y="138430"/>
                  <a:pt x="87670" y="135890"/>
                </a:cubicBezTo>
                <a:lnTo>
                  <a:pt x="68620" y="110490"/>
                </a:lnTo>
                <a:cubicBezTo>
                  <a:pt x="65445" y="106283"/>
                  <a:pt x="66318" y="100330"/>
                  <a:pt x="70525" y="97155"/>
                </a:cubicBezTo>
                <a:cubicBezTo>
                  <a:pt x="74732" y="93980"/>
                  <a:pt x="80685" y="94853"/>
                  <a:pt x="83860" y="99060"/>
                </a:cubicBezTo>
                <a:lnTo>
                  <a:pt x="94575" y="113348"/>
                </a:lnTo>
                <a:lnTo>
                  <a:pt x="118943" y="74335"/>
                </a:lnTo>
                <a:cubicBezTo>
                  <a:pt x="121722" y="69890"/>
                  <a:pt x="127595" y="68501"/>
                  <a:pt x="132080" y="71318"/>
                </a:cubicBezTo>
                <a:cubicBezTo>
                  <a:pt x="136565" y="74136"/>
                  <a:pt x="137914" y="79970"/>
                  <a:pt x="135096" y="84455"/>
                </a:cubicBezTo>
                <a:close/>
              </a:path>
            </a:pathLst>
          </a:custGeom>
          <a:solidFill>
            <a:srgbClr val="4A6C8C"/>
          </a:solidFill>
          <a:ln/>
        </p:spPr>
      </p:sp>
      <p:sp>
        <p:nvSpPr>
          <p:cNvPr id="28" name="Text 26"/>
          <p:cNvSpPr/>
          <p:nvPr/>
        </p:nvSpPr>
        <p:spPr>
          <a:xfrm>
            <a:off x="6447234" y="5613400"/>
            <a:ext cx="1778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fr-FR" sz="1600" smtClean="0">
                <a:solidFill>
                  <a:srgbClr val="E8E8E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Vérifier la clé (ISO)</a:t>
            </a:r>
            <a:endParaRPr lang="fr-FR" sz="1600" dirty="0"/>
          </a:p>
        </p:txBody>
      </p:sp>
      <p:sp>
        <p:nvSpPr>
          <p:cNvPr id="29" name="Shape 27"/>
          <p:cNvSpPr/>
          <p:nvPr/>
        </p:nvSpPr>
        <p:spPr>
          <a:xfrm>
            <a:off x="5939234" y="6553200"/>
            <a:ext cx="4381500" cy="508000"/>
          </a:xfrm>
          <a:custGeom>
            <a:avLst/>
            <a:gdLst/>
            <a:ahLst/>
            <a:cxnLst/>
            <a:rect l="l" t="t" r="r" b="b"/>
            <a:pathLst>
              <a:path w="4381500" h="508000">
                <a:moveTo>
                  <a:pt x="50800" y="0"/>
                </a:moveTo>
                <a:lnTo>
                  <a:pt x="4330700" y="0"/>
                </a:lnTo>
                <a:cubicBezTo>
                  <a:pt x="4358737" y="0"/>
                  <a:pt x="4381500" y="22763"/>
                  <a:pt x="4381500" y="50800"/>
                </a:cubicBezTo>
                <a:lnTo>
                  <a:pt x="4381500" y="457200"/>
                </a:lnTo>
                <a:cubicBezTo>
                  <a:pt x="4381500" y="485237"/>
                  <a:pt x="4358737" y="508000"/>
                  <a:pt x="4330700" y="508000"/>
                </a:cubicBezTo>
                <a:lnTo>
                  <a:pt x="50800" y="508000"/>
                </a:lnTo>
                <a:cubicBezTo>
                  <a:pt x="22763" y="508000"/>
                  <a:pt x="0" y="485237"/>
                  <a:pt x="0" y="457200"/>
                </a:cubicBezTo>
                <a:lnTo>
                  <a:pt x="0" y="50800"/>
                </a:lnTo>
                <a:cubicBezTo>
                  <a:pt x="0" y="22763"/>
                  <a:pt x="22763" y="0"/>
                  <a:pt x="50800" y="0"/>
                </a:cubicBezTo>
                <a:close/>
              </a:path>
            </a:pathLst>
          </a:custGeom>
          <a:solidFill>
            <a:srgbClr val="1A1D21"/>
          </a:solidFill>
          <a:ln/>
        </p:spPr>
      </p:sp>
      <p:sp>
        <p:nvSpPr>
          <p:cNvPr id="30" name="Shape 28"/>
          <p:cNvSpPr/>
          <p:nvPr/>
        </p:nvSpPr>
        <p:spPr>
          <a:xfrm>
            <a:off x="6066234" y="6705600"/>
            <a:ext cx="203200" cy="203200"/>
          </a:xfrm>
          <a:custGeom>
            <a:avLst/>
            <a:gdLst/>
            <a:ahLst/>
            <a:cxnLst/>
            <a:rect l="l" t="t" r="r" b="b"/>
            <a:pathLst>
              <a:path w="203200" h="203200">
                <a:moveTo>
                  <a:pt x="12700" y="25400"/>
                </a:moveTo>
                <a:cubicBezTo>
                  <a:pt x="5675" y="25400"/>
                  <a:pt x="0" y="31075"/>
                  <a:pt x="0" y="38100"/>
                </a:cubicBezTo>
                <a:cubicBezTo>
                  <a:pt x="0" y="45125"/>
                  <a:pt x="5675" y="50800"/>
                  <a:pt x="12700" y="50800"/>
                </a:cubicBezTo>
                <a:lnTo>
                  <a:pt x="47109" y="50800"/>
                </a:lnTo>
                <a:cubicBezTo>
                  <a:pt x="51991" y="62032"/>
                  <a:pt x="63182" y="69850"/>
                  <a:pt x="76200" y="69850"/>
                </a:cubicBezTo>
                <a:cubicBezTo>
                  <a:pt x="89218" y="69850"/>
                  <a:pt x="100409" y="62032"/>
                  <a:pt x="105291" y="50800"/>
                </a:cubicBezTo>
                <a:lnTo>
                  <a:pt x="190500" y="50800"/>
                </a:lnTo>
                <a:cubicBezTo>
                  <a:pt x="197525" y="50800"/>
                  <a:pt x="203200" y="45125"/>
                  <a:pt x="203200" y="38100"/>
                </a:cubicBezTo>
                <a:cubicBezTo>
                  <a:pt x="203200" y="31075"/>
                  <a:pt x="197525" y="25400"/>
                  <a:pt x="190500" y="25400"/>
                </a:cubicBezTo>
                <a:lnTo>
                  <a:pt x="105291" y="25400"/>
                </a:lnTo>
                <a:cubicBezTo>
                  <a:pt x="100409" y="14168"/>
                  <a:pt x="89218" y="6350"/>
                  <a:pt x="76200" y="6350"/>
                </a:cubicBezTo>
                <a:cubicBezTo>
                  <a:pt x="63182" y="6350"/>
                  <a:pt x="51991" y="14168"/>
                  <a:pt x="47109" y="25400"/>
                </a:cubicBezTo>
                <a:lnTo>
                  <a:pt x="12700" y="25400"/>
                </a:lnTo>
                <a:close/>
                <a:moveTo>
                  <a:pt x="12700" y="88900"/>
                </a:moveTo>
                <a:cubicBezTo>
                  <a:pt x="5675" y="88900"/>
                  <a:pt x="0" y="94575"/>
                  <a:pt x="0" y="101600"/>
                </a:cubicBezTo>
                <a:cubicBezTo>
                  <a:pt x="0" y="108625"/>
                  <a:pt x="5675" y="114300"/>
                  <a:pt x="12700" y="114300"/>
                </a:cubicBezTo>
                <a:lnTo>
                  <a:pt x="110609" y="114300"/>
                </a:lnTo>
                <a:cubicBezTo>
                  <a:pt x="115491" y="125532"/>
                  <a:pt x="126683" y="133350"/>
                  <a:pt x="139700" y="133350"/>
                </a:cubicBezTo>
                <a:cubicBezTo>
                  <a:pt x="152718" y="133350"/>
                  <a:pt x="163909" y="125532"/>
                  <a:pt x="168791" y="114300"/>
                </a:cubicBezTo>
                <a:lnTo>
                  <a:pt x="190500" y="114300"/>
                </a:lnTo>
                <a:cubicBezTo>
                  <a:pt x="197525" y="114300"/>
                  <a:pt x="203200" y="108625"/>
                  <a:pt x="203200" y="101600"/>
                </a:cubicBezTo>
                <a:cubicBezTo>
                  <a:pt x="203200" y="94575"/>
                  <a:pt x="197525" y="88900"/>
                  <a:pt x="190500" y="88900"/>
                </a:cubicBezTo>
                <a:lnTo>
                  <a:pt x="168791" y="88900"/>
                </a:lnTo>
                <a:cubicBezTo>
                  <a:pt x="163909" y="77668"/>
                  <a:pt x="152718" y="69850"/>
                  <a:pt x="139700" y="69850"/>
                </a:cubicBezTo>
                <a:cubicBezTo>
                  <a:pt x="126683" y="69850"/>
                  <a:pt x="115491" y="77668"/>
                  <a:pt x="110609" y="88900"/>
                </a:cubicBezTo>
                <a:lnTo>
                  <a:pt x="12700" y="88900"/>
                </a:lnTo>
                <a:close/>
                <a:moveTo>
                  <a:pt x="12700" y="152400"/>
                </a:moveTo>
                <a:cubicBezTo>
                  <a:pt x="5675" y="152400"/>
                  <a:pt x="0" y="158075"/>
                  <a:pt x="0" y="165100"/>
                </a:cubicBezTo>
                <a:cubicBezTo>
                  <a:pt x="0" y="172125"/>
                  <a:pt x="5675" y="177800"/>
                  <a:pt x="12700" y="177800"/>
                </a:cubicBezTo>
                <a:lnTo>
                  <a:pt x="34409" y="177800"/>
                </a:lnTo>
                <a:cubicBezTo>
                  <a:pt x="39291" y="189032"/>
                  <a:pt x="50483" y="196850"/>
                  <a:pt x="63500" y="196850"/>
                </a:cubicBezTo>
                <a:cubicBezTo>
                  <a:pt x="76518" y="196850"/>
                  <a:pt x="87709" y="189032"/>
                  <a:pt x="92591" y="177800"/>
                </a:cubicBezTo>
                <a:lnTo>
                  <a:pt x="190500" y="177800"/>
                </a:lnTo>
                <a:cubicBezTo>
                  <a:pt x="197525" y="177800"/>
                  <a:pt x="203200" y="172125"/>
                  <a:pt x="203200" y="165100"/>
                </a:cubicBezTo>
                <a:cubicBezTo>
                  <a:pt x="203200" y="158075"/>
                  <a:pt x="197525" y="152400"/>
                  <a:pt x="190500" y="152400"/>
                </a:cubicBezTo>
                <a:lnTo>
                  <a:pt x="92591" y="152400"/>
                </a:lnTo>
                <a:cubicBezTo>
                  <a:pt x="87709" y="141168"/>
                  <a:pt x="76518" y="133350"/>
                  <a:pt x="63500" y="133350"/>
                </a:cubicBezTo>
                <a:cubicBezTo>
                  <a:pt x="50483" y="133350"/>
                  <a:pt x="39291" y="141168"/>
                  <a:pt x="34409" y="152400"/>
                </a:cubicBezTo>
                <a:lnTo>
                  <a:pt x="12700" y="152400"/>
                </a:lnTo>
                <a:close/>
              </a:path>
            </a:pathLst>
          </a:custGeom>
          <a:solidFill>
            <a:srgbClr val="4A6C8C"/>
          </a:solidFill>
          <a:ln/>
        </p:spPr>
      </p:sp>
      <p:sp>
        <p:nvSpPr>
          <p:cNvPr id="31" name="Text 29"/>
          <p:cNvSpPr/>
          <p:nvPr/>
        </p:nvSpPr>
        <p:spPr>
          <a:xfrm>
            <a:off x="6447234" y="6654800"/>
            <a:ext cx="21971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fr-FR" sz="1600" smtClean="0">
                <a:solidFill>
                  <a:srgbClr val="E8E8E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Calibrer la clé (BT/Wifi)</a:t>
            </a:r>
            <a:endParaRPr lang="fr-FR" sz="1600" dirty="0"/>
          </a:p>
        </p:txBody>
      </p:sp>
      <p:sp>
        <p:nvSpPr>
          <p:cNvPr id="32" name="Shape 30"/>
          <p:cNvSpPr/>
          <p:nvPr/>
        </p:nvSpPr>
        <p:spPr>
          <a:xfrm>
            <a:off x="5939234" y="7594600"/>
            <a:ext cx="4381500" cy="508000"/>
          </a:xfrm>
          <a:custGeom>
            <a:avLst/>
            <a:gdLst/>
            <a:ahLst/>
            <a:cxnLst/>
            <a:rect l="l" t="t" r="r" b="b"/>
            <a:pathLst>
              <a:path w="4381500" h="508000">
                <a:moveTo>
                  <a:pt x="50800" y="0"/>
                </a:moveTo>
                <a:lnTo>
                  <a:pt x="4330700" y="0"/>
                </a:lnTo>
                <a:cubicBezTo>
                  <a:pt x="4358737" y="0"/>
                  <a:pt x="4381500" y="22763"/>
                  <a:pt x="4381500" y="50800"/>
                </a:cubicBezTo>
                <a:lnTo>
                  <a:pt x="4381500" y="457200"/>
                </a:lnTo>
                <a:cubicBezTo>
                  <a:pt x="4381500" y="485237"/>
                  <a:pt x="4358737" y="508000"/>
                  <a:pt x="4330700" y="508000"/>
                </a:cubicBezTo>
                <a:lnTo>
                  <a:pt x="50800" y="508000"/>
                </a:lnTo>
                <a:cubicBezTo>
                  <a:pt x="22763" y="508000"/>
                  <a:pt x="0" y="485237"/>
                  <a:pt x="0" y="457200"/>
                </a:cubicBezTo>
                <a:lnTo>
                  <a:pt x="0" y="50800"/>
                </a:lnTo>
                <a:cubicBezTo>
                  <a:pt x="0" y="22763"/>
                  <a:pt x="22763" y="0"/>
                  <a:pt x="50800" y="0"/>
                </a:cubicBezTo>
                <a:close/>
              </a:path>
            </a:pathLst>
          </a:custGeom>
          <a:solidFill>
            <a:srgbClr val="1A1D21"/>
          </a:solidFill>
          <a:ln/>
        </p:spPr>
      </p:sp>
      <p:sp>
        <p:nvSpPr>
          <p:cNvPr id="33" name="Shape 31"/>
          <p:cNvSpPr/>
          <p:nvPr/>
        </p:nvSpPr>
        <p:spPr>
          <a:xfrm>
            <a:off x="6066234" y="7747000"/>
            <a:ext cx="203200" cy="203200"/>
          </a:xfrm>
          <a:custGeom>
            <a:avLst/>
            <a:gdLst/>
            <a:ahLst/>
            <a:cxnLst/>
            <a:rect l="l" t="t" r="r" b="b"/>
            <a:pathLst>
              <a:path w="203200" h="203200">
                <a:moveTo>
                  <a:pt x="12700" y="12700"/>
                </a:moveTo>
                <a:cubicBezTo>
                  <a:pt x="19725" y="12700"/>
                  <a:pt x="25400" y="18375"/>
                  <a:pt x="25400" y="25400"/>
                </a:cubicBezTo>
                <a:lnTo>
                  <a:pt x="25400" y="158750"/>
                </a:lnTo>
                <a:cubicBezTo>
                  <a:pt x="25400" y="162243"/>
                  <a:pt x="28258" y="165100"/>
                  <a:pt x="31750" y="165100"/>
                </a:cubicBezTo>
                <a:lnTo>
                  <a:pt x="190500" y="165100"/>
                </a:lnTo>
                <a:cubicBezTo>
                  <a:pt x="197525" y="165100"/>
                  <a:pt x="203200" y="170775"/>
                  <a:pt x="203200" y="177800"/>
                </a:cubicBezTo>
                <a:cubicBezTo>
                  <a:pt x="203200" y="184825"/>
                  <a:pt x="197525" y="190500"/>
                  <a:pt x="190500" y="190500"/>
                </a:cubicBezTo>
                <a:lnTo>
                  <a:pt x="31750" y="190500"/>
                </a:lnTo>
                <a:cubicBezTo>
                  <a:pt x="14208" y="190500"/>
                  <a:pt x="0" y="176292"/>
                  <a:pt x="0" y="158750"/>
                </a:cubicBezTo>
                <a:lnTo>
                  <a:pt x="0" y="25400"/>
                </a:lnTo>
                <a:cubicBezTo>
                  <a:pt x="0" y="18375"/>
                  <a:pt x="5675" y="12700"/>
                  <a:pt x="12700" y="12700"/>
                </a:cubicBezTo>
                <a:close/>
                <a:moveTo>
                  <a:pt x="50800" y="38100"/>
                </a:moveTo>
                <a:cubicBezTo>
                  <a:pt x="50800" y="31075"/>
                  <a:pt x="56475" y="25400"/>
                  <a:pt x="63500" y="25400"/>
                </a:cubicBezTo>
                <a:lnTo>
                  <a:pt x="139700" y="25400"/>
                </a:lnTo>
                <a:cubicBezTo>
                  <a:pt x="146725" y="25400"/>
                  <a:pt x="152400" y="31075"/>
                  <a:pt x="152400" y="38100"/>
                </a:cubicBezTo>
                <a:cubicBezTo>
                  <a:pt x="152400" y="45125"/>
                  <a:pt x="146725" y="50800"/>
                  <a:pt x="139700" y="50800"/>
                </a:cubicBezTo>
                <a:lnTo>
                  <a:pt x="63500" y="50800"/>
                </a:lnTo>
                <a:cubicBezTo>
                  <a:pt x="56475" y="50800"/>
                  <a:pt x="50800" y="45125"/>
                  <a:pt x="50800" y="38100"/>
                </a:cubicBezTo>
                <a:close/>
                <a:moveTo>
                  <a:pt x="63500" y="69850"/>
                </a:moveTo>
                <a:lnTo>
                  <a:pt x="114300" y="69850"/>
                </a:lnTo>
                <a:cubicBezTo>
                  <a:pt x="121325" y="69850"/>
                  <a:pt x="127000" y="75525"/>
                  <a:pt x="127000" y="82550"/>
                </a:cubicBezTo>
                <a:cubicBezTo>
                  <a:pt x="127000" y="89575"/>
                  <a:pt x="121325" y="95250"/>
                  <a:pt x="114300" y="95250"/>
                </a:cubicBezTo>
                <a:lnTo>
                  <a:pt x="63500" y="95250"/>
                </a:lnTo>
                <a:cubicBezTo>
                  <a:pt x="56475" y="95250"/>
                  <a:pt x="50800" y="89575"/>
                  <a:pt x="50800" y="82550"/>
                </a:cubicBezTo>
                <a:cubicBezTo>
                  <a:pt x="50800" y="75525"/>
                  <a:pt x="56475" y="69850"/>
                  <a:pt x="63500" y="69850"/>
                </a:cubicBezTo>
                <a:close/>
                <a:moveTo>
                  <a:pt x="63500" y="114300"/>
                </a:moveTo>
                <a:lnTo>
                  <a:pt x="165100" y="114300"/>
                </a:lnTo>
                <a:cubicBezTo>
                  <a:pt x="172125" y="114300"/>
                  <a:pt x="177800" y="119975"/>
                  <a:pt x="177800" y="127000"/>
                </a:cubicBezTo>
                <a:cubicBezTo>
                  <a:pt x="177800" y="134025"/>
                  <a:pt x="172125" y="139700"/>
                  <a:pt x="165100" y="139700"/>
                </a:cubicBezTo>
                <a:lnTo>
                  <a:pt x="63500" y="139700"/>
                </a:lnTo>
                <a:cubicBezTo>
                  <a:pt x="56475" y="139700"/>
                  <a:pt x="50800" y="134025"/>
                  <a:pt x="50800" y="127000"/>
                </a:cubicBezTo>
                <a:cubicBezTo>
                  <a:pt x="50800" y="119975"/>
                  <a:pt x="56475" y="114300"/>
                  <a:pt x="63500" y="114300"/>
                </a:cubicBezTo>
                <a:close/>
              </a:path>
            </a:pathLst>
          </a:custGeom>
          <a:solidFill>
            <a:srgbClr val="4A6C8C"/>
          </a:solidFill>
          <a:ln/>
        </p:spPr>
      </p:sp>
      <p:sp>
        <p:nvSpPr>
          <p:cNvPr id="34" name="Text 32"/>
          <p:cNvSpPr/>
          <p:nvPr/>
        </p:nvSpPr>
        <p:spPr>
          <a:xfrm>
            <a:off x="6447234" y="7696200"/>
            <a:ext cx="20066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fr-FR" sz="1600" smtClean="0">
                <a:solidFill>
                  <a:srgbClr val="E8E8E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Analyser les résultats</a:t>
            </a:r>
            <a:endParaRPr lang="fr-FR" sz="1600" dirty="0"/>
          </a:p>
        </p:txBody>
      </p:sp>
      <p:sp>
        <p:nvSpPr>
          <p:cNvPr id="35" name="Shape 33"/>
          <p:cNvSpPr/>
          <p:nvPr/>
        </p:nvSpPr>
        <p:spPr>
          <a:xfrm>
            <a:off x="10843617" y="4171950"/>
            <a:ext cx="4902200" cy="4457700"/>
          </a:xfrm>
          <a:custGeom>
            <a:avLst/>
            <a:gdLst/>
            <a:ahLst/>
            <a:cxnLst/>
            <a:rect l="l" t="t" r="r" b="b"/>
            <a:pathLst>
              <a:path w="4902200" h="4457700">
                <a:moveTo>
                  <a:pt x="101591" y="0"/>
                </a:moveTo>
                <a:lnTo>
                  <a:pt x="4800609" y="0"/>
                </a:lnTo>
                <a:cubicBezTo>
                  <a:pt x="4856716" y="0"/>
                  <a:pt x="4902200" y="45484"/>
                  <a:pt x="4902200" y="101591"/>
                </a:cubicBezTo>
                <a:lnTo>
                  <a:pt x="4902200" y="4356109"/>
                </a:lnTo>
                <a:cubicBezTo>
                  <a:pt x="4902200" y="4412216"/>
                  <a:pt x="4856716" y="4457700"/>
                  <a:pt x="4800609" y="4457700"/>
                </a:cubicBezTo>
                <a:lnTo>
                  <a:pt x="101591" y="4457700"/>
                </a:lnTo>
                <a:cubicBezTo>
                  <a:pt x="45484" y="4457700"/>
                  <a:pt x="0" y="4412216"/>
                  <a:pt x="0" y="4356109"/>
                </a:cubicBezTo>
                <a:lnTo>
                  <a:pt x="0" y="101591"/>
                </a:lnTo>
                <a:cubicBezTo>
                  <a:pt x="0" y="45521"/>
                  <a:pt x="45521" y="0"/>
                  <a:pt x="101591" y="0"/>
                </a:cubicBezTo>
                <a:close/>
              </a:path>
            </a:pathLst>
          </a:custGeom>
          <a:solidFill>
            <a:srgbClr val="4A6C8C">
              <a:alpha val="10196"/>
            </a:srgbClr>
          </a:solidFill>
          <a:ln w="12700">
            <a:solidFill>
              <a:srgbClr val="4A6C8C">
                <a:alpha val="30196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1103967" y="4432300"/>
            <a:ext cx="609600" cy="609600"/>
          </a:xfrm>
          <a:custGeom>
            <a:avLst/>
            <a:gdLst/>
            <a:ahLst/>
            <a:cxnLst/>
            <a:rect l="l" t="t" r="r" b="b"/>
            <a:pathLst>
              <a:path w="609600" h="609600">
                <a:moveTo>
                  <a:pt x="50798" y="0"/>
                </a:moveTo>
                <a:lnTo>
                  <a:pt x="558802" y="0"/>
                </a:lnTo>
                <a:cubicBezTo>
                  <a:pt x="586857" y="0"/>
                  <a:pt x="609600" y="22743"/>
                  <a:pt x="609600" y="50798"/>
                </a:cubicBezTo>
                <a:lnTo>
                  <a:pt x="609600" y="558802"/>
                </a:lnTo>
                <a:cubicBezTo>
                  <a:pt x="609600" y="586857"/>
                  <a:pt x="586857" y="609600"/>
                  <a:pt x="558802" y="609600"/>
                </a:cubicBezTo>
                <a:lnTo>
                  <a:pt x="50798" y="609600"/>
                </a:lnTo>
                <a:cubicBezTo>
                  <a:pt x="22743" y="609600"/>
                  <a:pt x="0" y="586857"/>
                  <a:pt x="0" y="558802"/>
                </a:cubicBezTo>
                <a:lnTo>
                  <a:pt x="0" y="50798"/>
                </a:lnTo>
                <a:cubicBezTo>
                  <a:pt x="0" y="22762"/>
                  <a:pt x="22762" y="0"/>
                  <a:pt x="50798" y="0"/>
                </a:cubicBezTo>
                <a:close/>
              </a:path>
            </a:pathLst>
          </a:custGeom>
          <a:solidFill>
            <a:srgbClr val="7D8A9B"/>
          </a:solidFill>
          <a:ln/>
        </p:spPr>
      </p:sp>
      <p:sp>
        <p:nvSpPr>
          <p:cNvPr id="37" name="Shape 35"/>
          <p:cNvSpPr/>
          <p:nvPr/>
        </p:nvSpPr>
        <p:spPr>
          <a:xfrm>
            <a:off x="11281767" y="4610100"/>
            <a:ext cx="254000" cy="254000"/>
          </a:xfrm>
          <a:custGeom>
            <a:avLst/>
            <a:gdLst/>
            <a:ahLst/>
            <a:cxnLst/>
            <a:rect l="l" t="t" r="r" b="b"/>
            <a:pathLst>
              <a:path w="254000" h="254000">
                <a:moveTo>
                  <a:pt x="127000" y="254000"/>
                </a:moveTo>
                <a:cubicBezTo>
                  <a:pt x="197093" y="254000"/>
                  <a:pt x="254000" y="197093"/>
                  <a:pt x="254000" y="127000"/>
                </a:cubicBezTo>
                <a:cubicBezTo>
                  <a:pt x="254000" y="56907"/>
                  <a:pt x="197093" y="0"/>
                  <a:pt x="127000" y="0"/>
                </a:cubicBezTo>
                <a:cubicBezTo>
                  <a:pt x="56907" y="0"/>
                  <a:pt x="0" y="56907"/>
                  <a:pt x="0" y="127000"/>
                </a:cubicBezTo>
                <a:cubicBezTo>
                  <a:pt x="0" y="197093"/>
                  <a:pt x="56907" y="254000"/>
                  <a:pt x="127000" y="254000"/>
                </a:cubicBezTo>
                <a:close/>
                <a:moveTo>
                  <a:pt x="115094" y="170656"/>
                </a:moveTo>
                <a:lnTo>
                  <a:pt x="115094" y="138906"/>
                </a:lnTo>
                <a:lnTo>
                  <a:pt x="83344" y="138906"/>
                </a:lnTo>
                <a:cubicBezTo>
                  <a:pt x="76746" y="138906"/>
                  <a:pt x="71438" y="133598"/>
                  <a:pt x="71438" y="127000"/>
                </a:cubicBezTo>
                <a:cubicBezTo>
                  <a:pt x="71438" y="120402"/>
                  <a:pt x="76746" y="115094"/>
                  <a:pt x="83344" y="115094"/>
                </a:cubicBezTo>
                <a:lnTo>
                  <a:pt x="115094" y="115094"/>
                </a:lnTo>
                <a:lnTo>
                  <a:pt x="115094" y="83344"/>
                </a:lnTo>
                <a:cubicBezTo>
                  <a:pt x="115094" y="76746"/>
                  <a:pt x="120402" y="71438"/>
                  <a:pt x="127000" y="71438"/>
                </a:cubicBezTo>
                <a:cubicBezTo>
                  <a:pt x="133598" y="71438"/>
                  <a:pt x="138906" y="76746"/>
                  <a:pt x="138906" y="83344"/>
                </a:cubicBezTo>
                <a:lnTo>
                  <a:pt x="138906" y="115094"/>
                </a:lnTo>
                <a:lnTo>
                  <a:pt x="170656" y="115094"/>
                </a:lnTo>
                <a:cubicBezTo>
                  <a:pt x="177254" y="115094"/>
                  <a:pt x="182563" y="120402"/>
                  <a:pt x="182563" y="127000"/>
                </a:cubicBezTo>
                <a:cubicBezTo>
                  <a:pt x="182563" y="133598"/>
                  <a:pt x="177254" y="138906"/>
                  <a:pt x="170656" y="138906"/>
                </a:cubicBezTo>
                <a:lnTo>
                  <a:pt x="138906" y="138906"/>
                </a:lnTo>
                <a:lnTo>
                  <a:pt x="138906" y="170656"/>
                </a:lnTo>
                <a:cubicBezTo>
                  <a:pt x="138906" y="177254"/>
                  <a:pt x="133598" y="182563"/>
                  <a:pt x="127000" y="182563"/>
                </a:cubicBezTo>
                <a:cubicBezTo>
                  <a:pt x="120402" y="182563"/>
                  <a:pt x="115094" y="177254"/>
                  <a:pt x="115094" y="170656"/>
                </a:cubicBezTo>
                <a:close/>
              </a:path>
            </a:pathLst>
          </a:custGeom>
          <a:solidFill>
            <a:srgbClr val="E8E8E8"/>
          </a:solidFill>
          <a:ln/>
        </p:spPr>
      </p:sp>
      <p:sp>
        <p:nvSpPr>
          <p:cNvPr id="38" name="Text 36"/>
          <p:cNvSpPr/>
          <p:nvPr/>
        </p:nvSpPr>
        <p:spPr>
          <a:xfrm>
            <a:off x="11865967" y="4559300"/>
            <a:ext cx="34544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fr-FR" sz="2000" b="1" smtClean="0">
                <a:solidFill>
                  <a:srgbClr val="E8E8E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Fonctions Complémentaires</a:t>
            </a:r>
            <a:endParaRPr lang="fr-FR" sz="1600" dirty="0"/>
          </a:p>
        </p:txBody>
      </p:sp>
      <p:sp>
        <p:nvSpPr>
          <p:cNvPr id="39" name="Shape 37"/>
          <p:cNvSpPr/>
          <p:nvPr/>
        </p:nvSpPr>
        <p:spPr>
          <a:xfrm>
            <a:off x="11103967" y="5511800"/>
            <a:ext cx="4381500" cy="508000"/>
          </a:xfrm>
          <a:custGeom>
            <a:avLst/>
            <a:gdLst/>
            <a:ahLst/>
            <a:cxnLst/>
            <a:rect l="l" t="t" r="r" b="b"/>
            <a:pathLst>
              <a:path w="4381500" h="508000">
                <a:moveTo>
                  <a:pt x="50800" y="0"/>
                </a:moveTo>
                <a:lnTo>
                  <a:pt x="4330700" y="0"/>
                </a:lnTo>
                <a:cubicBezTo>
                  <a:pt x="4358737" y="0"/>
                  <a:pt x="4381500" y="22763"/>
                  <a:pt x="4381500" y="50800"/>
                </a:cubicBezTo>
                <a:lnTo>
                  <a:pt x="4381500" y="457200"/>
                </a:lnTo>
                <a:cubicBezTo>
                  <a:pt x="4381500" y="485237"/>
                  <a:pt x="4358737" y="508000"/>
                  <a:pt x="4330700" y="508000"/>
                </a:cubicBezTo>
                <a:lnTo>
                  <a:pt x="50800" y="508000"/>
                </a:lnTo>
                <a:cubicBezTo>
                  <a:pt x="22763" y="508000"/>
                  <a:pt x="0" y="485237"/>
                  <a:pt x="0" y="457200"/>
                </a:cubicBezTo>
                <a:lnTo>
                  <a:pt x="0" y="50800"/>
                </a:lnTo>
                <a:cubicBezTo>
                  <a:pt x="0" y="22763"/>
                  <a:pt x="22763" y="0"/>
                  <a:pt x="50800" y="0"/>
                </a:cubicBezTo>
                <a:close/>
              </a:path>
            </a:pathLst>
          </a:custGeom>
          <a:solidFill>
            <a:srgbClr val="1A1D21"/>
          </a:solidFill>
          <a:ln/>
        </p:spPr>
      </p:sp>
      <p:sp>
        <p:nvSpPr>
          <p:cNvPr id="40" name="Shape 38"/>
          <p:cNvSpPr/>
          <p:nvPr/>
        </p:nvSpPr>
        <p:spPr>
          <a:xfrm>
            <a:off x="11230967" y="5664200"/>
            <a:ext cx="203200" cy="203200"/>
          </a:xfrm>
          <a:custGeom>
            <a:avLst/>
            <a:gdLst/>
            <a:ahLst/>
            <a:cxnLst/>
            <a:rect l="l" t="t" r="r" b="b"/>
            <a:pathLst>
              <a:path w="203200" h="203200">
                <a:moveTo>
                  <a:pt x="25400" y="12700"/>
                </a:moveTo>
                <a:cubicBezTo>
                  <a:pt x="11390" y="12700"/>
                  <a:pt x="0" y="24090"/>
                  <a:pt x="0" y="38100"/>
                </a:cubicBezTo>
                <a:lnTo>
                  <a:pt x="0" y="139700"/>
                </a:lnTo>
                <a:cubicBezTo>
                  <a:pt x="0" y="153710"/>
                  <a:pt x="11390" y="165100"/>
                  <a:pt x="25400" y="165100"/>
                </a:cubicBezTo>
                <a:lnTo>
                  <a:pt x="82550" y="165100"/>
                </a:lnTo>
                <a:lnTo>
                  <a:pt x="76200" y="184150"/>
                </a:lnTo>
                <a:lnTo>
                  <a:pt x="47625" y="184150"/>
                </a:lnTo>
                <a:cubicBezTo>
                  <a:pt x="42347" y="184150"/>
                  <a:pt x="38100" y="188397"/>
                  <a:pt x="38100" y="193675"/>
                </a:cubicBezTo>
                <a:cubicBezTo>
                  <a:pt x="38100" y="198953"/>
                  <a:pt x="42347" y="203200"/>
                  <a:pt x="47625" y="203200"/>
                </a:cubicBezTo>
                <a:lnTo>
                  <a:pt x="155575" y="203200"/>
                </a:lnTo>
                <a:cubicBezTo>
                  <a:pt x="160853" y="203200"/>
                  <a:pt x="165100" y="198953"/>
                  <a:pt x="165100" y="193675"/>
                </a:cubicBezTo>
                <a:cubicBezTo>
                  <a:pt x="165100" y="188397"/>
                  <a:pt x="160853" y="184150"/>
                  <a:pt x="155575" y="184150"/>
                </a:cubicBezTo>
                <a:lnTo>
                  <a:pt x="127000" y="184150"/>
                </a:lnTo>
                <a:lnTo>
                  <a:pt x="120650" y="165100"/>
                </a:lnTo>
                <a:lnTo>
                  <a:pt x="177800" y="165100"/>
                </a:lnTo>
                <a:cubicBezTo>
                  <a:pt x="191810" y="165100"/>
                  <a:pt x="203200" y="153710"/>
                  <a:pt x="203200" y="139700"/>
                </a:cubicBezTo>
                <a:lnTo>
                  <a:pt x="203200" y="38100"/>
                </a:lnTo>
                <a:cubicBezTo>
                  <a:pt x="203200" y="24090"/>
                  <a:pt x="191810" y="12700"/>
                  <a:pt x="177800" y="12700"/>
                </a:cubicBezTo>
                <a:lnTo>
                  <a:pt x="25400" y="12700"/>
                </a:lnTo>
                <a:close/>
                <a:moveTo>
                  <a:pt x="38100" y="38100"/>
                </a:moveTo>
                <a:lnTo>
                  <a:pt x="165100" y="38100"/>
                </a:lnTo>
                <a:cubicBezTo>
                  <a:pt x="172125" y="38100"/>
                  <a:pt x="177800" y="43775"/>
                  <a:pt x="177800" y="50800"/>
                </a:cubicBezTo>
                <a:lnTo>
                  <a:pt x="177800" y="114300"/>
                </a:lnTo>
                <a:cubicBezTo>
                  <a:pt x="177800" y="121325"/>
                  <a:pt x="172125" y="127000"/>
                  <a:pt x="165100" y="127000"/>
                </a:cubicBezTo>
                <a:lnTo>
                  <a:pt x="38100" y="127000"/>
                </a:lnTo>
                <a:cubicBezTo>
                  <a:pt x="31075" y="127000"/>
                  <a:pt x="25400" y="121325"/>
                  <a:pt x="25400" y="114300"/>
                </a:cubicBezTo>
                <a:lnTo>
                  <a:pt x="25400" y="50800"/>
                </a:lnTo>
                <a:cubicBezTo>
                  <a:pt x="25400" y="43775"/>
                  <a:pt x="31075" y="38100"/>
                  <a:pt x="38100" y="38100"/>
                </a:cubicBezTo>
                <a:close/>
              </a:path>
            </a:pathLst>
          </a:custGeom>
          <a:solidFill>
            <a:srgbClr val="7D8A9B"/>
          </a:solidFill>
          <a:ln/>
        </p:spPr>
      </p:sp>
      <p:sp>
        <p:nvSpPr>
          <p:cNvPr id="41" name="Text 39"/>
          <p:cNvSpPr/>
          <p:nvPr/>
        </p:nvSpPr>
        <p:spPr>
          <a:xfrm>
            <a:off x="11611967" y="5613400"/>
            <a:ext cx="21463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fr-FR" sz="1600" smtClean="0">
                <a:solidFill>
                  <a:srgbClr val="E8E8E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Communiquer avec PC</a:t>
            </a:r>
            <a:endParaRPr lang="fr-FR" sz="1600" dirty="0"/>
          </a:p>
        </p:txBody>
      </p:sp>
      <p:sp>
        <p:nvSpPr>
          <p:cNvPr id="42" name="Shape 40"/>
          <p:cNvSpPr/>
          <p:nvPr/>
        </p:nvSpPr>
        <p:spPr>
          <a:xfrm>
            <a:off x="11103967" y="6553200"/>
            <a:ext cx="4381500" cy="508000"/>
          </a:xfrm>
          <a:custGeom>
            <a:avLst/>
            <a:gdLst/>
            <a:ahLst/>
            <a:cxnLst/>
            <a:rect l="l" t="t" r="r" b="b"/>
            <a:pathLst>
              <a:path w="4381500" h="508000">
                <a:moveTo>
                  <a:pt x="50800" y="0"/>
                </a:moveTo>
                <a:lnTo>
                  <a:pt x="4330700" y="0"/>
                </a:lnTo>
                <a:cubicBezTo>
                  <a:pt x="4358737" y="0"/>
                  <a:pt x="4381500" y="22763"/>
                  <a:pt x="4381500" y="50800"/>
                </a:cubicBezTo>
                <a:lnTo>
                  <a:pt x="4381500" y="457200"/>
                </a:lnTo>
                <a:cubicBezTo>
                  <a:pt x="4381500" y="485237"/>
                  <a:pt x="4358737" y="508000"/>
                  <a:pt x="4330700" y="508000"/>
                </a:cubicBezTo>
                <a:lnTo>
                  <a:pt x="50800" y="508000"/>
                </a:lnTo>
                <a:cubicBezTo>
                  <a:pt x="22763" y="508000"/>
                  <a:pt x="0" y="485237"/>
                  <a:pt x="0" y="457200"/>
                </a:cubicBezTo>
                <a:lnTo>
                  <a:pt x="0" y="50800"/>
                </a:lnTo>
                <a:cubicBezTo>
                  <a:pt x="0" y="22763"/>
                  <a:pt x="22763" y="0"/>
                  <a:pt x="50800" y="0"/>
                </a:cubicBezTo>
                <a:close/>
              </a:path>
            </a:pathLst>
          </a:custGeom>
          <a:solidFill>
            <a:srgbClr val="1A1D21"/>
          </a:solidFill>
          <a:ln/>
        </p:spPr>
      </p:sp>
      <p:sp>
        <p:nvSpPr>
          <p:cNvPr id="43" name="Shape 41"/>
          <p:cNvSpPr/>
          <p:nvPr/>
        </p:nvSpPr>
        <p:spPr>
          <a:xfrm>
            <a:off x="11243667" y="6705600"/>
            <a:ext cx="177800" cy="203200"/>
          </a:xfrm>
          <a:custGeom>
            <a:avLst/>
            <a:gdLst/>
            <a:ahLst/>
            <a:cxnLst/>
            <a:rect l="l" t="t" r="r" b="b"/>
            <a:pathLst>
              <a:path w="177800" h="203200">
                <a:moveTo>
                  <a:pt x="177800" y="81677"/>
                </a:moveTo>
                <a:cubicBezTo>
                  <a:pt x="171926" y="85566"/>
                  <a:pt x="165179" y="88702"/>
                  <a:pt x="158155" y="91202"/>
                </a:cubicBezTo>
                <a:cubicBezTo>
                  <a:pt x="139502" y="97869"/>
                  <a:pt x="115014" y="101600"/>
                  <a:pt x="88900" y="101600"/>
                </a:cubicBezTo>
                <a:cubicBezTo>
                  <a:pt x="62786" y="101600"/>
                  <a:pt x="38259" y="97830"/>
                  <a:pt x="19645" y="91202"/>
                </a:cubicBezTo>
                <a:cubicBezTo>
                  <a:pt x="12660" y="88702"/>
                  <a:pt x="5874" y="85566"/>
                  <a:pt x="0" y="81677"/>
                </a:cubicBezTo>
                <a:lnTo>
                  <a:pt x="0" y="114300"/>
                </a:lnTo>
                <a:cubicBezTo>
                  <a:pt x="0" y="131842"/>
                  <a:pt x="39807" y="146050"/>
                  <a:pt x="88900" y="146050"/>
                </a:cubicBezTo>
                <a:cubicBezTo>
                  <a:pt x="137993" y="146050"/>
                  <a:pt x="177800" y="131842"/>
                  <a:pt x="177800" y="114300"/>
                </a:cubicBezTo>
                <a:lnTo>
                  <a:pt x="177800" y="81677"/>
                </a:lnTo>
                <a:close/>
                <a:moveTo>
                  <a:pt x="177800" y="50800"/>
                </a:moveTo>
                <a:lnTo>
                  <a:pt x="177800" y="31750"/>
                </a:lnTo>
                <a:cubicBezTo>
                  <a:pt x="177800" y="14208"/>
                  <a:pt x="137993" y="0"/>
                  <a:pt x="88900" y="0"/>
                </a:cubicBezTo>
                <a:cubicBezTo>
                  <a:pt x="39807" y="0"/>
                  <a:pt x="0" y="14208"/>
                  <a:pt x="0" y="31750"/>
                </a:cubicBezTo>
                <a:lnTo>
                  <a:pt x="0" y="50800"/>
                </a:lnTo>
                <a:cubicBezTo>
                  <a:pt x="0" y="68342"/>
                  <a:pt x="39807" y="82550"/>
                  <a:pt x="88900" y="82550"/>
                </a:cubicBezTo>
                <a:cubicBezTo>
                  <a:pt x="137993" y="82550"/>
                  <a:pt x="177800" y="68342"/>
                  <a:pt x="177800" y="50800"/>
                </a:cubicBezTo>
                <a:close/>
                <a:moveTo>
                  <a:pt x="158155" y="154702"/>
                </a:moveTo>
                <a:cubicBezTo>
                  <a:pt x="139541" y="161330"/>
                  <a:pt x="115054" y="165100"/>
                  <a:pt x="88900" y="165100"/>
                </a:cubicBezTo>
                <a:cubicBezTo>
                  <a:pt x="62746" y="165100"/>
                  <a:pt x="38259" y="161330"/>
                  <a:pt x="19645" y="154702"/>
                </a:cubicBezTo>
                <a:cubicBezTo>
                  <a:pt x="12660" y="152202"/>
                  <a:pt x="5874" y="149066"/>
                  <a:pt x="0" y="145177"/>
                </a:cubicBezTo>
                <a:lnTo>
                  <a:pt x="0" y="171450"/>
                </a:lnTo>
                <a:cubicBezTo>
                  <a:pt x="0" y="188992"/>
                  <a:pt x="39807" y="203200"/>
                  <a:pt x="88900" y="203200"/>
                </a:cubicBezTo>
                <a:cubicBezTo>
                  <a:pt x="137993" y="203200"/>
                  <a:pt x="177800" y="188992"/>
                  <a:pt x="177800" y="171450"/>
                </a:cubicBezTo>
                <a:lnTo>
                  <a:pt x="177800" y="145177"/>
                </a:lnTo>
                <a:cubicBezTo>
                  <a:pt x="171926" y="149066"/>
                  <a:pt x="165179" y="152202"/>
                  <a:pt x="158155" y="154702"/>
                </a:cubicBezTo>
                <a:close/>
              </a:path>
            </a:pathLst>
          </a:custGeom>
          <a:solidFill>
            <a:srgbClr val="7D8A9B"/>
          </a:solidFill>
          <a:ln/>
        </p:spPr>
      </p:sp>
      <p:sp>
        <p:nvSpPr>
          <p:cNvPr id="44" name="Text 42"/>
          <p:cNvSpPr/>
          <p:nvPr/>
        </p:nvSpPr>
        <p:spPr>
          <a:xfrm>
            <a:off x="11611967" y="6654800"/>
            <a:ext cx="1905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fr-FR" sz="1600" smtClean="0">
                <a:solidFill>
                  <a:srgbClr val="E8E8E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Enregistrer mesures</a:t>
            </a:r>
            <a:endParaRPr lang="fr-FR" sz="1600" dirty="0"/>
          </a:p>
        </p:txBody>
      </p:sp>
      <p:sp>
        <p:nvSpPr>
          <p:cNvPr id="45" name="Shape 43"/>
          <p:cNvSpPr/>
          <p:nvPr/>
        </p:nvSpPr>
        <p:spPr>
          <a:xfrm>
            <a:off x="11103967" y="7594600"/>
            <a:ext cx="4381500" cy="508000"/>
          </a:xfrm>
          <a:custGeom>
            <a:avLst/>
            <a:gdLst/>
            <a:ahLst/>
            <a:cxnLst/>
            <a:rect l="l" t="t" r="r" b="b"/>
            <a:pathLst>
              <a:path w="4381500" h="508000">
                <a:moveTo>
                  <a:pt x="50800" y="0"/>
                </a:moveTo>
                <a:lnTo>
                  <a:pt x="4330700" y="0"/>
                </a:lnTo>
                <a:cubicBezTo>
                  <a:pt x="4358737" y="0"/>
                  <a:pt x="4381500" y="22763"/>
                  <a:pt x="4381500" y="50800"/>
                </a:cubicBezTo>
                <a:lnTo>
                  <a:pt x="4381500" y="457200"/>
                </a:lnTo>
                <a:cubicBezTo>
                  <a:pt x="4381500" y="485237"/>
                  <a:pt x="4358737" y="508000"/>
                  <a:pt x="4330700" y="508000"/>
                </a:cubicBezTo>
                <a:lnTo>
                  <a:pt x="50800" y="508000"/>
                </a:lnTo>
                <a:cubicBezTo>
                  <a:pt x="22763" y="508000"/>
                  <a:pt x="0" y="485237"/>
                  <a:pt x="0" y="457200"/>
                </a:cubicBezTo>
                <a:lnTo>
                  <a:pt x="0" y="50800"/>
                </a:lnTo>
                <a:cubicBezTo>
                  <a:pt x="0" y="22763"/>
                  <a:pt x="22763" y="0"/>
                  <a:pt x="50800" y="0"/>
                </a:cubicBezTo>
                <a:close/>
              </a:path>
            </a:pathLst>
          </a:custGeom>
          <a:solidFill>
            <a:srgbClr val="1A1D21"/>
          </a:solidFill>
          <a:ln/>
        </p:spPr>
      </p:sp>
      <p:sp>
        <p:nvSpPr>
          <p:cNvPr id="46" name="Shape 44"/>
          <p:cNvSpPr/>
          <p:nvPr/>
        </p:nvSpPr>
        <p:spPr>
          <a:xfrm>
            <a:off x="11230967" y="7747000"/>
            <a:ext cx="203200" cy="203200"/>
          </a:xfrm>
          <a:custGeom>
            <a:avLst/>
            <a:gdLst/>
            <a:ahLst/>
            <a:cxnLst/>
            <a:rect l="l" t="t" r="r" b="b"/>
            <a:pathLst>
              <a:path w="203200" h="203200">
                <a:moveTo>
                  <a:pt x="25400" y="12700"/>
                </a:moveTo>
                <a:cubicBezTo>
                  <a:pt x="11390" y="12700"/>
                  <a:pt x="0" y="24090"/>
                  <a:pt x="0" y="38100"/>
                </a:cubicBezTo>
                <a:lnTo>
                  <a:pt x="0" y="139700"/>
                </a:lnTo>
                <a:cubicBezTo>
                  <a:pt x="0" y="153710"/>
                  <a:pt x="11390" y="165100"/>
                  <a:pt x="25400" y="165100"/>
                </a:cubicBezTo>
                <a:lnTo>
                  <a:pt x="82550" y="165100"/>
                </a:lnTo>
                <a:lnTo>
                  <a:pt x="76200" y="184150"/>
                </a:lnTo>
                <a:lnTo>
                  <a:pt x="47625" y="184150"/>
                </a:lnTo>
                <a:cubicBezTo>
                  <a:pt x="42347" y="184150"/>
                  <a:pt x="38100" y="188397"/>
                  <a:pt x="38100" y="193675"/>
                </a:cubicBezTo>
                <a:cubicBezTo>
                  <a:pt x="38100" y="198953"/>
                  <a:pt x="42347" y="203200"/>
                  <a:pt x="47625" y="203200"/>
                </a:cubicBezTo>
                <a:lnTo>
                  <a:pt x="155575" y="203200"/>
                </a:lnTo>
                <a:cubicBezTo>
                  <a:pt x="160853" y="203200"/>
                  <a:pt x="165100" y="198953"/>
                  <a:pt x="165100" y="193675"/>
                </a:cubicBezTo>
                <a:cubicBezTo>
                  <a:pt x="165100" y="188397"/>
                  <a:pt x="160853" y="184150"/>
                  <a:pt x="155575" y="184150"/>
                </a:cubicBezTo>
                <a:lnTo>
                  <a:pt x="127000" y="184150"/>
                </a:lnTo>
                <a:lnTo>
                  <a:pt x="120650" y="165100"/>
                </a:lnTo>
                <a:lnTo>
                  <a:pt x="177800" y="165100"/>
                </a:lnTo>
                <a:cubicBezTo>
                  <a:pt x="191810" y="165100"/>
                  <a:pt x="203200" y="153710"/>
                  <a:pt x="203200" y="139700"/>
                </a:cubicBezTo>
                <a:lnTo>
                  <a:pt x="203200" y="38100"/>
                </a:lnTo>
                <a:cubicBezTo>
                  <a:pt x="203200" y="24090"/>
                  <a:pt x="191810" y="12700"/>
                  <a:pt x="177800" y="12700"/>
                </a:cubicBezTo>
                <a:lnTo>
                  <a:pt x="25400" y="12700"/>
                </a:lnTo>
                <a:close/>
                <a:moveTo>
                  <a:pt x="38100" y="38100"/>
                </a:moveTo>
                <a:lnTo>
                  <a:pt x="165100" y="38100"/>
                </a:lnTo>
                <a:cubicBezTo>
                  <a:pt x="172125" y="38100"/>
                  <a:pt x="177800" y="43775"/>
                  <a:pt x="177800" y="50800"/>
                </a:cubicBezTo>
                <a:lnTo>
                  <a:pt x="177800" y="114300"/>
                </a:lnTo>
                <a:cubicBezTo>
                  <a:pt x="177800" y="121325"/>
                  <a:pt x="172125" y="127000"/>
                  <a:pt x="165100" y="127000"/>
                </a:cubicBezTo>
                <a:lnTo>
                  <a:pt x="38100" y="127000"/>
                </a:lnTo>
                <a:cubicBezTo>
                  <a:pt x="31075" y="127000"/>
                  <a:pt x="25400" y="121325"/>
                  <a:pt x="25400" y="114300"/>
                </a:cubicBezTo>
                <a:lnTo>
                  <a:pt x="25400" y="50800"/>
                </a:lnTo>
                <a:cubicBezTo>
                  <a:pt x="25400" y="43775"/>
                  <a:pt x="31075" y="38100"/>
                  <a:pt x="38100" y="38100"/>
                </a:cubicBezTo>
                <a:close/>
              </a:path>
            </a:pathLst>
          </a:custGeom>
          <a:solidFill>
            <a:srgbClr val="7D8A9B"/>
          </a:solidFill>
          <a:ln/>
        </p:spPr>
      </p:sp>
      <p:sp>
        <p:nvSpPr>
          <p:cNvPr id="47" name="Text 45"/>
          <p:cNvSpPr/>
          <p:nvPr/>
        </p:nvSpPr>
        <p:spPr>
          <a:xfrm>
            <a:off x="11611967" y="7696200"/>
            <a:ext cx="19939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fr-FR" sz="1600" smtClean="0">
                <a:solidFill>
                  <a:srgbClr val="E8E8E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Afficher informations</a:t>
            </a:r>
            <a:endParaRPr lang="fr-FR" sz="1600" dirty="0"/>
          </a:p>
        </p:txBody>
      </p:sp>
      <p:sp>
        <p:nvSpPr>
          <p:cNvPr id="48" name="NumPage"/>
          <p:cNvSpPr txBox="1"/>
          <p:nvPr/>
        </p:nvSpPr>
        <p:spPr>
          <a:xfrm>
            <a:off x="15240000" y="8636000"/>
            <a:ext cx="889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fr-FR" sz="1400" smtClean="0">
                <a:solidFill>
                  <a:srgbClr val="E89F5B"/>
                </a:solidFill>
              </a:rPr>
              <a:t>9</a:t>
            </a:r>
            <a:endParaRPr lang="fr-FR" sz="1400" dirty="0">
              <a:solidFill>
                <a:srgbClr val="E89F5B"/>
              </a:solidFill>
            </a:endParaRP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8000" y="508000"/>
            <a:ext cx="153289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fr-FR" sz="1400" b="1" kern="0" spc="140" smtClean="0">
                <a:solidFill>
                  <a:srgbClr val="E89F5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04. SOUS-SYSTÈMES</a:t>
            </a:r>
            <a:endParaRPr lang="fr-FR" sz="1600" dirty="0"/>
          </a:p>
        </p:txBody>
      </p:sp>
      <p:sp>
        <p:nvSpPr>
          <p:cNvPr id="3" name="Text 1"/>
          <p:cNvSpPr/>
          <p:nvPr/>
        </p:nvSpPr>
        <p:spPr>
          <a:xfrm>
            <a:off x="508000" y="863600"/>
            <a:ext cx="154686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fr-FR" sz="3600" b="1" smtClean="0">
                <a:solidFill>
                  <a:srgbClr val="E8E8E8"/>
                </a:solidFill>
                <a:latin typeface="Hedvig Letters Sans" pitchFamily="34" charset="0"/>
                <a:ea typeface="Hedvig Letters Sans" pitchFamily="34" charset="-122"/>
                <a:cs typeface="Hedvig Letters Sans" pitchFamily="34" charset="-120"/>
              </a:rPr>
              <a:t>Sous-systèmes Clés</a:t>
            </a:r>
            <a:endParaRPr lang="fr-FR" sz="1600" dirty="0"/>
          </a:p>
        </p:txBody>
      </p:sp>
      <p:sp>
        <p:nvSpPr>
          <p:cNvPr id="4" name="Shape 2"/>
          <p:cNvSpPr/>
          <p:nvPr/>
        </p:nvSpPr>
        <p:spPr>
          <a:xfrm>
            <a:off x="514350" y="1581150"/>
            <a:ext cx="7505700" cy="4305300"/>
          </a:xfrm>
          <a:custGeom>
            <a:avLst/>
            <a:gdLst/>
            <a:ahLst/>
            <a:cxnLst/>
            <a:rect l="l" t="t" r="r" b="b"/>
            <a:pathLst>
              <a:path w="7505700" h="4305300">
                <a:moveTo>
                  <a:pt x="101605" y="0"/>
                </a:moveTo>
                <a:lnTo>
                  <a:pt x="7404095" y="0"/>
                </a:lnTo>
                <a:cubicBezTo>
                  <a:pt x="7460210" y="0"/>
                  <a:pt x="7505700" y="45490"/>
                  <a:pt x="7505700" y="101605"/>
                </a:cubicBezTo>
                <a:lnTo>
                  <a:pt x="7505700" y="4203695"/>
                </a:lnTo>
                <a:cubicBezTo>
                  <a:pt x="7505700" y="4259810"/>
                  <a:pt x="7460210" y="4305300"/>
                  <a:pt x="7404095" y="4305300"/>
                </a:cubicBezTo>
                <a:lnTo>
                  <a:pt x="101605" y="4305300"/>
                </a:lnTo>
                <a:cubicBezTo>
                  <a:pt x="45490" y="4305300"/>
                  <a:pt x="0" y="4259810"/>
                  <a:pt x="0" y="4203695"/>
                </a:cubicBezTo>
                <a:lnTo>
                  <a:pt x="0" y="101605"/>
                </a:lnTo>
                <a:cubicBezTo>
                  <a:pt x="0" y="45528"/>
                  <a:pt x="45528" y="0"/>
                  <a:pt x="101605" y="0"/>
                </a:cubicBezTo>
                <a:close/>
              </a:path>
            </a:pathLst>
          </a:custGeom>
          <a:solidFill>
            <a:srgbClr val="4A6C8C">
              <a:alpha val="10196"/>
            </a:srgbClr>
          </a:solidFill>
          <a:ln w="12700">
            <a:solidFill>
              <a:srgbClr val="4A6C8C">
                <a:alpha val="30196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23900" y="1790700"/>
            <a:ext cx="609600" cy="609600"/>
          </a:xfrm>
          <a:custGeom>
            <a:avLst/>
            <a:gdLst/>
            <a:ahLst/>
            <a:cxnLst/>
            <a:rect l="l" t="t" r="r" b="b"/>
            <a:pathLst>
              <a:path w="609600" h="609600">
                <a:moveTo>
                  <a:pt x="50798" y="0"/>
                </a:moveTo>
                <a:lnTo>
                  <a:pt x="558802" y="0"/>
                </a:lnTo>
                <a:cubicBezTo>
                  <a:pt x="586857" y="0"/>
                  <a:pt x="609600" y="22743"/>
                  <a:pt x="609600" y="50798"/>
                </a:cubicBezTo>
                <a:lnTo>
                  <a:pt x="609600" y="558802"/>
                </a:lnTo>
                <a:cubicBezTo>
                  <a:pt x="609600" y="586857"/>
                  <a:pt x="586857" y="609600"/>
                  <a:pt x="558802" y="609600"/>
                </a:cubicBezTo>
                <a:lnTo>
                  <a:pt x="50798" y="609600"/>
                </a:lnTo>
                <a:cubicBezTo>
                  <a:pt x="22743" y="609600"/>
                  <a:pt x="0" y="586857"/>
                  <a:pt x="0" y="558802"/>
                </a:cubicBezTo>
                <a:lnTo>
                  <a:pt x="0" y="50798"/>
                </a:lnTo>
                <a:cubicBezTo>
                  <a:pt x="0" y="22762"/>
                  <a:pt x="22762" y="0"/>
                  <a:pt x="50798" y="0"/>
                </a:cubicBezTo>
                <a:close/>
              </a:path>
            </a:pathLst>
          </a:custGeom>
          <a:solidFill>
            <a:srgbClr val="E89F5B"/>
          </a:solidFill>
          <a:ln/>
        </p:spPr>
      </p:sp>
      <p:sp>
        <p:nvSpPr>
          <p:cNvPr id="6" name="Shape 4"/>
          <p:cNvSpPr/>
          <p:nvPr/>
        </p:nvSpPr>
        <p:spPr>
          <a:xfrm>
            <a:off x="885825" y="1968500"/>
            <a:ext cx="285750" cy="254000"/>
          </a:xfrm>
          <a:custGeom>
            <a:avLst/>
            <a:gdLst/>
            <a:ahLst/>
            <a:cxnLst/>
            <a:rect l="l" t="t" r="r" b="b"/>
            <a:pathLst>
              <a:path w="285750" h="254000">
                <a:moveTo>
                  <a:pt x="252710" y="48915"/>
                </a:moveTo>
                <a:cubicBezTo>
                  <a:pt x="256480" y="45145"/>
                  <a:pt x="262781" y="46087"/>
                  <a:pt x="264666" y="51048"/>
                </a:cubicBezTo>
                <a:cubicBezTo>
                  <a:pt x="268039" y="59829"/>
                  <a:pt x="269875" y="69404"/>
                  <a:pt x="269875" y="79375"/>
                </a:cubicBezTo>
                <a:cubicBezTo>
                  <a:pt x="269875" y="123230"/>
                  <a:pt x="234355" y="158750"/>
                  <a:pt x="190500" y="158750"/>
                </a:cubicBezTo>
                <a:cubicBezTo>
                  <a:pt x="181818" y="158750"/>
                  <a:pt x="173434" y="157361"/>
                  <a:pt x="165596" y="154781"/>
                </a:cubicBezTo>
                <a:lnTo>
                  <a:pt x="72876" y="247501"/>
                </a:lnTo>
                <a:cubicBezTo>
                  <a:pt x="58936" y="261441"/>
                  <a:pt x="36314" y="261441"/>
                  <a:pt x="22374" y="247501"/>
                </a:cubicBezTo>
                <a:cubicBezTo>
                  <a:pt x="8434" y="233561"/>
                  <a:pt x="8434" y="210939"/>
                  <a:pt x="22374" y="196999"/>
                </a:cubicBezTo>
                <a:lnTo>
                  <a:pt x="115094" y="104279"/>
                </a:lnTo>
                <a:cubicBezTo>
                  <a:pt x="112514" y="96441"/>
                  <a:pt x="111125" y="88106"/>
                  <a:pt x="111125" y="79375"/>
                </a:cubicBezTo>
                <a:cubicBezTo>
                  <a:pt x="111125" y="35520"/>
                  <a:pt x="146645" y="0"/>
                  <a:pt x="190500" y="0"/>
                </a:cubicBezTo>
                <a:cubicBezTo>
                  <a:pt x="200471" y="0"/>
                  <a:pt x="210046" y="1836"/>
                  <a:pt x="218827" y="5209"/>
                </a:cubicBezTo>
                <a:cubicBezTo>
                  <a:pt x="223788" y="7094"/>
                  <a:pt x="224681" y="13395"/>
                  <a:pt x="220960" y="17165"/>
                </a:cubicBezTo>
                <a:lnTo>
                  <a:pt x="176957" y="61168"/>
                </a:lnTo>
                <a:cubicBezTo>
                  <a:pt x="175468" y="62657"/>
                  <a:pt x="174625" y="64691"/>
                  <a:pt x="174625" y="66774"/>
                </a:cubicBezTo>
                <a:lnTo>
                  <a:pt x="174625" y="87313"/>
                </a:lnTo>
                <a:cubicBezTo>
                  <a:pt x="174625" y="91678"/>
                  <a:pt x="178197" y="95250"/>
                  <a:pt x="182563" y="95250"/>
                </a:cubicBezTo>
                <a:lnTo>
                  <a:pt x="203101" y="95250"/>
                </a:lnTo>
                <a:cubicBezTo>
                  <a:pt x="205184" y="95250"/>
                  <a:pt x="207218" y="94407"/>
                  <a:pt x="208707" y="92918"/>
                </a:cubicBezTo>
                <a:lnTo>
                  <a:pt x="252710" y="48915"/>
                </a:lnTo>
                <a:close/>
              </a:path>
            </a:pathLst>
          </a:custGeom>
          <a:solidFill>
            <a:srgbClr val="1A1D21"/>
          </a:solidFill>
          <a:ln/>
        </p:spPr>
      </p:sp>
      <p:sp>
        <p:nvSpPr>
          <p:cNvPr id="7" name="Text 5"/>
          <p:cNvSpPr/>
          <p:nvPr/>
        </p:nvSpPr>
        <p:spPr>
          <a:xfrm>
            <a:off x="1485900" y="1917700"/>
            <a:ext cx="14351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fr-FR" sz="2000" b="1" smtClean="0">
                <a:solidFill>
                  <a:srgbClr val="E8E8E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Mécanique</a:t>
            </a:r>
            <a:endParaRPr lang="fr-FR" sz="1600" dirty="0"/>
          </a:p>
        </p:txBody>
      </p:sp>
      <p:sp>
        <p:nvSpPr>
          <p:cNvPr id="8" name="Shape 6"/>
          <p:cNvSpPr/>
          <p:nvPr/>
        </p:nvSpPr>
        <p:spPr>
          <a:xfrm>
            <a:off x="762000" y="2771775"/>
            <a:ext cx="177800" cy="203200"/>
          </a:xfrm>
          <a:custGeom>
            <a:avLst/>
            <a:gdLst/>
            <a:ahLst/>
            <a:cxnLst/>
            <a:rect l="l" t="t" r="r" b="b"/>
            <a:pathLst>
              <a:path w="177800" h="203200">
                <a:moveTo>
                  <a:pt x="172561" y="27821"/>
                </a:moveTo>
                <a:cubicBezTo>
                  <a:pt x="178237" y="31948"/>
                  <a:pt x="179507" y="39886"/>
                  <a:pt x="175379" y="45561"/>
                </a:cubicBezTo>
                <a:lnTo>
                  <a:pt x="73779" y="185261"/>
                </a:lnTo>
                <a:cubicBezTo>
                  <a:pt x="71596" y="188278"/>
                  <a:pt x="68223" y="190143"/>
                  <a:pt x="64492" y="190460"/>
                </a:cubicBezTo>
                <a:cubicBezTo>
                  <a:pt x="60762" y="190778"/>
                  <a:pt x="57150" y="189389"/>
                  <a:pt x="54531" y="186769"/>
                </a:cubicBezTo>
                <a:lnTo>
                  <a:pt x="3731" y="135969"/>
                </a:lnTo>
                <a:cubicBezTo>
                  <a:pt x="-1230" y="131008"/>
                  <a:pt x="-1230" y="122952"/>
                  <a:pt x="3731" y="117991"/>
                </a:cubicBezTo>
                <a:cubicBezTo>
                  <a:pt x="8692" y="113030"/>
                  <a:pt x="16748" y="113030"/>
                  <a:pt x="21709" y="117991"/>
                </a:cubicBezTo>
                <a:lnTo>
                  <a:pt x="61992" y="158274"/>
                </a:lnTo>
                <a:lnTo>
                  <a:pt x="154861" y="30599"/>
                </a:lnTo>
                <a:cubicBezTo>
                  <a:pt x="158988" y="24924"/>
                  <a:pt x="166926" y="23654"/>
                  <a:pt x="172601" y="27781"/>
                </a:cubicBezTo>
                <a:close/>
              </a:path>
            </a:pathLst>
          </a:custGeom>
          <a:solidFill>
            <a:srgbClr val="E89F5B"/>
          </a:solidFill>
          <a:ln/>
        </p:spPr>
      </p:sp>
      <p:sp>
        <p:nvSpPr>
          <p:cNvPr id="9" name="Text 7"/>
          <p:cNvSpPr/>
          <p:nvPr/>
        </p:nvSpPr>
        <p:spPr>
          <a:xfrm>
            <a:off x="1079500" y="2720975"/>
            <a:ext cx="22479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fr-FR" sz="1600" dirty="0" smtClean="0">
                <a:solidFill>
                  <a:srgbClr val="7D8A9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Maintenir la clé </a:t>
            </a:r>
            <a:r>
              <a:rPr lang="fr-FR" sz="1600" b="1" dirty="0" smtClean="0">
                <a:solidFill>
                  <a:srgbClr val="E8E8E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sans jeu</a:t>
            </a:r>
            <a:endParaRPr lang="fr-FR" sz="1600" b="1" dirty="0">
              <a:solidFill>
                <a:srgbClr val="E8E8E8"/>
              </a:solidFill>
              <a:latin typeface="Liter" pitchFamily="34" charset="0"/>
              <a:ea typeface="Liter" pitchFamily="34" charset="-122"/>
              <a:cs typeface="Liter" pitchFamily="34" charset="-12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762000" y="3337769"/>
            <a:ext cx="177800" cy="203200"/>
          </a:xfrm>
          <a:custGeom>
            <a:avLst/>
            <a:gdLst/>
            <a:ahLst/>
            <a:cxnLst/>
            <a:rect l="l" t="t" r="r" b="b"/>
            <a:pathLst>
              <a:path w="177800" h="203200">
                <a:moveTo>
                  <a:pt x="172561" y="27821"/>
                </a:moveTo>
                <a:cubicBezTo>
                  <a:pt x="178237" y="31948"/>
                  <a:pt x="179507" y="39886"/>
                  <a:pt x="175379" y="45561"/>
                </a:cubicBezTo>
                <a:lnTo>
                  <a:pt x="73779" y="185261"/>
                </a:lnTo>
                <a:cubicBezTo>
                  <a:pt x="71596" y="188278"/>
                  <a:pt x="68223" y="190143"/>
                  <a:pt x="64492" y="190460"/>
                </a:cubicBezTo>
                <a:cubicBezTo>
                  <a:pt x="60762" y="190778"/>
                  <a:pt x="57150" y="189389"/>
                  <a:pt x="54531" y="186769"/>
                </a:cubicBezTo>
                <a:lnTo>
                  <a:pt x="3731" y="135969"/>
                </a:lnTo>
                <a:cubicBezTo>
                  <a:pt x="-1230" y="131008"/>
                  <a:pt x="-1230" y="122952"/>
                  <a:pt x="3731" y="117991"/>
                </a:cubicBezTo>
                <a:cubicBezTo>
                  <a:pt x="8692" y="113030"/>
                  <a:pt x="16748" y="113030"/>
                  <a:pt x="21709" y="117991"/>
                </a:cubicBezTo>
                <a:lnTo>
                  <a:pt x="61992" y="158274"/>
                </a:lnTo>
                <a:lnTo>
                  <a:pt x="154861" y="30599"/>
                </a:lnTo>
                <a:cubicBezTo>
                  <a:pt x="158988" y="24924"/>
                  <a:pt x="166926" y="23654"/>
                  <a:pt x="172601" y="27781"/>
                </a:cubicBezTo>
                <a:close/>
              </a:path>
            </a:pathLst>
          </a:custGeom>
          <a:solidFill>
            <a:srgbClr val="E89F5B"/>
          </a:solidFill>
          <a:ln/>
        </p:spPr>
      </p:sp>
      <p:sp>
        <p:nvSpPr>
          <p:cNvPr id="13" name="Text 11"/>
          <p:cNvSpPr/>
          <p:nvPr/>
        </p:nvSpPr>
        <p:spPr>
          <a:xfrm>
            <a:off x="1079500" y="3286969"/>
            <a:ext cx="23114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fr-FR" sz="1600" dirty="0" smtClean="0">
                <a:solidFill>
                  <a:srgbClr val="7D8A9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Limiter </a:t>
            </a:r>
            <a:r>
              <a:rPr lang="fr-FR" sz="1600" b="1" dirty="0" smtClean="0">
                <a:solidFill>
                  <a:srgbClr val="E8E8E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efforts parasites</a:t>
            </a:r>
            <a:endParaRPr lang="fr-FR" sz="1600" b="1" dirty="0">
              <a:solidFill>
                <a:srgbClr val="E8E8E8"/>
              </a:solidFill>
              <a:latin typeface="Liter" pitchFamily="34" charset="0"/>
              <a:ea typeface="Liter" pitchFamily="34" charset="-122"/>
              <a:cs typeface="Liter" pitchFamily="34" charset="-12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762000" y="3979119"/>
            <a:ext cx="177800" cy="203200"/>
          </a:xfrm>
          <a:custGeom>
            <a:avLst/>
            <a:gdLst/>
            <a:ahLst/>
            <a:cxnLst/>
            <a:rect l="l" t="t" r="r" b="b"/>
            <a:pathLst>
              <a:path w="177800" h="203200">
                <a:moveTo>
                  <a:pt x="172561" y="27821"/>
                </a:moveTo>
                <a:cubicBezTo>
                  <a:pt x="178237" y="31948"/>
                  <a:pt x="179507" y="39886"/>
                  <a:pt x="175379" y="45561"/>
                </a:cubicBezTo>
                <a:lnTo>
                  <a:pt x="73779" y="185261"/>
                </a:lnTo>
                <a:cubicBezTo>
                  <a:pt x="71596" y="188278"/>
                  <a:pt x="68223" y="190143"/>
                  <a:pt x="64492" y="190460"/>
                </a:cubicBezTo>
                <a:cubicBezTo>
                  <a:pt x="60762" y="190778"/>
                  <a:pt x="57150" y="189389"/>
                  <a:pt x="54531" y="186769"/>
                </a:cubicBezTo>
                <a:lnTo>
                  <a:pt x="3731" y="135969"/>
                </a:lnTo>
                <a:cubicBezTo>
                  <a:pt x="-1230" y="131008"/>
                  <a:pt x="-1230" y="122952"/>
                  <a:pt x="3731" y="117991"/>
                </a:cubicBezTo>
                <a:cubicBezTo>
                  <a:pt x="8692" y="113030"/>
                  <a:pt x="16748" y="113030"/>
                  <a:pt x="21709" y="117991"/>
                </a:cubicBezTo>
                <a:lnTo>
                  <a:pt x="61992" y="158274"/>
                </a:lnTo>
                <a:lnTo>
                  <a:pt x="154861" y="30599"/>
                </a:lnTo>
                <a:cubicBezTo>
                  <a:pt x="158988" y="24924"/>
                  <a:pt x="166926" y="23654"/>
                  <a:pt x="172601" y="27781"/>
                </a:cubicBezTo>
                <a:close/>
              </a:path>
            </a:pathLst>
          </a:custGeom>
          <a:solidFill>
            <a:srgbClr val="E89F5B"/>
          </a:solidFill>
          <a:ln/>
        </p:spPr>
      </p:sp>
      <p:sp>
        <p:nvSpPr>
          <p:cNvPr id="15" name="Text 13"/>
          <p:cNvSpPr/>
          <p:nvPr/>
        </p:nvSpPr>
        <p:spPr>
          <a:xfrm>
            <a:off x="1079500" y="3928319"/>
            <a:ext cx="21971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fr-FR" sz="1600" dirty="0" smtClean="0">
                <a:solidFill>
                  <a:srgbClr val="7D8A9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Gérer </a:t>
            </a:r>
            <a:r>
              <a:rPr lang="fr-FR" sz="1600" b="1" dirty="0" smtClean="0">
                <a:solidFill>
                  <a:srgbClr val="E8E8E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3 positions vérin</a:t>
            </a:r>
            <a:endParaRPr lang="fr-FR" sz="1600" b="1" dirty="0">
              <a:solidFill>
                <a:srgbClr val="E8E8E8"/>
              </a:solidFill>
              <a:latin typeface="Liter" pitchFamily="34" charset="0"/>
              <a:ea typeface="Liter" pitchFamily="34" charset="-122"/>
              <a:cs typeface="Liter" pitchFamily="34" charset="-12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723900" y="4502994"/>
            <a:ext cx="7086600" cy="457200"/>
          </a:xfrm>
          <a:custGeom>
            <a:avLst/>
            <a:gdLst/>
            <a:ahLst/>
            <a:cxnLst/>
            <a:rect l="l" t="t" r="r" b="b"/>
            <a:pathLst>
              <a:path w="7086600" h="457200">
                <a:moveTo>
                  <a:pt x="50799" y="0"/>
                </a:moveTo>
                <a:lnTo>
                  <a:pt x="7035801" y="0"/>
                </a:lnTo>
                <a:cubicBezTo>
                  <a:pt x="7063856" y="0"/>
                  <a:pt x="7086600" y="22744"/>
                  <a:pt x="7086600" y="50799"/>
                </a:cubicBezTo>
                <a:lnTo>
                  <a:pt x="7086600" y="406401"/>
                </a:lnTo>
                <a:cubicBezTo>
                  <a:pt x="7086600" y="434456"/>
                  <a:pt x="7063856" y="457200"/>
                  <a:pt x="7035801" y="457200"/>
                </a:cubicBezTo>
                <a:lnTo>
                  <a:pt x="50799" y="457200"/>
                </a:lnTo>
                <a:cubicBezTo>
                  <a:pt x="22744" y="457200"/>
                  <a:pt x="0" y="434456"/>
                  <a:pt x="0" y="406401"/>
                </a:cubicBezTo>
                <a:lnTo>
                  <a:pt x="0" y="50799"/>
                </a:lnTo>
                <a:cubicBezTo>
                  <a:pt x="0" y="22762"/>
                  <a:pt x="22762" y="0"/>
                  <a:pt x="50799" y="0"/>
                </a:cubicBezTo>
                <a:close/>
              </a:path>
            </a:pathLst>
          </a:custGeom>
          <a:solidFill>
            <a:srgbClr val="1A1D21"/>
          </a:solidFill>
          <a:ln/>
        </p:spPr>
      </p:sp>
      <p:sp>
        <p:nvSpPr>
          <p:cNvPr id="17" name="Text 15"/>
          <p:cNvSpPr/>
          <p:nvPr/>
        </p:nvSpPr>
        <p:spPr>
          <a:xfrm>
            <a:off x="781050" y="4604594"/>
            <a:ext cx="69723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fr-FR" sz="1400" dirty="0" smtClean="0">
                <a:solidFill>
                  <a:srgbClr val="7D8A9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Positions: </a:t>
            </a:r>
            <a:r>
              <a:rPr lang="fr-FR" sz="1400" b="1" dirty="0" smtClean="0">
                <a:solidFill>
                  <a:srgbClr val="E89F5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AV+AR</a:t>
            </a:r>
            <a:r>
              <a:rPr lang="fr-FR" sz="1400" dirty="0" smtClean="0">
                <a:solidFill>
                  <a:srgbClr val="7D8A9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= Calib | </a:t>
            </a:r>
            <a:r>
              <a:rPr lang="fr-FR" sz="1400" b="1" dirty="0" smtClean="0">
                <a:solidFill>
                  <a:srgbClr val="4A6C8C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MIL</a:t>
            </a:r>
            <a:r>
              <a:rPr lang="fr-FR" sz="1400" dirty="0" smtClean="0">
                <a:solidFill>
                  <a:srgbClr val="7D8A9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= Vérif</a:t>
            </a:r>
            <a:endParaRPr lang="fr-FR" sz="1600" dirty="0"/>
          </a:p>
        </p:txBody>
      </p:sp>
      <p:sp>
        <p:nvSpPr>
          <p:cNvPr id="18" name="Shape 16"/>
          <p:cNvSpPr/>
          <p:nvPr/>
        </p:nvSpPr>
        <p:spPr>
          <a:xfrm>
            <a:off x="8235950" y="1581150"/>
            <a:ext cx="7505700" cy="4305300"/>
          </a:xfrm>
          <a:custGeom>
            <a:avLst/>
            <a:gdLst/>
            <a:ahLst/>
            <a:cxnLst/>
            <a:rect l="l" t="t" r="r" b="b"/>
            <a:pathLst>
              <a:path w="7505700" h="4305300">
                <a:moveTo>
                  <a:pt x="101605" y="0"/>
                </a:moveTo>
                <a:lnTo>
                  <a:pt x="7404095" y="0"/>
                </a:lnTo>
                <a:cubicBezTo>
                  <a:pt x="7460210" y="0"/>
                  <a:pt x="7505700" y="45490"/>
                  <a:pt x="7505700" y="101605"/>
                </a:cubicBezTo>
                <a:lnTo>
                  <a:pt x="7505700" y="4203695"/>
                </a:lnTo>
                <a:cubicBezTo>
                  <a:pt x="7505700" y="4259810"/>
                  <a:pt x="7460210" y="4305300"/>
                  <a:pt x="7404095" y="4305300"/>
                </a:cubicBezTo>
                <a:lnTo>
                  <a:pt x="101605" y="4305300"/>
                </a:lnTo>
                <a:cubicBezTo>
                  <a:pt x="45490" y="4305300"/>
                  <a:pt x="0" y="4259810"/>
                  <a:pt x="0" y="4203695"/>
                </a:cubicBezTo>
                <a:lnTo>
                  <a:pt x="0" y="101605"/>
                </a:lnTo>
                <a:cubicBezTo>
                  <a:pt x="0" y="45528"/>
                  <a:pt x="45528" y="0"/>
                  <a:pt x="101605" y="0"/>
                </a:cubicBezTo>
                <a:close/>
              </a:path>
            </a:pathLst>
          </a:custGeom>
          <a:solidFill>
            <a:srgbClr val="4A6C8C">
              <a:alpha val="10196"/>
            </a:srgbClr>
          </a:solidFill>
          <a:ln w="12700">
            <a:solidFill>
              <a:srgbClr val="4A6C8C">
                <a:alpha val="30196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445500" y="1790700"/>
            <a:ext cx="609600" cy="609600"/>
          </a:xfrm>
          <a:custGeom>
            <a:avLst/>
            <a:gdLst/>
            <a:ahLst/>
            <a:cxnLst/>
            <a:rect l="l" t="t" r="r" b="b"/>
            <a:pathLst>
              <a:path w="609600" h="609600">
                <a:moveTo>
                  <a:pt x="50798" y="0"/>
                </a:moveTo>
                <a:lnTo>
                  <a:pt x="558802" y="0"/>
                </a:lnTo>
                <a:cubicBezTo>
                  <a:pt x="586857" y="0"/>
                  <a:pt x="609600" y="22743"/>
                  <a:pt x="609600" y="50798"/>
                </a:cubicBezTo>
                <a:lnTo>
                  <a:pt x="609600" y="558802"/>
                </a:lnTo>
                <a:cubicBezTo>
                  <a:pt x="609600" y="586857"/>
                  <a:pt x="586857" y="609600"/>
                  <a:pt x="558802" y="609600"/>
                </a:cubicBezTo>
                <a:lnTo>
                  <a:pt x="50798" y="609600"/>
                </a:lnTo>
                <a:cubicBezTo>
                  <a:pt x="22743" y="609600"/>
                  <a:pt x="0" y="586857"/>
                  <a:pt x="0" y="558802"/>
                </a:cubicBezTo>
                <a:lnTo>
                  <a:pt x="0" y="50798"/>
                </a:lnTo>
                <a:cubicBezTo>
                  <a:pt x="0" y="22762"/>
                  <a:pt x="22762" y="0"/>
                  <a:pt x="50798" y="0"/>
                </a:cubicBezTo>
                <a:close/>
              </a:path>
            </a:pathLst>
          </a:custGeom>
          <a:solidFill>
            <a:srgbClr val="4A6C8C"/>
          </a:solidFill>
          <a:ln/>
        </p:spPr>
      </p:sp>
      <p:sp>
        <p:nvSpPr>
          <p:cNvPr id="20" name="Shape 18"/>
          <p:cNvSpPr/>
          <p:nvPr/>
        </p:nvSpPr>
        <p:spPr>
          <a:xfrm>
            <a:off x="8591550" y="1968500"/>
            <a:ext cx="317500" cy="254000"/>
          </a:xfrm>
          <a:custGeom>
            <a:avLst/>
            <a:gdLst/>
            <a:ahLst/>
            <a:cxnLst/>
            <a:rect l="l" t="t" r="r" b="b"/>
            <a:pathLst>
              <a:path w="317500" h="254000">
                <a:moveTo>
                  <a:pt x="206325" y="104428"/>
                </a:moveTo>
                <a:cubicBezTo>
                  <a:pt x="212378" y="102791"/>
                  <a:pt x="218728" y="105668"/>
                  <a:pt x="221456" y="111274"/>
                </a:cubicBezTo>
                <a:lnTo>
                  <a:pt x="230684" y="129927"/>
                </a:lnTo>
                <a:cubicBezTo>
                  <a:pt x="235793" y="130621"/>
                  <a:pt x="240804" y="132011"/>
                  <a:pt x="245517" y="133945"/>
                </a:cubicBezTo>
                <a:lnTo>
                  <a:pt x="262880" y="122386"/>
                </a:lnTo>
                <a:cubicBezTo>
                  <a:pt x="268089" y="118914"/>
                  <a:pt x="274985" y="119608"/>
                  <a:pt x="279400" y="124023"/>
                </a:cubicBezTo>
                <a:lnTo>
                  <a:pt x="288925" y="133548"/>
                </a:lnTo>
                <a:cubicBezTo>
                  <a:pt x="293340" y="137964"/>
                  <a:pt x="294035" y="144909"/>
                  <a:pt x="290562" y="150068"/>
                </a:cubicBezTo>
                <a:lnTo>
                  <a:pt x="279003" y="167382"/>
                </a:lnTo>
                <a:cubicBezTo>
                  <a:pt x="279946" y="169714"/>
                  <a:pt x="280789" y="172145"/>
                  <a:pt x="281484" y="174675"/>
                </a:cubicBezTo>
                <a:cubicBezTo>
                  <a:pt x="282178" y="177205"/>
                  <a:pt x="282625" y="179685"/>
                  <a:pt x="282972" y="182215"/>
                </a:cubicBezTo>
                <a:lnTo>
                  <a:pt x="301675" y="191443"/>
                </a:lnTo>
                <a:cubicBezTo>
                  <a:pt x="307280" y="194221"/>
                  <a:pt x="310158" y="200571"/>
                  <a:pt x="308521" y="206573"/>
                </a:cubicBezTo>
                <a:lnTo>
                  <a:pt x="305048" y="219571"/>
                </a:lnTo>
                <a:cubicBezTo>
                  <a:pt x="303411" y="225574"/>
                  <a:pt x="297805" y="229642"/>
                  <a:pt x="291554" y="229245"/>
                </a:cubicBezTo>
                <a:lnTo>
                  <a:pt x="270718" y="227905"/>
                </a:lnTo>
                <a:cubicBezTo>
                  <a:pt x="267593" y="231924"/>
                  <a:pt x="263971" y="235645"/>
                  <a:pt x="259854" y="238820"/>
                </a:cubicBezTo>
                <a:lnTo>
                  <a:pt x="261193" y="259606"/>
                </a:lnTo>
                <a:cubicBezTo>
                  <a:pt x="261590" y="265857"/>
                  <a:pt x="257522" y="271512"/>
                  <a:pt x="251520" y="273100"/>
                </a:cubicBezTo>
                <a:lnTo>
                  <a:pt x="238522" y="276572"/>
                </a:lnTo>
                <a:cubicBezTo>
                  <a:pt x="232470" y="278209"/>
                  <a:pt x="226169" y="275332"/>
                  <a:pt x="223391" y="269726"/>
                </a:cubicBezTo>
                <a:lnTo>
                  <a:pt x="214164" y="251073"/>
                </a:lnTo>
                <a:cubicBezTo>
                  <a:pt x="209054" y="250379"/>
                  <a:pt x="204043" y="248989"/>
                  <a:pt x="199330" y="247055"/>
                </a:cubicBezTo>
                <a:lnTo>
                  <a:pt x="181967" y="258614"/>
                </a:lnTo>
                <a:cubicBezTo>
                  <a:pt x="176758" y="262086"/>
                  <a:pt x="169863" y="261392"/>
                  <a:pt x="165447" y="256977"/>
                </a:cubicBezTo>
                <a:lnTo>
                  <a:pt x="155922" y="247452"/>
                </a:lnTo>
                <a:cubicBezTo>
                  <a:pt x="151507" y="243036"/>
                  <a:pt x="150813" y="236141"/>
                  <a:pt x="154285" y="230932"/>
                </a:cubicBezTo>
                <a:lnTo>
                  <a:pt x="165844" y="213568"/>
                </a:lnTo>
                <a:cubicBezTo>
                  <a:pt x="164902" y="211237"/>
                  <a:pt x="164058" y="208806"/>
                  <a:pt x="163364" y="206276"/>
                </a:cubicBezTo>
                <a:cubicBezTo>
                  <a:pt x="162669" y="203746"/>
                  <a:pt x="162223" y="201216"/>
                  <a:pt x="161875" y="198735"/>
                </a:cubicBezTo>
                <a:lnTo>
                  <a:pt x="143173" y="189508"/>
                </a:lnTo>
                <a:cubicBezTo>
                  <a:pt x="137567" y="186730"/>
                  <a:pt x="134739" y="180380"/>
                  <a:pt x="136327" y="174377"/>
                </a:cubicBezTo>
                <a:lnTo>
                  <a:pt x="139799" y="161379"/>
                </a:lnTo>
                <a:cubicBezTo>
                  <a:pt x="141436" y="155377"/>
                  <a:pt x="147042" y="151309"/>
                  <a:pt x="153293" y="151705"/>
                </a:cubicBezTo>
                <a:lnTo>
                  <a:pt x="174079" y="153045"/>
                </a:lnTo>
                <a:cubicBezTo>
                  <a:pt x="177205" y="149027"/>
                  <a:pt x="180826" y="145306"/>
                  <a:pt x="184944" y="142131"/>
                </a:cubicBezTo>
                <a:lnTo>
                  <a:pt x="183604" y="121394"/>
                </a:lnTo>
                <a:cubicBezTo>
                  <a:pt x="183207" y="115143"/>
                  <a:pt x="187275" y="109488"/>
                  <a:pt x="193278" y="107900"/>
                </a:cubicBezTo>
                <a:lnTo>
                  <a:pt x="206276" y="104428"/>
                </a:lnTo>
                <a:close/>
                <a:moveTo>
                  <a:pt x="222448" y="168672"/>
                </a:moveTo>
                <a:cubicBezTo>
                  <a:pt x="210401" y="168686"/>
                  <a:pt x="200631" y="178478"/>
                  <a:pt x="200645" y="190525"/>
                </a:cubicBezTo>
                <a:cubicBezTo>
                  <a:pt x="200659" y="202572"/>
                  <a:pt x="210451" y="212342"/>
                  <a:pt x="222498" y="212328"/>
                </a:cubicBezTo>
                <a:cubicBezTo>
                  <a:pt x="234545" y="212314"/>
                  <a:pt x="244315" y="202522"/>
                  <a:pt x="244301" y="190475"/>
                </a:cubicBezTo>
                <a:cubicBezTo>
                  <a:pt x="244288" y="178428"/>
                  <a:pt x="234496" y="168658"/>
                  <a:pt x="222448" y="168672"/>
                </a:cubicBezTo>
                <a:close/>
                <a:moveTo>
                  <a:pt x="111571" y="-22572"/>
                </a:moveTo>
                <a:lnTo>
                  <a:pt x="124569" y="-19100"/>
                </a:lnTo>
                <a:cubicBezTo>
                  <a:pt x="130572" y="-17462"/>
                  <a:pt x="134640" y="-11807"/>
                  <a:pt x="134243" y="-5606"/>
                </a:cubicBezTo>
                <a:lnTo>
                  <a:pt x="132904" y="15131"/>
                </a:lnTo>
                <a:cubicBezTo>
                  <a:pt x="137021" y="18306"/>
                  <a:pt x="140643" y="21977"/>
                  <a:pt x="143768" y="26045"/>
                </a:cubicBezTo>
                <a:lnTo>
                  <a:pt x="164604" y="24705"/>
                </a:lnTo>
                <a:cubicBezTo>
                  <a:pt x="170805" y="24309"/>
                  <a:pt x="176461" y="28377"/>
                  <a:pt x="178098" y="34379"/>
                </a:cubicBezTo>
                <a:lnTo>
                  <a:pt x="181570" y="47377"/>
                </a:lnTo>
                <a:cubicBezTo>
                  <a:pt x="183158" y="53380"/>
                  <a:pt x="180330" y="59730"/>
                  <a:pt x="174724" y="62508"/>
                </a:cubicBezTo>
                <a:lnTo>
                  <a:pt x="156021" y="71735"/>
                </a:lnTo>
                <a:cubicBezTo>
                  <a:pt x="155674" y="74265"/>
                  <a:pt x="155178" y="76795"/>
                  <a:pt x="154533" y="79276"/>
                </a:cubicBezTo>
                <a:cubicBezTo>
                  <a:pt x="153888" y="81756"/>
                  <a:pt x="152995" y="84237"/>
                  <a:pt x="152053" y="86568"/>
                </a:cubicBezTo>
                <a:lnTo>
                  <a:pt x="163612" y="103932"/>
                </a:lnTo>
                <a:cubicBezTo>
                  <a:pt x="167084" y="109141"/>
                  <a:pt x="166390" y="116036"/>
                  <a:pt x="161975" y="120452"/>
                </a:cubicBezTo>
                <a:lnTo>
                  <a:pt x="152450" y="129977"/>
                </a:lnTo>
                <a:cubicBezTo>
                  <a:pt x="148034" y="134392"/>
                  <a:pt x="141139" y="135086"/>
                  <a:pt x="135930" y="131614"/>
                </a:cubicBezTo>
                <a:lnTo>
                  <a:pt x="118566" y="120055"/>
                </a:lnTo>
                <a:cubicBezTo>
                  <a:pt x="113854" y="121989"/>
                  <a:pt x="108843" y="123379"/>
                  <a:pt x="103733" y="124073"/>
                </a:cubicBezTo>
                <a:lnTo>
                  <a:pt x="94506" y="142726"/>
                </a:lnTo>
                <a:cubicBezTo>
                  <a:pt x="91728" y="148332"/>
                  <a:pt x="85378" y="151160"/>
                  <a:pt x="79375" y="149572"/>
                </a:cubicBezTo>
                <a:lnTo>
                  <a:pt x="66377" y="146100"/>
                </a:lnTo>
                <a:cubicBezTo>
                  <a:pt x="60325" y="144463"/>
                  <a:pt x="56307" y="138807"/>
                  <a:pt x="56704" y="132606"/>
                </a:cubicBezTo>
                <a:lnTo>
                  <a:pt x="58043" y="111820"/>
                </a:lnTo>
                <a:cubicBezTo>
                  <a:pt x="53925" y="108645"/>
                  <a:pt x="50304" y="104973"/>
                  <a:pt x="47179" y="100905"/>
                </a:cubicBezTo>
                <a:lnTo>
                  <a:pt x="26343" y="102245"/>
                </a:lnTo>
                <a:cubicBezTo>
                  <a:pt x="20141" y="102642"/>
                  <a:pt x="14486" y="98574"/>
                  <a:pt x="12849" y="92571"/>
                </a:cubicBezTo>
                <a:lnTo>
                  <a:pt x="9376" y="79573"/>
                </a:lnTo>
                <a:cubicBezTo>
                  <a:pt x="7789" y="73571"/>
                  <a:pt x="10616" y="67221"/>
                  <a:pt x="16222" y="64443"/>
                </a:cubicBezTo>
                <a:lnTo>
                  <a:pt x="34925" y="55215"/>
                </a:lnTo>
                <a:cubicBezTo>
                  <a:pt x="35272" y="52685"/>
                  <a:pt x="35768" y="50205"/>
                  <a:pt x="36413" y="47675"/>
                </a:cubicBezTo>
                <a:cubicBezTo>
                  <a:pt x="37108" y="45145"/>
                  <a:pt x="37902" y="42714"/>
                  <a:pt x="38894" y="40382"/>
                </a:cubicBezTo>
                <a:lnTo>
                  <a:pt x="27335" y="23068"/>
                </a:lnTo>
                <a:cubicBezTo>
                  <a:pt x="23862" y="17859"/>
                  <a:pt x="24557" y="10964"/>
                  <a:pt x="28972" y="6548"/>
                </a:cubicBezTo>
                <a:lnTo>
                  <a:pt x="38497" y="-2977"/>
                </a:lnTo>
                <a:cubicBezTo>
                  <a:pt x="42912" y="-7392"/>
                  <a:pt x="49808" y="-8086"/>
                  <a:pt x="55017" y="-4614"/>
                </a:cubicBezTo>
                <a:lnTo>
                  <a:pt x="72380" y="6945"/>
                </a:lnTo>
                <a:cubicBezTo>
                  <a:pt x="77093" y="5011"/>
                  <a:pt x="82104" y="3621"/>
                  <a:pt x="87213" y="2927"/>
                </a:cubicBezTo>
                <a:lnTo>
                  <a:pt x="96441" y="-15726"/>
                </a:lnTo>
                <a:cubicBezTo>
                  <a:pt x="99219" y="-21332"/>
                  <a:pt x="105519" y="-24160"/>
                  <a:pt x="111571" y="-22572"/>
                </a:cubicBezTo>
                <a:close/>
                <a:moveTo>
                  <a:pt x="95448" y="41672"/>
                </a:moveTo>
                <a:cubicBezTo>
                  <a:pt x="83401" y="41672"/>
                  <a:pt x="73620" y="51453"/>
                  <a:pt x="73620" y="63500"/>
                </a:cubicBezTo>
                <a:cubicBezTo>
                  <a:pt x="73620" y="75547"/>
                  <a:pt x="83401" y="85328"/>
                  <a:pt x="95448" y="85328"/>
                </a:cubicBezTo>
                <a:cubicBezTo>
                  <a:pt x="107496" y="85328"/>
                  <a:pt x="117277" y="75547"/>
                  <a:pt x="117277" y="63500"/>
                </a:cubicBezTo>
                <a:cubicBezTo>
                  <a:pt x="117277" y="51453"/>
                  <a:pt x="107496" y="41672"/>
                  <a:pt x="95448" y="41672"/>
                </a:cubicBezTo>
                <a:close/>
              </a:path>
            </a:pathLst>
          </a:custGeom>
          <a:solidFill>
            <a:srgbClr val="E8E8E8"/>
          </a:solidFill>
          <a:ln/>
        </p:spPr>
      </p:sp>
      <p:sp>
        <p:nvSpPr>
          <p:cNvPr id="21" name="Text 19"/>
          <p:cNvSpPr/>
          <p:nvPr/>
        </p:nvSpPr>
        <p:spPr>
          <a:xfrm>
            <a:off x="9207500" y="1917700"/>
            <a:ext cx="16383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fr-FR" sz="2000" b="1" smtClean="0">
                <a:solidFill>
                  <a:srgbClr val="E8E8E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Motorisation</a:t>
            </a:r>
            <a:endParaRPr lang="fr-FR" sz="1600" dirty="0"/>
          </a:p>
        </p:txBody>
      </p:sp>
      <p:sp>
        <p:nvSpPr>
          <p:cNvPr id="22" name="Shape 20"/>
          <p:cNvSpPr/>
          <p:nvPr/>
        </p:nvSpPr>
        <p:spPr>
          <a:xfrm>
            <a:off x="8445500" y="2573734"/>
            <a:ext cx="7086600" cy="812800"/>
          </a:xfrm>
          <a:custGeom>
            <a:avLst/>
            <a:gdLst/>
            <a:ahLst/>
            <a:cxnLst/>
            <a:rect l="l" t="t" r="r" b="b"/>
            <a:pathLst>
              <a:path w="7086600" h="812800">
                <a:moveTo>
                  <a:pt x="50800" y="0"/>
                </a:moveTo>
                <a:lnTo>
                  <a:pt x="7035800" y="0"/>
                </a:lnTo>
                <a:cubicBezTo>
                  <a:pt x="7063837" y="0"/>
                  <a:pt x="7086600" y="22763"/>
                  <a:pt x="7086600" y="50800"/>
                </a:cubicBezTo>
                <a:lnTo>
                  <a:pt x="7086600" y="762000"/>
                </a:lnTo>
                <a:cubicBezTo>
                  <a:pt x="7086600" y="790037"/>
                  <a:pt x="7063837" y="812800"/>
                  <a:pt x="7035800" y="812800"/>
                </a:cubicBezTo>
                <a:lnTo>
                  <a:pt x="50800" y="812800"/>
                </a:lnTo>
                <a:cubicBezTo>
                  <a:pt x="22763" y="812800"/>
                  <a:pt x="0" y="790037"/>
                  <a:pt x="0" y="762000"/>
                </a:cubicBezTo>
                <a:lnTo>
                  <a:pt x="0" y="50800"/>
                </a:lnTo>
                <a:cubicBezTo>
                  <a:pt x="0" y="22763"/>
                  <a:pt x="22763" y="0"/>
                  <a:pt x="50800" y="0"/>
                </a:cubicBezTo>
                <a:close/>
              </a:path>
            </a:pathLst>
          </a:custGeom>
          <a:solidFill>
            <a:srgbClr val="1A1D21"/>
          </a:solidFill>
          <a:ln/>
        </p:spPr>
      </p:sp>
      <p:sp>
        <p:nvSpPr>
          <p:cNvPr id="23" name="Text 21"/>
          <p:cNvSpPr/>
          <p:nvPr/>
        </p:nvSpPr>
        <p:spPr>
          <a:xfrm>
            <a:off x="8547100" y="2675334"/>
            <a:ext cx="6985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fr-FR" sz="1600" b="1" smtClean="0">
                <a:solidFill>
                  <a:srgbClr val="E8E8E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Faible Couple</a:t>
            </a:r>
            <a:endParaRPr lang="fr-FR" sz="1600" dirty="0"/>
          </a:p>
        </p:txBody>
      </p:sp>
      <p:sp>
        <p:nvSpPr>
          <p:cNvPr id="24" name="Text 22"/>
          <p:cNvSpPr/>
          <p:nvPr/>
        </p:nvSpPr>
        <p:spPr>
          <a:xfrm>
            <a:off x="8547100" y="3030934"/>
            <a:ext cx="69723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fr-FR" sz="1400" b="1" dirty="0" smtClean="0">
                <a:solidFill>
                  <a:srgbClr val="E89F5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4 - 40 Nm </a:t>
            </a:r>
            <a:r>
              <a:rPr lang="fr-FR" sz="1400" dirty="0" smtClean="0">
                <a:solidFill>
                  <a:srgbClr val="7D8A9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(BT/Wifi)</a:t>
            </a:r>
            <a:endParaRPr lang="fr-FR" sz="1400" dirty="0">
              <a:solidFill>
                <a:srgbClr val="7D8A9B"/>
              </a:solidFill>
              <a:latin typeface="Liter" pitchFamily="34" charset="0"/>
              <a:ea typeface="Liter" pitchFamily="34" charset="-122"/>
              <a:cs typeface="Liter" pitchFamily="34" charset="-120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8445500" y="3530402"/>
            <a:ext cx="7086600" cy="812800"/>
          </a:xfrm>
          <a:custGeom>
            <a:avLst/>
            <a:gdLst/>
            <a:ahLst/>
            <a:cxnLst/>
            <a:rect l="l" t="t" r="r" b="b"/>
            <a:pathLst>
              <a:path w="7086600" h="812800">
                <a:moveTo>
                  <a:pt x="50800" y="0"/>
                </a:moveTo>
                <a:lnTo>
                  <a:pt x="7035800" y="0"/>
                </a:lnTo>
                <a:cubicBezTo>
                  <a:pt x="7063837" y="0"/>
                  <a:pt x="7086600" y="22763"/>
                  <a:pt x="7086600" y="50800"/>
                </a:cubicBezTo>
                <a:lnTo>
                  <a:pt x="7086600" y="762000"/>
                </a:lnTo>
                <a:cubicBezTo>
                  <a:pt x="7086600" y="790037"/>
                  <a:pt x="7063837" y="812800"/>
                  <a:pt x="7035800" y="812800"/>
                </a:cubicBezTo>
                <a:lnTo>
                  <a:pt x="50800" y="812800"/>
                </a:lnTo>
                <a:cubicBezTo>
                  <a:pt x="22763" y="812800"/>
                  <a:pt x="0" y="790037"/>
                  <a:pt x="0" y="762000"/>
                </a:cubicBezTo>
                <a:lnTo>
                  <a:pt x="0" y="50800"/>
                </a:lnTo>
                <a:cubicBezTo>
                  <a:pt x="0" y="22763"/>
                  <a:pt x="22763" y="0"/>
                  <a:pt x="50800" y="0"/>
                </a:cubicBezTo>
                <a:close/>
              </a:path>
            </a:pathLst>
          </a:custGeom>
          <a:solidFill>
            <a:srgbClr val="1A1D21"/>
          </a:solidFill>
          <a:ln/>
        </p:spPr>
      </p:sp>
      <p:sp>
        <p:nvSpPr>
          <p:cNvPr id="26" name="Text 24"/>
          <p:cNvSpPr/>
          <p:nvPr/>
        </p:nvSpPr>
        <p:spPr>
          <a:xfrm>
            <a:off x="8547100" y="3632002"/>
            <a:ext cx="6985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fr-FR" sz="1600" b="1" smtClean="0">
                <a:solidFill>
                  <a:srgbClr val="E8E8E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Fort Couple BT</a:t>
            </a:r>
            <a:endParaRPr lang="fr-FR" sz="1600" dirty="0"/>
          </a:p>
        </p:txBody>
      </p:sp>
      <p:sp>
        <p:nvSpPr>
          <p:cNvPr id="27" name="Text 25"/>
          <p:cNvSpPr/>
          <p:nvPr/>
        </p:nvSpPr>
        <p:spPr>
          <a:xfrm>
            <a:off x="8547100" y="3974902"/>
            <a:ext cx="1150287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fr-FR" sz="1400" b="1" smtClean="0">
                <a:solidFill>
                  <a:srgbClr val="E89F5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40 - 200 Nm</a:t>
            </a:r>
            <a:endParaRPr lang="fr-FR" sz="1600" dirty="0"/>
          </a:p>
        </p:txBody>
      </p:sp>
      <p:sp>
        <p:nvSpPr>
          <p:cNvPr id="28" name="Shape 26"/>
          <p:cNvSpPr/>
          <p:nvPr/>
        </p:nvSpPr>
        <p:spPr>
          <a:xfrm>
            <a:off x="8445500" y="4487069"/>
            <a:ext cx="7086600" cy="812800"/>
          </a:xfrm>
          <a:custGeom>
            <a:avLst/>
            <a:gdLst/>
            <a:ahLst/>
            <a:cxnLst/>
            <a:rect l="l" t="t" r="r" b="b"/>
            <a:pathLst>
              <a:path w="7086600" h="812800">
                <a:moveTo>
                  <a:pt x="50800" y="0"/>
                </a:moveTo>
                <a:lnTo>
                  <a:pt x="7035800" y="0"/>
                </a:lnTo>
                <a:cubicBezTo>
                  <a:pt x="7063837" y="0"/>
                  <a:pt x="7086600" y="22763"/>
                  <a:pt x="7086600" y="50800"/>
                </a:cubicBezTo>
                <a:lnTo>
                  <a:pt x="7086600" y="762000"/>
                </a:lnTo>
                <a:cubicBezTo>
                  <a:pt x="7086600" y="790037"/>
                  <a:pt x="7063837" y="812800"/>
                  <a:pt x="7035800" y="812800"/>
                </a:cubicBezTo>
                <a:lnTo>
                  <a:pt x="50800" y="812800"/>
                </a:lnTo>
                <a:cubicBezTo>
                  <a:pt x="22763" y="812800"/>
                  <a:pt x="0" y="790037"/>
                  <a:pt x="0" y="762000"/>
                </a:cubicBezTo>
                <a:lnTo>
                  <a:pt x="0" y="50800"/>
                </a:lnTo>
                <a:cubicBezTo>
                  <a:pt x="0" y="22763"/>
                  <a:pt x="22763" y="0"/>
                  <a:pt x="50800" y="0"/>
                </a:cubicBezTo>
                <a:close/>
              </a:path>
            </a:pathLst>
          </a:custGeom>
          <a:solidFill>
            <a:srgbClr val="1A1D21"/>
          </a:solidFill>
          <a:ln/>
        </p:spPr>
      </p:sp>
      <p:sp>
        <p:nvSpPr>
          <p:cNvPr id="29" name="Text 27"/>
          <p:cNvSpPr/>
          <p:nvPr/>
        </p:nvSpPr>
        <p:spPr>
          <a:xfrm>
            <a:off x="8547100" y="4588669"/>
            <a:ext cx="6985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fr-FR" sz="1600" b="1" smtClean="0">
                <a:solidFill>
                  <a:srgbClr val="E8E8E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Fort Couple Wifi</a:t>
            </a:r>
            <a:endParaRPr lang="fr-FR" sz="1600" dirty="0"/>
          </a:p>
        </p:txBody>
      </p:sp>
      <p:sp>
        <p:nvSpPr>
          <p:cNvPr id="30" name="Text 28"/>
          <p:cNvSpPr/>
          <p:nvPr/>
        </p:nvSpPr>
        <p:spPr>
          <a:xfrm>
            <a:off x="8547100" y="4931569"/>
            <a:ext cx="114886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fr-FR" sz="1400" b="1" smtClean="0">
                <a:solidFill>
                  <a:srgbClr val="E89F5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20 - 200 Nm</a:t>
            </a:r>
            <a:endParaRPr lang="fr-FR" sz="1600" dirty="0"/>
          </a:p>
        </p:txBody>
      </p:sp>
      <p:sp>
        <p:nvSpPr>
          <p:cNvPr id="31" name="Shape 29"/>
          <p:cNvSpPr/>
          <p:nvPr/>
        </p:nvSpPr>
        <p:spPr>
          <a:xfrm>
            <a:off x="8493125" y="5461000"/>
            <a:ext cx="133350" cy="177800"/>
          </a:xfrm>
          <a:custGeom>
            <a:avLst/>
            <a:gdLst/>
            <a:ahLst/>
            <a:cxnLst/>
            <a:rect l="l" t="t" r="r" b="b"/>
            <a:pathLst>
              <a:path w="133350" h="177800">
                <a:moveTo>
                  <a:pt x="74523" y="6042"/>
                </a:moveTo>
                <a:cubicBezTo>
                  <a:pt x="70182" y="1702"/>
                  <a:pt x="63133" y="1702"/>
                  <a:pt x="58792" y="6042"/>
                </a:cubicBezTo>
                <a:lnTo>
                  <a:pt x="3230" y="61605"/>
                </a:lnTo>
                <a:cubicBezTo>
                  <a:pt x="-1111" y="65946"/>
                  <a:pt x="-1111" y="72995"/>
                  <a:pt x="3230" y="77336"/>
                </a:cubicBezTo>
                <a:cubicBezTo>
                  <a:pt x="7570" y="81677"/>
                  <a:pt x="14620" y="81677"/>
                  <a:pt x="18961" y="77336"/>
                </a:cubicBezTo>
                <a:lnTo>
                  <a:pt x="55563" y="40734"/>
                </a:lnTo>
                <a:lnTo>
                  <a:pt x="55563" y="169466"/>
                </a:lnTo>
                <a:cubicBezTo>
                  <a:pt x="55563" y="175612"/>
                  <a:pt x="60528" y="180578"/>
                  <a:pt x="66675" y="180578"/>
                </a:cubicBezTo>
                <a:cubicBezTo>
                  <a:pt x="72822" y="180578"/>
                  <a:pt x="77788" y="175612"/>
                  <a:pt x="77788" y="169466"/>
                </a:cubicBezTo>
                <a:lnTo>
                  <a:pt x="77788" y="40734"/>
                </a:lnTo>
                <a:lnTo>
                  <a:pt x="114389" y="77336"/>
                </a:lnTo>
                <a:cubicBezTo>
                  <a:pt x="118730" y="81677"/>
                  <a:pt x="125780" y="81677"/>
                  <a:pt x="130120" y="77336"/>
                </a:cubicBezTo>
                <a:cubicBezTo>
                  <a:pt x="134461" y="72995"/>
                  <a:pt x="134461" y="65946"/>
                  <a:pt x="130120" y="61605"/>
                </a:cubicBezTo>
                <a:lnTo>
                  <a:pt x="74558" y="6042"/>
                </a:lnTo>
                <a:close/>
              </a:path>
            </a:pathLst>
          </a:custGeom>
          <a:solidFill>
            <a:srgbClr val="4A6C8C"/>
          </a:solidFill>
          <a:ln/>
        </p:spPr>
      </p:sp>
      <p:sp>
        <p:nvSpPr>
          <p:cNvPr id="32" name="Text 30"/>
          <p:cNvSpPr/>
          <p:nvPr/>
        </p:nvSpPr>
        <p:spPr>
          <a:xfrm>
            <a:off x="8769350" y="5422900"/>
            <a:ext cx="1651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fr-FR" sz="1400" smtClean="0">
                <a:solidFill>
                  <a:srgbClr val="7D8A9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Montée progressive</a:t>
            </a:r>
            <a:endParaRPr lang="fr-FR" sz="1600" dirty="0"/>
          </a:p>
        </p:txBody>
      </p:sp>
      <p:sp>
        <p:nvSpPr>
          <p:cNvPr id="33" name="Shape 31"/>
          <p:cNvSpPr/>
          <p:nvPr/>
        </p:nvSpPr>
        <p:spPr>
          <a:xfrm>
            <a:off x="10561439" y="5461000"/>
            <a:ext cx="177800" cy="177800"/>
          </a:xfrm>
          <a:custGeom>
            <a:avLst/>
            <a:gdLst/>
            <a:ahLst/>
            <a:cxnLst/>
            <a:rect l="l" t="t" r="r" b="b"/>
            <a:pathLst>
              <a:path w="177800" h="177800">
                <a:moveTo>
                  <a:pt x="151651" y="25941"/>
                </a:moveTo>
                <a:lnTo>
                  <a:pt x="155575" y="29656"/>
                </a:lnTo>
                <a:lnTo>
                  <a:pt x="155575" y="11112"/>
                </a:lnTo>
                <a:cubicBezTo>
                  <a:pt x="155575" y="4966"/>
                  <a:pt x="160541" y="0"/>
                  <a:pt x="166688" y="0"/>
                </a:cubicBezTo>
                <a:cubicBezTo>
                  <a:pt x="172834" y="0"/>
                  <a:pt x="177800" y="4966"/>
                  <a:pt x="177800" y="11112"/>
                </a:cubicBezTo>
                <a:lnTo>
                  <a:pt x="177800" y="55563"/>
                </a:lnTo>
                <a:cubicBezTo>
                  <a:pt x="177800" y="61709"/>
                  <a:pt x="172834" y="66675"/>
                  <a:pt x="166688" y="66675"/>
                </a:cubicBezTo>
                <a:lnTo>
                  <a:pt x="122238" y="66675"/>
                </a:lnTo>
                <a:cubicBezTo>
                  <a:pt x="116091" y="66675"/>
                  <a:pt x="111125" y="61709"/>
                  <a:pt x="111125" y="55563"/>
                </a:cubicBezTo>
                <a:cubicBezTo>
                  <a:pt x="111125" y="49416"/>
                  <a:pt x="116091" y="44450"/>
                  <a:pt x="122238" y="44450"/>
                </a:cubicBezTo>
                <a:lnTo>
                  <a:pt x="138872" y="44450"/>
                </a:lnTo>
                <a:lnTo>
                  <a:pt x="136232" y="41950"/>
                </a:lnTo>
                <a:cubicBezTo>
                  <a:pt x="136163" y="41880"/>
                  <a:pt x="136093" y="41811"/>
                  <a:pt x="136024" y="41741"/>
                </a:cubicBezTo>
                <a:cubicBezTo>
                  <a:pt x="109979" y="15696"/>
                  <a:pt x="67786" y="15696"/>
                  <a:pt x="41741" y="41741"/>
                </a:cubicBezTo>
                <a:cubicBezTo>
                  <a:pt x="15696" y="67786"/>
                  <a:pt x="15696" y="109979"/>
                  <a:pt x="41741" y="136024"/>
                </a:cubicBezTo>
                <a:cubicBezTo>
                  <a:pt x="67786" y="162069"/>
                  <a:pt x="109979" y="162069"/>
                  <a:pt x="136024" y="136024"/>
                </a:cubicBezTo>
                <a:cubicBezTo>
                  <a:pt x="138872" y="133176"/>
                  <a:pt x="141407" y="130155"/>
                  <a:pt x="143629" y="126960"/>
                </a:cubicBezTo>
                <a:cubicBezTo>
                  <a:pt x="147136" y="121925"/>
                  <a:pt x="154082" y="120710"/>
                  <a:pt x="159117" y="124217"/>
                </a:cubicBezTo>
                <a:cubicBezTo>
                  <a:pt x="164152" y="127724"/>
                  <a:pt x="165368" y="134670"/>
                  <a:pt x="161861" y="139705"/>
                </a:cubicBezTo>
                <a:cubicBezTo>
                  <a:pt x="158909" y="143942"/>
                  <a:pt x="155540" y="147970"/>
                  <a:pt x="151755" y="151755"/>
                </a:cubicBezTo>
                <a:cubicBezTo>
                  <a:pt x="117029" y="186482"/>
                  <a:pt x="60737" y="186482"/>
                  <a:pt x="26045" y="151755"/>
                </a:cubicBezTo>
                <a:cubicBezTo>
                  <a:pt x="-8647" y="117029"/>
                  <a:pt x="-8682" y="60771"/>
                  <a:pt x="26045" y="26045"/>
                </a:cubicBezTo>
                <a:cubicBezTo>
                  <a:pt x="60737" y="-8647"/>
                  <a:pt x="116924" y="-8682"/>
                  <a:pt x="151651" y="25941"/>
                </a:cubicBezTo>
                <a:close/>
              </a:path>
            </a:pathLst>
          </a:custGeom>
          <a:solidFill>
            <a:srgbClr val="4A6C8C"/>
          </a:solidFill>
          <a:ln/>
        </p:spPr>
      </p:sp>
      <p:sp>
        <p:nvSpPr>
          <p:cNvPr id="34" name="Text 32"/>
          <p:cNvSpPr/>
          <p:nvPr/>
        </p:nvSpPr>
        <p:spPr>
          <a:xfrm>
            <a:off x="10859889" y="5422900"/>
            <a:ext cx="9779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fr-FR" sz="1400" smtClean="0">
                <a:solidFill>
                  <a:srgbClr val="7D8A9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Retour zéro</a:t>
            </a:r>
            <a:endParaRPr lang="fr-FR" sz="1600" dirty="0"/>
          </a:p>
        </p:txBody>
      </p:sp>
      <p:sp>
        <p:nvSpPr>
          <p:cNvPr id="35" name="Shape 33"/>
          <p:cNvSpPr/>
          <p:nvPr/>
        </p:nvSpPr>
        <p:spPr>
          <a:xfrm>
            <a:off x="514350" y="6102350"/>
            <a:ext cx="7505700" cy="2527300"/>
          </a:xfrm>
          <a:custGeom>
            <a:avLst/>
            <a:gdLst/>
            <a:ahLst/>
            <a:cxnLst/>
            <a:rect l="l" t="t" r="r" b="b"/>
            <a:pathLst>
              <a:path w="7505700" h="2527300">
                <a:moveTo>
                  <a:pt x="101597" y="0"/>
                </a:moveTo>
                <a:lnTo>
                  <a:pt x="7404103" y="0"/>
                </a:lnTo>
                <a:cubicBezTo>
                  <a:pt x="7460213" y="0"/>
                  <a:pt x="7505700" y="45487"/>
                  <a:pt x="7505700" y="101597"/>
                </a:cubicBezTo>
                <a:lnTo>
                  <a:pt x="7505700" y="2425703"/>
                </a:lnTo>
                <a:cubicBezTo>
                  <a:pt x="7505700" y="2481813"/>
                  <a:pt x="7460213" y="2527300"/>
                  <a:pt x="7404103" y="2527300"/>
                </a:cubicBezTo>
                <a:lnTo>
                  <a:pt x="101597" y="2527300"/>
                </a:lnTo>
                <a:cubicBezTo>
                  <a:pt x="45487" y="2527300"/>
                  <a:pt x="0" y="2481813"/>
                  <a:pt x="0" y="2425703"/>
                </a:cubicBezTo>
                <a:lnTo>
                  <a:pt x="0" y="101597"/>
                </a:lnTo>
                <a:cubicBezTo>
                  <a:pt x="0" y="45524"/>
                  <a:pt x="45524" y="0"/>
                  <a:pt x="101597" y="0"/>
                </a:cubicBezTo>
                <a:close/>
              </a:path>
            </a:pathLst>
          </a:custGeom>
          <a:solidFill>
            <a:srgbClr val="4A6C8C">
              <a:alpha val="10196"/>
            </a:srgbClr>
          </a:solidFill>
          <a:ln w="12700">
            <a:solidFill>
              <a:srgbClr val="4A6C8C">
                <a:alpha val="30196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23900" y="6311900"/>
            <a:ext cx="609600" cy="609600"/>
          </a:xfrm>
          <a:custGeom>
            <a:avLst/>
            <a:gdLst/>
            <a:ahLst/>
            <a:cxnLst/>
            <a:rect l="l" t="t" r="r" b="b"/>
            <a:pathLst>
              <a:path w="609600" h="609600">
                <a:moveTo>
                  <a:pt x="50798" y="0"/>
                </a:moveTo>
                <a:lnTo>
                  <a:pt x="558802" y="0"/>
                </a:lnTo>
                <a:cubicBezTo>
                  <a:pt x="586857" y="0"/>
                  <a:pt x="609600" y="22743"/>
                  <a:pt x="609600" y="50798"/>
                </a:cubicBezTo>
                <a:lnTo>
                  <a:pt x="609600" y="558802"/>
                </a:lnTo>
                <a:cubicBezTo>
                  <a:pt x="609600" y="586857"/>
                  <a:pt x="586857" y="609600"/>
                  <a:pt x="558802" y="609600"/>
                </a:cubicBezTo>
                <a:lnTo>
                  <a:pt x="50798" y="609600"/>
                </a:lnTo>
                <a:cubicBezTo>
                  <a:pt x="22743" y="609600"/>
                  <a:pt x="0" y="586857"/>
                  <a:pt x="0" y="558802"/>
                </a:cubicBezTo>
                <a:lnTo>
                  <a:pt x="0" y="50798"/>
                </a:lnTo>
                <a:cubicBezTo>
                  <a:pt x="0" y="22762"/>
                  <a:pt x="22762" y="0"/>
                  <a:pt x="50798" y="0"/>
                </a:cubicBezTo>
                <a:close/>
              </a:path>
            </a:pathLst>
          </a:custGeom>
          <a:solidFill>
            <a:srgbClr val="4A6C8C"/>
          </a:solidFill>
          <a:ln/>
        </p:spPr>
      </p:sp>
      <p:sp>
        <p:nvSpPr>
          <p:cNvPr id="37" name="Shape 35"/>
          <p:cNvSpPr/>
          <p:nvPr/>
        </p:nvSpPr>
        <p:spPr>
          <a:xfrm>
            <a:off x="917575" y="6489700"/>
            <a:ext cx="222250" cy="254000"/>
          </a:xfrm>
          <a:custGeom>
            <a:avLst/>
            <a:gdLst/>
            <a:ahLst/>
            <a:cxnLst/>
            <a:rect l="l" t="t" r="r" b="b"/>
            <a:pathLst>
              <a:path w="222250" h="254000">
                <a:moveTo>
                  <a:pt x="496" y="219125"/>
                </a:moveTo>
                <a:cubicBezTo>
                  <a:pt x="2729" y="229939"/>
                  <a:pt x="12303" y="238125"/>
                  <a:pt x="23812" y="238125"/>
                </a:cubicBezTo>
                <a:lnTo>
                  <a:pt x="198438" y="238125"/>
                </a:lnTo>
                <a:cubicBezTo>
                  <a:pt x="211584" y="238125"/>
                  <a:pt x="222250" y="227459"/>
                  <a:pt x="222250" y="214313"/>
                </a:cubicBezTo>
                <a:lnTo>
                  <a:pt x="222250" y="166688"/>
                </a:lnTo>
                <a:cubicBezTo>
                  <a:pt x="222250" y="153541"/>
                  <a:pt x="211584" y="142875"/>
                  <a:pt x="198438" y="142875"/>
                </a:cubicBezTo>
                <a:lnTo>
                  <a:pt x="174625" y="142875"/>
                </a:lnTo>
                <a:lnTo>
                  <a:pt x="174625" y="178594"/>
                </a:lnTo>
                <a:cubicBezTo>
                  <a:pt x="174625" y="185192"/>
                  <a:pt x="169317" y="190500"/>
                  <a:pt x="162719" y="190500"/>
                </a:cubicBezTo>
                <a:cubicBezTo>
                  <a:pt x="156121" y="190500"/>
                  <a:pt x="150813" y="185192"/>
                  <a:pt x="150813" y="178594"/>
                </a:cubicBezTo>
                <a:lnTo>
                  <a:pt x="150813" y="142875"/>
                </a:lnTo>
                <a:lnTo>
                  <a:pt x="119063" y="142875"/>
                </a:lnTo>
                <a:lnTo>
                  <a:pt x="119063" y="178594"/>
                </a:lnTo>
                <a:cubicBezTo>
                  <a:pt x="119063" y="185192"/>
                  <a:pt x="113754" y="190500"/>
                  <a:pt x="107156" y="190500"/>
                </a:cubicBezTo>
                <a:cubicBezTo>
                  <a:pt x="100558" y="190500"/>
                  <a:pt x="95250" y="185192"/>
                  <a:pt x="95250" y="178594"/>
                </a:cubicBezTo>
                <a:lnTo>
                  <a:pt x="95250" y="142875"/>
                </a:lnTo>
                <a:lnTo>
                  <a:pt x="59531" y="142875"/>
                </a:lnTo>
                <a:cubicBezTo>
                  <a:pt x="52933" y="142875"/>
                  <a:pt x="47625" y="137567"/>
                  <a:pt x="47625" y="130969"/>
                </a:cubicBezTo>
                <a:cubicBezTo>
                  <a:pt x="47625" y="124371"/>
                  <a:pt x="52933" y="119063"/>
                  <a:pt x="59531" y="119063"/>
                </a:cubicBezTo>
                <a:lnTo>
                  <a:pt x="95250" y="119063"/>
                </a:lnTo>
                <a:lnTo>
                  <a:pt x="95250" y="87313"/>
                </a:lnTo>
                <a:lnTo>
                  <a:pt x="59531" y="87313"/>
                </a:lnTo>
                <a:cubicBezTo>
                  <a:pt x="52933" y="87313"/>
                  <a:pt x="47625" y="82004"/>
                  <a:pt x="47625" y="75406"/>
                </a:cubicBezTo>
                <a:cubicBezTo>
                  <a:pt x="47625" y="68808"/>
                  <a:pt x="52933" y="63500"/>
                  <a:pt x="59531" y="63500"/>
                </a:cubicBezTo>
                <a:lnTo>
                  <a:pt x="95250" y="63500"/>
                </a:lnTo>
                <a:lnTo>
                  <a:pt x="95250" y="39688"/>
                </a:lnTo>
                <a:cubicBezTo>
                  <a:pt x="95250" y="26541"/>
                  <a:pt x="84584" y="15875"/>
                  <a:pt x="71438" y="15875"/>
                </a:cubicBezTo>
                <a:lnTo>
                  <a:pt x="23812" y="15875"/>
                </a:lnTo>
                <a:cubicBezTo>
                  <a:pt x="10666" y="15875"/>
                  <a:pt x="0" y="26541"/>
                  <a:pt x="0" y="39688"/>
                </a:cubicBezTo>
                <a:lnTo>
                  <a:pt x="0" y="214313"/>
                </a:lnTo>
                <a:cubicBezTo>
                  <a:pt x="0" y="215950"/>
                  <a:pt x="149" y="217587"/>
                  <a:pt x="496" y="219125"/>
                </a:cubicBezTo>
                <a:close/>
              </a:path>
            </a:pathLst>
          </a:custGeom>
          <a:solidFill>
            <a:srgbClr val="E8E8E8"/>
          </a:solidFill>
          <a:ln/>
        </p:spPr>
      </p:sp>
      <p:sp>
        <p:nvSpPr>
          <p:cNvPr id="38" name="Text 36"/>
          <p:cNvSpPr/>
          <p:nvPr/>
        </p:nvSpPr>
        <p:spPr>
          <a:xfrm>
            <a:off x="1485900" y="6438900"/>
            <a:ext cx="1016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fr-FR" sz="2000" b="1" smtClean="0">
                <a:solidFill>
                  <a:srgbClr val="E8E8E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Mesure</a:t>
            </a:r>
            <a:endParaRPr lang="fr-FR" sz="1600" dirty="0"/>
          </a:p>
        </p:txBody>
      </p:sp>
      <p:sp>
        <p:nvSpPr>
          <p:cNvPr id="39" name="Shape 37"/>
          <p:cNvSpPr/>
          <p:nvPr/>
        </p:nvSpPr>
        <p:spPr>
          <a:xfrm>
            <a:off x="762000" y="7140575"/>
            <a:ext cx="177800" cy="203200"/>
          </a:xfrm>
          <a:custGeom>
            <a:avLst/>
            <a:gdLst/>
            <a:ahLst/>
            <a:cxnLst/>
            <a:rect l="l" t="t" r="r" b="b"/>
            <a:pathLst>
              <a:path w="177800" h="203200">
                <a:moveTo>
                  <a:pt x="172561" y="27821"/>
                </a:moveTo>
                <a:cubicBezTo>
                  <a:pt x="178237" y="31948"/>
                  <a:pt x="179507" y="39886"/>
                  <a:pt x="175379" y="45561"/>
                </a:cubicBezTo>
                <a:lnTo>
                  <a:pt x="73779" y="185261"/>
                </a:lnTo>
                <a:cubicBezTo>
                  <a:pt x="71596" y="188278"/>
                  <a:pt x="68223" y="190143"/>
                  <a:pt x="64492" y="190460"/>
                </a:cubicBezTo>
                <a:cubicBezTo>
                  <a:pt x="60762" y="190778"/>
                  <a:pt x="57150" y="189389"/>
                  <a:pt x="54531" y="186769"/>
                </a:cubicBezTo>
                <a:lnTo>
                  <a:pt x="3731" y="135969"/>
                </a:lnTo>
                <a:cubicBezTo>
                  <a:pt x="-1230" y="131008"/>
                  <a:pt x="-1230" y="122952"/>
                  <a:pt x="3731" y="117991"/>
                </a:cubicBezTo>
                <a:cubicBezTo>
                  <a:pt x="8692" y="113030"/>
                  <a:pt x="16748" y="113030"/>
                  <a:pt x="21709" y="117991"/>
                </a:cubicBezTo>
                <a:lnTo>
                  <a:pt x="61992" y="158274"/>
                </a:lnTo>
                <a:lnTo>
                  <a:pt x="154861" y="30599"/>
                </a:lnTo>
                <a:cubicBezTo>
                  <a:pt x="158988" y="24924"/>
                  <a:pt x="166926" y="23654"/>
                  <a:pt x="172601" y="27781"/>
                </a:cubicBezTo>
                <a:close/>
              </a:path>
            </a:pathLst>
          </a:custGeom>
          <a:solidFill>
            <a:srgbClr val="4A6C8C"/>
          </a:solidFill>
          <a:ln/>
        </p:spPr>
      </p:sp>
      <p:sp>
        <p:nvSpPr>
          <p:cNvPr id="40" name="Text 38"/>
          <p:cNvSpPr/>
          <p:nvPr/>
        </p:nvSpPr>
        <p:spPr>
          <a:xfrm>
            <a:off x="1079500" y="7089775"/>
            <a:ext cx="22733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fr-FR" sz="1600" dirty="0" smtClean="0">
                <a:solidFill>
                  <a:srgbClr val="7D8A9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Lire couple réel </a:t>
            </a:r>
            <a:r>
              <a:rPr lang="fr-FR" sz="1600" b="1" dirty="0" smtClean="0">
                <a:solidFill>
                  <a:srgbClr val="E8E8E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(en Nm)</a:t>
            </a:r>
          </a:p>
        </p:txBody>
      </p:sp>
      <p:sp>
        <p:nvSpPr>
          <p:cNvPr id="41" name="Shape 39"/>
          <p:cNvSpPr/>
          <p:nvPr/>
        </p:nvSpPr>
        <p:spPr>
          <a:xfrm>
            <a:off x="762000" y="7477125"/>
            <a:ext cx="177800" cy="203200"/>
          </a:xfrm>
          <a:custGeom>
            <a:avLst/>
            <a:gdLst/>
            <a:ahLst/>
            <a:cxnLst/>
            <a:rect l="l" t="t" r="r" b="b"/>
            <a:pathLst>
              <a:path w="177800" h="203200">
                <a:moveTo>
                  <a:pt x="172561" y="27821"/>
                </a:moveTo>
                <a:cubicBezTo>
                  <a:pt x="178237" y="31948"/>
                  <a:pt x="179507" y="39886"/>
                  <a:pt x="175379" y="45561"/>
                </a:cubicBezTo>
                <a:lnTo>
                  <a:pt x="73779" y="185261"/>
                </a:lnTo>
                <a:cubicBezTo>
                  <a:pt x="71596" y="188278"/>
                  <a:pt x="68223" y="190143"/>
                  <a:pt x="64492" y="190460"/>
                </a:cubicBezTo>
                <a:cubicBezTo>
                  <a:pt x="60762" y="190778"/>
                  <a:pt x="57150" y="189389"/>
                  <a:pt x="54531" y="186769"/>
                </a:cubicBezTo>
                <a:lnTo>
                  <a:pt x="3731" y="135969"/>
                </a:lnTo>
                <a:cubicBezTo>
                  <a:pt x="-1230" y="131008"/>
                  <a:pt x="-1230" y="122952"/>
                  <a:pt x="3731" y="117991"/>
                </a:cubicBezTo>
                <a:cubicBezTo>
                  <a:pt x="8692" y="113030"/>
                  <a:pt x="16748" y="113030"/>
                  <a:pt x="21709" y="117991"/>
                </a:cubicBezTo>
                <a:lnTo>
                  <a:pt x="61992" y="158274"/>
                </a:lnTo>
                <a:lnTo>
                  <a:pt x="154861" y="30599"/>
                </a:lnTo>
                <a:cubicBezTo>
                  <a:pt x="158988" y="24924"/>
                  <a:pt x="166926" y="23654"/>
                  <a:pt x="172601" y="27781"/>
                </a:cubicBezTo>
                <a:close/>
              </a:path>
            </a:pathLst>
          </a:custGeom>
          <a:solidFill>
            <a:srgbClr val="4A6C8C"/>
          </a:solidFill>
          <a:ln/>
        </p:spPr>
      </p:sp>
      <p:sp>
        <p:nvSpPr>
          <p:cNvPr id="42" name="Text 40"/>
          <p:cNvSpPr/>
          <p:nvPr/>
        </p:nvSpPr>
        <p:spPr>
          <a:xfrm>
            <a:off x="1079500" y="7426325"/>
            <a:ext cx="18923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fr-FR" sz="1600" b="1" dirty="0" smtClean="0">
                <a:solidFill>
                  <a:srgbClr val="E8E8E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Stabiliser </a:t>
            </a:r>
            <a:r>
              <a:rPr lang="fr-FR" sz="1600" dirty="0" smtClean="0">
                <a:solidFill>
                  <a:srgbClr val="7D8A9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la mesure</a:t>
            </a:r>
            <a:endParaRPr lang="fr-FR" sz="1600" dirty="0">
              <a:solidFill>
                <a:srgbClr val="7D8A9B"/>
              </a:solidFill>
              <a:latin typeface="Liter" pitchFamily="34" charset="0"/>
              <a:ea typeface="Liter" pitchFamily="34" charset="-122"/>
              <a:cs typeface="Liter" pitchFamily="34" charset="-120"/>
            </a:endParaRPr>
          </a:p>
        </p:txBody>
      </p:sp>
      <p:sp>
        <p:nvSpPr>
          <p:cNvPr id="43" name="Shape 41"/>
          <p:cNvSpPr/>
          <p:nvPr/>
        </p:nvSpPr>
        <p:spPr>
          <a:xfrm>
            <a:off x="762000" y="7813675"/>
            <a:ext cx="177800" cy="203200"/>
          </a:xfrm>
          <a:custGeom>
            <a:avLst/>
            <a:gdLst/>
            <a:ahLst/>
            <a:cxnLst/>
            <a:rect l="l" t="t" r="r" b="b"/>
            <a:pathLst>
              <a:path w="177800" h="203200">
                <a:moveTo>
                  <a:pt x="172561" y="27821"/>
                </a:moveTo>
                <a:cubicBezTo>
                  <a:pt x="178237" y="31948"/>
                  <a:pt x="179507" y="39886"/>
                  <a:pt x="175379" y="45561"/>
                </a:cubicBezTo>
                <a:lnTo>
                  <a:pt x="73779" y="185261"/>
                </a:lnTo>
                <a:cubicBezTo>
                  <a:pt x="71596" y="188278"/>
                  <a:pt x="68223" y="190143"/>
                  <a:pt x="64492" y="190460"/>
                </a:cubicBezTo>
                <a:cubicBezTo>
                  <a:pt x="60762" y="190778"/>
                  <a:pt x="57150" y="189389"/>
                  <a:pt x="54531" y="186769"/>
                </a:cubicBezTo>
                <a:lnTo>
                  <a:pt x="3731" y="135969"/>
                </a:lnTo>
                <a:cubicBezTo>
                  <a:pt x="-1230" y="131008"/>
                  <a:pt x="-1230" y="122952"/>
                  <a:pt x="3731" y="117991"/>
                </a:cubicBezTo>
                <a:cubicBezTo>
                  <a:pt x="8692" y="113030"/>
                  <a:pt x="16748" y="113030"/>
                  <a:pt x="21709" y="117991"/>
                </a:cubicBezTo>
                <a:lnTo>
                  <a:pt x="61992" y="158274"/>
                </a:lnTo>
                <a:lnTo>
                  <a:pt x="154861" y="30599"/>
                </a:lnTo>
                <a:cubicBezTo>
                  <a:pt x="158988" y="24924"/>
                  <a:pt x="166926" y="23654"/>
                  <a:pt x="172601" y="27781"/>
                </a:cubicBezTo>
                <a:close/>
              </a:path>
            </a:pathLst>
          </a:custGeom>
          <a:solidFill>
            <a:srgbClr val="4A6C8C"/>
          </a:solidFill>
          <a:ln/>
        </p:spPr>
      </p:sp>
      <p:sp>
        <p:nvSpPr>
          <p:cNvPr id="44" name="Text 42"/>
          <p:cNvSpPr/>
          <p:nvPr/>
        </p:nvSpPr>
        <p:spPr>
          <a:xfrm>
            <a:off x="1079500" y="7762875"/>
            <a:ext cx="21717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fr-FR" sz="1600" b="1" dirty="0" smtClean="0">
                <a:solidFill>
                  <a:srgbClr val="E8E8E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Détecter </a:t>
            </a:r>
            <a:r>
              <a:rPr lang="fr-FR" sz="1600" dirty="0" smtClean="0">
                <a:solidFill>
                  <a:srgbClr val="7D8A9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incohérences</a:t>
            </a:r>
            <a:endParaRPr lang="fr-FR" sz="1600" dirty="0">
              <a:solidFill>
                <a:srgbClr val="7D8A9B"/>
              </a:solidFill>
              <a:latin typeface="Liter" pitchFamily="34" charset="0"/>
              <a:ea typeface="Liter" pitchFamily="34" charset="-122"/>
              <a:cs typeface="Liter" pitchFamily="34" charset="-120"/>
            </a:endParaRPr>
          </a:p>
        </p:txBody>
      </p:sp>
      <p:sp>
        <p:nvSpPr>
          <p:cNvPr id="45" name="Shape 43"/>
          <p:cNvSpPr/>
          <p:nvPr/>
        </p:nvSpPr>
        <p:spPr>
          <a:xfrm>
            <a:off x="762000" y="8150225"/>
            <a:ext cx="177800" cy="203200"/>
          </a:xfrm>
          <a:custGeom>
            <a:avLst/>
            <a:gdLst/>
            <a:ahLst/>
            <a:cxnLst/>
            <a:rect l="l" t="t" r="r" b="b"/>
            <a:pathLst>
              <a:path w="177800" h="203200">
                <a:moveTo>
                  <a:pt x="172561" y="27821"/>
                </a:moveTo>
                <a:cubicBezTo>
                  <a:pt x="178237" y="31948"/>
                  <a:pt x="179507" y="39886"/>
                  <a:pt x="175379" y="45561"/>
                </a:cubicBezTo>
                <a:lnTo>
                  <a:pt x="73779" y="185261"/>
                </a:lnTo>
                <a:cubicBezTo>
                  <a:pt x="71596" y="188278"/>
                  <a:pt x="68223" y="190143"/>
                  <a:pt x="64492" y="190460"/>
                </a:cubicBezTo>
                <a:cubicBezTo>
                  <a:pt x="60762" y="190778"/>
                  <a:pt x="57150" y="189389"/>
                  <a:pt x="54531" y="186769"/>
                </a:cubicBezTo>
                <a:lnTo>
                  <a:pt x="3731" y="135969"/>
                </a:lnTo>
                <a:cubicBezTo>
                  <a:pt x="-1230" y="131008"/>
                  <a:pt x="-1230" y="122952"/>
                  <a:pt x="3731" y="117991"/>
                </a:cubicBezTo>
                <a:cubicBezTo>
                  <a:pt x="8692" y="113030"/>
                  <a:pt x="16748" y="113030"/>
                  <a:pt x="21709" y="117991"/>
                </a:cubicBezTo>
                <a:lnTo>
                  <a:pt x="61992" y="158274"/>
                </a:lnTo>
                <a:lnTo>
                  <a:pt x="154861" y="30599"/>
                </a:lnTo>
                <a:cubicBezTo>
                  <a:pt x="158988" y="24924"/>
                  <a:pt x="166926" y="23654"/>
                  <a:pt x="172601" y="27781"/>
                </a:cubicBezTo>
                <a:close/>
              </a:path>
            </a:pathLst>
          </a:custGeom>
          <a:solidFill>
            <a:srgbClr val="4A6C8C"/>
          </a:solidFill>
          <a:ln/>
        </p:spPr>
      </p:sp>
      <p:sp>
        <p:nvSpPr>
          <p:cNvPr id="46" name="Text 44"/>
          <p:cNvSpPr/>
          <p:nvPr/>
        </p:nvSpPr>
        <p:spPr>
          <a:xfrm>
            <a:off x="1079500" y="8099425"/>
            <a:ext cx="18034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fr-FR" sz="1600" b="1" dirty="0" smtClean="0">
                <a:solidFill>
                  <a:srgbClr val="E8E8E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Stocker</a:t>
            </a:r>
            <a:r>
              <a:rPr lang="fr-FR" sz="1600" dirty="0" smtClean="0">
                <a:solidFill>
                  <a:srgbClr val="7D8A9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les valeurs</a:t>
            </a:r>
            <a:endParaRPr lang="fr-FR" sz="1600" dirty="0">
              <a:solidFill>
                <a:srgbClr val="7D8A9B"/>
              </a:solidFill>
              <a:latin typeface="Liter" pitchFamily="34" charset="0"/>
              <a:ea typeface="Liter" pitchFamily="34" charset="-122"/>
              <a:cs typeface="Liter" pitchFamily="34" charset="-120"/>
            </a:endParaRPr>
          </a:p>
        </p:txBody>
      </p:sp>
      <p:sp>
        <p:nvSpPr>
          <p:cNvPr id="47" name="Shape 45"/>
          <p:cNvSpPr/>
          <p:nvPr/>
        </p:nvSpPr>
        <p:spPr>
          <a:xfrm>
            <a:off x="8235950" y="6102350"/>
            <a:ext cx="7505700" cy="2527300"/>
          </a:xfrm>
          <a:custGeom>
            <a:avLst/>
            <a:gdLst/>
            <a:ahLst/>
            <a:cxnLst/>
            <a:rect l="l" t="t" r="r" b="b"/>
            <a:pathLst>
              <a:path w="7505700" h="2527300">
                <a:moveTo>
                  <a:pt x="101597" y="0"/>
                </a:moveTo>
                <a:lnTo>
                  <a:pt x="7404103" y="0"/>
                </a:lnTo>
                <a:cubicBezTo>
                  <a:pt x="7460213" y="0"/>
                  <a:pt x="7505700" y="45487"/>
                  <a:pt x="7505700" y="101597"/>
                </a:cubicBezTo>
                <a:lnTo>
                  <a:pt x="7505700" y="2425703"/>
                </a:lnTo>
                <a:cubicBezTo>
                  <a:pt x="7505700" y="2481813"/>
                  <a:pt x="7460213" y="2527300"/>
                  <a:pt x="7404103" y="2527300"/>
                </a:cubicBezTo>
                <a:lnTo>
                  <a:pt x="101597" y="2527300"/>
                </a:lnTo>
                <a:cubicBezTo>
                  <a:pt x="45487" y="2527300"/>
                  <a:pt x="0" y="2481813"/>
                  <a:pt x="0" y="2425703"/>
                </a:cubicBezTo>
                <a:lnTo>
                  <a:pt x="0" y="101597"/>
                </a:lnTo>
                <a:cubicBezTo>
                  <a:pt x="0" y="45524"/>
                  <a:pt x="45524" y="0"/>
                  <a:pt x="101597" y="0"/>
                </a:cubicBezTo>
                <a:close/>
              </a:path>
            </a:pathLst>
          </a:custGeom>
          <a:solidFill>
            <a:srgbClr val="4A6C8C">
              <a:alpha val="10196"/>
            </a:srgbClr>
          </a:solidFill>
          <a:ln w="12700">
            <a:solidFill>
              <a:srgbClr val="4A6C8C">
                <a:alpha val="30196"/>
              </a:srgbClr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8445500" y="6311900"/>
            <a:ext cx="609600" cy="609600"/>
          </a:xfrm>
          <a:custGeom>
            <a:avLst/>
            <a:gdLst/>
            <a:ahLst/>
            <a:cxnLst/>
            <a:rect l="l" t="t" r="r" b="b"/>
            <a:pathLst>
              <a:path w="609600" h="609600">
                <a:moveTo>
                  <a:pt x="50798" y="0"/>
                </a:moveTo>
                <a:lnTo>
                  <a:pt x="558802" y="0"/>
                </a:lnTo>
                <a:cubicBezTo>
                  <a:pt x="586857" y="0"/>
                  <a:pt x="609600" y="22743"/>
                  <a:pt x="609600" y="50798"/>
                </a:cubicBezTo>
                <a:lnTo>
                  <a:pt x="609600" y="558802"/>
                </a:lnTo>
                <a:cubicBezTo>
                  <a:pt x="609600" y="586857"/>
                  <a:pt x="586857" y="609600"/>
                  <a:pt x="558802" y="609600"/>
                </a:cubicBezTo>
                <a:lnTo>
                  <a:pt x="50798" y="609600"/>
                </a:lnTo>
                <a:cubicBezTo>
                  <a:pt x="22743" y="609600"/>
                  <a:pt x="0" y="586857"/>
                  <a:pt x="0" y="558802"/>
                </a:cubicBezTo>
                <a:lnTo>
                  <a:pt x="0" y="50798"/>
                </a:lnTo>
                <a:cubicBezTo>
                  <a:pt x="0" y="22762"/>
                  <a:pt x="22762" y="0"/>
                  <a:pt x="50798" y="0"/>
                </a:cubicBezTo>
                <a:close/>
              </a:path>
            </a:pathLst>
          </a:custGeom>
          <a:solidFill>
            <a:srgbClr val="7D8A9B"/>
          </a:solidFill>
          <a:ln/>
        </p:spPr>
      </p:sp>
      <p:sp>
        <p:nvSpPr>
          <p:cNvPr id="49" name="Shape 47"/>
          <p:cNvSpPr/>
          <p:nvPr/>
        </p:nvSpPr>
        <p:spPr>
          <a:xfrm>
            <a:off x="8623300" y="6489700"/>
            <a:ext cx="254000" cy="254000"/>
          </a:xfrm>
          <a:custGeom>
            <a:avLst/>
            <a:gdLst/>
            <a:ahLst/>
            <a:cxnLst/>
            <a:rect l="l" t="t" r="r" b="b"/>
            <a:pathLst>
              <a:path w="254000" h="254000">
                <a:moveTo>
                  <a:pt x="31750" y="15875"/>
                </a:moveTo>
                <a:cubicBezTo>
                  <a:pt x="14238" y="15875"/>
                  <a:pt x="0" y="30113"/>
                  <a:pt x="0" y="47625"/>
                </a:cubicBezTo>
                <a:lnTo>
                  <a:pt x="0" y="174625"/>
                </a:lnTo>
                <a:cubicBezTo>
                  <a:pt x="0" y="192137"/>
                  <a:pt x="14238" y="206375"/>
                  <a:pt x="31750" y="206375"/>
                </a:cubicBezTo>
                <a:lnTo>
                  <a:pt x="103188" y="206375"/>
                </a:lnTo>
                <a:lnTo>
                  <a:pt x="95250" y="230188"/>
                </a:lnTo>
                <a:lnTo>
                  <a:pt x="59531" y="230188"/>
                </a:lnTo>
                <a:cubicBezTo>
                  <a:pt x="52933" y="230188"/>
                  <a:pt x="47625" y="235496"/>
                  <a:pt x="47625" y="242094"/>
                </a:cubicBezTo>
                <a:cubicBezTo>
                  <a:pt x="47625" y="248692"/>
                  <a:pt x="52933" y="254000"/>
                  <a:pt x="59531" y="254000"/>
                </a:cubicBezTo>
                <a:lnTo>
                  <a:pt x="194469" y="254000"/>
                </a:lnTo>
                <a:cubicBezTo>
                  <a:pt x="201067" y="254000"/>
                  <a:pt x="206375" y="248692"/>
                  <a:pt x="206375" y="242094"/>
                </a:cubicBezTo>
                <a:cubicBezTo>
                  <a:pt x="206375" y="235496"/>
                  <a:pt x="201067" y="230188"/>
                  <a:pt x="194469" y="230188"/>
                </a:cubicBezTo>
                <a:lnTo>
                  <a:pt x="158750" y="230188"/>
                </a:lnTo>
                <a:lnTo>
                  <a:pt x="150813" y="206375"/>
                </a:lnTo>
                <a:lnTo>
                  <a:pt x="222250" y="206375"/>
                </a:lnTo>
                <a:cubicBezTo>
                  <a:pt x="239762" y="206375"/>
                  <a:pt x="254000" y="192137"/>
                  <a:pt x="254000" y="174625"/>
                </a:cubicBezTo>
                <a:lnTo>
                  <a:pt x="254000" y="47625"/>
                </a:lnTo>
                <a:cubicBezTo>
                  <a:pt x="254000" y="30113"/>
                  <a:pt x="239762" y="15875"/>
                  <a:pt x="222250" y="15875"/>
                </a:cubicBezTo>
                <a:lnTo>
                  <a:pt x="31750" y="15875"/>
                </a:lnTo>
                <a:close/>
                <a:moveTo>
                  <a:pt x="47625" y="47625"/>
                </a:moveTo>
                <a:lnTo>
                  <a:pt x="206375" y="47625"/>
                </a:lnTo>
                <a:cubicBezTo>
                  <a:pt x="215156" y="47625"/>
                  <a:pt x="222250" y="54719"/>
                  <a:pt x="222250" y="63500"/>
                </a:cubicBezTo>
                <a:lnTo>
                  <a:pt x="222250" y="142875"/>
                </a:lnTo>
                <a:cubicBezTo>
                  <a:pt x="222250" y="151656"/>
                  <a:pt x="215156" y="158750"/>
                  <a:pt x="206375" y="158750"/>
                </a:cubicBezTo>
                <a:lnTo>
                  <a:pt x="47625" y="158750"/>
                </a:lnTo>
                <a:cubicBezTo>
                  <a:pt x="38844" y="158750"/>
                  <a:pt x="31750" y="151656"/>
                  <a:pt x="31750" y="142875"/>
                </a:cubicBezTo>
                <a:lnTo>
                  <a:pt x="31750" y="63500"/>
                </a:lnTo>
                <a:cubicBezTo>
                  <a:pt x="31750" y="54719"/>
                  <a:pt x="38844" y="47625"/>
                  <a:pt x="47625" y="47625"/>
                </a:cubicBezTo>
                <a:close/>
              </a:path>
            </a:pathLst>
          </a:custGeom>
          <a:solidFill>
            <a:srgbClr val="E8E8E8"/>
          </a:solidFill>
          <a:ln/>
        </p:spPr>
      </p:sp>
      <p:sp>
        <p:nvSpPr>
          <p:cNvPr id="50" name="Text 48"/>
          <p:cNvSpPr/>
          <p:nvPr/>
        </p:nvSpPr>
        <p:spPr>
          <a:xfrm>
            <a:off x="9207500" y="6438900"/>
            <a:ext cx="14986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fr-FR" sz="2000" b="1" smtClean="0">
                <a:solidFill>
                  <a:srgbClr val="E8E8E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Information</a:t>
            </a:r>
            <a:endParaRPr lang="fr-FR" sz="1600" dirty="0"/>
          </a:p>
        </p:txBody>
      </p:sp>
      <p:sp>
        <p:nvSpPr>
          <p:cNvPr id="51" name="Shape 49"/>
          <p:cNvSpPr/>
          <p:nvPr/>
        </p:nvSpPr>
        <p:spPr>
          <a:xfrm>
            <a:off x="8483600" y="7140575"/>
            <a:ext cx="177800" cy="203200"/>
          </a:xfrm>
          <a:custGeom>
            <a:avLst/>
            <a:gdLst/>
            <a:ahLst/>
            <a:cxnLst/>
            <a:rect l="l" t="t" r="r" b="b"/>
            <a:pathLst>
              <a:path w="177800" h="203200">
                <a:moveTo>
                  <a:pt x="172561" y="27821"/>
                </a:moveTo>
                <a:cubicBezTo>
                  <a:pt x="178237" y="31948"/>
                  <a:pt x="179507" y="39886"/>
                  <a:pt x="175379" y="45561"/>
                </a:cubicBezTo>
                <a:lnTo>
                  <a:pt x="73779" y="185261"/>
                </a:lnTo>
                <a:cubicBezTo>
                  <a:pt x="71596" y="188278"/>
                  <a:pt x="68223" y="190143"/>
                  <a:pt x="64492" y="190460"/>
                </a:cubicBezTo>
                <a:cubicBezTo>
                  <a:pt x="60762" y="190778"/>
                  <a:pt x="57150" y="189389"/>
                  <a:pt x="54531" y="186769"/>
                </a:cubicBezTo>
                <a:lnTo>
                  <a:pt x="3731" y="135969"/>
                </a:lnTo>
                <a:cubicBezTo>
                  <a:pt x="-1230" y="131008"/>
                  <a:pt x="-1230" y="122952"/>
                  <a:pt x="3731" y="117991"/>
                </a:cubicBezTo>
                <a:cubicBezTo>
                  <a:pt x="8692" y="113030"/>
                  <a:pt x="16748" y="113030"/>
                  <a:pt x="21709" y="117991"/>
                </a:cubicBezTo>
                <a:lnTo>
                  <a:pt x="61992" y="158274"/>
                </a:lnTo>
                <a:lnTo>
                  <a:pt x="154861" y="30599"/>
                </a:lnTo>
                <a:cubicBezTo>
                  <a:pt x="158988" y="24924"/>
                  <a:pt x="166926" y="23654"/>
                  <a:pt x="172601" y="27781"/>
                </a:cubicBezTo>
                <a:close/>
              </a:path>
            </a:pathLst>
          </a:custGeom>
          <a:solidFill>
            <a:srgbClr val="7D8A9B"/>
          </a:solidFill>
          <a:ln/>
        </p:spPr>
      </p:sp>
      <p:sp>
        <p:nvSpPr>
          <p:cNvPr id="52" name="Text 50"/>
          <p:cNvSpPr/>
          <p:nvPr/>
        </p:nvSpPr>
        <p:spPr>
          <a:xfrm>
            <a:off x="8801100" y="7089775"/>
            <a:ext cx="2159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fr-FR" sz="1600" b="1" dirty="0" smtClean="0">
                <a:solidFill>
                  <a:srgbClr val="E8E8E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IHM </a:t>
            </a:r>
            <a:r>
              <a:rPr lang="fr-FR" sz="1600" dirty="0" smtClean="0">
                <a:solidFill>
                  <a:srgbClr val="7D8A9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opérateur intuitive</a:t>
            </a:r>
            <a:endParaRPr lang="fr-FR" sz="1600" dirty="0">
              <a:solidFill>
                <a:srgbClr val="7D8A9B"/>
              </a:solidFill>
              <a:latin typeface="Liter" pitchFamily="34" charset="0"/>
              <a:ea typeface="Liter" pitchFamily="34" charset="-122"/>
              <a:cs typeface="Liter" pitchFamily="34" charset="-120"/>
            </a:endParaRPr>
          </a:p>
        </p:txBody>
      </p:sp>
      <p:sp>
        <p:nvSpPr>
          <p:cNvPr id="53" name="Shape 51"/>
          <p:cNvSpPr/>
          <p:nvPr/>
        </p:nvSpPr>
        <p:spPr>
          <a:xfrm>
            <a:off x="8483600" y="7477125"/>
            <a:ext cx="177800" cy="203200"/>
          </a:xfrm>
          <a:custGeom>
            <a:avLst/>
            <a:gdLst/>
            <a:ahLst/>
            <a:cxnLst/>
            <a:rect l="l" t="t" r="r" b="b"/>
            <a:pathLst>
              <a:path w="177800" h="203200">
                <a:moveTo>
                  <a:pt x="172561" y="27821"/>
                </a:moveTo>
                <a:cubicBezTo>
                  <a:pt x="178237" y="31948"/>
                  <a:pt x="179507" y="39886"/>
                  <a:pt x="175379" y="45561"/>
                </a:cubicBezTo>
                <a:lnTo>
                  <a:pt x="73779" y="185261"/>
                </a:lnTo>
                <a:cubicBezTo>
                  <a:pt x="71596" y="188278"/>
                  <a:pt x="68223" y="190143"/>
                  <a:pt x="64492" y="190460"/>
                </a:cubicBezTo>
                <a:cubicBezTo>
                  <a:pt x="60762" y="190778"/>
                  <a:pt x="57150" y="189389"/>
                  <a:pt x="54531" y="186769"/>
                </a:cubicBezTo>
                <a:lnTo>
                  <a:pt x="3731" y="135969"/>
                </a:lnTo>
                <a:cubicBezTo>
                  <a:pt x="-1230" y="131008"/>
                  <a:pt x="-1230" y="122952"/>
                  <a:pt x="3731" y="117991"/>
                </a:cubicBezTo>
                <a:cubicBezTo>
                  <a:pt x="8692" y="113030"/>
                  <a:pt x="16748" y="113030"/>
                  <a:pt x="21709" y="117991"/>
                </a:cubicBezTo>
                <a:lnTo>
                  <a:pt x="61992" y="158274"/>
                </a:lnTo>
                <a:lnTo>
                  <a:pt x="154861" y="30599"/>
                </a:lnTo>
                <a:cubicBezTo>
                  <a:pt x="158988" y="24924"/>
                  <a:pt x="166926" y="23654"/>
                  <a:pt x="172601" y="27781"/>
                </a:cubicBezTo>
                <a:close/>
              </a:path>
            </a:pathLst>
          </a:custGeom>
          <a:solidFill>
            <a:srgbClr val="7D8A9B"/>
          </a:solidFill>
          <a:ln/>
        </p:spPr>
      </p:sp>
      <p:sp>
        <p:nvSpPr>
          <p:cNvPr id="54" name="Text 52"/>
          <p:cNvSpPr/>
          <p:nvPr/>
        </p:nvSpPr>
        <p:spPr>
          <a:xfrm>
            <a:off x="8801100" y="7426325"/>
            <a:ext cx="14478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fr-FR" sz="1600" b="1" dirty="0" smtClean="0">
                <a:solidFill>
                  <a:srgbClr val="E8E8E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PC </a:t>
            </a:r>
            <a:r>
              <a:rPr lang="fr-FR" sz="1600" dirty="0" smtClean="0">
                <a:solidFill>
                  <a:srgbClr val="7D8A9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supervision</a:t>
            </a:r>
            <a:endParaRPr lang="fr-FR" sz="1600" dirty="0">
              <a:solidFill>
                <a:srgbClr val="7D8A9B"/>
              </a:solidFill>
              <a:latin typeface="Liter" pitchFamily="34" charset="0"/>
              <a:ea typeface="Liter" pitchFamily="34" charset="-122"/>
              <a:cs typeface="Liter" pitchFamily="34" charset="-120"/>
            </a:endParaRPr>
          </a:p>
        </p:txBody>
      </p:sp>
      <p:sp>
        <p:nvSpPr>
          <p:cNvPr id="55" name="Shape 53"/>
          <p:cNvSpPr/>
          <p:nvPr/>
        </p:nvSpPr>
        <p:spPr>
          <a:xfrm>
            <a:off x="8483600" y="7813675"/>
            <a:ext cx="177800" cy="203200"/>
          </a:xfrm>
          <a:custGeom>
            <a:avLst/>
            <a:gdLst/>
            <a:ahLst/>
            <a:cxnLst/>
            <a:rect l="l" t="t" r="r" b="b"/>
            <a:pathLst>
              <a:path w="177800" h="203200">
                <a:moveTo>
                  <a:pt x="172561" y="27821"/>
                </a:moveTo>
                <a:cubicBezTo>
                  <a:pt x="178237" y="31948"/>
                  <a:pt x="179507" y="39886"/>
                  <a:pt x="175379" y="45561"/>
                </a:cubicBezTo>
                <a:lnTo>
                  <a:pt x="73779" y="185261"/>
                </a:lnTo>
                <a:cubicBezTo>
                  <a:pt x="71596" y="188278"/>
                  <a:pt x="68223" y="190143"/>
                  <a:pt x="64492" y="190460"/>
                </a:cubicBezTo>
                <a:cubicBezTo>
                  <a:pt x="60762" y="190778"/>
                  <a:pt x="57150" y="189389"/>
                  <a:pt x="54531" y="186769"/>
                </a:cubicBezTo>
                <a:lnTo>
                  <a:pt x="3731" y="135969"/>
                </a:lnTo>
                <a:cubicBezTo>
                  <a:pt x="-1230" y="131008"/>
                  <a:pt x="-1230" y="122952"/>
                  <a:pt x="3731" y="117991"/>
                </a:cubicBezTo>
                <a:cubicBezTo>
                  <a:pt x="8692" y="113030"/>
                  <a:pt x="16748" y="113030"/>
                  <a:pt x="21709" y="117991"/>
                </a:cubicBezTo>
                <a:lnTo>
                  <a:pt x="61992" y="158274"/>
                </a:lnTo>
                <a:lnTo>
                  <a:pt x="154861" y="30599"/>
                </a:lnTo>
                <a:cubicBezTo>
                  <a:pt x="158988" y="24924"/>
                  <a:pt x="166926" y="23654"/>
                  <a:pt x="172601" y="27781"/>
                </a:cubicBezTo>
                <a:close/>
              </a:path>
            </a:pathLst>
          </a:custGeom>
          <a:solidFill>
            <a:srgbClr val="7D8A9B"/>
          </a:solidFill>
          <a:ln/>
        </p:spPr>
      </p:sp>
      <p:sp>
        <p:nvSpPr>
          <p:cNvPr id="56" name="Text 54"/>
          <p:cNvSpPr/>
          <p:nvPr/>
        </p:nvSpPr>
        <p:spPr>
          <a:xfrm>
            <a:off x="8801100" y="7762875"/>
            <a:ext cx="20701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fr-FR" sz="1600" dirty="0" smtClean="0">
                <a:solidFill>
                  <a:srgbClr val="7D8A9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Transmission </a:t>
            </a:r>
            <a:r>
              <a:rPr lang="fr-FR" sz="1600" b="1" dirty="0" smtClean="0">
                <a:solidFill>
                  <a:srgbClr val="E8E8E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BT/Wifi</a:t>
            </a:r>
            <a:endParaRPr lang="fr-FR" sz="1600" b="1" dirty="0">
              <a:solidFill>
                <a:srgbClr val="E8E8E8"/>
              </a:solidFill>
              <a:latin typeface="Liter" pitchFamily="34" charset="0"/>
              <a:ea typeface="Liter" pitchFamily="34" charset="-122"/>
              <a:cs typeface="Liter" pitchFamily="34" charset="-120"/>
            </a:endParaRPr>
          </a:p>
        </p:txBody>
      </p:sp>
      <p:sp>
        <p:nvSpPr>
          <p:cNvPr id="57" name="Shape 55"/>
          <p:cNvSpPr/>
          <p:nvPr/>
        </p:nvSpPr>
        <p:spPr>
          <a:xfrm>
            <a:off x="8483600" y="8150225"/>
            <a:ext cx="177800" cy="203200"/>
          </a:xfrm>
          <a:custGeom>
            <a:avLst/>
            <a:gdLst/>
            <a:ahLst/>
            <a:cxnLst/>
            <a:rect l="l" t="t" r="r" b="b"/>
            <a:pathLst>
              <a:path w="177800" h="203200">
                <a:moveTo>
                  <a:pt x="172561" y="27821"/>
                </a:moveTo>
                <a:cubicBezTo>
                  <a:pt x="178237" y="31948"/>
                  <a:pt x="179507" y="39886"/>
                  <a:pt x="175379" y="45561"/>
                </a:cubicBezTo>
                <a:lnTo>
                  <a:pt x="73779" y="185261"/>
                </a:lnTo>
                <a:cubicBezTo>
                  <a:pt x="71596" y="188278"/>
                  <a:pt x="68223" y="190143"/>
                  <a:pt x="64492" y="190460"/>
                </a:cubicBezTo>
                <a:cubicBezTo>
                  <a:pt x="60762" y="190778"/>
                  <a:pt x="57150" y="189389"/>
                  <a:pt x="54531" y="186769"/>
                </a:cubicBezTo>
                <a:lnTo>
                  <a:pt x="3731" y="135969"/>
                </a:lnTo>
                <a:cubicBezTo>
                  <a:pt x="-1230" y="131008"/>
                  <a:pt x="-1230" y="122952"/>
                  <a:pt x="3731" y="117991"/>
                </a:cubicBezTo>
                <a:cubicBezTo>
                  <a:pt x="8692" y="113030"/>
                  <a:pt x="16748" y="113030"/>
                  <a:pt x="21709" y="117991"/>
                </a:cubicBezTo>
                <a:lnTo>
                  <a:pt x="61992" y="158274"/>
                </a:lnTo>
                <a:lnTo>
                  <a:pt x="154861" y="30599"/>
                </a:lnTo>
                <a:cubicBezTo>
                  <a:pt x="158988" y="24924"/>
                  <a:pt x="166926" y="23654"/>
                  <a:pt x="172601" y="27781"/>
                </a:cubicBezTo>
                <a:close/>
              </a:path>
            </a:pathLst>
          </a:custGeom>
          <a:solidFill>
            <a:srgbClr val="7D8A9B"/>
          </a:solidFill>
          <a:ln/>
        </p:spPr>
      </p:sp>
      <p:sp>
        <p:nvSpPr>
          <p:cNvPr id="58" name="Text 56"/>
          <p:cNvSpPr/>
          <p:nvPr/>
        </p:nvSpPr>
        <p:spPr>
          <a:xfrm>
            <a:off x="8801100" y="8099425"/>
            <a:ext cx="22352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fr-FR" sz="1600" b="1" dirty="0" smtClean="0">
                <a:solidFill>
                  <a:srgbClr val="E8E8E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Rapports </a:t>
            </a:r>
            <a:r>
              <a:rPr lang="fr-FR" sz="1600" dirty="0" smtClean="0">
                <a:solidFill>
                  <a:srgbClr val="7D8A9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automatiques</a:t>
            </a:r>
            <a:endParaRPr lang="fr-FR" sz="1600" dirty="0">
              <a:solidFill>
                <a:srgbClr val="7D8A9B"/>
              </a:solidFill>
              <a:latin typeface="Liter" pitchFamily="34" charset="0"/>
              <a:ea typeface="Liter" pitchFamily="34" charset="-122"/>
              <a:cs typeface="Liter" pitchFamily="34" charset="-120"/>
            </a:endParaRPr>
          </a:p>
        </p:txBody>
      </p:sp>
      <p:sp>
        <p:nvSpPr>
          <p:cNvPr id="59" name="NumPage"/>
          <p:cNvSpPr txBox="1"/>
          <p:nvPr/>
        </p:nvSpPr>
        <p:spPr>
          <a:xfrm>
            <a:off x="15240000" y="8636000"/>
            <a:ext cx="889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fr-FR" sz="1400" smtClean="0">
                <a:solidFill>
                  <a:srgbClr val="E89F5B"/>
                </a:solidFill>
              </a:rPr>
              <a:t>10</a:t>
            </a:r>
            <a:endParaRPr lang="fr-FR" sz="1400" dirty="0">
              <a:solidFill>
                <a:srgbClr val="E89F5B"/>
              </a:solidFill>
            </a:endParaRP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8000" y="508000"/>
            <a:ext cx="153289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fr-FR" sz="1400" b="1" kern="0" spc="140" smtClean="0">
                <a:solidFill>
                  <a:srgbClr val="E89F5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04. Architecture API</a:t>
            </a:r>
            <a:endParaRPr lang="fr-FR" sz="1600" dirty="0"/>
          </a:p>
        </p:txBody>
      </p:sp>
      <p:sp>
        <p:nvSpPr>
          <p:cNvPr id="3" name="Text 1"/>
          <p:cNvSpPr/>
          <p:nvPr/>
        </p:nvSpPr>
        <p:spPr>
          <a:xfrm>
            <a:off x="508000" y="863600"/>
            <a:ext cx="154686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fr-FR" sz="3600" b="1" smtClean="0">
                <a:solidFill>
                  <a:srgbClr val="FFFFF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Architecture Automate &amp; Logigrammes</a:t>
            </a:r>
            <a:endParaRPr lang="fr-FR" sz="3600" dirty="0"/>
          </a:p>
        </p:txBody>
      </p:sp>
      <p:sp>
        <p:nvSpPr>
          <p:cNvPr id="59" name="NumPage"/>
          <p:cNvSpPr txBox="1"/>
          <p:nvPr/>
        </p:nvSpPr>
        <p:spPr>
          <a:xfrm>
            <a:off x="15240000" y="8636000"/>
            <a:ext cx="889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fr-FR" sz="1400" smtClean="0">
                <a:solidFill>
                  <a:srgbClr val="E89F5B"/>
                </a:solidFill>
              </a:rPr>
              <a:t>11</a:t>
            </a:r>
            <a:endParaRPr lang="fr-FR" sz="1400" dirty="0">
              <a:solidFill>
                <a:srgbClr val="E89F5B"/>
              </a:solidFill>
            </a:endParaRPr>
          </a:p>
        </p:txBody>
      </p:sp>
      <p:sp>
        <p:nvSpPr>
          <p:cNvPr id="60" name="Shape 4"/>
          <p:cNvSpPr/>
          <p:nvPr/>
        </p:nvSpPr>
        <p:spPr>
          <a:xfrm>
            <a:off x="514350" y="1479550"/>
            <a:ext cx="6007100" cy="3530600"/>
          </a:xfrm>
          <a:prstGeom prst="roundRect">
            <a:avLst>
              <a:gd name="adj" fmla="val 2878"/>
            </a:avLst>
          </a:prstGeom>
          <a:solidFill>
            <a:srgbClr val="FFFFFF">
              <a:alpha val="5098"/>
            </a:srgbClr>
          </a:solidFill>
          <a:ln w="12700">
            <a:solidFill>
              <a:srgbClr val="FFFFFF">
                <a:alpha val="10196"/>
              </a:srgbClr>
            </a:solidFill>
            <a:prstDash val="solid"/>
          </a:ln>
        </p:spPr>
      </p:sp>
      <p:sp>
        <p:nvSpPr>
          <p:cNvPr id="61" name="Shape 5"/>
          <p:cNvSpPr/>
          <p:nvPr/>
        </p:nvSpPr>
        <p:spPr>
          <a:xfrm>
            <a:off x="698500" y="1676400"/>
            <a:ext cx="177800" cy="177800"/>
          </a:xfrm>
          <a:custGeom>
            <a:avLst/>
            <a:gdLst/>
            <a:ahLst/>
            <a:cxnLst/>
            <a:rect l="l" t="t" r="r" b="b"/>
            <a:pathLst>
              <a:path w="177800" h="177800">
                <a:moveTo>
                  <a:pt x="61119" y="8334"/>
                </a:moveTo>
                <a:cubicBezTo>
                  <a:pt x="61119" y="3716"/>
                  <a:pt x="57403" y="0"/>
                  <a:pt x="52784" y="0"/>
                </a:cubicBezTo>
                <a:cubicBezTo>
                  <a:pt x="48166" y="0"/>
                  <a:pt x="44450" y="3716"/>
                  <a:pt x="44450" y="8334"/>
                </a:cubicBezTo>
                <a:lnTo>
                  <a:pt x="44450" y="22225"/>
                </a:lnTo>
                <a:cubicBezTo>
                  <a:pt x="32192" y="22225"/>
                  <a:pt x="22225" y="32192"/>
                  <a:pt x="22225" y="44450"/>
                </a:cubicBezTo>
                <a:lnTo>
                  <a:pt x="8334" y="44450"/>
                </a:lnTo>
                <a:cubicBezTo>
                  <a:pt x="3716" y="44450"/>
                  <a:pt x="0" y="48166"/>
                  <a:pt x="0" y="52784"/>
                </a:cubicBezTo>
                <a:cubicBezTo>
                  <a:pt x="0" y="57403"/>
                  <a:pt x="3716" y="61119"/>
                  <a:pt x="8334" y="61119"/>
                </a:cubicBezTo>
                <a:lnTo>
                  <a:pt x="22225" y="61119"/>
                </a:lnTo>
                <a:lnTo>
                  <a:pt x="22225" y="80566"/>
                </a:lnTo>
                <a:lnTo>
                  <a:pt x="8334" y="80566"/>
                </a:lnTo>
                <a:cubicBezTo>
                  <a:pt x="3716" y="80566"/>
                  <a:pt x="0" y="84281"/>
                  <a:pt x="0" y="88900"/>
                </a:cubicBezTo>
                <a:cubicBezTo>
                  <a:pt x="0" y="93519"/>
                  <a:pt x="3716" y="97234"/>
                  <a:pt x="8334" y="97234"/>
                </a:cubicBezTo>
                <a:lnTo>
                  <a:pt x="22225" y="97234"/>
                </a:lnTo>
                <a:lnTo>
                  <a:pt x="22225" y="116681"/>
                </a:lnTo>
                <a:lnTo>
                  <a:pt x="8334" y="116681"/>
                </a:lnTo>
                <a:cubicBezTo>
                  <a:pt x="3716" y="116681"/>
                  <a:pt x="0" y="120397"/>
                  <a:pt x="0" y="125016"/>
                </a:cubicBezTo>
                <a:cubicBezTo>
                  <a:pt x="0" y="129634"/>
                  <a:pt x="3716" y="133350"/>
                  <a:pt x="8334" y="133350"/>
                </a:cubicBezTo>
                <a:lnTo>
                  <a:pt x="22225" y="133350"/>
                </a:lnTo>
                <a:cubicBezTo>
                  <a:pt x="22225" y="145608"/>
                  <a:pt x="32192" y="155575"/>
                  <a:pt x="44450" y="155575"/>
                </a:cubicBezTo>
                <a:lnTo>
                  <a:pt x="44450" y="169466"/>
                </a:lnTo>
                <a:cubicBezTo>
                  <a:pt x="44450" y="174084"/>
                  <a:pt x="48166" y="177800"/>
                  <a:pt x="52784" y="177800"/>
                </a:cubicBezTo>
                <a:cubicBezTo>
                  <a:pt x="57403" y="177800"/>
                  <a:pt x="61119" y="174084"/>
                  <a:pt x="61119" y="169466"/>
                </a:cubicBezTo>
                <a:lnTo>
                  <a:pt x="61119" y="155575"/>
                </a:lnTo>
                <a:lnTo>
                  <a:pt x="80566" y="155575"/>
                </a:lnTo>
                <a:lnTo>
                  <a:pt x="80566" y="169466"/>
                </a:lnTo>
                <a:cubicBezTo>
                  <a:pt x="80566" y="174084"/>
                  <a:pt x="84281" y="177800"/>
                  <a:pt x="88900" y="177800"/>
                </a:cubicBezTo>
                <a:cubicBezTo>
                  <a:pt x="93519" y="177800"/>
                  <a:pt x="97234" y="174084"/>
                  <a:pt x="97234" y="169466"/>
                </a:cubicBezTo>
                <a:lnTo>
                  <a:pt x="97234" y="155575"/>
                </a:lnTo>
                <a:lnTo>
                  <a:pt x="116681" y="155575"/>
                </a:lnTo>
                <a:lnTo>
                  <a:pt x="116681" y="169466"/>
                </a:lnTo>
                <a:cubicBezTo>
                  <a:pt x="116681" y="174084"/>
                  <a:pt x="120397" y="177800"/>
                  <a:pt x="125016" y="177800"/>
                </a:cubicBezTo>
                <a:cubicBezTo>
                  <a:pt x="129634" y="177800"/>
                  <a:pt x="133350" y="174084"/>
                  <a:pt x="133350" y="169466"/>
                </a:cubicBezTo>
                <a:lnTo>
                  <a:pt x="133350" y="155575"/>
                </a:lnTo>
                <a:cubicBezTo>
                  <a:pt x="145608" y="155575"/>
                  <a:pt x="155575" y="145608"/>
                  <a:pt x="155575" y="133350"/>
                </a:cubicBezTo>
                <a:lnTo>
                  <a:pt x="169466" y="133350"/>
                </a:lnTo>
                <a:cubicBezTo>
                  <a:pt x="174084" y="133350"/>
                  <a:pt x="177800" y="129634"/>
                  <a:pt x="177800" y="125016"/>
                </a:cubicBezTo>
                <a:cubicBezTo>
                  <a:pt x="177800" y="120397"/>
                  <a:pt x="174084" y="116681"/>
                  <a:pt x="169466" y="116681"/>
                </a:cubicBezTo>
                <a:lnTo>
                  <a:pt x="155575" y="116681"/>
                </a:lnTo>
                <a:lnTo>
                  <a:pt x="155575" y="97234"/>
                </a:lnTo>
                <a:lnTo>
                  <a:pt x="169466" y="97234"/>
                </a:lnTo>
                <a:cubicBezTo>
                  <a:pt x="174084" y="97234"/>
                  <a:pt x="177800" y="93519"/>
                  <a:pt x="177800" y="88900"/>
                </a:cubicBezTo>
                <a:cubicBezTo>
                  <a:pt x="177800" y="84281"/>
                  <a:pt x="174084" y="80566"/>
                  <a:pt x="169466" y="80566"/>
                </a:cubicBezTo>
                <a:lnTo>
                  <a:pt x="155575" y="80566"/>
                </a:lnTo>
                <a:lnTo>
                  <a:pt x="155575" y="61119"/>
                </a:lnTo>
                <a:lnTo>
                  <a:pt x="169466" y="61119"/>
                </a:lnTo>
                <a:cubicBezTo>
                  <a:pt x="174084" y="61119"/>
                  <a:pt x="177800" y="57403"/>
                  <a:pt x="177800" y="52784"/>
                </a:cubicBezTo>
                <a:cubicBezTo>
                  <a:pt x="177800" y="48166"/>
                  <a:pt x="174084" y="44450"/>
                  <a:pt x="169466" y="44450"/>
                </a:cubicBezTo>
                <a:lnTo>
                  <a:pt x="155575" y="44450"/>
                </a:lnTo>
                <a:cubicBezTo>
                  <a:pt x="155575" y="32192"/>
                  <a:pt x="145608" y="22225"/>
                  <a:pt x="133350" y="22225"/>
                </a:cubicBezTo>
                <a:lnTo>
                  <a:pt x="133350" y="8334"/>
                </a:lnTo>
                <a:cubicBezTo>
                  <a:pt x="133350" y="3716"/>
                  <a:pt x="129634" y="0"/>
                  <a:pt x="125016" y="0"/>
                </a:cubicBezTo>
                <a:cubicBezTo>
                  <a:pt x="120397" y="0"/>
                  <a:pt x="116681" y="3716"/>
                  <a:pt x="116681" y="8334"/>
                </a:cubicBezTo>
                <a:lnTo>
                  <a:pt x="116681" y="22225"/>
                </a:lnTo>
                <a:lnTo>
                  <a:pt x="97234" y="22225"/>
                </a:lnTo>
                <a:lnTo>
                  <a:pt x="97234" y="8334"/>
                </a:lnTo>
                <a:cubicBezTo>
                  <a:pt x="97234" y="3716"/>
                  <a:pt x="93519" y="0"/>
                  <a:pt x="88900" y="0"/>
                </a:cubicBezTo>
                <a:cubicBezTo>
                  <a:pt x="84281" y="0"/>
                  <a:pt x="80566" y="3716"/>
                  <a:pt x="80566" y="8334"/>
                </a:cubicBezTo>
                <a:lnTo>
                  <a:pt x="80566" y="22225"/>
                </a:lnTo>
                <a:lnTo>
                  <a:pt x="61119" y="22225"/>
                </a:lnTo>
                <a:lnTo>
                  <a:pt x="61119" y="8334"/>
                </a:lnTo>
                <a:close/>
                <a:moveTo>
                  <a:pt x="55563" y="44450"/>
                </a:moveTo>
                <a:lnTo>
                  <a:pt x="122238" y="44450"/>
                </a:lnTo>
                <a:cubicBezTo>
                  <a:pt x="128384" y="44450"/>
                  <a:pt x="133350" y="49416"/>
                  <a:pt x="133350" y="55563"/>
                </a:cubicBezTo>
                <a:lnTo>
                  <a:pt x="133350" y="122238"/>
                </a:lnTo>
                <a:cubicBezTo>
                  <a:pt x="133350" y="128384"/>
                  <a:pt x="128384" y="133350"/>
                  <a:pt x="122238" y="133350"/>
                </a:cubicBezTo>
                <a:lnTo>
                  <a:pt x="55563" y="133350"/>
                </a:lnTo>
                <a:cubicBezTo>
                  <a:pt x="49416" y="133350"/>
                  <a:pt x="44450" y="128384"/>
                  <a:pt x="44450" y="122238"/>
                </a:cubicBezTo>
                <a:lnTo>
                  <a:pt x="44450" y="55563"/>
                </a:lnTo>
                <a:cubicBezTo>
                  <a:pt x="44450" y="49416"/>
                  <a:pt x="49416" y="44450"/>
                  <a:pt x="55563" y="44450"/>
                </a:cubicBezTo>
                <a:close/>
                <a:moveTo>
                  <a:pt x="61119" y="61119"/>
                </a:moveTo>
                <a:lnTo>
                  <a:pt x="61119" y="116681"/>
                </a:lnTo>
                <a:lnTo>
                  <a:pt x="116681" y="116681"/>
                </a:lnTo>
                <a:lnTo>
                  <a:pt x="116681" y="61119"/>
                </a:lnTo>
                <a:lnTo>
                  <a:pt x="61119" y="61119"/>
                </a:lnTo>
                <a:close/>
              </a:path>
            </a:pathLst>
          </a:custGeom>
          <a:solidFill>
            <a:srgbClr val="FBBF24"/>
          </a:solidFill>
          <a:ln/>
        </p:spPr>
      </p:sp>
      <p:sp>
        <p:nvSpPr>
          <p:cNvPr id="62" name="Text 6"/>
          <p:cNvSpPr/>
          <p:nvPr/>
        </p:nvSpPr>
        <p:spPr>
          <a:xfrm>
            <a:off x="1003300" y="1638300"/>
            <a:ext cx="54483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fr-FR" sz="1400" b="1" smtClean="0">
                <a:solidFill>
                  <a:srgbClr val="FBBF24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Modules Logiciels S7-300</a:t>
            </a:r>
            <a:endParaRPr lang="fr-FR" sz="1600" dirty="0"/>
          </a:p>
        </p:txBody>
      </p:sp>
      <p:sp>
        <p:nvSpPr>
          <p:cNvPr id="63" name="Shape 7"/>
          <p:cNvSpPr/>
          <p:nvPr/>
        </p:nvSpPr>
        <p:spPr>
          <a:xfrm>
            <a:off x="673100" y="1993900"/>
            <a:ext cx="5689600" cy="342900"/>
          </a:xfrm>
          <a:prstGeom prst="roundRect">
            <a:avLst>
              <a:gd name="adj" fmla="val 14815"/>
            </a:avLst>
          </a:prstGeom>
          <a:solidFill>
            <a:srgbClr val="FB2C36">
              <a:alpha val="10196"/>
            </a:srgbClr>
          </a:solidFill>
          <a:ln/>
        </p:spPr>
      </p:sp>
      <p:sp>
        <p:nvSpPr>
          <p:cNvPr id="64" name="Shape 8"/>
          <p:cNvSpPr/>
          <p:nvPr/>
        </p:nvSpPr>
        <p:spPr>
          <a:xfrm>
            <a:off x="768350" y="2089150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76200" y="0"/>
                </a:moveTo>
                <a:cubicBezTo>
                  <a:pt x="77569" y="0"/>
                  <a:pt x="78938" y="298"/>
                  <a:pt x="80189" y="863"/>
                </a:cubicBezTo>
                <a:lnTo>
                  <a:pt x="136267" y="24646"/>
                </a:lnTo>
                <a:cubicBezTo>
                  <a:pt x="142815" y="27414"/>
                  <a:pt x="147697" y="33873"/>
                  <a:pt x="147667" y="41672"/>
                </a:cubicBezTo>
                <a:cubicBezTo>
                  <a:pt x="147518" y="71199"/>
                  <a:pt x="135374" y="125224"/>
                  <a:pt x="84088" y="149781"/>
                </a:cubicBezTo>
                <a:cubicBezTo>
                  <a:pt x="79117" y="152162"/>
                  <a:pt x="73343" y="152162"/>
                  <a:pt x="68372" y="149781"/>
                </a:cubicBezTo>
                <a:cubicBezTo>
                  <a:pt x="17056" y="125224"/>
                  <a:pt x="4941" y="71199"/>
                  <a:pt x="4792" y="41672"/>
                </a:cubicBezTo>
                <a:cubicBezTo>
                  <a:pt x="4762" y="33873"/>
                  <a:pt x="9644" y="27414"/>
                  <a:pt x="16192" y="24646"/>
                </a:cubicBezTo>
                <a:lnTo>
                  <a:pt x="72241" y="863"/>
                </a:lnTo>
                <a:cubicBezTo>
                  <a:pt x="73491" y="298"/>
                  <a:pt x="74831" y="0"/>
                  <a:pt x="76200" y="0"/>
                </a:cubicBezTo>
                <a:close/>
                <a:moveTo>
                  <a:pt x="76200" y="19883"/>
                </a:moveTo>
                <a:lnTo>
                  <a:pt x="76200" y="132427"/>
                </a:lnTo>
                <a:cubicBezTo>
                  <a:pt x="117277" y="112544"/>
                  <a:pt x="128320" y="68491"/>
                  <a:pt x="128588" y="42118"/>
                </a:cubicBezTo>
                <a:lnTo>
                  <a:pt x="76200" y="19913"/>
                </a:lnTo>
                <a:lnTo>
                  <a:pt x="76200" y="19913"/>
                </a:lnTo>
                <a:close/>
              </a:path>
            </a:pathLst>
          </a:custGeom>
          <a:solidFill>
            <a:srgbClr val="FF6467"/>
          </a:solidFill>
          <a:ln/>
        </p:spPr>
      </p:sp>
      <p:sp>
        <p:nvSpPr>
          <p:cNvPr id="65" name="Text 9"/>
          <p:cNvSpPr/>
          <p:nvPr/>
        </p:nvSpPr>
        <p:spPr>
          <a:xfrm>
            <a:off x="1041400" y="2070100"/>
            <a:ext cx="1257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fr-FR" sz="1200" smtClean="0">
                <a:solidFill>
                  <a:srgbClr val="D1D5DC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Module Sécurités</a:t>
            </a:r>
            <a:endParaRPr lang="fr-FR" sz="1600" dirty="0"/>
          </a:p>
        </p:txBody>
      </p:sp>
      <p:sp>
        <p:nvSpPr>
          <p:cNvPr id="66" name="Shape 10"/>
          <p:cNvSpPr/>
          <p:nvPr/>
        </p:nvSpPr>
        <p:spPr>
          <a:xfrm>
            <a:off x="673100" y="2413000"/>
            <a:ext cx="5689600" cy="342900"/>
          </a:xfrm>
          <a:prstGeom prst="roundRect">
            <a:avLst>
              <a:gd name="adj" fmla="val 14815"/>
            </a:avLst>
          </a:prstGeom>
          <a:solidFill>
            <a:srgbClr val="2B7FFF">
              <a:alpha val="10196"/>
            </a:srgbClr>
          </a:solidFill>
          <a:ln/>
        </p:spPr>
      </p:sp>
      <p:sp>
        <p:nvSpPr>
          <p:cNvPr id="67" name="Shape 11"/>
          <p:cNvSpPr/>
          <p:nvPr/>
        </p:nvSpPr>
        <p:spPr>
          <a:xfrm>
            <a:off x="768350" y="2508250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149602" y="121027"/>
                </a:moveTo>
                <a:lnTo>
                  <a:pt x="121027" y="149602"/>
                </a:lnTo>
                <a:cubicBezTo>
                  <a:pt x="118289" y="152340"/>
                  <a:pt x="114211" y="153144"/>
                  <a:pt x="110639" y="151656"/>
                </a:cubicBezTo>
                <a:cubicBezTo>
                  <a:pt x="107067" y="150168"/>
                  <a:pt x="104775" y="146715"/>
                  <a:pt x="104775" y="142875"/>
                </a:cubicBezTo>
                <a:lnTo>
                  <a:pt x="104775" y="123825"/>
                </a:lnTo>
                <a:lnTo>
                  <a:pt x="9525" y="123825"/>
                </a:lnTo>
                <a:cubicBezTo>
                  <a:pt x="4256" y="123825"/>
                  <a:pt x="0" y="119569"/>
                  <a:pt x="0" y="114300"/>
                </a:cubicBezTo>
                <a:cubicBezTo>
                  <a:pt x="0" y="109031"/>
                  <a:pt x="4256" y="104775"/>
                  <a:pt x="9525" y="104775"/>
                </a:cubicBezTo>
                <a:lnTo>
                  <a:pt x="104775" y="104775"/>
                </a:lnTo>
                <a:lnTo>
                  <a:pt x="104775" y="85725"/>
                </a:lnTo>
                <a:cubicBezTo>
                  <a:pt x="104775" y="81885"/>
                  <a:pt x="107097" y="78403"/>
                  <a:pt x="110669" y="76914"/>
                </a:cubicBezTo>
                <a:cubicBezTo>
                  <a:pt x="114240" y="75426"/>
                  <a:pt x="118318" y="76260"/>
                  <a:pt x="121057" y="78968"/>
                </a:cubicBezTo>
                <a:lnTo>
                  <a:pt x="149632" y="107543"/>
                </a:lnTo>
                <a:cubicBezTo>
                  <a:pt x="153353" y="111264"/>
                  <a:pt x="153353" y="117306"/>
                  <a:pt x="149632" y="121027"/>
                </a:cubicBezTo>
                <a:close/>
                <a:moveTo>
                  <a:pt x="2798" y="44827"/>
                </a:moveTo>
                <a:cubicBezTo>
                  <a:pt x="-923" y="41106"/>
                  <a:pt x="-923" y="35064"/>
                  <a:pt x="2798" y="31343"/>
                </a:cubicBezTo>
                <a:lnTo>
                  <a:pt x="31373" y="2768"/>
                </a:lnTo>
                <a:cubicBezTo>
                  <a:pt x="34111" y="30"/>
                  <a:pt x="38189" y="-774"/>
                  <a:pt x="41761" y="714"/>
                </a:cubicBezTo>
                <a:cubicBezTo>
                  <a:pt x="45333" y="2203"/>
                  <a:pt x="47625" y="5685"/>
                  <a:pt x="47625" y="9525"/>
                </a:cubicBezTo>
                <a:lnTo>
                  <a:pt x="47625" y="28575"/>
                </a:lnTo>
                <a:lnTo>
                  <a:pt x="142875" y="28575"/>
                </a:lnTo>
                <a:cubicBezTo>
                  <a:pt x="148144" y="28575"/>
                  <a:pt x="152400" y="32831"/>
                  <a:pt x="152400" y="38100"/>
                </a:cubicBezTo>
                <a:cubicBezTo>
                  <a:pt x="152400" y="43369"/>
                  <a:pt x="148144" y="47625"/>
                  <a:pt x="142875" y="47625"/>
                </a:cubicBezTo>
                <a:lnTo>
                  <a:pt x="47625" y="47625"/>
                </a:lnTo>
                <a:lnTo>
                  <a:pt x="47625" y="66675"/>
                </a:lnTo>
                <a:cubicBezTo>
                  <a:pt x="47625" y="70515"/>
                  <a:pt x="45303" y="73997"/>
                  <a:pt x="41731" y="75486"/>
                </a:cubicBezTo>
                <a:cubicBezTo>
                  <a:pt x="38160" y="76974"/>
                  <a:pt x="34082" y="76140"/>
                  <a:pt x="31343" y="73432"/>
                </a:cubicBezTo>
                <a:lnTo>
                  <a:pt x="2768" y="44857"/>
                </a:lnTo>
                <a:close/>
              </a:path>
            </a:pathLst>
          </a:custGeom>
          <a:solidFill>
            <a:srgbClr val="51A2FF"/>
          </a:solidFill>
          <a:ln/>
        </p:spPr>
      </p:sp>
      <p:sp>
        <p:nvSpPr>
          <p:cNvPr id="68" name="Text 12"/>
          <p:cNvSpPr/>
          <p:nvPr/>
        </p:nvSpPr>
        <p:spPr>
          <a:xfrm>
            <a:off x="1041400" y="2489200"/>
            <a:ext cx="9652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fr-FR" sz="1200" smtClean="0">
                <a:solidFill>
                  <a:srgbClr val="D1D5DC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Module Vérin</a:t>
            </a:r>
            <a:endParaRPr lang="fr-FR" sz="1600" dirty="0"/>
          </a:p>
        </p:txBody>
      </p:sp>
      <p:sp>
        <p:nvSpPr>
          <p:cNvPr id="69" name="Shape 13"/>
          <p:cNvSpPr/>
          <p:nvPr/>
        </p:nvSpPr>
        <p:spPr>
          <a:xfrm>
            <a:off x="673100" y="2832100"/>
            <a:ext cx="5689600" cy="342900"/>
          </a:xfrm>
          <a:prstGeom prst="roundRect">
            <a:avLst>
              <a:gd name="adj" fmla="val 14815"/>
            </a:avLst>
          </a:prstGeom>
          <a:solidFill>
            <a:srgbClr val="FF6900">
              <a:alpha val="10196"/>
            </a:srgbClr>
          </a:solidFill>
          <a:ln/>
        </p:spPr>
      </p:sp>
      <p:sp>
        <p:nvSpPr>
          <p:cNvPr id="70" name="Shape 14"/>
          <p:cNvSpPr/>
          <p:nvPr/>
        </p:nvSpPr>
        <p:spPr>
          <a:xfrm>
            <a:off x="768350" y="2927350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58073" y="2828"/>
                </a:moveTo>
                <a:cubicBezTo>
                  <a:pt x="58966" y="-1578"/>
                  <a:pt x="62865" y="-4762"/>
                  <a:pt x="67389" y="-4762"/>
                </a:cubicBezTo>
                <a:lnTo>
                  <a:pt x="85189" y="-4762"/>
                </a:lnTo>
                <a:cubicBezTo>
                  <a:pt x="89714" y="-4762"/>
                  <a:pt x="93613" y="-1578"/>
                  <a:pt x="94506" y="2828"/>
                </a:cubicBezTo>
                <a:lnTo>
                  <a:pt x="98822" y="23664"/>
                </a:lnTo>
                <a:cubicBezTo>
                  <a:pt x="103019" y="25450"/>
                  <a:pt x="106948" y="27742"/>
                  <a:pt x="110520" y="30450"/>
                </a:cubicBezTo>
                <a:lnTo>
                  <a:pt x="130701" y="23753"/>
                </a:lnTo>
                <a:cubicBezTo>
                  <a:pt x="134987" y="22324"/>
                  <a:pt x="139690" y="24110"/>
                  <a:pt x="141952" y="28039"/>
                </a:cubicBezTo>
                <a:lnTo>
                  <a:pt x="150852" y="43458"/>
                </a:lnTo>
                <a:cubicBezTo>
                  <a:pt x="153114" y="47387"/>
                  <a:pt x="152311" y="52328"/>
                  <a:pt x="148917" y="55334"/>
                </a:cubicBezTo>
                <a:lnTo>
                  <a:pt x="133052" y="69443"/>
                </a:lnTo>
                <a:cubicBezTo>
                  <a:pt x="133320" y="71646"/>
                  <a:pt x="133439" y="73908"/>
                  <a:pt x="133439" y="76200"/>
                </a:cubicBezTo>
                <a:cubicBezTo>
                  <a:pt x="133439" y="78492"/>
                  <a:pt x="133290" y="80754"/>
                  <a:pt x="133052" y="82957"/>
                </a:cubicBezTo>
                <a:lnTo>
                  <a:pt x="148947" y="97095"/>
                </a:lnTo>
                <a:cubicBezTo>
                  <a:pt x="152340" y="100102"/>
                  <a:pt x="153114" y="105073"/>
                  <a:pt x="150882" y="108972"/>
                </a:cubicBezTo>
                <a:lnTo>
                  <a:pt x="141982" y="124391"/>
                </a:lnTo>
                <a:cubicBezTo>
                  <a:pt x="139720" y="128290"/>
                  <a:pt x="135017" y="130106"/>
                  <a:pt x="130731" y="128677"/>
                </a:cubicBezTo>
                <a:lnTo>
                  <a:pt x="110550" y="121980"/>
                </a:lnTo>
                <a:cubicBezTo>
                  <a:pt x="106948" y="124688"/>
                  <a:pt x="103019" y="126950"/>
                  <a:pt x="98852" y="128766"/>
                </a:cubicBezTo>
                <a:lnTo>
                  <a:pt x="94565" y="149572"/>
                </a:lnTo>
                <a:cubicBezTo>
                  <a:pt x="93643" y="154007"/>
                  <a:pt x="89743" y="157163"/>
                  <a:pt x="85249" y="157163"/>
                </a:cubicBezTo>
                <a:lnTo>
                  <a:pt x="67449" y="157163"/>
                </a:lnTo>
                <a:cubicBezTo>
                  <a:pt x="62925" y="157163"/>
                  <a:pt x="59025" y="153978"/>
                  <a:pt x="58132" y="149572"/>
                </a:cubicBezTo>
                <a:lnTo>
                  <a:pt x="53846" y="128766"/>
                </a:lnTo>
                <a:cubicBezTo>
                  <a:pt x="49649" y="126980"/>
                  <a:pt x="45750" y="124688"/>
                  <a:pt x="42148" y="121980"/>
                </a:cubicBezTo>
                <a:lnTo>
                  <a:pt x="21878" y="128677"/>
                </a:lnTo>
                <a:cubicBezTo>
                  <a:pt x="17591" y="130106"/>
                  <a:pt x="12889" y="128320"/>
                  <a:pt x="10626" y="124391"/>
                </a:cubicBezTo>
                <a:lnTo>
                  <a:pt x="1726" y="108972"/>
                </a:lnTo>
                <a:cubicBezTo>
                  <a:pt x="-536" y="105043"/>
                  <a:pt x="268" y="100102"/>
                  <a:pt x="3661" y="97095"/>
                </a:cubicBezTo>
                <a:lnTo>
                  <a:pt x="19556" y="82957"/>
                </a:lnTo>
                <a:cubicBezTo>
                  <a:pt x="19288" y="80754"/>
                  <a:pt x="19169" y="78492"/>
                  <a:pt x="19169" y="76200"/>
                </a:cubicBezTo>
                <a:cubicBezTo>
                  <a:pt x="19169" y="73908"/>
                  <a:pt x="19318" y="71646"/>
                  <a:pt x="19556" y="69443"/>
                </a:cubicBezTo>
                <a:lnTo>
                  <a:pt x="3661" y="55305"/>
                </a:lnTo>
                <a:cubicBezTo>
                  <a:pt x="268" y="52298"/>
                  <a:pt x="-506" y="47327"/>
                  <a:pt x="1726" y="43428"/>
                </a:cubicBezTo>
                <a:lnTo>
                  <a:pt x="10626" y="28009"/>
                </a:lnTo>
                <a:cubicBezTo>
                  <a:pt x="12889" y="24080"/>
                  <a:pt x="17591" y="22294"/>
                  <a:pt x="21878" y="23723"/>
                </a:cubicBezTo>
                <a:lnTo>
                  <a:pt x="42059" y="30420"/>
                </a:lnTo>
                <a:cubicBezTo>
                  <a:pt x="45660" y="27712"/>
                  <a:pt x="49590" y="25450"/>
                  <a:pt x="53757" y="23634"/>
                </a:cubicBezTo>
                <a:lnTo>
                  <a:pt x="58073" y="2828"/>
                </a:lnTo>
                <a:close/>
                <a:moveTo>
                  <a:pt x="76289" y="100013"/>
                </a:moveTo>
                <a:cubicBezTo>
                  <a:pt x="84797" y="99981"/>
                  <a:pt x="92641" y="95412"/>
                  <a:pt x="96867" y="88029"/>
                </a:cubicBezTo>
                <a:cubicBezTo>
                  <a:pt x="101093" y="80645"/>
                  <a:pt x="101059" y="71568"/>
                  <a:pt x="96778" y="64216"/>
                </a:cubicBezTo>
                <a:cubicBezTo>
                  <a:pt x="92496" y="56865"/>
                  <a:pt x="84618" y="52356"/>
                  <a:pt x="76111" y="52387"/>
                </a:cubicBezTo>
                <a:cubicBezTo>
                  <a:pt x="67603" y="52419"/>
                  <a:pt x="59759" y="56988"/>
                  <a:pt x="55533" y="64371"/>
                </a:cubicBezTo>
                <a:cubicBezTo>
                  <a:pt x="51307" y="71755"/>
                  <a:pt x="51341" y="80832"/>
                  <a:pt x="55622" y="88184"/>
                </a:cubicBezTo>
                <a:cubicBezTo>
                  <a:pt x="59904" y="95535"/>
                  <a:pt x="67782" y="100044"/>
                  <a:pt x="76289" y="100013"/>
                </a:cubicBezTo>
                <a:close/>
              </a:path>
            </a:pathLst>
          </a:custGeom>
          <a:solidFill>
            <a:srgbClr val="FF8904"/>
          </a:solidFill>
          <a:ln/>
        </p:spPr>
      </p:sp>
      <p:sp>
        <p:nvSpPr>
          <p:cNvPr id="71" name="Text 15"/>
          <p:cNvSpPr/>
          <p:nvPr/>
        </p:nvSpPr>
        <p:spPr>
          <a:xfrm>
            <a:off x="1041400" y="2908300"/>
            <a:ext cx="11811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fr-FR" sz="1200" smtClean="0">
                <a:solidFill>
                  <a:srgbClr val="D1D5DC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Module Moteurs</a:t>
            </a:r>
            <a:endParaRPr lang="fr-FR" sz="1600" dirty="0"/>
          </a:p>
        </p:txBody>
      </p:sp>
      <p:sp>
        <p:nvSpPr>
          <p:cNvPr id="72" name="Shape 16"/>
          <p:cNvSpPr/>
          <p:nvPr/>
        </p:nvSpPr>
        <p:spPr>
          <a:xfrm>
            <a:off x="673100" y="3251200"/>
            <a:ext cx="5689600" cy="342900"/>
          </a:xfrm>
          <a:prstGeom prst="roundRect">
            <a:avLst>
              <a:gd name="adj" fmla="val 14815"/>
            </a:avLst>
          </a:prstGeom>
          <a:solidFill>
            <a:srgbClr val="00C950">
              <a:alpha val="10196"/>
            </a:srgbClr>
          </a:solidFill>
          <a:ln/>
        </p:spPr>
      </p:sp>
      <p:sp>
        <p:nvSpPr>
          <p:cNvPr id="73" name="Shape 17"/>
          <p:cNvSpPr/>
          <p:nvPr/>
        </p:nvSpPr>
        <p:spPr>
          <a:xfrm>
            <a:off x="768350" y="3346450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19050" y="28575"/>
                </a:moveTo>
                <a:cubicBezTo>
                  <a:pt x="19050" y="23306"/>
                  <a:pt x="23306" y="19050"/>
                  <a:pt x="28575" y="19050"/>
                </a:cubicBezTo>
                <a:lnTo>
                  <a:pt x="76200" y="19050"/>
                </a:lnTo>
                <a:cubicBezTo>
                  <a:pt x="81469" y="19050"/>
                  <a:pt x="85725" y="23306"/>
                  <a:pt x="85725" y="28575"/>
                </a:cubicBezTo>
                <a:lnTo>
                  <a:pt x="85725" y="114300"/>
                </a:lnTo>
                <a:lnTo>
                  <a:pt x="114300" y="114300"/>
                </a:lnTo>
                <a:lnTo>
                  <a:pt x="114300" y="76200"/>
                </a:lnTo>
                <a:cubicBezTo>
                  <a:pt x="114300" y="70931"/>
                  <a:pt x="118556" y="66675"/>
                  <a:pt x="123825" y="66675"/>
                </a:cubicBezTo>
                <a:lnTo>
                  <a:pt x="142875" y="66675"/>
                </a:lnTo>
                <a:cubicBezTo>
                  <a:pt x="148144" y="66675"/>
                  <a:pt x="152400" y="70931"/>
                  <a:pt x="152400" y="76200"/>
                </a:cubicBezTo>
                <a:cubicBezTo>
                  <a:pt x="152400" y="81469"/>
                  <a:pt x="148144" y="85725"/>
                  <a:pt x="142875" y="85725"/>
                </a:cubicBezTo>
                <a:lnTo>
                  <a:pt x="133350" y="85725"/>
                </a:lnTo>
                <a:lnTo>
                  <a:pt x="133350" y="123825"/>
                </a:lnTo>
                <a:cubicBezTo>
                  <a:pt x="133350" y="129094"/>
                  <a:pt x="129094" y="133350"/>
                  <a:pt x="123825" y="133350"/>
                </a:cubicBezTo>
                <a:lnTo>
                  <a:pt x="76200" y="133350"/>
                </a:lnTo>
                <a:cubicBezTo>
                  <a:pt x="70931" y="133350"/>
                  <a:pt x="66675" y="129094"/>
                  <a:pt x="66675" y="123825"/>
                </a:cubicBezTo>
                <a:lnTo>
                  <a:pt x="66675" y="38100"/>
                </a:lnTo>
                <a:lnTo>
                  <a:pt x="38100" y="38100"/>
                </a:lnTo>
                <a:lnTo>
                  <a:pt x="38100" y="76200"/>
                </a:lnTo>
                <a:cubicBezTo>
                  <a:pt x="38100" y="81469"/>
                  <a:pt x="33844" y="85725"/>
                  <a:pt x="28575" y="85725"/>
                </a:cubicBezTo>
                <a:lnTo>
                  <a:pt x="9525" y="85725"/>
                </a:lnTo>
                <a:cubicBezTo>
                  <a:pt x="4256" y="85725"/>
                  <a:pt x="0" y="81469"/>
                  <a:pt x="0" y="76200"/>
                </a:cubicBezTo>
                <a:cubicBezTo>
                  <a:pt x="0" y="70931"/>
                  <a:pt x="4256" y="66675"/>
                  <a:pt x="9525" y="66675"/>
                </a:cubicBezTo>
                <a:lnTo>
                  <a:pt x="19050" y="66675"/>
                </a:lnTo>
                <a:lnTo>
                  <a:pt x="19050" y="28575"/>
                </a:lnTo>
                <a:close/>
              </a:path>
            </a:pathLst>
          </a:custGeom>
          <a:solidFill>
            <a:srgbClr val="05DF72"/>
          </a:solidFill>
          <a:ln/>
        </p:spPr>
      </p:sp>
      <p:sp>
        <p:nvSpPr>
          <p:cNvPr id="74" name="Text 18"/>
          <p:cNvSpPr/>
          <p:nvPr/>
        </p:nvSpPr>
        <p:spPr>
          <a:xfrm>
            <a:off x="1041400" y="3327400"/>
            <a:ext cx="1130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fr-FR" sz="1200" smtClean="0">
                <a:solidFill>
                  <a:srgbClr val="D1D5DC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Module Mesure</a:t>
            </a:r>
            <a:endParaRPr lang="fr-FR" sz="1600" dirty="0"/>
          </a:p>
        </p:txBody>
      </p:sp>
      <p:sp>
        <p:nvSpPr>
          <p:cNvPr id="75" name="Shape 19"/>
          <p:cNvSpPr/>
          <p:nvPr/>
        </p:nvSpPr>
        <p:spPr>
          <a:xfrm>
            <a:off x="673100" y="3670300"/>
            <a:ext cx="5689600" cy="342900"/>
          </a:xfrm>
          <a:prstGeom prst="roundRect">
            <a:avLst>
              <a:gd name="adj" fmla="val 14815"/>
            </a:avLst>
          </a:prstGeom>
          <a:solidFill>
            <a:srgbClr val="AD46FF">
              <a:alpha val="10196"/>
            </a:srgbClr>
          </a:solidFill>
          <a:ln/>
        </p:spPr>
      </p:sp>
      <p:sp>
        <p:nvSpPr>
          <p:cNvPr id="76" name="Shape 20"/>
          <p:cNvSpPr/>
          <p:nvPr/>
        </p:nvSpPr>
        <p:spPr>
          <a:xfrm>
            <a:off x="768350" y="3765550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76200" y="152400"/>
                </a:moveTo>
                <a:cubicBezTo>
                  <a:pt x="118256" y="152400"/>
                  <a:pt x="152400" y="118256"/>
                  <a:pt x="152400" y="76200"/>
                </a:cubicBezTo>
                <a:cubicBezTo>
                  <a:pt x="152400" y="34144"/>
                  <a:pt x="118256" y="0"/>
                  <a:pt x="76200" y="0"/>
                </a:cubicBezTo>
                <a:cubicBezTo>
                  <a:pt x="34144" y="0"/>
                  <a:pt x="0" y="34144"/>
                  <a:pt x="0" y="76200"/>
                </a:cubicBezTo>
                <a:cubicBezTo>
                  <a:pt x="0" y="118256"/>
                  <a:pt x="34144" y="152400"/>
                  <a:pt x="76200" y="152400"/>
                </a:cubicBezTo>
                <a:close/>
                <a:moveTo>
                  <a:pt x="101322" y="63311"/>
                </a:moveTo>
                <a:lnTo>
                  <a:pt x="77510" y="101411"/>
                </a:lnTo>
                <a:cubicBezTo>
                  <a:pt x="76260" y="103406"/>
                  <a:pt x="74116" y="104656"/>
                  <a:pt x="71765" y="104775"/>
                </a:cubicBezTo>
                <a:cubicBezTo>
                  <a:pt x="69413" y="104894"/>
                  <a:pt x="67151" y="103823"/>
                  <a:pt x="65752" y="101918"/>
                </a:cubicBezTo>
                <a:lnTo>
                  <a:pt x="51465" y="82867"/>
                </a:lnTo>
                <a:cubicBezTo>
                  <a:pt x="49084" y="79712"/>
                  <a:pt x="49738" y="75248"/>
                  <a:pt x="52894" y="72866"/>
                </a:cubicBezTo>
                <a:cubicBezTo>
                  <a:pt x="56049" y="70485"/>
                  <a:pt x="60514" y="71140"/>
                  <a:pt x="62895" y="74295"/>
                </a:cubicBezTo>
                <a:lnTo>
                  <a:pt x="70931" y="85011"/>
                </a:lnTo>
                <a:lnTo>
                  <a:pt x="89208" y="55751"/>
                </a:lnTo>
                <a:cubicBezTo>
                  <a:pt x="91291" y="52417"/>
                  <a:pt x="95696" y="51375"/>
                  <a:pt x="99060" y="53489"/>
                </a:cubicBezTo>
                <a:cubicBezTo>
                  <a:pt x="102424" y="55602"/>
                  <a:pt x="103436" y="59978"/>
                  <a:pt x="101322" y="63341"/>
                </a:cubicBezTo>
                <a:close/>
              </a:path>
            </a:pathLst>
          </a:custGeom>
          <a:solidFill>
            <a:srgbClr val="C27AFF"/>
          </a:solidFill>
          <a:ln/>
        </p:spPr>
      </p:sp>
      <p:sp>
        <p:nvSpPr>
          <p:cNvPr id="77" name="Text 21"/>
          <p:cNvSpPr/>
          <p:nvPr/>
        </p:nvSpPr>
        <p:spPr>
          <a:xfrm>
            <a:off x="1041400" y="3746500"/>
            <a:ext cx="8636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fr-FR" sz="1200" smtClean="0">
                <a:solidFill>
                  <a:srgbClr val="D1D5DC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Module ISO</a:t>
            </a:r>
            <a:endParaRPr lang="fr-FR" sz="1600" dirty="0"/>
          </a:p>
        </p:txBody>
      </p:sp>
      <p:sp>
        <p:nvSpPr>
          <p:cNvPr id="78" name="Shape 22"/>
          <p:cNvSpPr/>
          <p:nvPr/>
        </p:nvSpPr>
        <p:spPr>
          <a:xfrm>
            <a:off x="673100" y="4089400"/>
            <a:ext cx="5689600" cy="342900"/>
          </a:xfrm>
          <a:prstGeom prst="roundRect">
            <a:avLst>
              <a:gd name="adj" fmla="val 14815"/>
            </a:avLst>
          </a:prstGeom>
          <a:solidFill>
            <a:srgbClr val="F0B100">
              <a:alpha val="10196"/>
            </a:srgbClr>
          </a:solidFill>
          <a:ln/>
        </p:spPr>
      </p:sp>
      <p:sp>
        <p:nvSpPr>
          <p:cNvPr id="79" name="Shape 23"/>
          <p:cNvSpPr/>
          <p:nvPr/>
        </p:nvSpPr>
        <p:spPr>
          <a:xfrm>
            <a:off x="768350" y="4184650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19616" y="68014"/>
                </a:moveTo>
                <a:cubicBezTo>
                  <a:pt x="23574" y="40332"/>
                  <a:pt x="47417" y="19050"/>
                  <a:pt x="76200" y="19050"/>
                </a:cubicBezTo>
                <a:cubicBezTo>
                  <a:pt x="91976" y="19050"/>
                  <a:pt x="106263" y="25450"/>
                  <a:pt x="116622" y="35778"/>
                </a:cubicBezTo>
                <a:cubicBezTo>
                  <a:pt x="116681" y="35838"/>
                  <a:pt x="116741" y="35897"/>
                  <a:pt x="116800" y="35957"/>
                </a:cubicBezTo>
                <a:lnTo>
                  <a:pt x="119063" y="38100"/>
                </a:lnTo>
                <a:lnTo>
                  <a:pt x="104805" y="38100"/>
                </a:lnTo>
                <a:cubicBezTo>
                  <a:pt x="99536" y="38100"/>
                  <a:pt x="95280" y="42356"/>
                  <a:pt x="95280" y="47625"/>
                </a:cubicBezTo>
                <a:cubicBezTo>
                  <a:pt x="95280" y="52894"/>
                  <a:pt x="99536" y="57150"/>
                  <a:pt x="104805" y="57150"/>
                </a:cubicBezTo>
                <a:lnTo>
                  <a:pt x="142905" y="57150"/>
                </a:lnTo>
                <a:cubicBezTo>
                  <a:pt x="148173" y="57150"/>
                  <a:pt x="152430" y="52894"/>
                  <a:pt x="152430" y="47625"/>
                </a:cubicBezTo>
                <a:lnTo>
                  <a:pt x="152430" y="9525"/>
                </a:lnTo>
                <a:cubicBezTo>
                  <a:pt x="152430" y="4256"/>
                  <a:pt x="148173" y="0"/>
                  <a:pt x="142905" y="0"/>
                </a:cubicBezTo>
                <a:cubicBezTo>
                  <a:pt x="137636" y="0"/>
                  <a:pt x="133380" y="4256"/>
                  <a:pt x="133380" y="9525"/>
                </a:cubicBezTo>
                <a:lnTo>
                  <a:pt x="133380" y="25420"/>
                </a:lnTo>
                <a:lnTo>
                  <a:pt x="130016" y="22235"/>
                </a:lnTo>
                <a:cubicBezTo>
                  <a:pt x="116235" y="8513"/>
                  <a:pt x="97185" y="0"/>
                  <a:pt x="76200" y="0"/>
                </a:cubicBezTo>
                <a:cubicBezTo>
                  <a:pt x="37802" y="0"/>
                  <a:pt x="6042" y="28396"/>
                  <a:pt x="774" y="65336"/>
                </a:cubicBezTo>
                <a:cubicBezTo>
                  <a:pt x="30" y="70545"/>
                  <a:pt x="3631" y="75367"/>
                  <a:pt x="8840" y="76111"/>
                </a:cubicBezTo>
                <a:cubicBezTo>
                  <a:pt x="14049" y="76855"/>
                  <a:pt x="18871" y="73223"/>
                  <a:pt x="19616" y="68044"/>
                </a:cubicBezTo>
                <a:close/>
                <a:moveTo>
                  <a:pt x="151626" y="87064"/>
                </a:moveTo>
                <a:cubicBezTo>
                  <a:pt x="152370" y="81855"/>
                  <a:pt x="148739" y="77033"/>
                  <a:pt x="143560" y="76289"/>
                </a:cubicBezTo>
                <a:cubicBezTo>
                  <a:pt x="138380" y="75545"/>
                  <a:pt x="133529" y="79177"/>
                  <a:pt x="132784" y="84356"/>
                </a:cubicBezTo>
                <a:cubicBezTo>
                  <a:pt x="128826" y="112038"/>
                  <a:pt x="104983" y="133320"/>
                  <a:pt x="76200" y="133320"/>
                </a:cubicBezTo>
                <a:cubicBezTo>
                  <a:pt x="60424" y="133320"/>
                  <a:pt x="46137" y="126921"/>
                  <a:pt x="35778" y="116592"/>
                </a:cubicBezTo>
                <a:cubicBezTo>
                  <a:pt x="35719" y="116532"/>
                  <a:pt x="35659" y="116473"/>
                  <a:pt x="35600" y="116413"/>
                </a:cubicBezTo>
                <a:lnTo>
                  <a:pt x="33337" y="114270"/>
                </a:lnTo>
                <a:lnTo>
                  <a:pt x="47595" y="114270"/>
                </a:lnTo>
                <a:cubicBezTo>
                  <a:pt x="52864" y="114270"/>
                  <a:pt x="57120" y="110014"/>
                  <a:pt x="57120" y="104745"/>
                </a:cubicBezTo>
                <a:cubicBezTo>
                  <a:pt x="57120" y="99477"/>
                  <a:pt x="52864" y="95220"/>
                  <a:pt x="47595" y="95220"/>
                </a:cubicBezTo>
                <a:lnTo>
                  <a:pt x="9525" y="95250"/>
                </a:lnTo>
                <a:cubicBezTo>
                  <a:pt x="6995" y="95250"/>
                  <a:pt x="4554" y="96262"/>
                  <a:pt x="2768" y="98078"/>
                </a:cubicBezTo>
                <a:cubicBezTo>
                  <a:pt x="982" y="99893"/>
                  <a:pt x="-30" y="102304"/>
                  <a:pt x="0" y="104864"/>
                </a:cubicBezTo>
                <a:lnTo>
                  <a:pt x="298" y="142667"/>
                </a:lnTo>
                <a:cubicBezTo>
                  <a:pt x="327" y="147935"/>
                  <a:pt x="4643" y="152162"/>
                  <a:pt x="9912" y="152102"/>
                </a:cubicBezTo>
                <a:cubicBezTo>
                  <a:pt x="15180" y="152043"/>
                  <a:pt x="19407" y="147757"/>
                  <a:pt x="19348" y="142488"/>
                </a:cubicBezTo>
                <a:lnTo>
                  <a:pt x="19229" y="127159"/>
                </a:lnTo>
                <a:lnTo>
                  <a:pt x="22414" y="130165"/>
                </a:lnTo>
                <a:cubicBezTo>
                  <a:pt x="36195" y="143887"/>
                  <a:pt x="55215" y="152400"/>
                  <a:pt x="76200" y="152400"/>
                </a:cubicBezTo>
                <a:cubicBezTo>
                  <a:pt x="114598" y="152400"/>
                  <a:pt x="146358" y="124004"/>
                  <a:pt x="151626" y="87064"/>
                </a:cubicBezTo>
                <a:close/>
              </a:path>
            </a:pathLst>
          </a:custGeom>
          <a:solidFill>
            <a:srgbClr val="FDC700"/>
          </a:solidFill>
          <a:ln/>
        </p:spPr>
      </p:sp>
      <p:sp>
        <p:nvSpPr>
          <p:cNvPr id="80" name="Text 24"/>
          <p:cNvSpPr/>
          <p:nvPr/>
        </p:nvSpPr>
        <p:spPr>
          <a:xfrm>
            <a:off x="1041400" y="4165600"/>
            <a:ext cx="1003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fr-FR" sz="1200" smtClean="0">
                <a:solidFill>
                  <a:srgbClr val="D1D5DC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Module Cycle</a:t>
            </a:r>
            <a:endParaRPr lang="fr-FR" sz="1600" dirty="0"/>
          </a:p>
        </p:txBody>
      </p:sp>
      <p:sp>
        <p:nvSpPr>
          <p:cNvPr id="81" name="Shape 25"/>
          <p:cNvSpPr/>
          <p:nvPr/>
        </p:nvSpPr>
        <p:spPr>
          <a:xfrm>
            <a:off x="673100" y="4508500"/>
            <a:ext cx="5689600" cy="342900"/>
          </a:xfrm>
          <a:prstGeom prst="roundRect">
            <a:avLst>
              <a:gd name="adj" fmla="val 14815"/>
            </a:avLst>
          </a:prstGeom>
          <a:solidFill>
            <a:srgbClr val="00B8DB">
              <a:alpha val="10196"/>
            </a:srgbClr>
          </a:solidFill>
          <a:ln/>
        </p:spPr>
      </p:sp>
      <p:sp>
        <p:nvSpPr>
          <p:cNvPr id="82" name="Shape 26"/>
          <p:cNvSpPr/>
          <p:nvPr/>
        </p:nvSpPr>
        <p:spPr>
          <a:xfrm>
            <a:off x="758825" y="4603750"/>
            <a:ext cx="171450" cy="152400"/>
          </a:xfrm>
          <a:custGeom>
            <a:avLst/>
            <a:gdLst/>
            <a:ahLst/>
            <a:cxnLst/>
            <a:rect l="l" t="t" r="r" b="b"/>
            <a:pathLst>
              <a:path w="171450" h="152400">
                <a:moveTo>
                  <a:pt x="73819" y="26194"/>
                </a:moveTo>
                <a:lnTo>
                  <a:pt x="97631" y="26194"/>
                </a:lnTo>
                <a:lnTo>
                  <a:pt x="97631" y="40481"/>
                </a:lnTo>
                <a:lnTo>
                  <a:pt x="73819" y="40481"/>
                </a:lnTo>
                <a:lnTo>
                  <a:pt x="73819" y="26194"/>
                </a:lnTo>
                <a:close/>
                <a:moveTo>
                  <a:pt x="71438" y="9525"/>
                </a:moveTo>
                <a:cubicBezTo>
                  <a:pt x="63550" y="9525"/>
                  <a:pt x="57150" y="15925"/>
                  <a:pt x="57150" y="23813"/>
                </a:cubicBezTo>
                <a:lnTo>
                  <a:pt x="57150" y="42863"/>
                </a:lnTo>
                <a:cubicBezTo>
                  <a:pt x="57150" y="50750"/>
                  <a:pt x="63550" y="57150"/>
                  <a:pt x="71438" y="57150"/>
                </a:cubicBezTo>
                <a:lnTo>
                  <a:pt x="76200" y="57150"/>
                </a:lnTo>
                <a:lnTo>
                  <a:pt x="76200" y="66675"/>
                </a:lnTo>
                <a:lnTo>
                  <a:pt x="9525" y="66675"/>
                </a:lnTo>
                <a:cubicBezTo>
                  <a:pt x="4256" y="66675"/>
                  <a:pt x="0" y="70931"/>
                  <a:pt x="0" y="76200"/>
                </a:cubicBezTo>
                <a:cubicBezTo>
                  <a:pt x="0" y="81469"/>
                  <a:pt x="4256" y="85725"/>
                  <a:pt x="9525" y="85725"/>
                </a:cubicBezTo>
                <a:lnTo>
                  <a:pt x="38100" y="85725"/>
                </a:lnTo>
                <a:lnTo>
                  <a:pt x="38100" y="95250"/>
                </a:lnTo>
                <a:lnTo>
                  <a:pt x="33338" y="95250"/>
                </a:lnTo>
                <a:cubicBezTo>
                  <a:pt x="25450" y="95250"/>
                  <a:pt x="19050" y="101650"/>
                  <a:pt x="19050" y="109537"/>
                </a:cubicBezTo>
                <a:lnTo>
                  <a:pt x="19050" y="128588"/>
                </a:lnTo>
                <a:cubicBezTo>
                  <a:pt x="19050" y="136475"/>
                  <a:pt x="25450" y="142875"/>
                  <a:pt x="33338" y="142875"/>
                </a:cubicBezTo>
                <a:lnTo>
                  <a:pt x="61912" y="142875"/>
                </a:lnTo>
                <a:cubicBezTo>
                  <a:pt x="69800" y="142875"/>
                  <a:pt x="76200" y="136475"/>
                  <a:pt x="76200" y="128588"/>
                </a:cubicBezTo>
                <a:lnTo>
                  <a:pt x="76200" y="109537"/>
                </a:lnTo>
                <a:cubicBezTo>
                  <a:pt x="76200" y="101650"/>
                  <a:pt x="69800" y="95250"/>
                  <a:pt x="61912" y="95250"/>
                </a:cubicBezTo>
                <a:lnTo>
                  <a:pt x="57150" y="95250"/>
                </a:lnTo>
                <a:lnTo>
                  <a:pt x="57150" y="85725"/>
                </a:lnTo>
                <a:lnTo>
                  <a:pt x="114300" y="85725"/>
                </a:lnTo>
                <a:lnTo>
                  <a:pt x="114300" y="95250"/>
                </a:lnTo>
                <a:lnTo>
                  <a:pt x="109537" y="95250"/>
                </a:lnTo>
                <a:cubicBezTo>
                  <a:pt x="101650" y="95250"/>
                  <a:pt x="95250" y="101650"/>
                  <a:pt x="95250" y="109537"/>
                </a:cubicBezTo>
                <a:lnTo>
                  <a:pt x="95250" y="128588"/>
                </a:lnTo>
                <a:cubicBezTo>
                  <a:pt x="95250" y="136475"/>
                  <a:pt x="101650" y="142875"/>
                  <a:pt x="109537" y="142875"/>
                </a:cubicBezTo>
                <a:lnTo>
                  <a:pt x="138113" y="142875"/>
                </a:lnTo>
                <a:cubicBezTo>
                  <a:pt x="146000" y="142875"/>
                  <a:pt x="152400" y="136475"/>
                  <a:pt x="152400" y="128588"/>
                </a:cubicBezTo>
                <a:lnTo>
                  <a:pt x="152400" y="109537"/>
                </a:lnTo>
                <a:cubicBezTo>
                  <a:pt x="152400" y="101650"/>
                  <a:pt x="146000" y="95250"/>
                  <a:pt x="138113" y="95250"/>
                </a:cubicBezTo>
                <a:lnTo>
                  <a:pt x="133350" y="95250"/>
                </a:lnTo>
                <a:lnTo>
                  <a:pt x="133350" y="85725"/>
                </a:lnTo>
                <a:lnTo>
                  <a:pt x="161925" y="85725"/>
                </a:lnTo>
                <a:cubicBezTo>
                  <a:pt x="167194" y="85725"/>
                  <a:pt x="171450" y="81469"/>
                  <a:pt x="171450" y="76200"/>
                </a:cubicBezTo>
                <a:cubicBezTo>
                  <a:pt x="171450" y="70931"/>
                  <a:pt x="167194" y="66675"/>
                  <a:pt x="161925" y="66675"/>
                </a:cubicBezTo>
                <a:lnTo>
                  <a:pt x="95250" y="66675"/>
                </a:lnTo>
                <a:lnTo>
                  <a:pt x="95250" y="57150"/>
                </a:lnTo>
                <a:lnTo>
                  <a:pt x="100013" y="57150"/>
                </a:lnTo>
                <a:cubicBezTo>
                  <a:pt x="107900" y="57150"/>
                  <a:pt x="114300" y="50750"/>
                  <a:pt x="114300" y="42863"/>
                </a:cubicBezTo>
                <a:lnTo>
                  <a:pt x="114300" y="23813"/>
                </a:lnTo>
                <a:cubicBezTo>
                  <a:pt x="114300" y="15925"/>
                  <a:pt x="107900" y="9525"/>
                  <a:pt x="100013" y="9525"/>
                </a:cubicBezTo>
                <a:lnTo>
                  <a:pt x="71438" y="9525"/>
                </a:lnTo>
                <a:close/>
                <a:moveTo>
                  <a:pt x="133350" y="111919"/>
                </a:moveTo>
                <a:lnTo>
                  <a:pt x="135731" y="111919"/>
                </a:lnTo>
                <a:lnTo>
                  <a:pt x="135731" y="126206"/>
                </a:lnTo>
                <a:lnTo>
                  <a:pt x="111919" y="126206"/>
                </a:lnTo>
                <a:lnTo>
                  <a:pt x="111919" y="111919"/>
                </a:lnTo>
                <a:lnTo>
                  <a:pt x="133350" y="111919"/>
                </a:lnTo>
                <a:close/>
                <a:moveTo>
                  <a:pt x="57150" y="111919"/>
                </a:moveTo>
                <a:lnTo>
                  <a:pt x="59531" y="111919"/>
                </a:lnTo>
                <a:lnTo>
                  <a:pt x="59531" y="126206"/>
                </a:lnTo>
                <a:lnTo>
                  <a:pt x="35719" y="126206"/>
                </a:lnTo>
                <a:lnTo>
                  <a:pt x="35719" y="111919"/>
                </a:lnTo>
                <a:lnTo>
                  <a:pt x="57150" y="111919"/>
                </a:lnTo>
                <a:close/>
              </a:path>
            </a:pathLst>
          </a:custGeom>
          <a:solidFill>
            <a:srgbClr val="00D3F2"/>
          </a:solidFill>
          <a:ln/>
        </p:spPr>
      </p:sp>
      <p:sp>
        <p:nvSpPr>
          <p:cNvPr id="83" name="Text 27"/>
          <p:cNvSpPr/>
          <p:nvPr/>
        </p:nvSpPr>
        <p:spPr>
          <a:xfrm>
            <a:off x="1041400" y="4584700"/>
            <a:ext cx="16891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fr-FR" sz="1200" smtClean="0">
                <a:solidFill>
                  <a:srgbClr val="D1D5DC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Module Communication</a:t>
            </a:r>
            <a:endParaRPr lang="fr-FR" sz="1600" dirty="0"/>
          </a:p>
        </p:txBody>
      </p:sp>
      <p:sp>
        <p:nvSpPr>
          <p:cNvPr id="84" name="Shape 28"/>
          <p:cNvSpPr/>
          <p:nvPr/>
        </p:nvSpPr>
        <p:spPr>
          <a:xfrm>
            <a:off x="514350" y="5175250"/>
            <a:ext cx="6007100" cy="1968500"/>
          </a:xfrm>
          <a:prstGeom prst="roundRect">
            <a:avLst>
              <a:gd name="adj" fmla="val 5161"/>
            </a:avLst>
          </a:prstGeom>
          <a:solidFill>
            <a:srgbClr val="FFFFFF">
              <a:alpha val="5098"/>
            </a:srgbClr>
          </a:solidFill>
          <a:ln w="12700">
            <a:solidFill>
              <a:srgbClr val="FFFFFF">
                <a:alpha val="10196"/>
              </a:srgbClr>
            </a:solidFill>
            <a:prstDash val="solid"/>
          </a:ln>
        </p:spPr>
      </p:sp>
      <p:sp>
        <p:nvSpPr>
          <p:cNvPr id="85" name="Shape 29"/>
          <p:cNvSpPr/>
          <p:nvPr/>
        </p:nvSpPr>
        <p:spPr>
          <a:xfrm>
            <a:off x="698500" y="5372100"/>
            <a:ext cx="177800" cy="177800"/>
          </a:xfrm>
          <a:custGeom>
            <a:avLst/>
            <a:gdLst/>
            <a:ahLst/>
            <a:cxnLst/>
            <a:rect l="l" t="t" r="r" b="b"/>
            <a:pathLst>
              <a:path w="177800" h="177800">
                <a:moveTo>
                  <a:pt x="174536" y="52298"/>
                </a:moveTo>
                <a:lnTo>
                  <a:pt x="141198" y="85636"/>
                </a:lnTo>
                <a:cubicBezTo>
                  <a:pt x="138003" y="88831"/>
                  <a:pt x="133246" y="89768"/>
                  <a:pt x="129079" y="88032"/>
                </a:cubicBezTo>
                <a:cubicBezTo>
                  <a:pt x="124911" y="86296"/>
                  <a:pt x="122238" y="82267"/>
                  <a:pt x="122238" y="77788"/>
                </a:cubicBezTo>
                <a:lnTo>
                  <a:pt x="122238" y="55563"/>
                </a:lnTo>
                <a:lnTo>
                  <a:pt x="11112" y="55563"/>
                </a:lnTo>
                <a:cubicBezTo>
                  <a:pt x="4966" y="55563"/>
                  <a:pt x="0" y="50597"/>
                  <a:pt x="0" y="44450"/>
                </a:cubicBezTo>
                <a:cubicBezTo>
                  <a:pt x="0" y="38303"/>
                  <a:pt x="4966" y="33337"/>
                  <a:pt x="11112" y="33337"/>
                </a:cubicBezTo>
                <a:lnTo>
                  <a:pt x="122238" y="33337"/>
                </a:lnTo>
                <a:lnTo>
                  <a:pt x="122238" y="11112"/>
                </a:lnTo>
                <a:cubicBezTo>
                  <a:pt x="122238" y="6633"/>
                  <a:pt x="124946" y="2570"/>
                  <a:pt x="129113" y="833"/>
                </a:cubicBezTo>
                <a:cubicBezTo>
                  <a:pt x="133281" y="-903"/>
                  <a:pt x="138038" y="69"/>
                  <a:pt x="141233" y="3230"/>
                </a:cubicBezTo>
                <a:lnTo>
                  <a:pt x="174570" y="36567"/>
                </a:lnTo>
                <a:cubicBezTo>
                  <a:pt x="178911" y="40908"/>
                  <a:pt x="178911" y="47957"/>
                  <a:pt x="174570" y="52298"/>
                </a:cubicBezTo>
                <a:close/>
                <a:moveTo>
                  <a:pt x="36567" y="174536"/>
                </a:moveTo>
                <a:lnTo>
                  <a:pt x="3230" y="141198"/>
                </a:lnTo>
                <a:cubicBezTo>
                  <a:pt x="-1111" y="136857"/>
                  <a:pt x="-1111" y="129808"/>
                  <a:pt x="3230" y="125467"/>
                </a:cubicBezTo>
                <a:lnTo>
                  <a:pt x="36567" y="92130"/>
                </a:lnTo>
                <a:cubicBezTo>
                  <a:pt x="39762" y="88935"/>
                  <a:pt x="44519" y="87997"/>
                  <a:pt x="48687" y="89733"/>
                </a:cubicBezTo>
                <a:cubicBezTo>
                  <a:pt x="52854" y="91470"/>
                  <a:pt x="55563" y="95533"/>
                  <a:pt x="55563" y="100013"/>
                </a:cubicBezTo>
                <a:lnTo>
                  <a:pt x="55563" y="122238"/>
                </a:lnTo>
                <a:lnTo>
                  <a:pt x="166688" y="122238"/>
                </a:lnTo>
                <a:cubicBezTo>
                  <a:pt x="172834" y="122238"/>
                  <a:pt x="177800" y="127203"/>
                  <a:pt x="177800" y="133350"/>
                </a:cubicBezTo>
                <a:cubicBezTo>
                  <a:pt x="177800" y="139497"/>
                  <a:pt x="172834" y="144463"/>
                  <a:pt x="166688" y="144463"/>
                </a:cubicBezTo>
                <a:lnTo>
                  <a:pt x="55563" y="144463"/>
                </a:lnTo>
                <a:lnTo>
                  <a:pt x="55563" y="166688"/>
                </a:lnTo>
                <a:cubicBezTo>
                  <a:pt x="55563" y="171167"/>
                  <a:pt x="52854" y="175230"/>
                  <a:pt x="48687" y="176967"/>
                </a:cubicBezTo>
                <a:cubicBezTo>
                  <a:pt x="44519" y="178703"/>
                  <a:pt x="39762" y="177731"/>
                  <a:pt x="36567" y="174570"/>
                </a:cubicBezTo>
                <a:close/>
              </a:path>
            </a:pathLst>
          </a:custGeom>
          <a:solidFill>
            <a:srgbClr val="FBBF24"/>
          </a:solidFill>
          <a:ln/>
        </p:spPr>
      </p:sp>
      <p:sp>
        <p:nvSpPr>
          <p:cNvPr id="86" name="Text 30"/>
          <p:cNvSpPr/>
          <p:nvPr/>
        </p:nvSpPr>
        <p:spPr>
          <a:xfrm>
            <a:off x="1003300" y="5334000"/>
            <a:ext cx="54483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fr-FR" sz="1400" b="1" dirty="0" smtClean="0">
                <a:solidFill>
                  <a:srgbClr val="FBBF24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Entrées / Sorties API</a:t>
            </a:r>
            <a:endParaRPr lang="fr-FR" sz="1600" dirty="0"/>
          </a:p>
        </p:txBody>
      </p:sp>
      <p:sp>
        <p:nvSpPr>
          <p:cNvPr id="87" name="Text 31"/>
          <p:cNvSpPr/>
          <p:nvPr/>
        </p:nvSpPr>
        <p:spPr>
          <a:xfrm>
            <a:off x="673100" y="5689600"/>
            <a:ext cx="28702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fr-FR" sz="1200" smtClean="0">
                <a:solidFill>
                  <a:srgbClr val="99A1A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Entrées TOR</a:t>
            </a:r>
            <a:endParaRPr lang="fr-FR" sz="1600" dirty="0"/>
          </a:p>
        </p:txBody>
      </p:sp>
      <p:sp>
        <p:nvSpPr>
          <p:cNvPr id="88" name="Text 32"/>
          <p:cNvSpPr/>
          <p:nvPr/>
        </p:nvSpPr>
        <p:spPr>
          <a:xfrm>
            <a:off x="673100" y="5930900"/>
            <a:ext cx="28702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fr-FR" sz="1200" dirty="0" smtClean="0">
                <a:solidFill>
                  <a:srgbClr val="6A728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• AU</a:t>
            </a:r>
            <a:r>
              <a:rPr lang="fr-FR" sz="1200" dirty="0" smtClean="0">
                <a:solidFill>
                  <a:srgbClr val="6A7282"/>
                </a:solidFill>
                <a:latin typeface="Calibri"/>
                <a:ea typeface="Liter" pitchFamily="34" charset="-122"/>
                <a:cs typeface="Liter" pitchFamily="34" charset="-120"/>
              </a:rPr>
              <a:t>_</a:t>
            </a:r>
            <a:r>
              <a:rPr lang="fr-FR" sz="1200" dirty="0" smtClean="0">
                <a:solidFill>
                  <a:srgbClr val="6A728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Stop</a:t>
            </a:r>
            <a:endParaRPr lang="fr-FR" sz="1600" dirty="0"/>
          </a:p>
        </p:txBody>
      </p:sp>
      <p:sp>
        <p:nvSpPr>
          <p:cNvPr id="89" name="Text 33"/>
          <p:cNvSpPr/>
          <p:nvPr/>
        </p:nvSpPr>
        <p:spPr>
          <a:xfrm>
            <a:off x="673100" y="6121400"/>
            <a:ext cx="28702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fr-FR" sz="1200" dirty="0" smtClean="0">
                <a:solidFill>
                  <a:srgbClr val="6A728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• Capot</a:t>
            </a:r>
            <a:r>
              <a:rPr lang="fr-FR" sz="1200" dirty="0" smtClean="0">
                <a:solidFill>
                  <a:srgbClr val="6A7282"/>
                </a:solidFill>
                <a:latin typeface="Calibri"/>
                <a:ea typeface="Liter" pitchFamily="34" charset="-122"/>
                <a:cs typeface="Liter" pitchFamily="34" charset="-120"/>
              </a:rPr>
              <a:t>_</a:t>
            </a:r>
            <a:r>
              <a:rPr lang="fr-FR" sz="1200" dirty="0" smtClean="0">
                <a:solidFill>
                  <a:srgbClr val="6A728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OK</a:t>
            </a:r>
            <a:endParaRPr lang="fr-FR" sz="1600" dirty="0"/>
          </a:p>
        </p:txBody>
      </p:sp>
      <p:sp>
        <p:nvSpPr>
          <p:cNvPr id="90" name="Text 34"/>
          <p:cNvSpPr/>
          <p:nvPr/>
        </p:nvSpPr>
        <p:spPr>
          <a:xfrm>
            <a:off x="673100" y="6311900"/>
            <a:ext cx="28702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fr-FR" sz="1200" dirty="0" smtClean="0">
                <a:solidFill>
                  <a:srgbClr val="6A728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• Clé Présente</a:t>
            </a:r>
            <a:endParaRPr lang="fr-FR" sz="1600" dirty="0"/>
          </a:p>
        </p:txBody>
      </p:sp>
      <p:sp>
        <p:nvSpPr>
          <p:cNvPr id="91" name="Text 35"/>
          <p:cNvSpPr/>
          <p:nvPr/>
        </p:nvSpPr>
        <p:spPr>
          <a:xfrm>
            <a:off x="673100" y="6502400"/>
            <a:ext cx="28702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fr-FR" sz="1200" dirty="0" smtClean="0">
                <a:solidFill>
                  <a:srgbClr val="6A728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• FDC</a:t>
            </a:r>
            <a:r>
              <a:rPr lang="fr-FR" sz="1200" dirty="0" smtClean="0">
                <a:solidFill>
                  <a:srgbClr val="6A7282"/>
                </a:solidFill>
                <a:latin typeface="Calibri"/>
                <a:ea typeface="Liter" pitchFamily="34" charset="-122"/>
                <a:cs typeface="Liter" pitchFamily="34" charset="-120"/>
              </a:rPr>
              <a:t>_</a:t>
            </a:r>
            <a:r>
              <a:rPr lang="fr-FR" sz="1200" dirty="0" smtClean="0">
                <a:solidFill>
                  <a:srgbClr val="6A728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AV / AR</a:t>
            </a:r>
            <a:endParaRPr lang="fr-FR" sz="1600" dirty="0"/>
          </a:p>
        </p:txBody>
      </p:sp>
      <p:sp>
        <p:nvSpPr>
          <p:cNvPr id="92" name="Text 36"/>
          <p:cNvSpPr/>
          <p:nvPr/>
        </p:nvSpPr>
        <p:spPr>
          <a:xfrm>
            <a:off x="3566120" y="5689600"/>
            <a:ext cx="28702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fr-FR" sz="1200" smtClean="0">
                <a:solidFill>
                  <a:srgbClr val="99A1A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Sorties TOR</a:t>
            </a:r>
            <a:endParaRPr lang="fr-FR" sz="1600" dirty="0"/>
          </a:p>
        </p:txBody>
      </p:sp>
      <p:sp>
        <p:nvSpPr>
          <p:cNvPr id="93" name="Text 37"/>
          <p:cNvSpPr/>
          <p:nvPr/>
        </p:nvSpPr>
        <p:spPr>
          <a:xfrm>
            <a:off x="3566120" y="5930900"/>
            <a:ext cx="28702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fr-FR" sz="1200" dirty="0" smtClean="0">
                <a:solidFill>
                  <a:srgbClr val="6A728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• Cmd</a:t>
            </a:r>
            <a:r>
              <a:rPr lang="fr-FR" sz="1200" dirty="0" smtClean="0">
                <a:solidFill>
                  <a:srgbClr val="6A7282"/>
                </a:solidFill>
                <a:latin typeface="Calibri"/>
                <a:ea typeface="Liter" pitchFamily="34" charset="-122"/>
                <a:cs typeface="Liter" pitchFamily="34" charset="-120"/>
              </a:rPr>
              <a:t>_</a:t>
            </a:r>
            <a:r>
              <a:rPr lang="fr-FR" sz="1200" dirty="0" smtClean="0">
                <a:solidFill>
                  <a:srgbClr val="6A728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Vérin AV/AR</a:t>
            </a:r>
            <a:endParaRPr lang="fr-FR" sz="1600" dirty="0"/>
          </a:p>
        </p:txBody>
      </p:sp>
      <p:sp>
        <p:nvSpPr>
          <p:cNvPr id="94" name="Text 38"/>
          <p:cNvSpPr/>
          <p:nvPr/>
        </p:nvSpPr>
        <p:spPr>
          <a:xfrm>
            <a:off x="3566120" y="6121400"/>
            <a:ext cx="28702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fr-FR" sz="1200" dirty="0" smtClean="0">
                <a:solidFill>
                  <a:srgbClr val="6A728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• Moteur</a:t>
            </a:r>
            <a:r>
              <a:rPr lang="fr-FR" sz="1200" dirty="0" smtClean="0">
                <a:solidFill>
                  <a:srgbClr val="6A7282"/>
                </a:solidFill>
                <a:latin typeface="Calibri"/>
                <a:ea typeface="Liter" pitchFamily="34" charset="-122"/>
                <a:cs typeface="Liter" pitchFamily="34" charset="-120"/>
              </a:rPr>
              <a:t>_</a:t>
            </a:r>
            <a:r>
              <a:rPr lang="fr-FR" sz="1200" dirty="0" smtClean="0">
                <a:solidFill>
                  <a:srgbClr val="6A728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Faible</a:t>
            </a:r>
            <a:endParaRPr lang="fr-FR" sz="1600" dirty="0"/>
          </a:p>
        </p:txBody>
      </p:sp>
      <p:sp>
        <p:nvSpPr>
          <p:cNvPr id="95" name="Text 39"/>
          <p:cNvSpPr/>
          <p:nvPr/>
        </p:nvSpPr>
        <p:spPr>
          <a:xfrm>
            <a:off x="3566120" y="6311900"/>
            <a:ext cx="28702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fr-FR" sz="1200" smtClean="0">
                <a:solidFill>
                  <a:srgbClr val="6A728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• Moteur</a:t>
            </a:r>
            <a:r>
              <a:rPr lang="fr-FR" sz="1200" smtClean="0">
                <a:solidFill>
                  <a:srgbClr val="6A7282"/>
                </a:solidFill>
                <a:latin typeface="Calibri"/>
                <a:ea typeface="Liter" pitchFamily="34" charset="-122"/>
                <a:cs typeface="Liter" pitchFamily="34" charset="-120"/>
              </a:rPr>
              <a:t>_</a:t>
            </a:r>
            <a:r>
              <a:rPr lang="fr-FR" sz="1200" smtClean="0">
                <a:solidFill>
                  <a:srgbClr val="6A728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Fort</a:t>
            </a:r>
            <a:endParaRPr lang="fr-FR" sz="1600" dirty="0"/>
          </a:p>
        </p:txBody>
      </p:sp>
      <p:sp>
        <p:nvSpPr>
          <p:cNvPr id="96" name="Text 40"/>
          <p:cNvSpPr/>
          <p:nvPr/>
        </p:nvSpPr>
        <p:spPr>
          <a:xfrm>
            <a:off x="3566120" y="6502400"/>
            <a:ext cx="28702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fr-FR" sz="1200" smtClean="0">
                <a:solidFill>
                  <a:srgbClr val="6A728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• Reset</a:t>
            </a:r>
            <a:r>
              <a:rPr lang="fr-FR" sz="1200" smtClean="0">
                <a:solidFill>
                  <a:srgbClr val="6A7282"/>
                </a:solidFill>
                <a:latin typeface="Calibri"/>
                <a:ea typeface="Liter" pitchFamily="34" charset="-122"/>
                <a:cs typeface="Liter" pitchFamily="34" charset="-120"/>
              </a:rPr>
              <a:t>_</a:t>
            </a:r>
            <a:r>
              <a:rPr lang="fr-FR" sz="1200" smtClean="0">
                <a:solidFill>
                  <a:srgbClr val="6A728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Alarme</a:t>
            </a:r>
            <a:endParaRPr lang="fr-FR" sz="1600" dirty="0"/>
          </a:p>
        </p:txBody>
      </p:sp>
      <p:sp>
        <p:nvSpPr>
          <p:cNvPr id="97" name="Text 41"/>
          <p:cNvSpPr/>
          <p:nvPr/>
        </p:nvSpPr>
        <p:spPr>
          <a:xfrm>
            <a:off x="673100" y="6794500"/>
            <a:ext cx="57658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fr-FR" sz="1200" dirty="0" smtClean="0">
                <a:solidFill>
                  <a:srgbClr val="99A1A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Analogiques : Couple</a:t>
            </a:r>
            <a:r>
              <a:rPr lang="fr-FR" sz="1200" dirty="0" smtClean="0">
                <a:solidFill>
                  <a:srgbClr val="99A1AF"/>
                </a:solidFill>
                <a:latin typeface="Calibri"/>
                <a:ea typeface="Liter" pitchFamily="34" charset="-122"/>
                <a:cs typeface="Liter" pitchFamily="34" charset="-120"/>
              </a:rPr>
              <a:t>_</a:t>
            </a:r>
            <a:r>
              <a:rPr lang="fr-FR" sz="1200" dirty="0" smtClean="0">
                <a:solidFill>
                  <a:srgbClr val="99A1A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Mesure (0-10V),Temp</a:t>
            </a:r>
            <a:r>
              <a:rPr lang="fr-FR" sz="1200" dirty="0" smtClean="0">
                <a:solidFill>
                  <a:srgbClr val="99A1AF"/>
                </a:solidFill>
                <a:latin typeface="Calibri"/>
                <a:ea typeface="Liter" pitchFamily="34" charset="-122"/>
                <a:cs typeface="Liter" pitchFamily="34" charset="-120"/>
              </a:rPr>
              <a:t>_</a:t>
            </a:r>
            <a:r>
              <a:rPr lang="fr-FR" sz="1200" dirty="0" smtClean="0">
                <a:solidFill>
                  <a:srgbClr val="99A1A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Capteur</a:t>
            </a:r>
            <a:endParaRPr lang="fr-FR" sz="1600" dirty="0"/>
          </a:p>
        </p:txBody>
      </p:sp>
      <p:sp>
        <p:nvSpPr>
          <p:cNvPr id="98" name="Shape 42"/>
          <p:cNvSpPr/>
          <p:nvPr/>
        </p:nvSpPr>
        <p:spPr>
          <a:xfrm>
            <a:off x="6751241" y="1511300"/>
            <a:ext cx="177800" cy="177800"/>
          </a:xfrm>
          <a:custGeom>
            <a:avLst/>
            <a:gdLst/>
            <a:ahLst/>
            <a:cxnLst/>
            <a:rect l="l" t="t" r="r" b="b"/>
            <a:pathLst>
              <a:path w="177800" h="177800">
                <a:moveTo>
                  <a:pt x="0" y="27781"/>
                </a:moveTo>
                <a:cubicBezTo>
                  <a:pt x="0" y="18579"/>
                  <a:pt x="7466" y="11112"/>
                  <a:pt x="16669" y="11112"/>
                </a:cubicBezTo>
                <a:lnTo>
                  <a:pt x="50006" y="11112"/>
                </a:lnTo>
                <a:cubicBezTo>
                  <a:pt x="59209" y="11112"/>
                  <a:pt x="66675" y="18579"/>
                  <a:pt x="66675" y="27781"/>
                </a:cubicBezTo>
                <a:lnTo>
                  <a:pt x="66675" y="33337"/>
                </a:lnTo>
                <a:lnTo>
                  <a:pt x="111125" y="33337"/>
                </a:lnTo>
                <a:lnTo>
                  <a:pt x="111125" y="27781"/>
                </a:lnTo>
                <a:cubicBezTo>
                  <a:pt x="111125" y="18579"/>
                  <a:pt x="118591" y="11112"/>
                  <a:pt x="127794" y="11112"/>
                </a:cubicBezTo>
                <a:lnTo>
                  <a:pt x="161131" y="11112"/>
                </a:lnTo>
                <a:cubicBezTo>
                  <a:pt x="170334" y="11112"/>
                  <a:pt x="177800" y="18579"/>
                  <a:pt x="177800" y="27781"/>
                </a:cubicBezTo>
                <a:lnTo>
                  <a:pt x="177800" y="61119"/>
                </a:lnTo>
                <a:cubicBezTo>
                  <a:pt x="177800" y="70321"/>
                  <a:pt x="170334" y="77788"/>
                  <a:pt x="161131" y="77788"/>
                </a:cubicBezTo>
                <a:lnTo>
                  <a:pt x="127794" y="77788"/>
                </a:lnTo>
                <a:cubicBezTo>
                  <a:pt x="118591" y="77788"/>
                  <a:pt x="111125" y="70321"/>
                  <a:pt x="111125" y="61119"/>
                </a:cubicBezTo>
                <a:lnTo>
                  <a:pt x="111125" y="55563"/>
                </a:lnTo>
                <a:lnTo>
                  <a:pt x="66675" y="55563"/>
                </a:lnTo>
                <a:lnTo>
                  <a:pt x="66675" y="61119"/>
                </a:lnTo>
                <a:cubicBezTo>
                  <a:pt x="66675" y="63654"/>
                  <a:pt x="66085" y="66085"/>
                  <a:pt x="65078" y="68238"/>
                </a:cubicBezTo>
                <a:lnTo>
                  <a:pt x="88900" y="100013"/>
                </a:lnTo>
                <a:lnTo>
                  <a:pt x="116681" y="100013"/>
                </a:lnTo>
                <a:cubicBezTo>
                  <a:pt x="125884" y="100013"/>
                  <a:pt x="133350" y="107479"/>
                  <a:pt x="133350" y="116681"/>
                </a:cubicBezTo>
                <a:lnTo>
                  <a:pt x="133350" y="150019"/>
                </a:lnTo>
                <a:cubicBezTo>
                  <a:pt x="133350" y="159221"/>
                  <a:pt x="125884" y="166688"/>
                  <a:pt x="116681" y="166688"/>
                </a:cubicBezTo>
                <a:lnTo>
                  <a:pt x="83344" y="166688"/>
                </a:lnTo>
                <a:cubicBezTo>
                  <a:pt x="74141" y="166688"/>
                  <a:pt x="66675" y="159221"/>
                  <a:pt x="66675" y="150019"/>
                </a:cubicBezTo>
                <a:lnTo>
                  <a:pt x="66675" y="116681"/>
                </a:lnTo>
                <a:cubicBezTo>
                  <a:pt x="66675" y="114146"/>
                  <a:pt x="67265" y="111715"/>
                  <a:pt x="68272" y="109562"/>
                </a:cubicBezTo>
                <a:lnTo>
                  <a:pt x="44450" y="77788"/>
                </a:lnTo>
                <a:lnTo>
                  <a:pt x="16669" y="77788"/>
                </a:lnTo>
                <a:cubicBezTo>
                  <a:pt x="7466" y="77788"/>
                  <a:pt x="0" y="70321"/>
                  <a:pt x="0" y="61119"/>
                </a:cubicBezTo>
                <a:lnTo>
                  <a:pt x="0" y="27781"/>
                </a:lnTo>
                <a:close/>
              </a:path>
            </a:pathLst>
          </a:custGeom>
          <a:solidFill>
            <a:srgbClr val="FBBF24"/>
          </a:solidFill>
          <a:ln/>
        </p:spPr>
      </p:sp>
      <p:sp>
        <p:nvSpPr>
          <p:cNvPr id="99" name="Text 43"/>
          <p:cNvSpPr/>
          <p:nvPr/>
        </p:nvSpPr>
        <p:spPr>
          <a:xfrm>
            <a:off x="7056041" y="1473200"/>
            <a:ext cx="87757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fr-FR" sz="1400" b="1" smtClean="0">
                <a:solidFill>
                  <a:srgbClr val="FBBF24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Logigrammes Clés du Système</a:t>
            </a:r>
            <a:endParaRPr lang="fr-FR" sz="1600" dirty="0"/>
          </a:p>
        </p:txBody>
      </p:sp>
      <p:sp>
        <p:nvSpPr>
          <p:cNvPr id="106" name="Shape 49"/>
          <p:cNvSpPr/>
          <p:nvPr/>
        </p:nvSpPr>
        <p:spPr>
          <a:xfrm>
            <a:off x="6751240" y="1962149"/>
            <a:ext cx="4587279" cy="6673851"/>
          </a:xfrm>
          <a:prstGeom prst="roundRect">
            <a:avLst>
              <a:gd name="adj" fmla="val 7273"/>
            </a:avLst>
          </a:prstGeom>
          <a:solidFill>
            <a:srgbClr val="FFFFFF">
              <a:alpha val="5098"/>
            </a:srgbClr>
          </a:solidFill>
          <a:ln w="12700">
            <a:solidFill>
              <a:srgbClr val="FFFFFF">
                <a:alpha val="10196"/>
              </a:srgbClr>
            </a:solidFill>
            <a:prstDash val="solid"/>
          </a:ln>
        </p:spPr>
      </p:sp>
      <p:sp>
        <p:nvSpPr>
          <p:cNvPr id="107" name="Text 50"/>
          <p:cNvSpPr/>
          <p:nvPr/>
        </p:nvSpPr>
        <p:spPr>
          <a:xfrm>
            <a:off x="6909991" y="2146300"/>
            <a:ext cx="1778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fr-FR" sz="1200" b="1" dirty="0" smtClean="0">
                <a:solidFill>
                  <a:srgbClr val="FFFFF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1. Vérification Sécurités</a:t>
            </a:r>
            <a:endParaRPr lang="fr-FR" sz="1600" dirty="0"/>
          </a:p>
        </p:txBody>
      </p:sp>
      <p:sp>
        <p:nvSpPr>
          <p:cNvPr id="108" name="Shape 51"/>
          <p:cNvSpPr/>
          <p:nvPr/>
        </p:nvSpPr>
        <p:spPr>
          <a:xfrm>
            <a:off x="10276086" y="2120900"/>
            <a:ext cx="736600" cy="241300"/>
          </a:xfrm>
          <a:prstGeom prst="roundRect">
            <a:avLst>
              <a:gd name="adj" fmla="val 21053"/>
            </a:avLst>
          </a:prstGeom>
          <a:solidFill>
            <a:srgbClr val="FB2C36">
              <a:alpha val="20000"/>
            </a:srgbClr>
          </a:solidFill>
          <a:ln/>
        </p:spPr>
      </p:sp>
      <p:sp>
        <p:nvSpPr>
          <p:cNvPr id="109" name="Text 52"/>
          <p:cNvSpPr/>
          <p:nvPr/>
        </p:nvSpPr>
        <p:spPr>
          <a:xfrm>
            <a:off x="10276086" y="2120900"/>
            <a:ext cx="812800" cy="241300"/>
          </a:xfrm>
          <a:prstGeom prst="rect">
            <a:avLst/>
          </a:prstGeom>
          <a:noFill/>
          <a:ln/>
        </p:spPr>
        <p:txBody>
          <a:bodyPr wrap="square" lIns="101600" tIns="25400" rIns="101600" bIns="25400" rtlCol="0" anchor="ctr"/>
          <a:lstStyle/>
          <a:p>
            <a:pPr>
              <a:lnSpc>
                <a:spcPct val="110000"/>
              </a:lnSpc>
            </a:pPr>
            <a:r>
              <a:rPr lang="fr-FR" sz="1200" dirty="0" smtClean="0">
                <a:solidFill>
                  <a:srgbClr val="FFA2A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Critique</a:t>
            </a:r>
            <a:endParaRPr lang="fr-FR" sz="1600" dirty="0"/>
          </a:p>
        </p:txBody>
      </p:sp>
      <p:sp>
        <p:nvSpPr>
          <p:cNvPr id="112" name="Shape 54"/>
          <p:cNvSpPr/>
          <p:nvPr/>
        </p:nvSpPr>
        <p:spPr>
          <a:xfrm>
            <a:off x="11497270" y="1962150"/>
            <a:ext cx="4339630" cy="6673850"/>
          </a:xfrm>
          <a:prstGeom prst="roundRect">
            <a:avLst>
              <a:gd name="adj" fmla="val 7273"/>
            </a:avLst>
          </a:prstGeom>
          <a:solidFill>
            <a:srgbClr val="FFFFFF">
              <a:alpha val="5098"/>
            </a:srgbClr>
          </a:solidFill>
          <a:ln w="12700">
            <a:solidFill>
              <a:srgbClr val="FFFFFF">
                <a:alpha val="10196"/>
              </a:srgbClr>
            </a:solidFill>
            <a:prstDash val="solid"/>
          </a:ln>
        </p:spPr>
      </p:sp>
      <p:sp>
        <p:nvSpPr>
          <p:cNvPr id="113" name="Text 55"/>
          <p:cNvSpPr/>
          <p:nvPr/>
        </p:nvSpPr>
        <p:spPr>
          <a:xfrm>
            <a:off x="11497270" y="2146300"/>
            <a:ext cx="23749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fr-FR" sz="1200" b="1" dirty="0" smtClean="0">
                <a:solidFill>
                  <a:srgbClr val="FFFFF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2. Sélection Moteur &amp; Pré-charge</a:t>
            </a:r>
            <a:endParaRPr lang="fr-FR" sz="1600" dirty="0"/>
          </a:p>
        </p:txBody>
      </p:sp>
      <p:sp>
        <p:nvSpPr>
          <p:cNvPr id="114" name="Shape 56"/>
          <p:cNvSpPr/>
          <p:nvPr/>
        </p:nvSpPr>
        <p:spPr>
          <a:xfrm>
            <a:off x="14834394" y="2120900"/>
            <a:ext cx="762000" cy="241300"/>
          </a:xfrm>
          <a:prstGeom prst="roundRect">
            <a:avLst>
              <a:gd name="adj" fmla="val 21053"/>
            </a:avLst>
          </a:prstGeom>
          <a:solidFill>
            <a:srgbClr val="2B7FFF">
              <a:alpha val="20000"/>
            </a:srgbClr>
          </a:solidFill>
          <a:ln/>
        </p:spPr>
      </p:sp>
      <p:sp>
        <p:nvSpPr>
          <p:cNvPr id="115" name="Text 57"/>
          <p:cNvSpPr/>
          <p:nvPr/>
        </p:nvSpPr>
        <p:spPr>
          <a:xfrm>
            <a:off x="14834394" y="2120900"/>
            <a:ext cx="838200" cy="241300"/>
          </a:xfrm>
          <a:prstGeom prst="rect">
            <a:avLst/>
          </a:prstGeom>
          <a:noFill/>
          <a:ln/>
        </p:spPr>
        <p:txBody>
          <a:bodyPr wrap="square" lIns="101600" tIns="25400" rIns="101600" bIns="25400" rtlCol="0" anchor="ctr"/>
          <a:lstStyle/>
          <a:p>
            <a:pPr>
              <a:lnSpc>
                <a:spcPct val="110000"/>
              </a:lnSpc>
            </a:pPr>
            <a:r>
              <a:rPr lang="fr-FR" sz="1200" smtClean="0">
                <a:solidFill>
                  <a:srgbClr val="8EC5F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Moteurs</a:t>
            </a:r>
            <a:endParaRPr lang="fr-FR" sz="1600" dirty="0"/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11963568" y="2336800"/>
            <a:ext cx="3340100" cy="629920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3076" name="Picture 4"/>
          <p:cNvPicPr>
            <a:picLocks noChangeAspect="1" noChangeArrowheads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7301346" y="2336800"/>
            <a:ext cx="3787540" cy="6270086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8000" y="508000"/>
            <a:ext cx="153289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fr-FR" sz="1400" b="1" kern="0" spc="140" smtClean="0">
                <a:solidFill>
                  <a:srgbClr val="E89F5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05. SÉCURITÉS</a:t>
            </a:r>
            <a:endParaRPr lang="fr-FR" sz="1600" dirty="0"/>
          </a:p>
        </p:txBody>
      </p:sp>
      <p:sp>
        <p:nvSpPr>
          <p:cNvPr id="3" name="Text 1"/>
          <p:cNvSpPr/>
          <p:nvPr/>
        </p:nvSpPr>
        <p:spPr>
          <a:xfrm>
            <a:off x="508000" y="863600"/>
            <a:ext cx="154686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fr-FR" sz="3600" b="1" smtClean="0">
                <a:solidFill>
                  <a:srgbClr val="E8E8E8"/>
                </a:solidFill>
                <a:latin typeface="Hedvig Letters Sans" pitchFamily="34" charset="0"/>
                <a:ea typeface="Hedvig Letters Sans" pitchFamily="34" charset="-122"/>
                <a:cs typeface="Hedvig Letters Sans" pitchFamily="34" charset="-120"/>
              </a:rPr>
              <a:t>Système de Sécurité</a:t>
            </a:r>
            <a:endParaRPr lang="fr-FR" sz="1600" dirty="0"/>
          </a:p>
        </p:txBody>
      </p:sp>
      <p:sp>
        <p:nvSpPr>
          <p:cNvPr id="4" name="Shape 2"/>
          <p:cNvSpPr/>
          <p:nvPr/>
        </p:nvSpPr>
        <p:spPr>
          <a:xfrm>
            <a:off x="514350" y="1581150"/>
            <a:ext cx="4064000" cy="1435100"/>
          </a:xfrm>
          <a:custGeom>
            <a:avLst/>
            <a:gdLst/>
            <a:ahLst/>
            <a:cxnLst/>
            <a:rect l="l" t="t" r="r" b="b"/>
            <a:pathLst>
              <a:path w="4064000" h="1435100">
                <a:moveTo>
                  <a:pt x="101605" y="0"/>
                </a:moveTo>
                <a:lnTo>
                  <a:pt x="3962395" y="0"/>
                </a:lnTo>
                <a:cubicBezTo>
                  <a:pt x="4018510" y="0"/>
                  <a:pt x="4064000" y="45490"/>
                  <a:pt x="4064000" y="101605"/>
                </a:cubicBezTo>
                <a:lnTo>
                  <a:pt x="4064000" y="1333495"/>
                </a:lnTo>
                <a:cubicBezTo>
                  <a:pt x="4064000" y="1389610"/>
                  <a:pt x="4018510" y="1435100"/>
                  <a:pt x="3962395" y="1435100"/>
                </a:cubicBezTo>
                <a:lnTo>
                  <a:pt x="101605" y="1435100"/>
                </a:lnTo>
                <a:cubicBezTo>
                  <a:pt x="45490" y="1435100"/>
                  <a:pt x="0" y="1389610"/>
                  <a:pt x="0" y="1333495"/>
                </a:cubicBezTo>
                <a:lnTo>
                  <a:pt x="0" y="101605"/>
                </a:lnTo>
                <a:cubicBezTo>
                  <a:pt x="0" y="45528"/>
                  <a:pt x="45528" y="0"/>
                  <a:pt x="101605" y="0"/>
                </a:cubicBezTo>
                <a:close/>
              </a:path>
            </a:pathLst>
          </a:custGeom>
          <a:solidFill>
            <a:srgbClr val="E89F5B">
              <a:alpha val="10196"/>
            </a:srgbClr>
          </a:solidFill>
          <a:ln w="12700">
            <a:solidFill>
              <a:srgbClr val="E89F5B">
                <a:alpha val="4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73100" y="1739900"/>
            <a:ext cx="508000" cy="508000"/>
          </a:xfrm>
          <a:custGeom>
            <a:avLst/>
            <a:gdLst/>
            <a:ahLst/>
            <a:cxnLst/>
            <a:rect l="l" t="t" r="r" b="b"/>
            <a:pathLst>
              <a:path w="508000" h="508000">
                <a:moveTo>
                  <a:pt x="254000" y="0"/>
                </a:moveTo>
                <a:lnTo>
                  <a:pt x="254000" y="0"/>
                </a:lnTo>
                <a:cubicBezTo>
                  <a:pt x="394186" y="0"/>
                  <a:pt x="508000" y="113814"/>
                  <a:pt x="508000" y="254000"/>
                </a:cubicBezTo>
                <a:lnTo>
                  <a:pt x="508000" y="254000"/>
                </a:lnTo>
                <a:cubicBezTo>
                  <a:pt x="508000" y="394186"/>
                  <a:pt x="394186" y="508000"/>
                  <a:pt x="254000" y="508000"/>
                </a:cubicBezTo>
                <a:lnTo>
                  <a:pt x="254000" y="508000"/>
                </a:lnTo>
                <a:cubicBezTo>
                  <a:pt x="113814" y="508000"/>
                  <a:pt x="0" y="394186"/>
                  <a:pt x="0" y="254000"/>
                </a:cubicBezTo>
                <a:lnTo>
                  <a:pt x="0" y="254000"/>
                </a:lnTo>
                <a:cubicBezTo>
                  <a:pt x="0" y="113814"/>
                  <a:pt x="113814" y="0"/>
                  <a:pt x="254000" y="0"/>
                </a:cubicBezTo>
                <a:close/>
              </a:path>
            </a:pathLst>
          </a:custGeom>
          <a:solidFill>
            <a:srgbClr val="E89F5B"/>
          </a:solidFill>
          <a:ln/>
        </p:spPr>
      </p:sp>
      <p:sp>
        <p:nvSpPr>
          <p:cNvPr id="6" name="Shape 4"/>
          <p:cNvSpPr/>
          <p:nvPr/>
        </p:nvSpPr>
        <p:spPr>
          <a:xfrm>
            <a:off x="815975" y="18796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128588" y="14288"/>
                </a:moveTo>
                <a:cubicBezTo>
                  <a:pt x="128588" y="6385"/>
                  <a:pt x="122203" y="0"/>
                  <a:pt x="114300" y="0"/>
                </a:cubicBezTo>
                <a:cubicBezTo>
                  <a:pt x="106397" y="0"/>
                  <a:pt x="100013" y="6385"/>
                  <a:pt x="100013" y="14288"/>
                </a:cubicBezTo>
                <a:lnTo>
                  <a:pt x="100013" y="107156"/>
                </a:lnTo>
                <a:cubicBezTo>
                  <a:pt x="100013" y="111085"/>
                  <a:pt x="96798" y="114300"/>
                  <a:pt x="92869" y="114300"/>
                </a:cubicBezTo>
                <a:cubicBezTo>
                  <a:pt x="88940" y="114300"/>
                  <a:pt x="85725" y="111085"/>
                  <a:pt x="85725" y="107156"/>
                </a:cubicBezTo>
                <a:lnTo>
                  <a:pt x="85725" y="28575"/>
                </a:lnTo>
                <a:cubicBezTo>
                  <a:pt x="85725" y="20672"/>
                  <a:pt x="79340" y="14288"/>
                  <a:pt x="71438" y="14288"/>
                </a:cubicBezTo>
                <a:cubicBezTo>
                  <a:pt x="63535" y="14288"/>
                  <a:pt x="57150" y="20672"/>
                  <a:pt x="57150" y="28575"/>
                </a:cubicBezTo>
                <a:lnTo>
                  <a:pt x="57150" y="150019"/>
                </a:lnTo>
                <a:cubicBezTo>
                  <a:pt x="57150" y="150688"/>
                  <a:pt x="57150" y="151403"/>
                  <a:pt x="57195" y="152073"/>
                </a:cubicBezTo>
                <a:lnTo>
                  <a:pt x="30182" y="126355"/>
                </a:lnTo>
                <a:cubicBezTo>
                  <a:pt x="23039" y="119569"/>
                  <a:pt x="11743" y="119836"/>
                  <a:pt x="4911" y="126980"/>
                </a:cubicBezTo>
                <a:cubicBezTo>
                  <a:pt x="-1920" y="134124"/>
                  <a:pt x="-1607" y="145420"/>
                  <a:pt x="5536" y="152251"/>
                </a:cubicBezTo>
                <a:lnTo>
                  <a:pt x="55721" y="200025"/>
                </a:lnTo>
                <a:cubicBezTo>
                  <a:pt x="74965" y="218376"/>
                  <a:pt x="100548" y="228600"/>
                  <a:pt x="127159" y="228600"/>
                </a:cubicBezTo>
                <a:lnTo>
                  <a:pt x="135731" y="228600"/>
                </a:lnTo>
                <a:cubicBezTo>
                  <a:pt x="179130" y="228600"/>
                  <a:pt x="214313" y="193417"/>
                  <a:pt x="214313" y="150019"/>
                </a:cubicBezTo>
                <a:lnTo>
                  <a:pt x="214313" y="57150"/>
                </a:lnTo>
                <a:cubicBezTo>
                  <a:pt x="214313" y="49247"/>
                  <a:pt x="207928" y="42863"/>
                  <a:pt x="200025" y="42863"/>
                </a:cubicBezTo>
                <a:cubicBezTo>
                  <a:pt x="192122" y="42863"/>
                  <a:pt x="185738" y="49247"/>
                  <a:pt x="185738" y="57150"/>
                </a:cubicBezTo>
                <a:lnTo>
                  <a:pt x="185738" y="107156"/>
                </a:lnTo>
                <a:cubicBezTo>
                  <a:pt x="185738" y="111085"/>
                  <a:pt x="182523" y="114300"/>
                  <a:pt x="178594" y="114300"/>
                </a:cubicBezTo>
                <a:cubicBezTo>
                  <a:pt x="174665" y="114300"/>
                  <a:pt x="171450" y="111085"/>
                  <a:pt x="171450" y="107156"/>
                </a:cubicBezTo>
                <a:lnTo>
                  <a:pt x="171450" y="28575"/>
                </a:lnTo>
                <a:cubicBezTo>
                  <a:pt x="171450" y="20672"/>
                  <a:pt x="165065" y="14288"/>
                  <a:pt x="157163" y="14288"/>
                </a:cubicBezTo>
                <a:cubicBezTo>
                  <a:pt x="149260" y="14288"/>
                  <a:pt x="142875" y="20672"/>
                  <a:pt x="142875" y="28575"/>
                </a:cubicBezTo>
                <a:lnTo>
                  <a:pt x="142875" y="107156"/>
                </a:lnTo>
                <a:cubicBezTo>
                  <a:pt x="142875" y="111085"/>
                  <a:pt x="139660" y="114300"/>
                  <a:pt x="135731" y="114300"/>
                </a:cubicBezTo>
                <a:cubicBezTo>
                  <a:pt x="131802" y="114300"/>
                  <a:pt x="128588" y="111085"/>
                  <a:pt x="128588" y="107156"/>
                </a:cubicBezTo>
                <a:lnTo>
                  <a:pt x="128588" y="14288"/>
                </a:lnTo>
                <a:close/>
              </a:path>
            </a:pathLst>
          </a:custGeom>
          <a:solidFill>
            <a:srgbClr val="1A1D21"/>
          </a:solidFill>
          <a:ln/>
        </p:spPr>
      </p:sp>
      <p:sp>
        <p:nvSpPr>
          <p:cNvPr id="7" name="Text 5"/>
          <p:cNvSpPr/>
          <p:nvPr/>
        </p:nvSpPr>
        <p:spPr>
          <a:xfrm>
            <a:off x="1282700" y="1841500"/>
            <a:ext cx="16002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fr-FR" sz="1600" b="1" smtClean="0">
                <a:solidFill>
                  <a:srgbClr val="E8E8E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Arrêt d'Urgence</a:t>
            </a:r>
            <a:endParaRPr lang="fr-FR" sz="1600" dirty="0"/>
          </a:p>
        </p:txBody>
      </p:sp>
      <p:sp>
        <p:nvSpPr>
          <p:cNvPr id="8" name="Text 6"/>
          <p:cNvSpPr/>
          <p:nvPr/>
        </p:nvSpPr>
        <p:spPr>
          <a:xfrm>
            <a:off x="673100" y="2349500"/>
            <a:ext cx="38354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fr-FR" sz="1400" smtClean="0">
                <a:solidFill>
                  <a:srgbClr val="7D8A9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Coupure immédiate alimentation moteurs et vérin</a:t>
            </a:r>
            <a:endParaRPr lang="fr-FR" sz="1600" dirty="0"/>
          </a:p>
        </p:txBody>
      </p:sp>
      <p:sp>
        <p:nvSpPr>
          <p:cNvPr id="9" name="Shape 7"/>
          <p:cNvSpPr/>
          <p:nvPr/>
        </p:nvSpPr>
        <p:spPr>
          <a:xfrm>
            <a:off x="4686300" y="1581150"/>
            <a:ext cx="4064000" cy="1435100"/>
          </a:xfrm>
          <a:custGeom>
            <a:avLst/>
            <a:gdLst/>
            <a:ahLst/>
            <a:cxnLst/>
            <a:rect l="l" t="t" r="r" b="b"/>
            <a:pathLst>
              <a:path w="4064000" h="1435100">
                <a:moveTo>
                  <a:pt x="101605" y="0"/>
                </a:moveTo>
                <a:lnTo>
                  <a:pt x="3962395" y="0"/>
                </a:lnTo>
                <a:cubicBezTo>
                  <a:pt x="4018510" y="0"/>
                  <a:pt x="4064000" y="45490"/>
                  <a:pt x="4064000" y="101605"/>
                </a:cubicBezTo>
                <a:lnTo>
                  <a:pt x="4064000" y="1333495"/>
                </a:lnTo>
                <a:cubicBezTo>
                  <a:pt x="4064000" y="1389610"/>
                  <a:pt x="4018510" y="1435100"/>
                  <a:pt x="3962395" y="1435100"/>
                </a:cubicBezTo>
                <a:lnTo>
                  <a:pt x="101605" y="1435100"/>
                </a:lnTo>
                <a:cubicBezTo>
                  <a:pt x="45490" y="1435100"/>
                  <a:pt x="0" y="1389610"/>
                  <a:pt x="0" y="1333495"/>
                </a:cubicBezTo>
                <a:lnTo>
                  <a:pt x="0" y="101605"/>
                </a:lnTo>
                <a:cubicBezTo>
                  <a:pt x="0" y="45528"/>
                  <a:pt x="45528" y="0"/>
                  <a:pt x="101605" y="0"/>
                </a:cubicBezTo>
                <a:close/>
              </a:path>
            </a:pathLst>
          </a:custGeom>
          <a:solidFill>
            <a:srgbClr val="4A6C8C">
              <a:alpha val="10196"/>
            </a:srgbClr>
          </a:solidFill>
          <a:ln w="12700">
            <a:solidFill>
              <a:srgbClr val="4A6C8C">
                <a:alpha val="4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845050" y="1739900"/>
            <a:ext cx="508000" cy="508000"/>
          </a:xfrm>
          <a:custGeom>
            <a:avLst/>
            <a:gdLst/>
            <a:ahLst/>
            <a:cxnLst/>
            <a:rect l="l" t="t" r="r" b="b"/>
            <a:pathLst>
              <a:path w="508000" h="508000">
                <a:moveTo>
                  <a:pt x="254000" y="0"/>
                </a:moveTo>
                <a:lnTo>
                  <a:pt x="254000" y="0"/>
                </a:lnTo>
                <a:cubicBezTo>
                  <a:pt x="394186" y="0"/>
                  <a:pt x="508000" y="113814"/>
                  <a:pt x="508000" y="254000"/>
                </a:cubicBezTo>
                <a:lnTo>
                  <a:pt x="508000" y="254000"/>
                </a:lnTo>
                <a:cubicBezTo>
                  <a:pt x="508000" y="394186"/>
                  <a:pt x="394186" y="508000"/>
                  <a:pt x="254000" y="508000"/>
                </a:cubicBezTo>
                <a:lnTo>
                  <a:pt x="254000" y="508000"/>
                </a:lnTo>
                <a:cubicBezTo>
                  <a:pt x="113814" y="508000"/>
                  <a:pt x="0" y="394186"/>
                  <a:pt x="0" y="254000"/>
                </a:cubicBezTo>
                <a:lnTo>
                  <a:pt x="0" y="254000"/>
                </a:lnTo>
                <a:cubicBezTo>
                  <a:pt x="0" y="113814"/>
                  <a:pt x="113814" y="0"/>
                  <a:pt x="254000" y="0"/>
                </a:cubicBezTo>
                <a:close/>
              </a:path>
            </a:pathLst>
          </a:custGeom>
          <a:solidFill>
            <a:srgbClr val="4A6C8C"/>
          </a:solidFill>
          <a:ln/>
        </p:spPr>
      </p:sp>
      <p:sp>
        <p:nvSpPr>
          <p:cNvPr id="11" name="Shape 9"/>
          <p:cNvSpPr/>
          <p:nvPr/>
        </p:nvSpPr>
        <p:spPr>
          <a:xfrm>
            <a:off x="4987925" y="18796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114300" y="0"/>
                </a:moveTo>
                <a:cubicBezTo>
                  <a:pt x="116354" y="0"/>
                  <a:pt x="118408" y="446"/>
                  <a:pt x="120283" y="1295"/>
                </a:cubicBezTo>
                <a:lnTo>
                  <a:pt x="204401" y="36969"/>
                </a:lnTo>
                <a:cubicBezTo>
                  <a:pt x="214223" y="41121"/>
                  <a:pt x="221546" y="50810"/>
                  <a:pt x="221501" y="62508"/>
                </a:cubicBezTo>
                <a:cubicBezTo>
                  <a:pt x="221278" y="106799"/>
                  <a:pt x="203061" y="187836"/>
                  <a:pt x="126132" y="224671"/>
                </a:cubicBezTo>
                <a:cubicBezTo>
                  <a:pt x="118676" y="228243"/>
                  <a:pt x="110014" y="228243"/>
                  <a:pt x="102557" y="224671"/>
                </a:cubicBezTo>
                <a:cubicBezTo>
                  <a:pt x="25584" y="187836"/>
                  <a:pt x="7412" y="106799"/>
                  <a:pt x="7188" y="62508"/>
                </a:cubicBezTo>
                <a:cubicBezTo>
                  <a:pt x="7144" y="50810"/>
                  <a:pt x="14466" y="41121"/>
                  <a:pt x="24289" y="36969"/>
                </a:cubicBezTo>
                <a:lnTo>
                  <a:pt x="108362" y="1295"/>
                </a:lnTo>
                <a:cubicBezTo>
                  <a:pt x="110237" y="446"/>
                  <a:pt x="112246" y="0"/>
                  <a:pt x="114300" y="0"/>
                </a:cubicBezTo>
                <a:close/>
                <a:moveTo>
                  <a:pt x="114300" y="29825"/>
                </a:moveTo>
                <a:lnTo>
                  <a:pt x="114300" y="198641"/>
                </a:lnTo>
                <a:cubicBezTo>
                  <a:pt x="175915" y="168816"/>
                  <a:pt x="192479" y="102736"/>
                  <a:pt x="192881" y="63178"/>
                </a:cubicBezTo>
                <a:lnTo>
                  <a:pt x="114300" y="29870"/>
                </a:lnTo>
                <a:lnTo>
                  <a:pt x="114300" y="29870"/>
                </a:lnTo>
                <a:close/>
              </a:path>
            </a:pathLst>
          </a:custGeom>
          <a:solidFill>
            <a:srgbClr val="E8E8E8"/>
          </a:solidFill>
          <a:ln/>
        </p:spPr>
      </p:sp>
      <p:sp>
        <p:nvSpPr>
          <p:cNvPr id="12" name="Text 10"/>
          <p:cNvSpPr/>
          <p:nvPr/>
        </p:nvSpPr>
        <p:spPr>
          <a:xfrm>
            <a:off x="5454650" y="1841500"/>
            <a:ext cx="19939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fr-FR" sz="1600" b="1" smtClean="0">
                <a:solidFill>
                  <a:srgbClr val="E8E8E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Capot de Protection</a:t>
            </a:r>
            <a:endParaRPr lang="fr-FR" sz="1600" dirty="0"/>
          </a:p>
        </p:txBody>
      </p:sp>
      <p:sp>
        <p:nvSpPr>
          <p:cNvPr id="13" name="Text 11"/>
          <p:cNvSpPr/>
          <p:nvPr/>
        </p:nvSpPr>
        <p:spPr>
          <a:xfrm>
            <a:off x="4845050" y="2349500"/>
            <a:ext cx="38354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fr-FR" sz="1400" smtClean="0">
                <a:solidFill>
                  <a:srgbClr val="7D8A9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Bloquage cycle si capot ouvert</a:t>
            </a:r>
            <a:endParaRPr lang="fr-FR" sz="1600" dirty="0"/>
          </a:p>
        </p:txBody>
      </p:sp>
      <p:sp>
        <p:nvSpPr>
          <p:cNvPr id="14" name="Shape 12"/>
          <p:cNvSpPr/>
          <p:nvPr/>
        </p:nvSpPr>
        <p:spPr>
          <a:xfrm>
            <a:off x="514350" y="3130550"/>
            <a:ext cx="4064000" cy="1181100"/>
          </a:xfrm>
          <a:custGeom>
            <a:avLst/>
            <a:gdLst/>
            <a:ahLst/>
            <a:cxnLst/>
            <a:rect l="l" t="t" r="r" b="b"/>
            <a:pathLst>
              <a:path w="4064000" h="1181100">
                <a:moveTo>
                  <a:pt x="101598" y="0"/>
                </a:moveTo>
                <a:lnTo>
                  <a:pt x="3962402" y="0"/>
                </a:lnTo>
                <a:cubicBezTo>
                  <a:pt x="4018513" y="0"/>
                  <a:pt x="4064000" y="45487"/>
                  <a:pt x="4064000" y="101598"/>
                </a:cubicBezTo>
                <a:lnTo>
                  <a:pt x="4064000" y="1079502"/>
                </a:lnTo>
                <a:cubicBezTo>
                  <a:pt x="4064000" y="1135613"/>
                  <a:pt x="4018513" y="1181100"/>
                  <a:pt x="3962402" y="1181100"/>
                </a:cubicBezTo>
                <a:lnTo>
                  <a:pt x="101598" y="1181100"/>
                </a:lnTo>
                <a:cubicBezTo>
                  <a:pt x="45487" y="1181100"/>
                  <a:pt x="0" y="1135613"/>
                  <a:pt x="0" y="1079502"/>
                </a:cubicBezTo>
                <a:lnTo>
                  <a:pt x="0" y="101598"/>
                </a:lnTo>
                <a:cubicBezTo>
                  <a:pt x="0" y="45525"/>
                  <a:pt x="45525" y="0"/>
                  <a:pt x="101598" y="0"/>
                </a:cubicBezTo>
                <a:close/>
              </a:path>
            </a:pathLst>
          </a:custGeom>
          <a:solidFill>
            <a:srgbClr val="4A6C8C">
              <a:alpha val="10196"/>
            </a:srgbClr>
          </a:solidFill>
          <a:ln w="12700">
            <a:solidFill>
              <a:srgbClr val="4A6C8C">
                <a:alpha val="40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73100" y="3289300"/>
            <a:ext cx="508000" cy="508000"/>
          </a:xfrm>
          <a:custGeom>
            <a:avLst/>
            <a:gdLst/>
            <a:ahLst/>
            <a:cxnLst/>
            <a:rect l="l" t="t" r="r" b="b"/>
            <a:pathLst>
              <a:path w="508000" h="508000">
                <a:moveTo>
                  <a:pt x="254000" y="0"/>
                </a:moveTo>
                <a:lnTo>
                  <a:pt x="254000" y="0"/>
                </a:lnTo>
                <a:cubicBezTo>
                  <a:pt x="394186" y="0"/>
                  <a:pt x="508000" y="113814"/>
                  <a:pt x="508000" y="254000"/>
                </a:cubicBezTo>
                <a:lnTo>
                  <a:pt x="508000" y="254000"/>
                </a:lnTo>
                <a:cubicBezTo>
                  <a:pt x="508000" y="394186"/>
                  <a:pt x="394186" y="508000"/>
                  <a:pt x="254000" y="508000"/>
                </a:cubicBezTo>
                <a:lnTo>
                  <a:pt x="254000" y="508000"/>
                </a:lnTo>
                <a:cubicBezTo>
                  <a:pt x="113814" y="508000"/>
                  <a:pt x="0" y="394186"/>
                  <a:pt x="0" y="254000"/>
                </a:cubicBezTo>
                <a:lnTo>
                  <a:pt x="0" y="254000"/>
                </a:lnTo>
                <a:cubicBezTo>
                  <a:pt x="0" y="113814"/>
                  <a:pt x="113814" y="0"/>
                  <a:pt x="254000" y="0"/>
                </a:cubicBezTo>
                <a:close/>
              </a:path>
            </a:pathLst>
          </a:custGeom>
          <a:solidFill>
            <a:srgbClr val="4A6C8C"/>
          </a:solidFill>
          <a:ln/>
        </p:spPr>
      </p:sp>
      <p:sp>
        <p:nvSpPr>
          <p:cNvPr id="16" name="Shape 14"/>
          <p:cNvSpPr/>
          <p:nvPr/>
        </p:nvSpPr>
        <p:spPr>
          <a:xfrm>
            <a:off x="815975" y="34290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150019" y="157163"/>
                </a:moveTo>
                <a:cubicBezTo>
                  <a:pt x="193417" y="157163"/>
                  <a:pt x="228600" y="121980"/>
                  <a:pt x="228600" y="78581"/>
                </a:cubicBezTo>
                <a:cubicBezTo>
                  <a:pt x="228600" y="35183"/>
                  <a:pt x="193417" y="0"/>
                  <a:pt x="150019" y="0"/>
                </a:cubicBezTo>
                <a:cubicBezTo>
                  <a:pt x="106620" y="0"/>
                  <a:pt x="71438" y="35183"/>
                  <a:pt x="71438" y="78581"/>
                </a:cubicBezTo>
                <a:cubicBezTo>
                  <a:pt x="71438" y="86931"/>
                  <a:pt x="72732" y="95012"/>
                  <a:pt x="75143" y="102557"/>
                </a:cubicBezTo>
                <a:lnTo>
                  <a:pt x="3125" y="174575"/>
                </a:lnTo>
                <a:cubicBezTo>
                  <a:pt x="1116" y="176585"/>
                  <a:pt x="0" y="179308"/>
                  <a:pt x="0" y="182166"/>
                </a:cubicBezTo>
                <a:lnTo>
                  <a:pt x="0" y="217884"/>
                </a:lnTo>
                <a:cubicBezTo>
                  <a:pt x="0" y="223823"/>
                  <a:pt x="4777" y="228600"/>
                  <a:pt x="10716" y="228600"/>
                </a:cubicBezTo>
                <a:lnTo>
                  <a:pt x="46434" y="228600"/>
                </a:lnTo>
                <a:cubicBezTo>
                  <a:pt x="52373" y="228600"/>
                  <a:pt x="57150" y="223823"/>
                  <a:pt x="57150" y="217884"/>
                </a:cubicBezTo>
                <a:lnTo>
                  <a:pt x="57150" y="200025"/>
                </a:lnTo>
                <a:lnTo>
                  <a:pt x="75009" y="200025"/>
                </a:lnTo>
                <a:cubicBezTo>
                  <a:pt x="80948" y="200025"/>
                  <a:pt x="85725" y="195248"/>
                  <a:pt x="85725" y="189309"/>
                </a:cubicBezTo>
                <a:lnTo>
                  <a:pt x="85725" y="171450"/>
                </a:lnTo>
                <a:lnTo>
                  <a:pt x="103584" y="171450"/>
                </a:lnTo>
                <a:cubicBezTo>
                  <a:pt x="106442" y="171450"/>
                  <a:pt x="109165" y="170334"/>
                  <a:pt x="111175" y="168325"/>
                </a:cubicBezTo>
                <a:lnTo>
                  <a:pt x="126043" y="153457"/>
                </a:lnTo>
                <a:cubicBezTo>
                  <a:pt x="133588" y="155868"/>
                  <a:pt x="141669" y="157163"/>
                  <a:pt x="150019" y="157163"/>
                </a:cubicBezTo>
                <a:close/>
                <a:moveTo>
                  <a:pt x="167878" y="42863"/>
                </a:moveTo>
                <a:cubicBezTo>
                  <a:pt x="177735" y="42863"/>
                  <a:pt x="185738" y="50865"/>
                  <a:pt x="185738" y="60722"/>
                </a:cubicBezTo>
                <a:cubicBezTo>
                  <a:pt x="185738" y="70579"/>
                  <a:pt x="177735" y="78581"/>
                  <a:pt x="167878" y="78581"/>
                </a:cubicBezTo>
                <a:cubicBezTo>
                  <a:pt x="158021" y="78581"/>
                  <a:pt x="150019" y="70579"/>
                  <a:pt x="150019" y="60722"/>
                </a:cubicBezTo>
                <a:cubicBezTo>
                  <a:pt x="150019" y="50865"/>
                  <a:pt x="158021" y="42863"/>
                  <a:pt x="167878" y="42863"/>
                </a:cubicBezTo>
                <a:close/>
              </a:path>
            </a:pathLst>
          </a:custGeom>
          <a:solidFill>
            <a:srgbClr val="E8E8E8"/>
          </a:solidFill>
          <a:ln/>
        </p:spPr>
      </p:sp>
      <p:sp>
        <p:nvSpPr>
          <p:cNvPr id="17" name="Text 15"/>
          <p:cNvSpPr/>
          <p:nvPr/>
        </p:nvSpPr>
        <p:spPr>
          <a:xfrm>
            <a:off x="1282700" y="3390900"/>
            <a:ext cx="13843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fr-FR" sz="1600" b="1" smtClean="0">
                <a:solidFill>
                  <a:srgbClr val="E8E8E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Détection Clé</a:t>
            </a:r>
            <a:endParaRPr lang="fr-FR" sz="1600" dirty="0"/>
          </a:p>
        </p:txBody>
      </p:sp>
      <p:sp>
        <p:nvSpPr>
          <p:cNvPr id="18" name="Text 16"/>
          <p:cNvSpPr/>
          <p:nvPr/>
        </p:nvSpPr>
        <p:spPr>
          <a:xfrm>
            <a:off x="673100" y="3898900"/>
            <a:ext cx="38354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fr-FR" sz="1400" smtClean="0">
                <a:solidFill>
                  <a:srgbClr val="7D8A9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Vérification présence clé avant démarrage</a:t>
            </a:r>
            <a:endParaRPr lang="fr-FR" sz="1600" dirty="0"/>
          </a:p>
        </p:txBody>
      </p:sp>
      <p:sp>
        <p:nvSpPr>
          <p:cNvPr id="19" name="Shape 17"/>
          <p:cNvSpPr/>
          <p:nvPr/>
        </p:nvSpPr>
        <p:spPr>
          <a:xfrm>
            <a:off x="4686300" y="3130550"/>
            <a:ext cx="4064000" cy="1181100"/>
          </a:xfrm>
          <a:custGeom>
            <a:avLst/>
            <a:gdLst/>
            <a:ahLst/>
            <a:cxnLst/>
            <a:rect l="l" t="t" r="r" b="b"/>
            <a:pathLst>
              <a:path w="4064000" h="1181100">
                <a:moveTo>
                  <a:pt x="101598" y="0"/>
                </a:moveTo>
                <a:lnTo>
                  <a:pt x="3962402" y="0"/>
                </a:lnTo>
                <a:cubicBezTo>
                  <a:pt x="4018513" y="0"/>
                  <a:pt x="4064000" y="45487"/>
                  <a:pt x="4064000" y="101598"/>
                </a:cubicBezTo>
                <a:lnTo>
                  <a:pt x="4064000" y="1079502"/>
                </a:lnTo>
                <a:cubicBezTo>
                  <a:pt x="4064000" y="1135613"/>
                  <a:pt x="4018513" y="1181100"/>
                  <a:pt x="3962402" y="1181100"/>
                </a:cubicBezTo>
                <a:lnTo>
                  <a:pt x="101598" y="1181100"/>
                </a:lnTo>
                <a:cubicBezTo>
                  <a:pt x="45487" y="1181100"/>
                  <a:pt x="0" y="1135613"/>
                  <a:pt x="0" y="1079502"/>
                </a:cubicBezTo>
                <a:lnTo>
                  <a:pt x="0" y="101598"/>
                </a:lnTo>
                <a:cubicBezTo>
                  <a:pt x="0" y="45525"/>
                  <a:pt x="45525" y="0"/>
                  <a:pt x="101598" y="0"/>
                </a:cubicBezTo>
                <a:close/>
              </a:path>
            </a:pathLst>
          </a:custGeom>
          <a:solidFill>
            <a:srgbClr val="4A6C8C">
              <a:alpha val="10196"/>
            </a:srgbClr>
          </a:solidFill>
          <a:ln w="12700">
            <a:solidFill>
              <a:srgbClr val="4A6C8C">
                <a:alpha val="40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845050" y="3289300"/>
            <a:ext cx="508000" cy="508000"/>
          </a:xfrm>
          <a:custGeom>
            <a:avLst/>
            <a:gdLst/>
            <a:ahLst/>
            <a:cxnLst/>
            <a:rect l="l" t="t" r="r" b="b"/>
            <a:pathLst>
              <a:path w="508000" h="508000">
                <a:moveTo>
                  <a:pt x="254000" y="0"/>
                </a:moveTo>
                <a:lnTo>
                  <a:pt x="254000" y="0"/>
                </a:lnTo>
                <a:cubicBezTo>
                  <a:pt x="394186" y="0"/>
                  <a:pt x="508000" y="113814"/>
                  <a:pt x="508000" y="254000"/>
                </a:cubicBezTo>
                <a:lnTo>
                  <a:pt x="508000" y="254000"/>
                </a:lnTo>
                <a:cubicBezTo>
                  <a:pt x="508000" y="394186"/>
                  <a:pt x="394186" y="508000"/>
                  <a:pt x="254000" y="508000"/>
                </a:cubicBezTo>
                <a:lnTo>
                  <a:pt x="254000" y="508000"/>
                </a:lnTo>
                <a:cubicBezTo>
                  <a:pt x="113814" y="508000"/>
                  <a:pt x="0" y="394186"/>
                  <a:pt x="0" y="254000"/>
                </a:cubicBezTo>
                <a:lnTo>
                  <a:pt x="0" y="254000"/>
                </a:lnTo>
                <a:cubicBezTo>
                  <a:pt x="0" y="113814"/>
                  <a:pt x="113814" y="0"/>
                  <a:pt x="254000" y="0"/>
                </a:cubicBezTo>
                <a:close/>
              </a:path>
            </a:pathLst>
          </a:custGeom>
          <a:solidFill>
            <a:srgbClr val="4A6C8C"/>
          </a:solidFill>
          <a:ln/>
        </p:spPr>
      </p:sp>
      <p:sp>
        <p:nvSpPr>
          <p:cNvPr id="21" name="Shape 19"/>
          <p:cNvSpPr/>
          <p:nvPr/>
        </p:nvSpPr>
        <p:spPr>
          <a:xfrm>
            <a:off x="4987925" y="34290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224403" y="181541"/>
                </a:moveTo>
                <a:lnTo>
                  <a:pt x="181541" y="224403"/>
                </a:lnTo>
                <a:cubicBezTo>
                  <a:pt x="177433" y="228511"/>
                  <a:pt x="171316" y="229716"/>
                  <a:pt x="165958" y="227484"/>
                </a:cubicBezTo>
                <a:cubicBezTo>
                  <a:pt x="160600" y="225251"/>
                  <a:pt x="157163" y="220072"/>
                  <a:pt x="157163" y="214313"/>
                </a:cubicBezTo>
                <a:lnTo>
                  <a:pt x="157163" y="185738"/>
                </a:lnTo>
                <a:lnTo>
                  <a:pt x="14288" y="185738"/>
                </a:lnTo>
                <a:cubicBezTo>
                  <a:pt x="6385" y="185738"/>
                  <a:pt x="0" y="179353"/>
                  <a:pt x="0" y="171450"/>
                </a:cubicBezTo>
                <a:cubicBezTo>
                  <a:pt x="0" y="163547"/>
                  <a:pt x="6385" y="157163"/>
                  <a:pt x="14288" y="157163"/>
                </a:cubicBezTo>
                <a:lnTo>
                  <a:pt x="157163" y="157163"/>
                </a:lnTo>
                <a:lnTo>
                  <a:pt x="157163" y="128588"/>
                </a:lnTo>
                <a:cubicBezTo>
                  <a:pt x="157163" y="122828"/>
                  <a:pt x="160645" y="117604"/>
                  <a:pt x="166003" y="115372"/>
                </a:cubicBezTo>
                <a:cubicBezTo>
                  <a:pt x="171361" y="113139"/>
                  <a:pt x="177478" y="114389"/>
                  <a:pt x="181585" y="118452"/>
                </a:cubicBezTo>
                <a:lnTo>
                  <a:pt x="224448" y="161315"/>
                </a:lnTo>
                <a:cubicBezTo>
                  <a:pt x="230029" y="166896"/>
                  <a:pt x="230029" y="175959"/>
                  <a:pt x="224448" y="181541"/>
                </a:cubicBezTo>
                <a:close/>
                <a:moveTo>
                  <a:pt x="4197" y="67241"/>
                </a:moveTo>
                <a:cubicBezTo>
                  <a:pt x="-1384" y="61659"/>
                  <a:pt x="-1384" y="52596"/>
                  <a:pt x="4197" y="47015"/>
                </a:cubicBezTo>
                <a:lnTo>
                  <a:pt x="47059" y="4152"/>
                </a:lnTo>
                <a:cubicBezTo>
                  <a:pt x="51167" y="45"/>
                  <a:pt x="57284" y="-1161"/>
                  <a:pt x="62642" y="1072"/>
                </a:cubicBezTo>
                <a:cubicBezTo>
                  <a:pt x="68000" y="3304"/>
                  <a:pt x="71438" y="8528"/>
                  <a:pt x="71438" y="14288"/>
                </a:cubicBezTo>
                <a:lnTo>
                  <a:pt x="71438" y="42863"/>
                </a:lnTo>
                <a:lnTo>
                  <a:pt x="214313" y="42863"/>
                </a:lnTo>
                <a:cubicBezTo>
                  <a:pt x="222215" y="42863"/>
                  <a:pt x="228600" y="49247"/>
                  <a:pt x="228600" y="57150"/>
                </a:cubicBezTo>
                <a:cubicBezTo>
                  <a:pt x="228600" y="65053"/>
                  <a:pt x="222215" y="71438"/>
                  <a:pt x="214313" y="71438"/>
                </a:cubicBezTo>
                <a:lnTo>
                  <a:pt x="71438" y="71438"/>
                </a:lnTo>
                <a:lnTo>
                  <a:pt x="71438" y="100013"/>
                </a:lnTo>
                <a:cubicBezTo>
                  <a:pt x="71438" y="105772"/>
                  <a:pt x="67955" y="110996"/>
                  <a:pt x="62597" y="113228"/>
                </a:cubicBezTo>
                <a:cubicBezTo>
                  <a:pt x="57239" y="115461"/>
                  <a:pt x="51122" y="114211"/>
                  <a:pt x="47015" y="110148"/>
                </a:cubicBezTo>
                <a:lnTo>
                  <a:pt x="4152" y="67285"/>
                </a:lnTo>
                <a:close/>
              </a:path>
            </a:pathLst>
          </a:custGeom>
          <a:solidFill>
            <a:srgbClr val="E8E8E8"/>
          </a:solidFill>
          <a:ln/>
        </p:spPr>
      </p:sp>
      <p:sp>
        <p:nvSpPr>
          <p:cNvPr id="22" name="Text 20"/>
          <p:cNvSpPr/>
          <p:nvPr/>
        </p:nvSpPr>
        <p:spPr>
          <a:xfrm>
            <a:off x="5454650" y="3390900"/>
            <a:ext cx="14986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fr-FR" sz="1600" b="1" smtClean="0">
                <a:solidFill>
                  <a:srgbClr val="E8E8E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Fins de Course</a:t>
            </a:r>
            <a:endParaRPr lang="fr-FR" sz="1600" dirty="0"/>
          </a:p>
        </p:txBody>
      </p:sp>
      <p:sp>
        <p:nvSpPr>
          <p:cNvPr id="23" name="Text 21"/>
          <p:cNvSpPr/>
          <p:nvPr/>
        </p:nvSpPr>
        <p:spPr>
          <a:xfrm>
            <a:off x="4845050" y="3898900"/>
            <a:ext cx="38354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fr-FR" sz="1400" smtClean="0">
                <a:solidFill>
                  <a:srgbClr val="7D8A9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Surveillance position vérin AV/AR</a:t>
            </a:r>
            <a:endParaRPr lang="fr-FR" sz="1600" dirty="0"/>
          </a:p>
        </p:txBody>
      </p:sp>
      <p:sp>
        <p:nvSpPr>
          <p:cNvPr id="24" name="Shape 22"/>
          <p:cNvSpPr/>
          <p:nvPr/>
        </p:nvSpPr>
        <p:spPr>
          <a:xfrm>
            <a:off x="514350" y="4425950"/>
            <a:ext cx="2667000" cy="1333500"/>
          </a:xfrm>
          <a:custGeom>
            <a:avLst/>
            <a:gdLst/>
            <a:ahLst/>
            <a:cxnLst/>
            <a:rect l="l" t="t" r="r" b="b"/>
            <a:pathLst>
              <a:path w="2667000" h="1333500">
                <a:moveTo>
                  <a:pt x="101599" y="0"/>
                </a:moveTo>
                <a:lnTo>
                  <a:pt x="2565401" y="0"/>
                </a:lnTo>
                <a:cubicBezTo>
                  <a:pt x="2621512" y="0"/>
                  <a:pt x="2667000" y="45488"/>
                  <a:pt x="2667000" y="101599"/>
                </a:cubicBezTo>
                <a:lnTo>
                  <a:pt x="2667000" y="1231901"/>
                </a:lnTo>
                <a:cubicBezTo>
                  <a:pt x="2667000" y="1288012"/>
                  <a:pt x="2621512" y="1333500"/>
                  <a:pt x="2565401" y="1333500"/>
                </a:cubicBezTo>
                <a:lnTo>
                  <a:pt x="101599" y="1333500"/>
                </a:lnTo>
                <a:cubicBezTo>
                  <a:pt x="45488" y="1333500"/>
                  <a:pt x="0" y="1288012"/>
                  <a:pt x="0" y="1231901"/>
                </a:cubicBezTo>
                <a:lnTo>
                  <a:pt x="0" y="101599"/>
                </a:lnTo>
                <a:cubicBezTo>
                  <a:pt x="0" y="45525"/>
                  <a:pt x="45525" y="0"/>
                  <a:pt x="101599" y="0"/>
                </a:cubicBezTo>
                <a:close/>
              </a:path>
            </a:pathLst>
          </a:custGeom>
          <a:solidFill>
            <a:srgbClr val="4A6C8C">
              <a:alpha val="10196"/>
            </a:srgbClr>
          </a:solidFill>
          <a:ln w="12700">
            <a:solidFill>
              <a:srgbClr val="4A6C8C">
                <a:alpha val="30196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752600" y="4584700"/>
            <a:ext cx="190500" cy="304800"/>
          </a:xfrm>
          <a:custGeom>
            <a:avLst/>
            <a:gdLst/>
            <a:ahLst/>
            <a:cxnLst/>
            <a:rect l="l" t="t" r="r" b="b"/>
            <a:pathLst>
              <a:path w="190500" h="304800">
                <a:moveTo>
                  <a:pt x="95250" y="0"/>
                </a:moveTo>
                <a:cubicBezTo>
                  <a:pt x="63698" y="0"/>
                  <a:pt x="38100" y="25598"/>
                  <a:pt x="38100" y="57150"/>
                </a:cubicBezTo>
                <a:lnTo>
                  <a:pt x="38100" y="155198"/>
                </a:lnTo>
                <a:cubicBezTo>
                  <a:pt x="20538" y="170855"/>
                  <a:pt x="9525" y="193715"/>
                  <a:pt x="9525" y="219075"/>
                </a:cubicBezTo>
                <a:cubicBezTo>
                  <a:pt x="9525" y="266402"/>
                  <a:pt x="47923" y="304800"/>
                  <a:pt x="95250" y="304800"/>
                </a:cubicBezTo>
                <a:cubicBezTo>
                  <a:pt x="142577" y="304800"/>
                  <a:pt x="180975" y="266402"/>
                  <a:pt x="180975" y="219075"/>
                </a:cubicBezTo>
                <a:cubicBezTo>
                  <a:pt x="180975" y="193715"/>
                  <a:pt x="169962" y="170855"/>
                  <a:pt x="152400" y="155198"/>
                </a:cubicBezTo>
                <a:lnTo>
                  <a:pt x="152400" y="57150"/>
                </a:lnTo>
                <a:cubicBezTo>
                  <a:pt x="152400" y="25598"/>
                  <a:pt x="126802" y="0"/>
                  <a:pt x="95250" y="0"/>
                </a:cubicBezTo>
                <a:close/>
                <a:moveTo>
                  <a:pt x="133350" y="219075"/>
                </a:moveTo>
                <a:cubicBezTo>
                  <a:pt x="133350" y="240090"/>
                  <a:pt x="116265" y="257175"/>
                  <a:pt x="95250" y="257175"/>
                </a:cubicBezTo>
                <a:cubicBezTo>
                  <a:pt x="74235" y="257175"/>
                  <a:pt x="57150" y="240090"/>
                  <a:pt x="57150" y="219075"/>
                </a:cubicBezTo>
                <a:cubicBezTo>
                  <a:pt x="57150" y="203061"/>
                  <a:pt x="66973" y="189369"/>
                  <a:pt x="80962" y="183773"/>
                </a:cubicBezTo>
                <a:lnTo>
                  <a:pt x="80962" y="128588"/>
                </a:lnTo>
                <a:cubicBezTo>
                  <a:pt x="80962" y="120670"/>
                  <a:pt x="87332" y="114300"/>
                  <a:pt x="95250" y="114300"/>
                </a:cubicBezTo>
                <a:cubicBezTo>
                  <a:pt x="103168" y="114300"/>
                  <a:pt x="109537" y="120670"/>
                  <a:pt x="109537" y="128588"/>
                </a:cubicBezTo>
                <a:lnTo>
                  <a:pt x="109537" y="183773"/>
                </a:lnTo>
                <a:cubicBezTo>
                  <a:pt x="123527" y="189428"/>
                  <a:pt x="133350" y="203121"/>
                  <a:pt x="133350" y="219075"/>
                </a:cubicBezTo>
                <a:close/>
              </a:path>
            </a:pathLst>
          </a:custGeom>
          <a:solidFill>
            <a:srgbClr val="E89F5B"/>
          </a:solidFill>
          <a:ln/>
        </p:spPr>
      </p:sp>
      <p:sp>
        <p:nvSpPr>
          <p:cNvPr id="26" name="Text 24"/>
          <p:cNvSpPr/>
          <p:nvPr/>
        </p:nvSpPr>
        <p:spPr>
          <a:xfrm>
            <a:off x="622300" y="4991100"/>
            <a:ext cx="24511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fr-FR" sz="1600" b="1" smtClean="0">
                <a:solidFill>
                  <a:srgbClr val="E8E8E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Température</a:t>
            </a:r>
            <a:endParaRPr lang="fr-FR" sz="1600" dirty="0"/>
          </a:p>
        </p:txBody>
      </p:sp>
      <p:sp>
        <p:nvSpPr>
          <p:cNvPr id="27" name="Text 25"/>
          <p:cNvSpPr/>
          <p:nvPr/>
        </p:nvSpPr>
        <p:spPr>
          <a:xfrm>
            <a:off x="628650" y="5346700"/>
            <a:ext cx="24384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fr-FR" sz="1400" smtClean="0">
                <a:solidFill>
                  <a:srgbClr val="7D8A9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Surveillance continue</a:t>
            </a:r>
            <a:endParaRPr lang="fr-FR" sz="1600" dirty="0"/>
          </a:p>
        </p:txBody>
      </p:sp>
      <p:sp>
        <p:nvSpPr>
          <p:cNvPr id="28" name="Shape 26"/>
          <p:cNvSpPr/>
          <p:nvPr/>
        </p:nvSpPr>
        <p:spPr>
          <a:xfrm>
            <a:off x="3295650" y="4425950"/>
            <a:ext cx="2667000" cy="1333500"/>
          </a:xfrm>
          <a:custGeom>
            <a:avLst/>
            <a:gdLst/>
            <a:ahLst/>
            <a:cxnLst/>
            <a:rect l="l" t="t" r="r" b="b"/>
            <a:pathLst>
              <a:path w="2667000" h="1333500">
                <a:moveTo>
                  <a:pt x="101599" y="0"/>
                </a:moveTo>
                <a:lnTo>
                  <a:pt x="2565401" y="0"/>
                </a:lnTo>
                <a:cubicBezTo>
                  <a:pt x="2621512" y="0"/>
                  <a:pt x="2667000" y="45488"/>
                  <a:pt x="2667000" y="101599"/>
                </a:cubicBezTo>
                <a:lnTo>
                  <a:pt x="2667000" y="1231901"/>
                </a:lnTo>
                <a:cubicBezTo>
                  <a:pt x="2667000" y="1288012"/>
                  <a:pt x="2621512" y="1333500"/>
                  <a:pt x="2565401" y="1333500"/>
                </a:cubicBezTo>
                <a:lnTo>
                  <a:pt x="101599" y="1333500"/>
                </a:lnTo>
                <a:cubicBezTo>
                  <a:pt x="45488" y="1333500"/>
                  <a:pt x="0" y="1288012"/>
                  <a:pt x="0" y="1231901"/>
                </a:cubicBezTo>
                <a:lnTo>
                  <a:pt x="0" y="101599"/>
                </a:lnTo>
                <a:cubicBezTo>
                  <a:pt x="0" y="45525"/>
                  <a:pt x="45525" y="0"/>
                  <a:pt x="101599" y="0"/>
                </a:cubicBezTo>
                <a:close/>
              </a:path>
            </a:pathLst>
          </a:custGeom>
          <a:solidFill>
            <a:srgbClr val="4A6C8C">
              <a:alpha val="10196"/>
            </a:srgbClr>
          </a:solidFill>
          <a:ln w="12700">
            <a:solidFill>
              <a:srgbClr val="4A6C8C">
                <a:alpha val="30196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495800" y="4584700"/>
            <a:ext cx="266700" cy="304800"/>
          </a:xfrm>
          <a:custGeom>
            <a:avLst/>
            <a:gdLst/>
            <a:ahLst/>
            <a:cxnLst/>
            <a:rect l="l" t="t" r="r" b="b"/>
            <a:pathLst>
              <a:path w="266700" h="304800">
                <a:moveTo>
                  <a:pt x="201692" y="-5894"/>
                </a:moveTo>
                <a:cubicBezTo>
                  <a:pt x="208776" y="-774"/>
                  <a:pt x="211395" y="8513"/>
                  <a:pt x="208181" y="16609"/>
                </a:cubicBezTo>
                <a:lnTo>
                  <a:pt x="161508" y="133350"/>
                </a:lnTo>
                <a:lnTo>
                  <a:pt x="247650" y="133350"/>
                </a:lnTo>
                <a:cubicBezTo>
                  <a:pt x="255687" y="133350"/>
                  <a:pt x="262830" y="138351"/>
                  <a:pt x="265569" y="145911"/>
                </a:cubicBezTo>
                <a:cubicBezTo>
                  <a:pt x="268307" y="153472"/>
                  <a:pt x="265986" y="161925"/>
                  <a:pt x="259854" y="167045"/>
                </a:cubicBezTo>
                <a:lnTo>
                  <a:pt x="88404" y="309920"/>
                </a:lnTo>
                <a:cubicBezTo>
                  <a:pt x="81677" y="315516"/>
                  <a:pt x="72092" y="315813"/>
                  <a:pt x="65008" y="310694"/>
                </a:cubicBezTo>
                <a:cubicBezTo>
                  <a:pt x="57924" y="305574"/>
                  <a:pt x="55305" y="296287"/>
                  <a:pt x="58519" y="288191"/>
                </a:cubicBezTo>
                <a:lnTo>
                  <a:pt x="105192" y="171450"/>
                </a:lnTo>
                <a:lnTo>
                  <a:pt x="19050" y="171450"/>
                </a:lnTo>
                <a:cubicBezTo>
                  <a:pt x="11013" y="171450"/>
                  <a:pt x="3870" y="166449"/>
                  <a:pt x="1131" y="158889"/>
                </a:cubicBezTo>
                <a:cubicBezTo>
                  <a:pt x="-1607" y="151328"/>
                  <a:pt x="714" y="142875"/>
                  <a:pt x="6846" y="137755"/>
                </a:cubicBezTo>
                <a:lnTo>
                  <a:pt x="178296" y="-5120"/>
                </a:lnTo>
                <a:cubicBezTo>
                  <a:pt x="185023" y="-10716"/>
                  <a:pt x="194608" y="-11013"/>
                  <a:pt x="201692" y="-5894"/>
                </a:cubicBezTo>
                <a:close/>
              </a:path>
            </a:pathLst>
          </a:custGeom>
          <a:solidFill>
            <a:srgbClr val="E89F5B"/>
          </a:solidFill>
          <a:ln/>
        </p:spPr>
      </p:sp>
      <p:sp>
        <p:nvSpPr>
          <p:cNvPr id="30" name="Text 28"/>
          <p:cNvSpPr/>
          <p:nvPr/>
        </p:nvSpPr>
        <p:spPr>
          <a:xfrm>
            <a:off x="3403600" y="4991100"/>
            <a:ext cx="24511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fr-FR" sz="1600" b="1" smtClean="0">
                <a:solidFill>
                  <a:srgbClr val="E8E8E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Surcharge</a:t>
            </a:r>
            <a:endParaRPr lang="fr-FR" sz="1600" dirty="0"/>
          </a:p>
        </p:txBody>
      </p:sp>
      <p:sp>
        <p:nvSpPr>
          <p:cNvPr id="31" name="Text 29"/>
          <p:cNvSpPr/>
          <p:nvPr/>
        </p:nvSpPr>
        <p:spPr>
          <a:xfrm>
            <a:off x="3409950" y="5346700"/>
            <a:ext cx="24384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fr-FR" sz="1400" smtClean="0">
                <a:solidFill>
                  <a:srgbClr val="7D8A9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Protection moteur</a:t>
            </a:r>
            <a:endParaRPr lang="fr-FR" sz="1600" dirty="0"/>
          </a:p>
        </p:txBody>
      </p:sp>
      <p:sp>
        <p:nvSpPr>
          <p:cNvPr id="32" name="Shape 30"/>
          <p:cNvSpPr/>
          <p:nvPr/>
        </p:nvSpPr>
        <p:spPr>
          <a:xfrm>
            <a:off x="6076950" y="4425950"/>
            <a:ext cx="2667000" cy="1333500"/>
          </a:xfrm>
          <a:custGeom>
            <a:avLst/>
            <a:gdLst/>
            <a:ahLst/>
            <a:cxnLst/>
            <a:rect l="l" t="t" r="r" b="b"/>
            <a:pathLst>
              <a:path w="2667000" h="1333500">
                <a:moveTo>
                  <a:pt x="101599" y="0"/>
                </a:moveTo>
                <a:lnTo>
                  <a:pt x="2565401" y="0"/>
                </a:lnTo>
                <a:cubicBezTo>
                  <a:pt x="2621512" y="0"/>
                  <a:pt x="2667000" y="45488"/>
                  <a:pt x="2667000" y="101599"/>
                </a:cubicBezTo>
                <a:lnTo>
                  <a:pt x="2667000" y="1231901"/>
                </a:lnTo>
                <a:cubicBezTo>
                  <a:pt x="2667000" y="1288012"/>
                  <a:pt x="2621512" y="1333500"/>
                  <a:pt x="2565401" y="1333500"/>
                </a:cubicBezTo>
                <a:lnTo>
                  <a:pt x="101599" y="1333500"/>
                </a:lnTo>
                <a:cubicBezTo>
                  <a:pt x="45488" y="1333500"/>
                  <a:pt x="0" y="1288012"/>
                  <a:pt x="0" y="1231901"/>
                </a:cubicBezTo>
                <a:lnTo>
                  <a:pt x="0" y="101599"/>
                </a:lnTo>
                <a:cubicBezTo>
                  <a:pt x="0" y="45525"/>
                  <a:pt x="45525" y="0"/>
                  <a:pt x="101599" y="0"/>
                </a:cubicBezTo>
                <a:close/>
              </a:path>
            </a:pathLst>
          </a:custGeom>
          <a:solidFill>
            <a:srgbClr val="4A6C8C">
              <a:alpha val="10196"/>
            </a:srgbClr>
          </a:solidFill>
          <a:ln w="12700">
            <a:solidFill>
              <a:srgbClr val="4A6C8C">
                <a:alpha val="30196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239000" y="4584700"/>
            <a:ext cx="342900" cy="304800"/>
          </a:xfrm>
          <a:custGeom>
            <a:avLst/>
            <a:gdLst/>
            <a:ahLst/>
            <a:cxnLst/>
            <a:rect l="l" t="t" r="r" b="b"/>
            <a:pathLst>
              <a:path w="342900" h="304800">
                <a:moveTo>
                  <a:pt x="147638" y="52388"/>
                </a:moveTo>
                <a:lnTo>
                  <a:pt x="195263" y="52388"/>
                </a:lnTo>
                <a:lnTo>
                  <a:pt x="195263" y="80962"/>
                </a:lnTo>
                <a:lnTo>
                  <a:pt x="147638" y="80962"/>
                </a:lnTo>
                <a:lnTo>
                  <a:pt x="147638" y="52388"/>
                </a:lnTo>
                <a:close/>
                <a:moveTo>
                  <a:pt x="142875" y="19050"/>
                </a:moveTo>
                <a:cubicBezTo>
                  <a:pt x="127099" y="19050"/>
                  <a:pt x="114300" y="31849"/>
                  <a:pt x="114300" y="47625"/>
                </a:cubicBezTo>
                <a:lnTo>
                  <a:pt x="114300" y="85725"/>
                </a:lnTo>
                <a:cubicBezTo>
                  <a:pt x="114300" y="101501"/>
                  <a:pt x="127099" y="114300"/>
                  <a:pt x="142875" y="114300"/>
                </a:cubicBezTo>
                <a:lnTo>
                  <a:pt x="152400" y="114300"/>
                </a:lnTo>
                <a:lnTo>
                  <a:pt x="152400" y="133350"/>
                </a:lnTo>
                <a:lnTo>
                  <a:pt x="19050" y="133350"/>
                </a:lnTo>
                <a:cubicBezTo>
                  <a:pt x="8513" y="133350"/>
                  <a:pt x="0" y="141863"/>
                  <a:pt x="0" y="152400"/>
                </a:cubicBezTo>
                <a:cubicBezTo>
                  <a:pt x="0" y="162937"/>
                  <a:pt x="8513" y="171450"/>
                  <a:pt x="19050" y="171450"/>
                </a:cubicBezTo>
                <a:lnTo>
                  <a:pt x="76200" y="171450"/>
                </a:lnTo>
                <a:lnTo>
                  <a:pt x="76200" y="190500"/>
                </a:lnTo>
                <a:lnTo>
                  <a:pt x="66675" y="190500"/>
                </a:lnTo>
                <a:cubicBezTo>
                  <a:pt x="50899" y="190500"/>
                  <a:pt x="38100" y="203299"/>
                  <a:pt x="38100" y="219075"/>
                </a:cubicBezTo>
                <a:lnTo>
                  <a:pt x="38100" y="257175"/>
                </a:lnTo>
                <a:cubicBezTo>
                  <a:pt x="38100" y="272951"/>
                  <a:pt x="50899" y="285750"/>
                  <a:pt x="66675" y="285750"/>
                </a:cubicBezTo>
                <a:lnTo>
                  <a:pt x="123825" y="285750"/>
                </a:lnTo>
                <a:cubicBezTo>
                  <a:pt x="139601" y="285750"/>
                  <a:pt x="152400" y="272951"/>
                  <a:pt x="152400" y="257175"/>
                </a:cubicBezTo>
                <a:lnTo>
                  <a:pt x="152400" y="219075"/>
                </a:lnTo>
                <a:cubicBezTo>
                  <a:pt x="152400" y="203299"/>
                  <a:pt x="139601" y="190500"/>
                  <a:pt x="123825" y="190500"/>
                </a:cubicBezTo>
                <a:lnTo>
                  <a:pt x="114300" y="190500"/>
                </a:lnTo>
                <a:lnTo>
                  <a:pt x="114300" y="171450"/>
                </a:lnTo>
                <a:lnTo>
                  <a:pt x="228600" y="171450"/>
                </a:lnTo>
                <a:lnTo>
                  <a:pt x="228600" y="190500"/>
                </a:lnTo>
                <a:lnTo>
                  <a:pt x="219075" y="190500"/>
                </a:lnTo>
                <a:cubicBezTo>
                  <a:pt x="203299" y="190500"/>
                  <a:pt x="190500" y="203299"/>
                  <a:pt x="190500" y="219075"/>
                </a:cubicBezTo>
                <a:lnTo>
                  <a:pt x="190500" y="257175"/>
                </a:lnTo>
                <a:cubicBezTo>
                  <a:pt x="190500" y="272951"/>
                  <a:pt x="203299" y="285750"/>
                  <a:pt x="219075" y="285750"/>
                </a:cubicBezTo>
                <a:lnTo>
                  <a:pt x="276225" y="285750"/>
                </a:lnTo>
                <a:cubicBezTo>
                  <a:pt x="292001" y="285750"/>
                  <a:pt x="304800" y="272951"/>
                  <a:pt x="304800" y="257175"/>
                </a:cubicBezTo>
                <a:lnTo>
                  <a:pt x="304800" y="219075"/>
                </a:lnTo>
                <a:cubicBezTo>
                  <a:pt x="304800" y="203299"/>
                  <a:pt x="292001" y="190500"/>
                  <a:pt x="276225" y="190500"/>
                </a:cubicBezTo>
                <a:lnTo>
                  <a:pt x="266700" y="190500"/>
                </a:lnTo>
                <a:lnTo>
                  <a:pt x="266700" y="171450"/>
                </a:lnTo>
                <a:lnTo>
                  <a:pt x="323850" y="171450"/>
                </a:lnTo>
                <a:cubicBezTo>
                  <a:pt x="334387" y="171450"/>
                  <a:pt x="342900" y="162937"/>
                  <a:pt x="342900" y="152400"/>
                </a:cubicBezTo>
                <a:cubicBezTo>
                  <a:pt x="342900" y="141863"/>
                  <a:pt x="334387" y="133350"/>
                  <a:pt x="323850" y="133350"/>
                </a:cubicBezTo>
                <a:lnTo>
                  <a:pt x="190500" y="133350"/>
                </a:lnTo>
                <a:lnTo>
                  <a:pt x="190500" y="114300"/>
                </a:lnTo>
                <a:lnTo>
                  <a:pt x="200025" y="114300"/>
                </a:lnTo>
                <a:cubicBezTo>
                  <a:pt x="215801" y="114300"/>
                  <a:pt x="228600" y="101501"/>
                  <a:pt x="228600" y="85725"/>
                </a:cubicBezTo>
                <a:lnTo>
                  <a:pt x="228600" y="47625"/>
                </a:lnTo>
                <a:cubicBezTo>
                  <a:pt x="228600" y="31849"/>
                  <a:pt x="215801" y="19050"/>
                  <a:pt x="200025" y="19050"/>
                </a:cubicBezTo>
                <a:lnTo>
                  <a:pt x="142875" y="19050"/>
                </a:lnTo>
                <a:close/>
                <a:moveTo>
                  <a:pt x="266700" y="223838"/>
                </a:moveTo>
                <a:lnTo>
                  <a:pt x="271463" y="223838"/>
                </a:lnTo>
                <a:lnTo>
                  <a:pt x="271463" y="252413"/>
                </a:lnTo>
                <a:lnTo>
                  <a:pt x="223838" y="252413"/>
                </a:lnTo>
                <a:lnTo>
                  <a:pt x="223838" y="223838"/>
                </a:lnTo>
                <a:lnTo>
                  <a:pt x="266700" y="223838"/>
                </a:lnTo>
                <a:close/>
                <a:moveTo>
                  <a:pt x="114300" y="223838"/>
                </a:moveTo>
                <a:lnTo>
                  <a:pt x="119062" y="223838"/>
                </a:lnTo>
                <a:lnTo>
                  <a:pt x="119062" y="252413"/>
                </a:lnTo>
                <a:lnTo>
                  <a:pt x="71438" y="252413"/>
                </a:lnTo>
                <a:lnTo>
                  <a:pt x="71438" y="223838"/>
                </a:lnTo>
                <a:lnTo>
                  <a:pt x="114300" y="223838"/>
                </a:lnTo>
                <a:close/>
              </a:path>
            </a:pathLst>
          </a:custGeom>
          <a:solidFill>
            <a:srgbClr val="E89F5B"/>
          </a:solidFill>
          <a:ln/>
        </p:spPr>
      </p:sp>
      <p:sp>
        <p:nvSpPr>
          <p:cNvPr id="34" name="Text 32"/>
          <p:cNvSpPr/>
          <p:nvPr/>
        </p:nvSpPr>
        <p:spPr>
          <a:xfrm>
            <a:off x="6184900" y="4991100"/>
            <a:ext cx="24511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fr-FR" sz="1600" b="1" smtClean="0">
                <a:solidFill>
                  <a:srgbClr val="E8E8E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Communication</a:t>
            </a:r>
            <a:endParaRPr lang="fr-FR" sz="1600" dirty="0"/>
          </a:p>
        </p:txBody>
      </p:sp>
      <p:sp>
        <p:nvSpPr>
          <p:cNvPr id="35" name="Text 33"/>
          <p:cNvSpPr/>
          <p:nvPr/>
        </p:nvSpPr>
        <p:spPr>
          <a:xfrm>
            <a:off x="6191250" y="5346700"/>
            <a:ext cx="24384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fr-FR" sz="1400" smtClean="0">
                <a:solidFill>
                  <a:srgbClr val="7D8A9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Liaison PC/API</a:t>
            </a:r>
            <a:endParaRPr lang="fr-FR" sz="1600" dirty="0"/>
          </a:p>
        </p:txBody>
      </p:sp>
      <p:sp>
        <p:nvSpPr>
          <p:cNvPr id="36" name="Shape 34"/>
          <p:cNvSpPr/>
          <p:nvPr/>
        </p:nvSpPr>
        <p:spPr>
          <a:xfrm>
            <a:off x="514350" y="5873750"/>
            <a:ext cx="8229600" cy="1333500"/>
          </a:xfrm>
          <a:custGeom>
            <a:avLst/>
            <a:gdLst/>
            <a:ahLst/>
            <a:cxnLst/>
            <a:rect l="l" t="t" r="r" b="b"/>
            <a:pathLst>
              <a:path w="8229600" h="1333500">
                <a:moveTo>
                  <a:pt x="101599" y="0"/>
                </a:moveTo>
                <a:lnTo>
                  <a:pt x="8128001" y="0"/>
                </a:lnTo>
                <a:cubicBezTo>
                  <a:pt x="8184112" y="0"/>
                  <a:pt x="8229600" y="45488"/>
                  <a:pt x="8229600" y="101599"/>
                </a:cubicBezTo>
                <a:lnTo>
                  <a:pt x="8229600" y="1231901"/>
                </a:lnTo>
                <a:cubicBezTo>
                  <a:pt x="8229600" y="1288012"/>
                  <a:pt x="8184112" y="1333500"/>
                  <a:pt x="8128001" y="1333500"/>
                </a:cubicBezTo>
                <a:lnTo>
                  <a:pt x="101599" y="1333500"/>
                </a:lnTo>
                <a:cubicBezTo>
                  <a:pt x="45488" y="1333500"/>
                  <a:pt x="0" y="1288012"/>
                  <a:pt x="0" y="1231901"/>
                </a:cubicBezTo>
                <a:lnTo>
                  <a:pt x="0" y="101599"/>
                </a:lnTo>
                <a:cubicBezTo>
                  <a:pt x="0" y="45525"/>
                  <a:pt x="45525" y="0"/>
                  <a:pt x="101599" y="0"/>
                </a:cubicBezTo>
                <a:close/>
              </a:path>
            </a:pathLst>
          </a:custGeom>
          <a:gradFill flip="none" rotWithShape="1">
            <a:gsLst>
              <a:gs pos="0">
                <a:srgbClr val="E89F5B">
                  <a:alpha val="20000"/>
                </a:srgbClr>
              </a:gs>
              <a:gs pos="100000">
                <a:srgbClr val="4A6C8C">
                  <a:alpha val="20000"/>
                </a:srgbClr>
              </a:gs>
            </a:gsLst>
            <a:lin ang="0" scaled="1"/>
          </a:gradFill>
          <a:ln w="12700">
            <a:solidFill>
              <a:srgbClr val="E89F5B">
                <a:alpha val="40000"/>
              </a:srgbClr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15950" y="6032500"/>
            <a:ext cx="80264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fr-FR" sz="1800" b="1" smtClean="0">
                <a:solidFill>
                  <a:srgbClr val="E8E8E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Gestion des Défauts</a:t>
            </a:r>
            <a:endParaRPr lang="fr-FR" sz="1600" dirty="0"/>
          </a:p>
        </p:txBody>
      </p:sp>
      <p:sp>
        <p:nvSpPr>
          <p:cNvPr id="38" name="Shape 36"/>
          <p:cNvSpPr/>
          <p:nvPr/>
        </p:nvSpPr>
        <p:spPr>
          <a:xfrm>
            <a:off x="673100" y="6565900"/>
            <a:ext cx="101600" cy="101600"/>
          </a:xfrm>
          <a:custGeom>
            <a:avLst/>
            <a:gdLst/>
            <a:ahLst/>
            <a:cxnLst/>
            <a:rect l="l" t="t" r="r" b="b"/>
            <a:pathLst>
              <a:path w="101600" h="101600">
                <a:moveTo>
                  <a:pt x="50800" y="0"/>
                </a:moveTo>
                <a:lnTo>
                  <a:pt x="50800" y="0"/>
                </a:lnTo>
                <a:cubicBezTo>
                  <a:pt x="78837" y="0"/>
                  <a:pt x="101600" y="22763"/>
                  <a:pt x="101600" y="50800"/>
                </a:cubicBezTo>
                <a:lnTo>
                  <a:pt x="101600" y="50800"/>
                </a:lnTo>
                <a:cubicBezTo>
                  <a:pt x="101600" y="78837"/>
                  <a:pt x="78837" y="101600"/>
                  <a:pt x="50800" y="101600"/>
                </a:cubicBezTo>
                <a:lnTo>
                  <a:pt x="50800" y="101600"/>
                </a:lnTo>
                <a:cubicBezTo>
                  <a:pt x="22763" y="101600"/>
                  <a:pt x="0" y="78837"/>
                  <a:pt x="0" y="50800"/>
                </a:cubicBezTo>
                <a:lnTo>
                  <a:pt x="0" y="50800"/>
                </a:lnTo>
                <a:cubicBezTo>
                  <a:pt x="0" y="22763"/>
                  <a:pt x="22763" y="0"/>
                  <a:pt x="50800" y="0"/>
                </a:cubicBezTo>
                <a:close/>
              </a:path>
            </a:pathLst>
          </a:custGeom>
          <a:solidFill>
            <a:srgbClr val="E89F5B"/>
          </a:solidFill>
          <a:ln/>
        </p:spPr>
      </p:sp>
      <p:sp>
        <p:nvSpPr>
          <p:cNvPr id="39" name="Text 37"/>
          <p:cNvSpPr/>
          <p:nvPr/>
        </p:nvSpPr>
        <p:spPr>
          <a:xfrm>
            <a:off x="876300" y="6489700"/>
            <a:ext cx="25908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fr-FR" sz="1400" smtClean="0">
                <a:solidFill>
                  <a:srgbClr val="7D8A9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Capot ouvert → Arrêt immédiat</a:t>
            </a:r>
            <a:endParaRPr lang="fr-FR" sz="1600" dirty="0"/>
          </a:p>
        </p:txBody>
      </p:sp>
      <p:sp>
        <p:nvSpPr>
          <p:cNvPr id="40" name="Shape 38"/>
          <p:cNvSpPr/>
          <p:nvPr/>
        </p:nvSpPr>
        <p:spPr>
          <a:xfrm>
            <a:off x="4730750" y="6565900"/>
            <a:ext cx="101600" cy="101600"/>
          </a:xfrm>
          <a:custGeom>
            <a:avLst/>
            <a:gdLst/>
            <a:ahLst/>
            <a:cxnLst/>
            <a:rect l="l" t="t" r="r" b="b"/>
            <a:pathLst>
              <a:path w="101600" h="101600">
                <a:moveTo>
                  <a:pt x="50800" y="0"/>
                </a:moveTo>
                <a:lnTo>
                  <a:pt x="50800" y="0"/>
                </a:lnTo>
                <a:cubicBezTo>
                  <a:pt x="78837" y="0"/>
                  <a:pt x="101600" y="22763"/>
                  <a:pt x="101600" y="50800"/>
                </a:cubicBezTo>
                <a:lnTo>
                  <a:pt x="101600" y="50800"/>
                </a:lnTo>
                <a:cubicBezTo>
                  <a:pt x="101600" y="78837"/>
                  <a:pt x="78837" y="101600"/>
                  <a:pt x="50800" y="101600"/>
                </a:cubicBezTo>
                <a:lnTo>
                  <a:pt x="50800" y="101600"/>
                </a:lnTo>
                <a:cubicBezTo>
                  <a:pt x="22763" y="101600"/>
                  <a:pt x="0" y="78837"/>
                  <a:pt x="0" y="50800"/>
                </a:cubicBezTo>
                <a:lnTo>
                  <a:pt x="0" y="50800"/>
                </a:lnTo>
                <a:cubicBezTo>
                  <a:pt x="0" y="22763"/>
                  <a:pt x="22763" y="0"/>
                  <a:pt x="50800" y="0"/>
                </a:cubicBezTo>
                <a:close/>
              </a:path>
            </a:pathLst>
          </a:custGeom>
          <a:solidFill>
            <a:srgbClr val="E89F5B"/>
          </a:solidFill>
          <a:ln/>
        </p:spPr>
      </p:sp>
      <p:sp>
        <p:nvSpPr>
          <p:cNvPr id="41" name="Text 39"/>
          <p:cNvSpPr/>
          <p:nvPr/>
        </p:nvSpPr>
        <p:spPr>
          <a:xfrm>
            <a:off x="4933950" y="6489700"/>
            <a:ext cx="23114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fr-FR" sz="1400" smtClean="0">
                <a:solidFill>
                  <a:srgbClr val="7D8A9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AU activé → Coupure totale</a:t>
            </a:r>
            <a:endParaRPr lang="fr-FR" sz="1600" dirty="0"/>
          </a:p>
        </p:txBody>
      </p:sp>
      <p:sp>
        <p:nvSpPr>
          <p:cNvPr id="42" name="Shape 40"/>
          <p:cNvSpPr/>
          <p:nvPr/>
        </p:nvSpPr>
        <p:spPr>
          <a:xfrm>
            <a:off x="673100" y="6870700"/>
            <a:ext cx="101600" cy="101600"/>
          </a:xfrm>
          <a:custGeom>
            <a:avLst/>
            <a:gdLst/>
            <a:ahLst/>
            <a:cxnLst/>
            <a:rect l="l" t="t" r="r" b="b"/>
            <a:pathLst>
              <a:path w="101600" h="101600">
                <a:moveTo>
                  <a:pt x="50800" y="0"/>
                </a:moveTo>
                <a:lnTo>
                  <a:pt x="50800" y="0"/>
                </a:lnTo>
                <a:cubicBezTo>
                  <a:pt x="78837" y="0"/>
                  <a:pt x="101600" y="22763"/>
                  <a:pt x="101600" y="50800"/>
                </a:cubicBezTo>
                <a:lnTo>
                  <a:pt x="101600" y="50800"/>
                </a:lnTo>
                <a:cubicBezTo>
                  <a:pt x="101600" y="78837"/>
                  <a:pt x="78837" y="101600"/>
                  <a:pt x="50800" y="101600"/>
                </a:cubicBezTo>
                <a:lnTo>
                  <a:pt x="50800" y="101600"/>
                </a:lnTo>
                <a:cubicBezTo>
                  <a:pt x="22763" y="101600"/>
                  <a:pt x="0" y="78837"/>
                  <a:pt x="0" y="50800"/>
                </a:cubicBezTo>
                <a:lnTo>
                  <a:pt x="0" y="50800"/>
                </a:lnTo>
                <a:cubicBezTo>
                  <a:pt x="0" y="22763"/>
                  <a:pt x="22763" y="0"/>
                  <a:pt x="50800" y="0"/>
                </a:cubicBezTo>
                <a:close/>
              </a:path>
            </a:pathLst>
          </a:custGeom>
          <a:solidFill>
            <a:srgbClr val="E89F5B"/>
          </a:solidFill>
          <a:ln/>
        </p:spPr>
      </p:sp>
      <p:sp>
        <p:nvSpPr>
          <p:cNvPr id="43" name="Text 41"/>
          <p:cNvSpPr/>
          <p:nvPr/>
        </p:nvSpPr>
        <p:spPr>
          <a:xfrm>
            <a:off x="876300" y="6794500"/>
            <a:ext cx="23368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fr-FR" sz="1400" smtClean="0">
                <a:solidFill>
                  <a:srgbClr val="7D8A9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Clé absente → Cycle bloqué</a:t>
            </a:r>
            <a:endParaRPr lang="fr-FR" sz="1600" dirty="0"/>
          </a:p>
        </p:txBody>
      </p:sp>
      <p:sp>
        <p:nvSpPr>
          <p:cNvPr id="44" name="Shape 42"/>
          <p:cNvSpPr/>
          <p:nvPr/>
        </p:nvSpPr>
        <p:spPr>
          <a:xfrm>
            <a:off x="4730750" y="6870700"/>
            <a:ext cx="101600" cy="101600"/>
          </a:xfrm>
          <a:custGeom>
            <a:avLst/>
            <a:gdLst/>
            <a:ahLst/>
            <a:cxnLst/>
            <a:rect l="l" t="t" r="r" b="b"/>
            <a:pathLst>
              <a:path w="101600" h="101600">
                <a:moveTo>
                  <a:pt x="50800" y="0"/>
                </a:moveTo>
                <a:lnTo>
                  <a:pt x="50800" y="0"/>
                </a:lnTo>
                <a:cubicBezTo>
                  <a:pt x="78837" y="0"/>
                  <a:pt x="101600" y="22763"/>
                  <a:pt x="101600" y="50800"/>
                </a:cubicBezTo>
                <a:lnTo>
                  <a:pt x="101600" y="50800"/>
                </a:lnTo>
                <a:cubicBezTo>
                  <a:pt x="101600" y="78837"/>
                  <a:pt x="78837" y="101600"/>
                  <a:pt x="50800" y="101600"/>
                </a:cubicBezTo>
                <a:lnTo>
                  <a:pt x="50800" y="101600"/>
                </a:lnTo>
                <a:cubicBezTo>
                  <a:pt x="22763" y="101600"/>
                  <a:pt x="0" y="78837"/>
                  <a:pt x="0" y="50800"/>
                </a:cubicBezTo>
                <a:lnTo>
                  <a:pt x="0" y="50800"/>
                </a:lnTo>
                <a:cubicBezTo>
                  <a:pt x="0" y="22763"/>
                  <a:pt x="22763" y="0"/>
                  <a:pt x="50800" y="0"/>
                </a:cubicBezTo>
                <a:close/>
              </a:path>
            </a:pathLst>
          </a:custGeom>
          <a:solidFill>
            <a:srgbClr val="E89F5B"/>
          </a:solidFill>
          <a:ln/>
        </p:spPr>
      </p:sp>
      <p:sp>
        <p:nvSpPr>
          <p:cNvPr id="45" name="Text 43"/>
          <p:cNvSpPr/>
          <p:nvPr/>
        </p:nvSpPr>
        <p:spPr>
          <a:xfrm>
            <a:off x="4933950" y="6794500"/>
            <a:ext cx="29972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fr-FR" sz="1400" smtClean="0">
                <a:solidFill>
                  <a:srgbClr val="7D8A9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FDC incohérents → Arrêt + message</a:t>
            </a:r>
            <a:endParaRPr lang="fr-FR" sz="1600" dirty="0"/>
          </a:p>
        </p:txBody>
      </p:sp>
      <p:sp>
        <p:nvSpPr>
          <p:cNvPr id="46" name="Shape 44"/>
          <p:cNvSpPr/>
          <p:nvPr/>
        </p:nvSpPr>
        <p:spPr>
          <a:xfrm>
            <a:off x="9105900" y="2882900"/>
            <a:ext cx="6731000" cy="3416300"/>
          </a:xfrm>
          <a:custGeom>
            <a:avLst/>
            <a:gdLst/>
            <a:ahLst/>
            <a:cxnLst/>
            <a:rect l="l" t="t" r="r" b="b"/>
            <a:pathLst>
              <a:path w="6731000" h="6731000">
                <a:moveTo>
                  <a:pt x="101571" y="0"/>
                </a:moveTo>
                <a:lnTo>
                  <a:pt x="6629429" y="0"/>
                </a:lnTo>
                <a:cubicBezTo>
                  <a:pt x="6685525" y="0"/>
                  <a:pt x="6731000" y="45475"/>
                  <a:pt x="6731000" y="101571"/>
                </a:cubicBezTo>
                <a:lnTo>
                  <a:pt x="6731000" y="6629429"/>
                </a:lnTo>
                <a:cubicBezTo>
                  <a:pt x="6731000" y="6685525"/>
                  <a:pt x="6685525" y="6731000"/>
                  <a:pt x="6629429" y="6731000"/>
                </a:cubicBezTo>
                <a:lnTo>
                  <a:pt x="101571" y="6731000"/>
                </a:lnTo>
                <a:cubicBezTo>
                  <a:pt x="45475" y="6731000"/>
                  <a:pt x="0" y="6685525"/>
                  <a:pt x="0" y="6629429"/>
                </a:cubicBezTo>
                <a:lnTo>
                  <a:pt x="0" y="101571"/>
                </a:lnTo>
                <a:cubicBezTo>
                  <a:pt x="0" y="45512"/>
                  <a:pt x="45512" y="0"/>
                  <a:pt x="101571" y="0"/>
                </a:cubicBezTo>
                <a:close/>
              </a:path>
            </a:pathLst>
          </a:custGeom>
          <a:solidFill>
            <a:srgbClr val="000000">
              <a:alpha val="0"/>
            </a:srgbClr>
          </a:solidFill>
          <a:ln w="12700">
            <a:solidFill>
              <a:srgbClr val="4A6C8C">
                <a:alpha val="30196"/>
              </a:srgbClr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9105900" y="2882900"/>
            <a:ext cx="6731000" cy="3416300"/>
          </a:xfrm>
          <a:custGeom>
            <a:avLst/>
            <a:gdLst/>
            <a:ahLst/>
            <a:cxnLst/>
            <a:rect l="l" t="t" r="r" b="b"/>
            <a:pathLst>
              <a:path w="6731000" h="3416300">
                <a:moveTo>
                  <a:pt x="101601" y="0"/>
                </a:moveTo>
                <a:lnTo>
                  <a:pt x="6629399" y="0"/>
                </a:lnTo>
                <a:cubicBezTo>
                  <a:pt x="6685512" y="0"/>
                  <a:pt x="6731000" y="45488"/>
                  <a:pt x="6731000" y="101601"/>
                </a:cubicBezTo>
                <a:lnTo>
                  <a:pt x="6731000" y="3314699"/>
                </a:lnTo>
                <a:cubicBezTo>
                  <a:pt x="6731000" y="3370812"/>
                  <a:pt x="6685512" y="3416300"/>
                  <a:pt x="6629399" y="3416300"/>
                </a:cubicBezTo>
                <a:lnTo>
                  <a:pt x="101601" y="3416300"/>
                </a:lnTo>
                <a:cubicBezTo>
                  <a:pt x="45488" y="3416300"/>
                  <a:pt x="0" y="3370812"/>
                  <a:pt x="0" y="3314699"/>
                </a:cubicBezTo>
                <a:lnTo>
                  <a:pt x="0" y="101601"/>
                </a:lnTo>
                <a:cubicBezTo>
                  <a:pt x="0" y="45526"/>
                  <a:pt x="45526" y="0"/>
                  <a:pt x="101601" y="0"/>
                </a:cubicBezTo>
                <a:close/>
              </a:path>
            </a:pathLst>
          </a:custGeom>
          <a:solidFill>
            <a:srgbClr val="4A6C8C">
              <a:alpha val="10196"/>
            </a:srgbClr>
          </a:solidFill>
          <a:ln w="12700">
            <a:solidFill>
              <a:srgbClr val="4A6C8C">
                <a:alpha val="30196"/>
              </a:srgbClr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9258300" y="3092450"/>
            <a:ext cx="64262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fr-FR" sz="1800" b="1" smtClean="0">
                <a:solidFill>
                  <a:srgbClr val="E8E8E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Architecture  Sécurité</a:t>
            </a:r>
            <a:endParaRPr lang="fr-FR" sz="1600" dirty="0"/>
          </a:p>
        </p:txBody>
      </p:sp>
      <p:sp>
        <p:nvSpPr>
          <p:cNvPr id="50" name="Shape 47"/>
          <p:cNvSpPr/>
          <p:nvPr/>
        </p:nvSpPr>
        <p:spPr>
          <a:xfrm>
            <a:off x="9315450" y="3600450"/>
            <a:ext cx="6311900" cy="762000"/>
          </a:xfrm>
          <a:custGeom>
            <a:avLst/>
            <a:gdLst/>
            <a:ahLst/>
            <a:cxnLst/>
            <a:rect l="l" t="t" r="r" b="b"/>
            <a:pathLst>
              <a:path w="6311900" h="762000">
                <a:moveTo>
                  <a:pt x="50803" y="0"/>
                </a:moveTo>
                <a:lnTo>
                  <a:pt x="6261097" y="0"/>
                </a:lnTo>
                <a:cubicBezTo>
                  <a:pt x="6289155" y="0"/>
                  <a:pt x="6311900" y="22745"/>
                  <a:pt x="6311900" y="50803"/>
                </a:cubicBezTo>
                <a:lnTo>
                  <a:pt x="6311900" y="711197"/>
                </a:lnTo>
                <a:cubicBezTo>
                  <a:pt x="6311900" y="739255"/>
                  <a:pt x="6289155" y="762000"/>
                  <a:pt x="6261097" y="762000"/>
                </a:cubicBezTo>
                <a:lnTo>
                  <a:pt x="50803" y="762000"/>
                </a:lnTo>
                <a:cubicBezTo>
                  <a:pt x="22745" y="762000"/>
                  <a:pt x="0" y="739255"/>
                  <a:pt x="0" y="711197"/>
                </a:cubicBezTo>
                <a:lnTo>
                  <a:pt x="0" y="50803"/>
                </a:lnTo>
                <a:cubicBezTo>
                  <a:pt x="0" y="22764"/>
                  <a:pt x="22764" y="0"/>
                  <a:pt x="50803" y="0"/>
                </a:cubicBezTo>
                <a:close/>
              </a:path>
            </a:pathLst>
          </a:custGeom>
          <a:solidFill>
            <a:srgbClr val="1A1D21"/>
          </a:solidFill>
          <a:ln/>
        </p:spPr>
      </p:sp>
      <p:sp>
        <p:nvSpPr>
          <p:cNvPr id="51" name="Shape 48"/>
          <p:cNvSpPr/>
          <p:nvPr/>
        </p:nvSpPr>
        <p:spPr>
          <a:xfrm>
            <a:off x="9417050" y="3778250"/>
            <a:ext cx="406400" cy="406400"/>
          </a:xfrm>
          <a:custGeom>
            <a:avLst/>
            <a:gdLst/>
            <a:ahLst/>
            <a:cxnLst/>
            <a:rect l="l" t="t" r="r" b="b"/>
            <a:pathLst>
              <a:path w="406400" h="406400">
                <a:moveTo>
                  <a:pt x="50800" y="0"/>
                </a:moveTo>
                <a:lnTo>
                  <a:pt x="355600" y="0"/>
                </a:lnTo>
                <a:cubicBezTo>
                  <a:pt x="383637" y="0"/>
                  <a:pt x="406400" y="22763"/>
                  <a:pt x="406400" y="50800"/>
                </a:cubicBezTo>
                <a:lnTo>
                  <a:pt x="406400" y="355600"/>
                </a:lnTo>
                <a:cubicBezTo>
                  <a:pt x="406400" y="383637"/>
                  <a:pt x="383637" y="406400"/>
                  <a:pt x="355600" y="406400"/>
                </a:cubicBezTo>
                <a:lnTo>
                  <a:pt x="50800" y="406400"/>
                </a:lnTo>
                <a:cubicBezTo>
                  <a:pt x="22763" y="406400"/>
                  <a:pt x="0" y="383637"/>
                  <a:pt x="0" y="355600"/>
                </a:cubicBezTo>
                <a:lnTo>
                  <a:pt x="0" y="50800"/>
                </a:lnTo>
                <a:cubicBezTo>
                  <a:pt x="0" y="22763"/>
                  <a:pt x="22763" y="0"/>
                  <a:pt x="50800" y="0"/>
                </a:cubicBezTo>
                <a:close/>
              </a:path>
            </a:pathLst>
          </a:custGeom>
          <a:solidFill>
            <a:srgbClr val="E89F5B"/>
          </a:solidFill>
          <a:ln/>
        </p:spPr>
      </p:sp>
      <p:sp>
        <p:nvSpPr>
          <p:cNvPr id="52" name="Shape 49"/>
          <p:cNvSpPr/>
          <p:nvPr/>
        </p:nvSpPr>
        <p:spPr>
          <a:xfrm>
            <a:off x="9534525" y="3892550"/>
            <a:ext cx="177800" cy="177800"/>
          </a:xfrm>
          <a:custGeom>
            <a:avLst/>
            <a:gdLst/>
            <a:ahLst/>
            <a:cxnLst/>
            <a:rect l="l" t="t" r="r" b="b"/>
            <a:pathLst>
              <a:path w="177800" h="177800">
                <a:moveTo>
                  <a:pt x="80739" y="1806"/>
                </a:moveTo>
                <a:cubicBezTo>
                  <a:pt x="85914" y="-590"/>
                  <a:pt x="91886" y="-590"/>
                  <a:pt x="97061" y="1806"/>
                </a:cubicBezTo>
                <a:lnTo>
                  <a:pt x="172973" y="36880"/>
                </a:lnTo>
                <a:cubicBezTo>
                  <a:pt x="175925" y="38234"/>
                  <a:pt x="177800" y="41186"/>
                  <a:pt x="177800" y="44450"/>
                </a:cubicBezTo>
                <a:cubicBezTo>
                  <a:pt x="177800" y="47714"/>
                  <a:pt x="175925" y="50666"/>
                  <a:pt x="172973" y="52020"/>
                </a:cubicBezTo>
                <a:lnTo>
                  <a:pt x="97061" y="87094"/>
                </a:lnTo>
                <a:cubicBezTo>
                  <a:pt x="91886" y="89490"/>
                  <a:pt x="85914" y="89490"/>
                  <a:pt x="80739" y="87094"/>
                </a:cubicBezTo>
                <a:lnTo>
                  <a:pt x="4827" y="52020"/>
                </a:lnTo>
                <a:cubicBezTo>
                  <a:pt x="1875" y="50631"/>
                  <a:pt x="0" y="47680"/>
                  <a:pt x="0" y="44450"/>
                </a:cubicBezTo>
                <a:cubicBezTo>
                  <a:pt x="0" y="41220"/>
                  <a:pt x="1875" y="38234"/>
                  <a:pt x="4827" y="36880"/>
                </a:cubicBezTo>
                <a:lnTo>
                  <a:pt x="80739" y="1806"/>
                </a:lnTo>
                <a:close/>
                <a:moveTo>
                  <a:pt x="16703" y="75843"/>
                </a:moveTo>
                <a:lnTo>
                  <a:pt x="73759" y="102200"/>
                </a:lnTo>
                <a:cubicBezTo>
                  <a:pt x="83378" y="106645"/>
                  <a:pt x="94456" y="106645"/>
                  <a:pt x="104076" y="102200"/>
                </a:cubicBezTo>
                <a:lnTo>
                  <a:pt x="161131" y="75843"/>
                </a:lnTo>
                <a:lnTo>
                  <a:pt x="172973" y="81330"/>
                </a:lnTo>
                <a:cubicBezTo>
                  <a:pt x="175925" y="82684"/>
                  <a:pt x="177800" y="85636"/>
                  <a:pt x="177800" y="88900"/>
                </a:cubicBezTo>
                <a:cubicBezTo>
                  <a:pt x="177800" y="92164"/>
                  <a:pt x="175925" y="95116"/>
                  <a:pt x="172973" y="96470"/>
                </a:cubicBezTo>
                <a:lnTo>
                  <a:pt x="97061" y="131544"/>
                </a:lnTo>
                <a:cubicBezTo>
                  <a:pt x="91886" y="133940"/>
                  <a:pt x="85914" y="133940"/>
                  <a:pt x="80739" y="131544"/>
                </a:cubicBezTo>
                <a:lnTo>
                  <a:pt x="4827" y="96470"/>
                </a:lnTo>
                <a:cubicBezTo>
                  <a:pt x="1875" y="95081"/>
                  <a:pt x="0" y="92130"/>
                  <a:pt x="0" y="88900"/>
                </a:cubicBezTo>
                <a:cubicBezTo>
                  <a:pt x="0" y="85670"/>
                  <a:pt x="1875" y="82684"/>
                  <a:pt x="4827" y="81330"/>
                </a:cubicBezTo>
                <a:lnTo>
                  <a:pt x="16669" y="75843"/>
                </a:lnTo>
                <a:close/>
                <a:moveTo>
                  <a:pt x="4827" y="125780"/>
                </a:moveTo>
                <a:lnTo>
                  <a:pt x="16669" y="120293"/>
                </a:lnTo>
                <a:lnTo>
                  <a:pt x="73724" y="146650"/>
                </a:lnTo>
                <a:cubicBezTo>
                  <a:pt x="83344" y="151095"/>
                  <a:pt x="94422" y="151095"/>
                  <a:pt x="104041" y="146650"/>
                </a:cubicBezTo>
                <a:lnTo>
                  <a:pt x="161097" y="120293"/>
                </a:lnTo>
                <a:lnTo>
                  <a:pt x="172938" y="125780"/>
                </a:lnTo>
                <a:cubicBezTo>
                  <a:pt x="175890" y="127134"/>
                  <a:pt x="177765" y="130086"/>
                  <a:pt x="177765" y="133350"/>
                </a:cubicBezTo>
                <a:cubicBezTo>
                  <a:pt x="177765" y="136614"/>
                  <a:pt x="175890" y="139566"/>
                  <a:pt x="172938" y="140920"/>
                </a:cubicBezTo>
                <a:lnTo>
                  <a:pt x="97026" y="175994"/>
                </a:lnTo>
                <a:cubicBezTo>
                  <a:pt x="91852" y="178390"/>
                  <a:pt x="85879" y="178390"/>
                  <a:pt x="80705" y="175994"/>
                </a:cubicBezTo>
                <a:lnTo>
                  <a:pt x="4827" y="140920"/>
                </a:lnTo>
                <a:cubicBezTo>
                  <a:pt x="1875" y="139531"/>
                  <a:pt x="0" y="136580"/>
                  <a:pt x="0" y="133350"/>
                </a:cubicBezTo>
                <a:cubicBezTo>
                  <a:pt x="0" y="130120"/>
                  <a:pt x="1875" y="127134"/>
                  <a:pt x="4827" y="125780"/>
                </a:cubicBezTo>
                <a:close/>
              </a:path>
            </a:pathLst>
          </a:custGeom>
          <a:solidFill>
            <a:srgbClr val="1A1D21"/>
          </a:solidFill>
          <a:ln/>
        </p:spPr>
      </p:sp>
      <p:sp>
        <p:nvSpPr>
          <p:cNvPr id="53" name="Text 50"/>
          <p:cNvSpPr/>
          <p:nvPr/>
        </p:nvSpPr>
        <p:spPr>
          <a:xfrm>
            <a:off x="9975850" y="3702050"/>
            <a:ext cx="14224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fr-FR" sz="1600" b="1" smtClean="0">
                <a:solidFill>
                  <a:srgbClr val="E8E8E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Niveau 1</a:t>
            </a:r>
            <a:endParaRPr lang="fr-FR" sz="1600" dirty="0"/>
          </a:p>
        </p:txBody>
      </p:sp>
      <p:sp>
        <p:nvSpPr>
          <p:cNvPr id="54" name="Text 51"/>
          <p:cNvSpPr/>
          <p:nvPr/>
        </p:nvSpPr>
        <p:spPr>
          <a:xfrm>
            <a:off x="9975850" y="4006850"/>
            <a:ext cx="14097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fr-FR" sz="1400" smtClean="0">
                <a:solidFill>
                  <a:srgbClr val="7D8A9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Capot + AU + Clé</a:t>
            </a:r>
            <a:endParaRPr lang="fr-FR" sz="1600" dirty="0"/>
          </a:p>
        </p:txBody>
      </p:sp>
      <p:sp>
        <p:nvSpPr>
          <p:cNvPr id="55" name="Shape 52"/>
          <p:cNvSpPr/>
          <p:nvPr/>
        </p:nvSpPr>
        <p:spPr>
          <a:xfrm>
            <a:off x="9315450" y="4464050"/>
            <a:ext cx="6311900" cy="762000"/>
          </a:xfrm>
          <a:custGeom>
            <a:avLst/>
            <a:gdLst/>
            <a:ahLst/>
            <a:cxnLst/>
            <a:rect l="l" t="t" r="r" b="b"/>
            <a:pathLst>
              <a:path w="6311900" h="762000">
                <a:moveTo>
                  <a:pt x="50803" y="0"/>
                </a:moveTo>
                <a:lnTo>
                  <a:pt x="6261097" y="0"/>
                </a:lnTo>
                <a:cubicBezTo>
                  <a:pt x="6289155" y="0"/>
                  <a:pt x="6311900" y="22745"/>
                  <a:pt x="6311900" y="50803"/>
                </a:cubicBezTo>
                <a:lnTo>
                  <a:pt x="6311900" y="711197"/>
                </a:lnTo>
                <a:cubicBezTo>
                  <a:pt x="6311900" y="739255"/>
                  <a:pt x="6289155" y="762000"/>
                  <a:pt x="6261097" y="762000"/>
                </a:cubicBezTo>
                <a:lnTo>
                  <a:pt x="50803" y="762000"/>
                </a:lnTo>
                <a:cubicBezTo>
                  <a:pt x="22745" y="762000"/>
                  <a:pt x="0" y="739255"/>
                  <a:pt x="0" y="711197"/>
                </a:cubicBezTo>
                <a:lnTo>
                  <a:pt x="0" y="50803"/>
                </a:lnTo>
                <a:cubicBezTo>
                  <a:pt x="0" y="22764"/>
                  <a:pt x="22764" y="0"/>
                  <a:pt x="50803" y="0"/>
                </a:cubicBezTo>
                <a:close/>
              </a:path>
            </a:pathLst>
          </a:custGeom>
          <a:solidFill>
            <a:srgbClr val="1A1D21"/>
          </a:solidFill>
          <a:ln/>
        </p:spPr>
      </p:sp>
      <p:sp>
        <p:nvSpPr>
          <p:cNvPr id="56" name="Shape 53"/>
          <p:cNvSpPr/>
          <p:nvPr/>
        </p:nvSpPr>
        <p:spPr>
          <a:xfrm>
            <a:off x="9417050" y="4641850"/>
            <a:ext cx="406400" cy="406400"/>
          </a:xfrm>
          <a:custGeom>
            <a:avLst/>
            <a:gdLst/>
            <a:ahLst/>
            <a:cxnLst/>
            <a:rect l="l" t="t" r="r" b="b"/>
            <a:pathLst>
              <a:path w="406400" h="406400">
                <a:moveTo>
                  <a:pt x="50800" y="0"/>
                </a:moveTo>
                <a:lnTo>
                  <a:pt x="355600" y="0"/>
                </a:lnTo>
                <a:cubicBezTo>
                  <a:pt x="383637" y="0"/>
                  <a:pt x="406400" y="22763"/>
                  <a:pt x="406400" y="50800"/>
                </a:cubicBezTo>
                <a:lnTo>
                  <a:pt x="406400" y="355600"/>
                </a:lnTo>
                <a:cubicBezTo>
                  <a:pt x="406400" y="383637"/>
                  <a:pt x="383637" y="406400"/>
                  <a:pt x="355600" y="406400"/>
                </a:cubicBezTo>
                <a:lnTo>
                  <a:pt x="50800" y="406400"/>
                </a:lnTo>
                <a:cubicBezTo>
                  <a:pt x="22763" y="406400"/>
                  <a:pt x="0" y="383637"/>
                  <a:pt x="0" y="355600"/>
                </a:cubicBezTo>
                <a:lnTo>
                  <a:pt x="0" y="50800"/>
                </a:lnTo>
                <a:cubicBezTo>
                  <a:pt x="0" y="22763"/>
                  <a:pt x="22763" y="0"/>
                  <a:pt x="50800" y="0"/>
                </a:cubicBezTo>
                <a:close/>
              </a:path>
            </a:pathLst>
          </a:custGeom>
          <a:solidFill>
            <a:srgbClr val="4A6C8C"/>
          </a:solidFill>
          <a:ln/>
        </p:spPr>
      </p:sp>
      <p:sp>
        <p:nvSpPr>
          <p:cNvPr id="57" name="Shape 54"/>
          <p:cNvSpPr/>
          <p:nvPr/>
        </p:nvSpPr>
        <p:spPr>
          <a:xfrm>
            <a:off x="9534525" y="4756150"/>
            <a:ext cx="177800" cy="177800"/>
          </a:xfrm>
          <a:custGeom>
            <a:avLst/>
            <a:gdLst/>
            <a:ahLst/>
            <a:cxnLst/>
            <a:rect l="l" t="t" r="r" b="b"/>
            <a:pathLst>
              <a:path w="177800" h="177800">
                <a:moveTo>
                  <a:pt x="80739" y="1806"/>
                </a:moveTo>
                <a:cubicBezTo>
                  <a:pt x="85914" y="-590"/>
                  <a:pt x="91886" y="-590"/>
                  <a:pt x="97061" y="1806"/>
                </a:cubicBezTo>
                <a:lnTo>
                  <a:pt x="172973" y="36880"/>
                </a:lnTo>
                <a:cubicBezTo>
                  <a:pt x="175925" y="38234"/>
                  <a:pt x="177800" y="41186"/>
                  <a:pt x="177800" y="44450"/>
                </a:cubicBezTo>
                <a:cubicBezTo>
                  <a:pt x="177800" y="47714"/>
                  <a:pt x="175925" y="50666"/>
                  <a:pt x="172973" y="52020"/>
                </a:cubicBezTo>
                <a:lnTo>
                  <a:pt x="97061" y="87094"/>
                </a:lnTo>
                <a:cubicBezTo>
                  <a:pt x="91886" y="89490"/>
                  <a:pt x="85914" y="89490"/>
                  <a:pt x="80739" y="87094"/>
                </a:cubicBezTo>
                <a:lnTo>
                  <a:pt x="4827" y="52020"/>
                </a:lnTo>
                <a:cubicBezTo>
                  <a:pt x="1875" y="50631"/>
                  <a:pt x="0" y="47680"/>
                  <a:pt x="0" y="44450"/>
                </a:cubicBezTo>
                <a:cubicBezTo>
                  <a:pt x="0" y="41220"/>
                  <a:pt x="1875" y="38234"/>
                  <a:pt x="4827" y="36880"/>
                </a:cubicBezTo>
                <a:lnTo>
                  <a:pt x="80739" y="1806"/>
                </a:lnTo>
                <a:close/>
                <a:moveTo>
                  <a:pt x="16703" y="75843"/>
                </a:moveTo>
                <a:lnTo>
                  <a:pt x="73759" y="102200"/>
                </a:lnTo>
                <a:cubicBezTo>
                  <a:pt x="83378" y="106645"/>
                  <a:pt x="94456" y="106645"/>
                  <a:pt x="104076" y="102200"/>
                </a:cubicBezTo>
                <a:lnTo>
                  <a:pt x="161131" y="75843"/>
                </a:lnTo>
                <a:lnTo>
                  <a:pt x="172973" y="81330"/>
                </a:lnTo>
                <a:cubicBezTo>
                  <a:pt x="175925" y="82684"/>
                  <a:pt x="177800" y="85636"/>
                  <a:pt x="177800" y="88900"/>
                </a:cubicBezTo>
                <a:cubicBezTo>
                  <a:pt x="177800" y="92164"/>
                  <a:pt x="175925" y="95116"/>
                  <a:pt x="172973" y="96470"/>
                </a:cubicBezTo>
                <a:lnTo>
                  <a:pt x="97061" y="131544"/>
                </a:lnTo>
                <a:cubicBezTo>
                  <a:pt x="91886" y="133940"/>
                  <a:pt x="85914" y="133940"/>
                  <a:pt x="80739" y="131544"/>
                </a:cubicBezTo>
                <a:lnTo>
                  <a:pt x="4827" y="96470"/>
                </a:lnTo>
                <a:cubicBezTo>
                  <a:pt x="1875" y="95081"/>
                  <a:pt x="0" y="92130"/>
                  <a:pt x="0" y="88900"/>
                </a:cubicBezTo>
                <a:cubicBezTo>
                  <a:pt x="0" y="85670"/>
                  <a:pt x="1875" y="82684"/>
                  <a:pt x="4827" y="81330"/>
                </a:cubicBezTo>
                <a:lnTo>
                  <a:pt x="16669" y="75843"/>
                </a:lnTo>
                <a:close/>
                <a:moveTo>
                  <a:pt x="4827" y="125780"/>
                </a:moveTo>
                <a:lnTo>
                  <a:pt x="16669" y="120293"/>
                </a:lnTo>
                <a:lnTo>
                  <a:pt x="73724" y="146650"/>
                </a:lnTo>
                <a:cubicBezTo>
                  <a:pt x="83344" y="151095"/>
                  <a:pt x="94422" y="151095"/>
                  <a:pt x="104041" y="146650"/>
                </a:cubicBezTo>
                <a:lnTo>
                  <a:pt x="161097" y="120293"/>
                </a:lnTo>
                <a:lnTo>
                  <a:pt x="172938" y="125780"/>
                </a:lnTo>
                <a:cubicBezTo>
                  <a:pt x="175890" y="127134"/>
                  <a:pt x="177765" y="130086"/>
                  <a:pt x="177765" y="133350"/>
                </a:cubicBezTo>
                <a:cubicBezTo>
                  <a:pt x="177765" y="136614"/>
                  <a:pt x="175890" y="139566"/>
                  <a:pt x="172938" y="140920"/>
                </a:cubicBezTo>
                <a:lnTo>
                  <a:pt x="97026" y="175994"/>
                </a:lnTo>
                <a:cubicBezTo>
                  <a:pt x="91852" y="178390"/>
                  <a:pt x="85879" y="178390"/>
                  <a:pt x="80705" y="175994"/>
                </a:cubicBezTo>
                <a:lnTo>
                  <a:pt x="4827" y="140920"/>
                </a:lnTo>
                <a:cubicBezTo>
                  <a:pt x="1875" y="139531"/>
                  <a:pt x="0" y="136580"/>
                  <a:pt x="0" y="133350"/>
                </a:cubicBezTo>
                <a:cubicBezTo>
                  <a:pt x="0" y="130120"/>
                  <a:pt x="1875" y="127134"/>
                  <a:pt x="4827" y="125780"/>
                </a:cubicBezTo>
                <a:close/>
              </a:path>
            </a:pathLst>
          </a:custGeom>
          <a:solidFill>
            <a:srgbClr val="E8E8E8"/>
          </a:solidFill>
          <a:ln/>
        </p:spPr>
      </p:sp>
      <p:sp>
        <p:nvSpPr>
          <p:cNvPr id="58" name="Text 55"/>
          <p:cNvSpPr/>
          <p:nvPr/>
        </p:nvSpPr>
        <p:spPr>
          <a:xfrm>
            <a:off x="9975850" y="4565650"/>
            <a:ext cx="16129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fr-FR" sz="1600" b="1" smtClean="0">
                <a:solidFill>
                  <a:srgbClr val="E8E8E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Niveau 2</a:t>
            </a:r>
            <a:endParaRPr lang="fr-FR" sz="1600" dirty="0"/>
          </a:p>
        </p:txBody>
      </p:sp>
      <p:sp>
        <p:nvSpPr>
          <p:cNvPr id="59" name="Text 56"/>
          <p:cNvSpPr/>
          <p:nvPr/>
        </p:nvSpPr>
        <p:spPr>
          <a:xfrm>
            <a:off x="9975850" y="4870450"/>
            <a:ext cx="16002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fr-FR" sz="1400" smtClean="0">
                <a:solidFill>
                  <a:srgbClr val="7D8A9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FDC + Température</a:t>
            </a:r>
            <a:endParaRPr lang="fr-FR" sz="1600" dirty="0"/>
          </a:p>
        </p:txBody>
      </p:sp>
      <p:sp>
        <p:nvSpPr>
          <p:cNvPr id="60" name="Shape 57"/>
          <p:cNvSpPr/>
          <p:nvPr/>
        </p:nvSpPr>
        <p:spPr>
          <a:xfrm>
            <a:off x="9315450" y="5327650"/>
            <a:ext cx="6311900" cy="762000"/>
          </a:xfrm>
          <a:custGeom>
            <a:avLst/>
            <a:gdLst/>
            <a:ahLst/>
            <a:cxnLst/>
            <a:rect l="l" t="t" r="r" b="b"/>
            <a:pathLst>
              <a:path w="6311900" h="762000">
                <a:moveTo>
                  <a:pt x="50803" y="0"/>
                </a:moveTo>
                <a:lnTo>
                  <a:pt x="6261097" y="0"/>
                </a:lnTo>
                <a:cubicBezTo>
                  <a:pt x="6289155" y="0"/>
                  <a:pt x="6311900" y="22745"/>
                  <a:pt x="6311900" y="50803"/>
                </a:cubicBezTo>
                <a:lnTo>
                  <a:pt x="6311900" y="711197"/>
                </a:lnTo>
                <a:cubicBezTo>
                  <a:pt x="6311900" y="739255"/>
                  <a:pt x="6289155" y="762000"/>
                  <a:pt x="6261097" y="762000"/>
                </a:cubicBezTo>
                <a:lnTo>
                  <a:pt x="50803" y="762000"/>
                </a:lnTo>
                <a:cubicBezTo>
                  <a:pt x="22745" y="762000"/>
                  <a:pt x="0" y="739255"/>
                  <a:pt x="0" y="711197"/>
                </a:cubicBezTo>
                <a:lnTo>
                  <a:pt x="0" y="50803"/>
                </a:lnTo>
                <a:cubicBezTo>
                  <a:pt x="0" y="22764"/>
                  <a:pt x="22764" y="0"/>
                  <a:pt x="50803" y="0"/>
                </a:cubicBezTo>
                <a:close/>
              </a:path>
            </a:pathLst>
          </a:custGeom>
          <a:solidFill>
            <a:srgbClr val="1A1D21"/>
          </a:solidFill>
          <a:ln/>
        </p:spPr>
      </p:sp>
      <p:sp>
        <p:nvSpPr>
          <p:cNvPr id="61" name="Shape 58"/>
          <p:cNvSpPr/>
          <p:nvPr/>
        </p:nvSpPr>
        <p:spPr>
          <a:xfrm>
            <a:off x="9417050" y="5505450"/>
            <a:ext cx="406400" cy="406400"/>
          </a:xfrm>
          <a:custGeom>
            <a:avLst/>
            <a:gdLst/>
            <a:ahLst/>
            <a:cxnLst/>
            <a:rect l="l" t="t" r="r" b="b"/>
            <a:pathLst>
              <a:path w="406400" h="406400">
                <a:moveTo>
                  <a:pt x="50800" y="0"/>
                </a:moveTo>
                <a:lnTo>
                  <a:pt x="355600" y="0"/>
                </a:lnTo>
                <a:cubicBezTo>
                  <a:pt x="383637" y="0"/>
                  <a:pt x="406400" y="22763"/>
                  <a:pt x="406400" y="50800"/>
                </a:cubicBezTo>
                <a:lnTo>
                  <a:pt x="406400" y="355600"/>
                </a:lnTo>
                <a:cubicBezTo>
                  <a:pt x="406400" y="383637"/>
                  <a:pt x="383637" y="406400"/>
                  <a:pt x="355600" y="406400"/>
                </a:cubicBezTo>
                <a:lnTo>
                  <a:pt x="50800" y="406400"/>
                </a:lnTo>
                <a:cubicBezTo>
                  <a:pt x="22763" y="406400"/>
                  <a:pt x="0" y="383637"/>
                  <a:pt x="0" y="355600"/>
                </a:cubicBezTo>
                <a:lnTo>
                  <a:pt x="0" y="50800"/>
                </a:lnTo>
                <a:cubicBezTo>
                  <a:pt x="0" y="22763"/>
                  <a:pt x="22763" y="0"/>
                  <a:pt x="50800" y="0"/>
                </a:cubicBezTo>
                <a:close/>
              </a:path>
            </a:pathLst>
          </a:custGeom>
          <a:solidFill>
            <a:srgbClr val="7D8A9B"/>
          </a:solidFill>
          <a:ln/>
        </p:spPr>
      </p:sp>
      <p:sp>
        <p:nvSpPr>
          <p:cNvPr id="62" name="Shape 59"/>
          <p:cNvSpPr/>
          <p:nvPr/>
        </p:nvSpPr>
        <p:spPr>
          <a:xfrm>
            <a:off x="9534525" y="5619750"/>
            <a:ext cx="177800" cy="177800"/>
          </a:xfrm>
          <a:custGeom>
            <a:avLst/>
            <a:gdLst/>
            <a:ahLst/>
            <a:cxnLst/>
            <a:rect l="l" t="t" r="r" b="b"/>
            <a:pathLst>
              <a:path w="177800" h="177800">
                <a:moveTo>
                  <a:pt x="80739" y="1806"/>
                </a:moveTo>
                <a:cubicBezTo>
                  <a:pt x="85914" y="-590"/>
                  <a:pt x="91886" y="-590"/>
                  <a:pt x="97061" y="1806"/>
                </a:cubicBezTo>
                <a:lnTo>
                  <a:pt x="172973" y="36880"/>
                </a:lnTo>
                <a:cubicBezTo>
                  <a:pt x="175925" y="38234"/>
                  <a:pt x="177800" y="41186"/>
                  <a:pt x="177800" y="44450"/>
                </a:cubicBezTo>
                <a:cubicBezTo>
                  <a:pt x="177800" y="47714"/>
                  <a:pt x="175925" y="50666"/>
                  <a:pt x="172973" y="52020"/>
                </a:cubicBezTo>
                <a:lnTo>
                  <a:pt x="97061" y="87094"/>
                </a:lnTo>
                <a:cubicBezTo>
                  <a:pt x="91886" y="89490"/>
                  <a:pt x="85914" y="89490"/>
                  <a:pt x="80739" y="87094"/>
                </a:cubicBezTo>
                <a:lnTo>
                  <a:pt x="4827" y="52020"/>
                </a:lnTo>
                <a:cubicBezTo>
                  <a:pt x="1875" y="50631"/>
                  <a:pt x="0" y="47680"/>
                  <a:pt x="0" y="44450"/>
                </a:cubicBezTo>
                <a:cubicBezTo>
                  <a:pt x="0" y="41220"/>
                  <a:pt x="1875" y="38234"/>
                  <a:pt x="4827" y="36880"/>
                </a:cubicBezTo>
                <a:lnTo>
                  <a:pt x="80739" y="1806"/>
                </a:lnTo>
                <a:close/>
                <a:moveTo>
                  <a:pt x="16703" y="75843"/>
                </a:moveTo>
                <a:lnTo>
                  <a:pt x="73759" y="102200"/>
                </a:lnTo>
                <a:cubicBezTo>
                  <a:pt x="83378" y="106645"/>
                  <a:pt x="94456" y="106645"/>
                  <a:pt x="104076" y="102200"/>
                </a:cubicBezTo>
                <a:lnTo>
                  <a:pt x="161131" y="75843"/>
                </a:lnTo>
                <a:lnTo>
                  <a:pt x="172973" y="81330"/>
                </a:lnTo>
                <a:cubicBezTo>
                  <a:pt x="175925" y="82684"/>
                  <a:pt x="177800" y="85636"/>
                  <a:pt x="177800" y="88900"/>
                </a:cubicBezTo>
                <a:cubicBezTo>
                  <a:pt x="177800" y="92164"/>
                  <a:pt x="175925" y="95116"/>
                  <a:pt x="172973" y="96470"/>
                </a:cubicBezTo>
                <a:lnTo>
                  <a:pt x="97061" y="131544"/>
                </a:lnTo>
                <a:cubicBezTo>
                  <a:pt x="91886" y="133940"/>
                  <a:pt x="85914" y="133940"/>
                  <a:pt x="80739" y="131544"/>
                </a:cubicBezTo>
                <a:lnTo>
                  <a:pt x="4827" y="96470"/>
                </a:lnTo>
                <a:cubicBezTo>
                  <a:pt x="1875" y="95081"/>
                  <a:pt x="0" y="92130"/>
                  <a:pt x="0" y="88900"/>
                </a:cubicBezTo>
                <a:cubicBezTo>
                  <a:pt x="0" y="85670"/>
                  <a:pt x="1875" y="82684"/>
                  <a:pt x="4827" y="81330"/>
                </a:cubicBezTo>
                <a:lnTo>
                  <a:pt x="16669" y="75843"/>
                </a:lnTo>
                <a:close/>
                <a:moveTo>
                  <a:pt x="4827" y="125780"/>
                </a:moveTo>
                <a:lnTo>
                  <a:pt x="16669" y="120293"/>
                </a:lnTo>
                <a:lnTo>
                  <a:pt x="73724" y="146650"/>
                </a:lnTo>
                <a:cubicBezTo>
                  <a:pt x="83344" y="151095"/>
                  <a:pt x="94422" y="151095"/>
                  <a:pt x="104041" y="146650"/>
                </a:cubicBezTo>
                <a:lnTo>
                  <a:pt x="161097" y="120293"/>
                </a:lnTo>
                <a:lnTo>
                  <a:pt x="172938" y="125780"/>
                </a:lnTo>
                <a:cubicBezTo>
                  <a:pt x="175890" y="127134"/>
                  <a:pt x="177765" y="130086"/>
                  <a:pt x="177765" y="133350"/>
                </a:cubicBezTo>
                <a:cubicBezTo>
                  <a:pt x="177765" y="136614"/>
                  <a:pt x="175890" y="139566"/>
                  <a:pt x="172938" y="140920"/>
                </a:cubicBezTo>
                <a:lnTo>
                  <a:pt x="97026" y="175994"/>
                </a:lnTo>
                <a:cubicBezTo>
                  <a:pt x="91852" y="178390"/>
                  <a:pt x="85879" y="178390"/>
                  <a:pt x="80705" y="175994"/>
                </a:cubicBezTo>
                <a:lnTo>
                  <a:pt x="4827" y="140920"/>
                </a:lnTo>
                <a:cubicBezTo>
                  <a:pt x="1875" y="139531"/>
                  <a:pt x="0" y="136580"/>
                  <a:pt x="0" y="133350"/>
                </a:cubicBezTo>
                <a:cubicBezTo>
                  <a:pt x="0" y="130120"/>
                  <a:pt x="1875" y="127134"/>
                  <a:pt x="4827" y="125780"/>
                </a:cubicBezTo>
                <a:close/>
              </a:path>
            </a:pathLst>
          </a:custGeom>
          <a:solidFill>
            <a:srgbClr val="E8E8E8"/>
          </a:solidFill>
          <a:ln/>
        </p:spPr>
      </p:sp>
      <p:sp>
        <p:nvSpPr>
          <p:cNvPr id="63" name="Text 60"/>
          <p:cNvSpPr/>
          <p:nvPr/>
        </p:nvSpPr>
        <p:spPr>
          <a:xfrm>
            <a:off x="9975850" y="5429250"/>
            <a:ext cx="14478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fr-FR" sz="1600" b="1" smtClean="0">
                <a:solidFill>
                  <a:srgbClr val="E8E8E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Niveau 3</a:t>
            </a:r>
            <a:endParaRPr lang="fr-FR" sz="1600" dirty="0"/>
          </a:p>
        </p:txBody>
      </p:sp>
      <p:sp>
        <p:nvSpPr>
          <p:cNvPr id="64" name="Text 61"/>
          <p:cNvSpPr/>
          <p:nvPr/>
        </p:nvSpPr>
        <p:spPr>
          <a:xfrm>
            <a:off x="9975850" y="5734050"/>
            <a:ext cx="14351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fr-FR" sz="1400" smtClean="0">
                <a:solidFill>
                  <a:srgbClr val="7D8A9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Surcharge + Com</a:t>
            </a:r>
            <a:endParaRPr lang="fr-FR" sz="1600" dirty="0"/>
          </a:p>
        </p:txBody>
      </p:sp>
      <p:pic>
        <p:nvPicPr>
          <p:cNvPr id="65" name="Image 64" descr="BP AU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6369" y="7318625"/>
            <a:ext cx="1717462" cy="1730375"/>
          </a:xfrm>
          <a:prstGeom prst="rect">
            <a:avLst/>
          </a:prstGeom>
        </p:spPr>
      </p:pic>
      <p:pic>
        <p:nvPicPr>
          <p:cNvPr id="66" name="Image 65" descr="capot de protection.png">
            <a:hlinkClick r:id="rId5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67850" y="7262945"/>
            <a:ext cx="2994025" cy="1799910"/>
          </a:xfrm>
          <a:prstGeom prst="rect">
            <a:avLst/>
          </a:prstGeom>
        </p:spPr>
      </p:pic>
      <p:pic>
        <p:nvPicPr>
          <p:cNvPr id="67" name="Image 66" descr="capt infra.png">
            <a:hlinkClick r:id="rId7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15450" y="6667500"/>
            <a:ext cx="3098800" cy="2289412"/>
          </a:xfrm>
          <a:prstGeom prst="rect">
            <a:avLst/>
          </a:prstGeom>
        </p:spPr>
      </p:pic>
      <p:pic>
        <p:nvPicPr>
          <p:cNvPr id="68" name="Image 67" descr="capt FDC.png">
            <a:hlinkClick r:id="rId9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3244945" y="6293760"/>
            <a:ext cx="2047298" cy="2663152"/>
          </a:xfrm>
          <a:prstGeom prst="rect">
            <a:avLst/>
          </a:prstGeom>
        </p:spPr>
      </p:pic>
      <p:sp>
        <p:nvSpPr>
          <p:cNvPr id="69" name="NumPage"/>
          <p:cNvSpPr txBox="1"/>
          <p:nvPr/>
        </p:nvSpPr>
        <p:spPr>
          <a:xfrm>
            <a:off x="15240000" y="8636000"/>
            <a:ext cx="889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fr-FR" sz="1400" smtClean="0">
                <a:solidFill>
                  <a:srgbClr val="E89F5B"/>
                </a:solidFill>
              </a:rPr>
              <a:t>12</a:t>
            </a:r>
            <a:endParaRPr lang="fr-FR" sz="1400" dirty="0">
              <a:solidFill>
                <a:srgbClr val="E89F5B"/>
              </a:solidFill>
            </a:endParaRPr>
          </a:p>
        </p:txBody>
      </p:sp>
      <p:pic>
        <p:nvPicPr>
          <p:cNvPr id="70" name="Image 69" descr="feu tricolore.png">
            <a:hlinkClick r:id="rId11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238971" y="7237237"/>
            <a:ext cx="1258643" cy="1887965"/>
          </a:xfrm>
          <a:prstGeom prst="rect">
            <a:avLst/>
          </a:prstGeom>
        </p:spPr>
      </p:pic>
      <p:sp>
        <p:nvSpPr>
          <p:cNvPr id="71" name="Shape 22"/>
          <p:cNvSpPr/>
          <p:nvPr/>
        </p:nvSpPr>
        <p:spPr>
          <a:xfrm>
            <a:off x="9105900" y="1479550"/>
            <a:ext cx="2667000" cy="1333500"/>
          </a:xfrm>
          <a:custGeom>
            <a:avLst/>
            <a:gdLst/>
            <a:ahLst/>
            <a:cxnLst/>
            <a:rect l="l" t="t" r="r" b="b"/>
            <a:pathLst>
              <a:path w="2667000" h="1333500">
                <a:moveTo>
                  <a:pt x="101599" y="0"/>
                </a:moveTo>
                <a:lnTo>
                  <a:pt x="2565401" y="0"/>
                </a:lnTo>
                <a:cubicBezTo>
                  <a:pt x="2621512" y="0"/>
                  <a:pt x="2667000" y="45488"/>
                  <a:pt x="2667000" y="101599"/>
                </a:cubicBezTo>
                <a:lnTo>
                  <a:pt x="2667000" y="1231901"/>
                </a:lnTo>
                <a:cubicBezTo>
                  <a:pt x="2667000" y="1288012"/>
                  <a:pt x="2621512" y="1333500"/>
                  <a:pt x="2565401" y="1333500"/>
                </a:cubicBezTo>
                <a:lnTo>
                  <a:pt x="101599" y="1333500"/>
                </a:lnTo>
                <a:cubicBezTo>
                  <a:pt x="45488" y="1333500"/>
                  <a:pt x="0" y="1288012"/>
                  <a:pt x="0" y="1231901"/>
                </a:cubicBezTo>
                <a:lnTo>
                  <a:pt x="0" y="101599"/>
                </a:lnTo>
                <a:cubicBezTo>
                  <a:pt x="0" y="45525"/>
                  <a:pt x="45525" y="0"/>
                  <a:pt x="101599" y="0"/>
                </a:cubicBezTo>
                <a:close/>
              </a:path>
            </a:pathLst>
          </a:custGeom>
          <a:solidFill>
            <a:srgbClr val="4A6C8C">
              <a:alpha val="10196"/>
            </a:srgbClr>
          </a:solidFill>
          <a:ln w="12700">
            <a:solidFill>
              <a:srgbClr val="4A6C8C">
                <a:alpha val="30196"/>
              </a:srgbClr>
            </a:solidFill>
            <a:prstDash val="solid"/>
          </a:ln>
        </p:spPr>
      </p:sp>
      <p:sp>
        <p:nvSpPr>
          <p:cNvPr id="73" name="Text 24"/>
          <p:cNvSpPr/>
          <p:nvPr/>
        </p:nvSpPr>
        <p:spPr>
          <a:xfrm>
            <a:off x="9213850" y="2044700"/>
            <a:ext cx="24511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fr-FR" sz="1600" b="1" smtClean="0">
                <a:solidFill>
                  <a:srgbClr val="E8E8E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Hygrométrie</a:t>
            </a:r>
            <a:endParaRPr lang="fr-FR" sz="1600" dirty="0"/>
          </a:p>
        </p:txBody>
      </p:sp>
      <p:sp>
        <p:nvSpPr>
          <p:cNvPr id="74" name="Text 25"/>
          <p:cNvSpPr/>
          <p:nvPr/>
        </p:nvSpPr>
        <p:spPr>
          <a:xfrm>
            <a:off x="9220200" y="2400300"/>
            <a:ext cx="24384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fr-FR" sz="1400" smtClean="0">
                <a:solidFill>
                  <a:srgbClr val="7D8A9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Surveillance continue</a:t>
            </a:r>
            <a:endParaRPr lang="fr-FR" sz="1600" dirty="0"/>
          </a:p>
        </p:txBody>
      </p:sp>
      <p:pic>
        <p:nvPicPr>
          <p:cNvPr id="76" name="Image 75" descr="hygo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241646" y="1572547"/>
            <a:ext cx="426357" cy="426357"/>
          </a:xfrm>
          <a:prstGeom prst="rect">
            <a:avLst/>
          </a:prstGeom>
        </p:spPr>
      </p:pic>
      <p:sp>
        <p:nvSpPr>
          <p:cNvPr id="75" name="Shape 26"/>
          <p:cNvSpPr/>
          <p:nvPr/>
        </p:nvSpPr>
        <p:spPr>
          <a:xfrm>
            <a:off x="12125036" y="1479550"/>
            <a:ext cx="2667000" cy="1333500"/>
          </a:xfrm>
          <a:custGeom>
            <a:avLst/>
            <a:gdLst/>
            <a:ahLst/>
            <a:cxnLst/>
            <a:rect l="l" t="t" r="r" b="b"/>
            <a:pathLst>
              <a:path w="2667000" h="1333500">
                <a:moveTo>
                  <a:pt x="101599" y="0"/>
                </a:moveTo>
                <a:lnTo>
                  <a:pt x="2565401" y="0"/>
                </a:lnTo>
                <a:cubicBezTo>
                  <a:pt x="2621512" y="0"/>
                  <a:pt x="2667000" y="45488"/>
                  <a:pt x="2667000" y="101599"/>
                </a:cubicBezTo>
                <a:lnTo>
                  <a:pt x="2667000" y="1231901"/>
                </a:lnTo>
                <a:cubicBezTo>
                  <a:pt x="2667000" y="1288012"/>
                  <a:pt x="2621512" y="1333500"/>
                  <a:pt x="2565401" y="1333500"/>
                </a:cubicBezTo>
                <a:lnTo>
                  <a:pt x="101599" y="1333500"/>
                </a:lnTo>
                <a:cubicBezTo>
                  <a:pt x="45488" y="1333500"/>
                  <a:pt x="0" y="1288012"/>
                  <a:pt x="0" y="1231901"/>
                </a:cubicBezTo>
                <a:lnTo>
                  <a:pt x="0" y="101599"/>
                </a:lnTo>
                <a:cubicBezTo>
                  <a:pt x="0" y="45525"/>
                  <a:pt x="45525" y="0"/>
                  <a:pt x="101599" y="0"/>
                </a:cubicBezTo>
                <a:close/>
              </a:path>
            </a:pathLst>
          </a:custGeom>
          <a:solidFill>
            <a:srgbClr val="4A6C8C">
              <a:alpha val="10196"/>
            </a:srgbClr>
          </a:solidFill>
          <a:ln w="12700">
            <a:solidFill>
              <a:srgbClr val="4A6C8C">
                <a:alpha val="30196"/>
              </a:srgbClr>
            </a:solidFill>
            <a:prstDash val="solid"/>
          </a:ln>
        </p:spPr>
      </p:sp>
      <p:sp>
        <p:nvSpPr>
          <p:cNvPr id="78" name="Text 28"/>
          <p:cNvSpPr/>
          <p:nvPr/>
        </p:nvSpPr>
        <p:spPr>
          <a:xfrm>
            <a:off x="12232986" y="2044700"/>
            <a:ext cx="24511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fr-FR" sz="1600" b="1" smtClean="0">
                <a:solidFill>
                  <a:srgbClr val="E8E8E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Voyant Tricolore</a:t>
            </a:r>
            <a:endParaRPr lang="fr-FR" sz="1600" dirty="0"/>
          </a:p>
        </p:txBody>
      </p:sp>
      <p:sp>
        <p:nvSpPr>
          <p:cNvPr id="79" name="Text 29"/>
          <p:cNvSpPr/>
          <p:nvPr/>
        </p:nvSpPr>
        <p:spPr>
          <a:xfrm>
            <a:off x="12239336" y="2400300"/>
            <a:ext cx="24384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fr-FR" sz="1400" smtClean="0">
                <a:solidFill>
                  <a:srgbClr val="7D8A9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Signalisation des états</a:t>
            </a:r>
            <a:endParaRPr lang="fr-FR" sz="1600" dirty="0"/>
          </a:p>
        </p:txBody>
      </p:sp>
      <p:sp>
        <p:nvSpPr>
          <p:cNvPr id="82" name="Ellipse 81"/>
          <p:cNvSpPr/>
          <p:nvPr/>
        </p:nvSpPr>
        <p:spPr>
          <a:xfrm>
            <a:off x="13077536" y="1600200"/>
            <a:ext cx="228600" cy="228600"/>
          </a:xfrm>
          <a:prstGeom prst="ellipse">
            <a:avLst/>
          </a:prstGeom>
          <a:solidFill>
            <a:srgbClr val="00C800"/>
          </a:solidFill>
          <a:ln>
            <a:solidFill>
              <a:srgbClr val="505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3" name="Ellipse 82"/>
          <p:cNvSpPr/>
          <p:nvPr/>
        </p:nvSpPr>
        <p:spPr>
          <a:xfrm>
            <a:off x="13356936" y="1600200"/>
            <a:ext cx="228600" cy="228600"/>
          </a:xfrm>
          <a:prstGeom prst="ellipse">
            <a:avLst/>
          </a:prstGeom>
          <a:solidFill>
            <a:srgbClr val="FF9600"/>
          </a:solidFill>
          <a:ln>
            <a:solidFill>
              <a:srgbClr val="505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4" name="Ellipse 83"/>
          <p:cNvSpPr/>
          <p:nvPr/>
        </p:nvSpPr>
        <p:spPr>
          <a:xfrm>
            <a:off x="13636336" y="1600200"/>
            <a:ext cx="228600" cy="228600"/>
          </a:xfrm>
          <a:prstGeom prst="ellipse">
            <a:avLst/>
          </a:prstGeom>
          <a:solidFill>
            <a:srgbClr val="C80000"/>
          </a:solidFill>
          <a:ln>
            <a:solidFill>
              <a:srgbClr val="505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5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5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22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5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2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3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3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5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3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5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3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42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5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4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5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5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5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56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5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5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62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5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6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7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7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5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76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5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79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82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5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8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90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5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93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5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96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99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0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5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05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5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08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11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14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5" presetID="5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1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5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20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1" presetID="5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23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4" presetID="5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26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7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29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0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32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3" presetID="5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35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6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38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9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41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5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44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5" presetID="5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47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50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1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53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" presetID="5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56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7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59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62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3" presetID="5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65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6" presetID="5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68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9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71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74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5" presetID="5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77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5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80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1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83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4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86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7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89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0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92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3" presetID="5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95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6" presetID="5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98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9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201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2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204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5" presetID="5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207" dur="5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8" presetID="5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210" dur="5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1" presetID="5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213" dur="5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4" presetID="5" presetClass="entr" presetSubtype="1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216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7" presetID="5" presetClass="entr" presetSubtype="1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219" dur="5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0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222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3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225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6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228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9" presetID="5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231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2" presetID="5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234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12" grpId="0" animBg="1"/>
      <p:bldP spid="13" grpId="0" animBg="1"/>
      <p:bldP spid="17" grpId="0" animBg="1"/>
      <p:bldP spid="18" grpId="0" animBg="1"/>
      <p:bldP spid="22" grpId="0" animBg="1"/>
      <p:bldP spid="23" grpId="0" animBg="1"/>
      <p:bldP spid="26" grpId="0" animBg="1"/>
      <p:bldP spid="27" grpId="0" animBg="1"/>
      <p:bldP spid="30" grpId="0" animBg="1"/>
      <p:bldP spid="31" grpId="0" animBg="1"/>
      <p:bldP spid="34" grpId="0" animBg="1"/>
      <p:bldP spid="35" grpId="0" animBg="1"/>
      <p:bldP spid="37" grpId="0" animBg="1"/>
      <p:bldP spid="39" grpId="0" animBg="1"/>
      <p:bldP spid="41" grpId="0" animBg="1"/>
      <p:bldP spid="43" grpId="0" animBg="1"/>
      <p:bldP spid="45" grpId="0" animBg="1"/>
      <p:bldP spid="49" grpId="0" animBg="1"/>
      <p:bldP spid="53" grpId="0" animBg="1"/>
      <p:bldP spid="54" grpId="0" animBg="1"/>
      <p:bldP spid="58" grpId="0" animBg="1"/>
      <p:bldP spid="59" grpId="0" animBg="1"/>
      <p:bldP spid="63" grpId="0" animBg="1"/>
      <p:bldP spid="64" grpId="0" animBg="1"/>
      <p:bldP spid="73" grpId="0" animBg="1"/>
      <p:bldP spid="74" grpId="0" animBg="1"/>
      <p:bldP spid="78" grpId="1" animBg="1"/>
      <p:bldP spid="79" grpId="1" animBg="1"/>
      <p:bldP spid="82" grpId="0" animBg="1"/>
      <p:bldP spid="83" grpId="0" animBg="1"/>
      <p:bldP spid="84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" name="Image 90" descr="picto point clé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0966" y="640911"/>
            <a:ext cx="3484869" cy="3649115"/>
          </a:xfrm>
          <a:prstGeom prst="rect">
            <a:avLst/>
          </a:prstGeom>
        </p:spPr>
      </p:pic>
      <p:sp>
        <p:nvSpPr>
          <p:cNvPr id="2" name="Text 0"/>
          <p:cNvSpPr/>
          <p:nvPr/>
        </p:nvSpPr>
        <p:spPr>
          <a:xfrm>
            <a:off x="508000" y="508000"/>
            <a:ext cx="153289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fr-FR" sz="1400" b="1" kern="0" spc="140" smtClean="0">
                <a:solidFill>
                  <a:srgbClr val="E89F5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05. CYCLE AUTOMATIQUE</a:t>
            </a:r>
            <a:endParaRPr lang="fr-FR" sz="1600" dirty="0"/>
          </a:p>
        </p:txBody>
      </p:sp>
      <p:sp>
        <p:nvSpPr>
          <p:cNvPr id="3" name="Text 1"/>
          <p:cNvSpPr/>
          <p:nvPr/>
        </p:nvSpPr>
        <p:spPr>
          <a:xfrm>
            <a:off x="508000" y="863600"/>
            <a:ext cx="154686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fr-FR" sz="3600" b="1" smtClean="0">
                <a:solidFill>
                  <a:srgbClr val="E8E8E8"/>
                </a:solidFill>
                <a:latin typeface="Hedvig Letters Sans" pitchFamily="34" charset="0"/>
                <a:ea typeface="Hedvig Letters Sans" pitchFamily="34" charset="-122"/>
                <a:cs typeface="Hedvig Letters Sans" pitchFamily="34" charset="-120"/>
              </a:rPr>
              <a:t>Cycle &amp; Modes de Fonctionnement</a:t>
            </a:r>
            <a:endParaRPr lang="fr-FR" sz="1600" dirty="0"/>
          </a:p>
        </p:txBody>
      </p:sp>
      <p:sp>
        <p:nvSpPr>
          <p:cNvPr id="4" name="Shape 2"/>
          <p:cNvSpPr/>
          <p:nvPr/>
        </p:nvSpPr>
        <p:spPr>
          <a:xfrm>
            <a:off x="514350" y="1581150"/>
            <a:ext cx="8229600" cy="3263900"/>
          </a:xfrm>
          <a:custGeom>
            <a:avLst/>
            <a:gdLst/>
            <a:ahLst/>
            <a:cxnLst/>
            <a:rect l="l" t="t" r="r" b="b"/>
            <a:pathLst>
              <a:path w="8229600" h="3263900">
                <a:moveTo>
                  <a:pt x="101605" y="0"/>
                </a:moveTo>
                <a:lnTo>
                  <a:pt x="8127995" y="0"/>
                </a:lnTo>
                <a:cubicBezTo>
                  <a:pt x="8184110" y="0"/>
                  <a:pt x="8229600" y="45490"/>
                  <a:pt x="8229600" y="101605"/>
                </a:cubicBezTo>
                <a:lnTo>
                  <a:pt x="8229600" y="3162295"/>
                </a:lnTo>
                <a:cubicBezTo>
                  <a:pt x="8229600" y="3218410"/>
                  <a:pt x="8184110" y="3263900"/>
                  <a:pt x="8127995" y="3263900"/>
                </a:cubicBezTo>
                <a:lnTo>
                  <a:pt x="101605" y="3263900"/>
                </a:lnTo>
                <a:cubicBezTo>
                  <a:pt x="45490" y="3263900"/>
                  <a:pt x="0" y="3218410"/>
                  <a:pt x="0" y="3162295"/>
                </a:cubicBezTo>
                <a:lnTo>
                  <a:pt x="0" y="101605"/>
                </a:lnTo>
                <a:cubicBezTo>
                  <a:pt x="0" y="45528"/>
                  <a:pt x="45528" y="0"/>
                  <a:pt x="101605" y="0"/>
                </a:cubicBezTo>
                <a:close/>
              </a:path>
            </a:pathLst>
          </a:custGeom>
          <a:gradFill flip="none" rotWithShape="1">
            <a:gsLst>
              <a:gs pos="0">
                <a:srgbClr val="4A6C8C">
                  <a:alpha val="20000"/>
                </a:srgbClr>
              </a:gs>
              <a:gs pos="100000">
                <a:srgbClr val="E89F5B">
                  <a:alpha val="20000"/>
                </a:srgbClr>
              </a:gs>
            </a:gsLst>
            <a:lin ang="0" scaled="1"/>
          </a:gradFill>
          <a:ln w="12700">
            <a:solidFill>
              <a:srgbClr val="4A6C8C">
                <a:alpha val="40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66750" y="1790700"/>
            <a:ext cx="79248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fr-FR" sz="1800" b="1" smtClean="0">
                <a:solidFill>
                  <a:srgbClr val="E8E8E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Cycle Automatique - 11 Étapes</a:t>
            </a:r>
            <a:endParaRPr lang="fr-FR" sz="1600" dirty="0"/>
          </a:p>
        </p:txBody>
      </p:sp>
      <p:sp>
        <p:nvSpPr>
          <p:cNvPr id="6" name="Shape 4"/>
          <p:cNvSpPr/>
          <p:nvPr/>
        </p:nvSpPr>
        <p:spPr>
          <a:xfrm>
            <a:off x="723900" y="2298700"/>
            <a:ext cx="2540000" cy="508000"/>
          </a:xfrm>
          <a:custGeom>
            <a:avLst/>
            <a:gdLst/>
            <a:ahLst/>
            <a:cxnLst/>
            <a:rect l="l" t="t" r="r" b="b"/>
            <a:pathLst>
              <a:path w="2540000" h="508000">
                <a:moveTo>
                  <a:pt x="50800" y="0"/>
                </a:moveTo>
                <a:lnTo>
                  <a:pt x="2489200" y="0"/>
                </a:lnTo>
                <a:cubicBezTo>
                  <a:pt x="2517237" y="0"/>
                  <a:pt x="2540000" y="22763"/>
                  <a:pt x="2540000" y="50800"/>
                </a:cubicBezTo>
                <a:lnTo>
                  <a:pt x="2540000" y="457200"/>
                </a:lnTo>
                <a:cubicBezTo>
                  <a:pt x="2540000" y="485237"/>
                  <a:pt x="2517237" y="508000"/>
                  <a:pt x="2489200" y="508000"/>
                </a:cubicBezTo>
                <a:lnTo>
                  <a:pt x="50800" y="508000"/>
                </a:lnTo>
                <a:cubicBezTo>
                  <a:pt x="22763" y="508000"/>
                  <a:pt x="0" y="485237"/>
                  <a:pt x="0" y="457200"/>
                </a:cubicBezTo>
                <a:lnTo>
                  <a:pt x="0" y="50800"/>
                </a:lnTo>
                <a:cubicBezTo>
                  <a:pt x="0" y="22763"/>
                  <a:pt x="22763" y="0"/>
                  <a:pt x="50800" y="0"/>
                </a:cubicBezTo>
                <a:close/>
              </a:path>
            </a:pathLst>
          </a:custGeom>
          <a:solidFill>
            <a:srgbClr val="1A1D21"/>
          </a:solidFill>
          <a:ln/>
        </p:spPr>
      </p:sp>
      <p:sp>
        <p:nvSpPr>
          <p:cNvPr id="7" name="Shape 5"/>
          <p:cNvSpPr/>
          <p:nvPr/>
        </p:nvSpPr>
        <p:spPr>
          <a:xfrm>
            <a:off x="825500" y="24003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152400" y="0"/>
                </a:moveTo>
                <a:lnTo>
                  <a:pt x="152400" y="0"/>
                </a:lnTo>
                <a:cubicBezTo>
                  <a:pt x="236512" y="0"/>
                  <a:pt x="304800" y="68288"/>
                  <a:pt x="304800" y="152400"/>
                </a:cubicBezTo>
                <a:lnTo>
                  <a:pt x="304800" y="152400"/>
                </a:lnTo>
                <a:cubicBezTo>
                  <a:pt x="304800" y="236512"/>
                  <a:pt x="236512" y="304800"/>
                  <a:pt x="152400" y="304800"/>
                </a:cubicBezTo>
                <a:lnTo>
                  <a:pt x="152400" y="304800"/>
                </a:lnTo>
                <a:cubicBezTo>
                  <a:pt x="68288" y="304800"/>
                  <a:pt x="0" y="236512"/>
                  <a:pt x="0" y="152400"/>
                </a:cubicBezTo>
                <a:lnTo>
                  <a:pt x="0" y="152400"/>
                </a:lnTo>
                <a:cubicBezTo>
                  <a:pt x="0" y="68288"/>
                  <a:pt x="68288" y="0"/>
                  <a:pt x="152400" y="0"/>
                </a:cubicBezTo>
                <a:close/>
              </a:path>
            </a:pathLst>
          </a:custGeom>
          <a:solidFill>
            <a:srgbClr val="E89F5B"/>
          </a:solidFill>
          <a:ln/>
        </p:spPr>
      </p:sp>
      <p:sp>
        <p:nvSpPr>
          <p:cNvPr id="8" name="Text 6"/>
          <p:cNvSpPr/>
          <p:nvPr/>
        </p:nvSpPr>
        <p:spPr>
          <a:xfrm>
            <a:off x="787400" y="2400300"/>
            <a:ext cx="381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fr-FR" sz="1200" b="1" smtClean="0">
                <a:solidFill>
                  <a:srgbClr val="1A1D21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1</a:t>
            </a:r>
            <a:endParaRPr lang="fr-FR" sz="1600" dirty="0"/>
          </a:p>
        </p:txBody>
      </p:sp>
      <p:sp>
        <p:nvSpPr>
          <p:cNvPr id="9" name="Text 7"/>
          <p:cNvSpPr/>
          <p:nvPr/>
        </p:nvSpPr>
        <p:spPr>
          <a:xfrm>
            <a:off x="1231900" y="2425700"/>
            <a:ext cx="12446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fr-FR" sz="1400" dirty="0" smtClean="0">
                <a:solidFill>
                  <a:srgbClr val="E8E8E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Vérif. sécurités</a:t>
            </a:r>
            <a:endParaRPr lang="fr-FR" sz="1600" dirty="0"/>
          </a:p>
        </p:txBody>
      </p:sp>
      <p:sp>
        <p:nvSpPr>
          <p:cNvPr id="10" name="Shape 8"/>
          <p:cNvSpPr/>
          <p:nvPr/>
        </p:nvSpPr>
        <p:spPr>
          <a:xfrm>
            <a:off x="3361134" y="2298700"/>
            <a:ext cx="2540000" cy="508000"/>
          </a:xfrm>
          <a:custGeom>
            <a:avLst/>
            <a:gdLst/>
            <a:ahLst/>
            <a:cxnLst/>
            <a:rect l="l" t="t" r="r" b="b"/>
            <a:pathLst>
              <a:path w="2540000" h="508000">
                <a:moveTo>
                  <a:pt x="50800" y="0"/>
                </a:moveTo>
                <a:lnTo>
                  <a:pt x="2489200" y="0"/>
                </a:lnTo>
                <a:cubicBezTo>
                  <a:pt x="2517237" y="0"/>
                  <a:pt x="2540000" y="22763"/>
                  <a:pt x="2540000" y="50800"/>
                </a:cubicBezTo>
                <a:lnTo>
                  <a:pt x="2540000" y="457200"/>
                </a:lnTo>
                <a:cubicBezTo>
                  <a:pt x="2540000" y="485237"/>
                  <a:pt x="2517237" y="508000"/>
                  <a:pt x="2489200" y="508000"/>
                </a:cubicBezTo>
                <a:lnTo>
                  <a:pt x="50800" y="508000"/>
                </a:lnTo>
                <a:cubicBezTo>
                  <a:pt x="22763" y="508000"/>
                  <a:pt x="0" y="485237"/>
                  <a:pt x="0" y="457200"/>
                </a:cubicBezTo>
                <a:lnTo>
                  <a:pt x="0" y="50800"/>
                </a:lnTo>
                <a:cubicBezTo>
                  <a:pt x="0" y="22763"/>
                  <a:pt x="22763" y="0"/>
                  <a:pt x="50800" y="0"/>
                </a:cubicBezTo>
                <a:close/>
              </a:path>
            </a:pathLst>
          </a:custGeom>
          <a:solidFill>
            <a:srgbClr val="1A1D21"/>
          </a:solidFill>
          <a:ln/>
        </p:spPr>
      </p:sp>
      <p:sp>
        <p:nvSpPr>
          <p:cNvPr id="11" name="Shape 9"/>
          <p:cNvSpPr/>
          <p:nvPr/>
        </p:nvSpPr>
        <p:spPr>
          <a:xfrm>
            <a:off x="3462734" y="24003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152400" y="0"/>
                </a:moveTo>
                <a:lnTo>
                  <a:pt x="152400" y="0"/>
                </a:lnTo>
                <a:cubicBezTo>
                  <a:pt x="236512" y="0"/>
                  <a:pt x="304800" y="68288"/>
                  <a:pt x="304800" y="152400"/>
                </a:cubicBezTo>
                <a:lnTo>
                  <a:pt x="304800" y="152400"/>
                </a:lnTo>
                <a:cubicBezTo>
                  <a:pt x="304800" y="236512"/>
                  <a:pt x="236512" y="304800"/>
                  <a:pt x="152400" y="304800"/>
                </a:cubicBezTo>
                <a:lnTo>
                  <a:pt x="152400" y="304800"/>
                </a:lnTo>
                <a:cubicBezTo>
                  <a:pt x="68288" y="304800"/>
                  <a:pt x="0" y="236512"/>
                  <a:pt x="0" y="152400"/>
                </a:cubicBezTo>
                <a:lnTo>
                  <a:pt x="0" y="152400"/>
                </a:lnTo>
                <a:cubicBezTo>
                  <a:pt x="0" y="68288"/>
                  <a:pt x="68288" y="0"/>
                  <a:pt x="152400" y="0"/>
                </a:cubicBezTo>
                <a:close/>
              </a:path>
            </a:pathLst>
          </a:custGeom>
          <a:solidFill>
            <a:srgbClr val="E89F5B"/>
          </a:solidFill>
          <a:ln/>
        </p:spPr>
      </p:sp>
      <p:sp>
        <p:nvSpPr>
          <p:cNvPr id="12" name="Text 10"/>
          <p:cNvSpPr/>
          <p:nvPr/>
        </p:nvSpPr>
        <p:spPr>
          <a:xfrm>
            <a:off x="3424634" y="2400300"/>
            <a:ext cx="381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fr-FR" sz="1200" b="1" smtClean="0">
                <a:solidFill>
                  <a:srgbClr val="1A1D21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2</a:t>
            </a:r>
            <a:endParaRPr lang="fr-FR" sz="1600" dirty="0"/>
          </a:p>
        </p:txBody>
      </p:sp>
      <p:sp>
        <p:nvSpPr>
          <p:cNvPr id="13" name="Text 11"/>
          <p:cNvSpPr/>
          <p:nvPr/>
        </p:nvSpPr>
        <p:spPr>
          <a:xfrm>
            <a:off x="3869134" y="2425700"/>
            <a:ext cx="11176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fr-FR" sz="1400" smtClean="0">
                <a:solidFill>
                  <a:srgbClr val="E8E8E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Détection clé</a:t>
            </a:r>
            <a:endParaRPr lang="fr-FR" sz="1600" dirty="0"/>
          </a:p>
        </p:txBody>
      </p:sp>
      <p:sp>
        <p:nvSpPr>
          <p:cNvPr id="14" name="Shape 12"/>
          <p:cNvSpPr/>
          <p:nvPr/>
        </p:nvSpPr>
        <p:spPr>
          <a:xfrm>
            <a:off x="5998567" y="2298700"/>
            <a:ext cx="2540000" cy="508000"/>
          </a:xfrm>
          <a:custGeom>
            <a:avLst/>
            <a:gdLst/>
            <a:ahLst/>
            <a:cxnLst/>
            <a:rect l="l" t="t" r="r" b="b"/>
            <a:pathLst>
              <a:path w="2540000" h="508000">
                <a:moveTo>
                  <a:pt x="50800" y="0"/>
                </a:moveTo>
                <a:lnTo>
                  <a:pt x="2489200" y="0"/>
                </a:lnTo>
                <a:cubicBezTo>
                  <a:pt x="2517237" y="0"/>
                  <a:pt x="2540000" y="22763"/>
                  <a:pt x="2540000" y="50800"/>
                </a:cubicBezTo>
                <a:lnTo>
                  <a:pt x="2540000" y="457200"/>
                </a:lnTo>
                <a:cubicBezTo>
                  <a:pt x="2540000" y="485237"/>
                  <a:pt x="2517237" y="508000"/>
                  <a:pt x="2489200" y="508000"/>
                </a:cubicBezTo>
                <a:lnTo>
                  <a:pt x="50800" y="508000"/>
                </a:lnTo>
                <a:cubicBezTo>
                  <a:pt x="22763" y="508000"/>
                  <a:pt x="0" y="485237"/>
                  <a:pt x="0" y="457200"/>
                </a:cubicBezTo>
                <a:lnTo>
                  <a:pt x="0" y="50800"/>
                </a:lnTo>
                <a:cubicBezTo>
                  <a:pt x="0" y="22763"/>
                  <a:pt x="22763" y="0"/>
                  <a:pt x="50800" y="0"/>
                </a:cubicBezTo>
                <a:close/>
              </a:path>
            </a:pathLst>
          </a:custGeom>
          <a:solidFill>
            <a:srgbClr val="1A1D21"/>
          </a:solidFill>
          <a:ln/>
        </p:spPr>
      </p:sp>
      <p:sp>
        <p:nvSpPr>
          <p:cNvPr id="15" name="Shape 13"/>
          <p:cNvSpPr/>
          <p:nvPr/>
        </p:nvSpPr>
        <p:spPr>
          <a:xfrm>
            <a:off x="6100167" y="24003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152400" y="0"/>
                </a:moveTo>
                <a:lnTo>
                  <a:pt x="152400" y="0"/>
                </a:lnTo>
                <a:cubicBezTo>
                  <a:pt x="236512" y="0"/>
                  <a:pt x="304800" y="68288"/>
                  <a:pt x="304800" y="152400"/>
                </a:cubicBezTo>
                <a:lnTo>
                  <a:pt x="304800" y="152400"/>
                </a:lnTo>
                <a:cubicBezTo>
                  <a:pt x="304800" y="236512"/>
                  <a:pt x="236512" y="304800"/>
                  <a:pt x="152400" y="304800"/>
                </a:cubicBezTo>
                <a:lnTo>
                  <a:pt x="152400" y="304800"/>
                </a:lnTo>
                <a:cubicBezTo>
                  <a:pt x="68288" y="304800"/>
                  <a:pt x="0" y="236512"/>
                  <a:pt x="0" y="152400"/>
                </a:cubicBezTo>
                <a:lnTo>
                  <a:pt x="0" y="152400"/>
                </a:lnTo>
                <a:cubicBezTo>
                  <a:pt x="0" y="68288"/>
                  <a:pt x="68288" y="0"/>
                  <a:pt x="152400" y="0"/>
                </a:cubicBezTo>
                <a:close/>
              </a:path>
            </a:pathLst>
          </a:custGeom>
          <a:solidFill>
            <a:srgbClr val="E89F5B"/>
          </a:solidFill>
          <a:ln/>
        </p:spPr>
      </p:sp>
      <p:sp>
        <p:nvSpPr>
          <p:cNvPr id="16" name="Text 14"/>
          <p:cNvSpPr/>
          <p:nvPr/>
        </p:nvSpPr>
        <p:spPr>
          <a:xfrm>
            <a:off x="6062067" y="2400300"/>
            <a:ext cx="381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fr-FR" sz="1200" b="1" smtClean="0">
                <a:solidFill>
                  <a:srgbClr val="1A1D21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3</a:t>
            </a:r>
            <a:endParaRPr lang="fr-FR" sz="1600" dirty="0"/>
          </a:p>
        </p:txBody>
      </p:sp>
      <p:sp>
        <p:nvSpPr>
          <p:cNvPr id="17" name="Text 15"/>
          <p:cNvSpPr/>
          <p:nvPr/>
        </p:nvSpPr>
        <p:spPr>
          <a:xfrm>
            <a:off x="6506567" y="2425700"/>
            <a:ext cx="13208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fr-FR" sz="1400" smtClean="0">
                <a:solidFill>
                  <a:srgbClr val="E8E8E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Positionnement</a:t>
            </a:r>
            <a:endParaRPr lang="fr-FR" sz="1600" dirty="0"/>
          </a:p>
        </p:txBody>
      </p:sp>
      <p:sp>
        <p:nvSpPr>
          <p:cNvPr id="18" name="Shape 16"/>
          <p:cNvSpPr/>
          <p:nvPr/>
        </p:nvSpPr>
        <p:spPr>
          <a:xfrm>
            <a:off x="723900" y="2908300"/>
            <a:ext cx="2540000" cy="508000"/>
          </a:xfrm>
          <a:custGeom>
            <a:avLst/>
            <a:gdLst/>
            <a:ahLst/>
            <a:cxnLst/>
            <a:rect l="l" t="t" r="r" b="b"/>
            <a:pathLst>
              <a:path w="2540000" h="508000">
                <a:moveTo>
                  <a:pt x="50800" y="0"/>
                </a:moveTo>
                <a:lnTo>
                  <a:pt x="2489200" y="0"/>
                </a:lnTo>
                <a:cubicBezTo>
                  <a:pt x="2517237" y="0"/>
                  <a:pt x="2540000" y="22763"/>
                  <a:pt x="2540000" y="50800"/>
                </a:cubicBezTo>
                <a:lnTo>
                  <a:pt x="2540000" y="457200"/>
                </a:lnTo>
                <a:cubicBezTo>
                  <a:pt x="2540000" y="485237"/>
                  <a:pt x="2517237" y="508000"/>
                  <a:pt x="2489200" y="508000"/>
                </a:cubicBezTo>
                <a:lnTo>
                  <a:pt x="50800" y="508000"/>
                </a:lnTo>
                <a:cubicBezTo>
                  <a:pt x="22763" y="508000"/>
                  <a:pt x="0" y="485237"/>
                  <a:pt x="0" y="457200"/>
                </a:cubicBezTo>
                <a:lnTo>
                  <a:pt x="0" y="50800"/>
                </a:lnTo>
                <a:cubicBezTo>
                  <a:pt x="0" y="22763"/>
                  <a:pt x="22763" y="0"/>
                  <a:pt x="50800" y="0"/>
                </a:cubicBezTo>
                <a:close/>
              </a:path>
            </a:pathLst>
          </a:custGeom>
          <a:solidFill>
            <a:srgbClr val="1A1D21"/>
          </a:solidFill>
          <a:ln/>
        </p:spPr>
      </p:sp>
      <p:sp>
        <p:nvSpPr>
          <p:cNvPr id="19" name="Shape 17"/>
          <p:cNvSpPr/>
          <p:nvPr/>
        </p:nvSpPr>
        <p:spPr>
          <a:xfrm>
            <a:off x="825500" y="30099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152400" y="0"/>
                </a:moveTo>
                <a:lnTo>
                  <a:pt x="152400" y="0"/>
                </a:lnTo>
                <a:cubicBezTo>
                  <a:pt x="236512" y="0"/>
                  <a:pt x="304800" y="68288"/>
                  <a:pt x="304800" y="152400"/>
                </a:cubicBezTo>
                <a:lnTo>
                  <a:pt x="304800" y="152400"/>
                </a:lnTo>
                <a:cubicBezTo>
                  <a:pt x="304800" y="236512"/>
                  <a:pt x="236512" y="304800"/>
                  <a:pt x="152400" y="304800"/>
                </a:cubicBezTo>
                <a:lnTo>
                  <a:pt x="152400" y="304800"/>
                </a:lnTo>
                <a:cubicBezTo>
                  <a:pt x="68288" y="304800"/>
                  <a:pt x="0" y="236512"/>
                  <a:pt x="0" y="152400"/>
                </a:cubicBezTo>
                <a:lnTo>
                  <a:pt x="0" y="152400"/>
                </a:lnTo>
                <a:cubicBezTo>
                  <a:pt x="0" y="68288"/>
                  <a:pt x="68288" y="0"/>
                  <a:pt x="152400" y="0"/>
                </a:cubicBezTo>
                <a:close/>
              </a:path>
            </a:pathLst>
          </a:custGeom>
          <a:solidFill>
            <a:srgbClr val="4A6C8C"/>
          </a:solidFill>
          <a:ln/>
        </p:spPr>
      </p:sp>
      <p:sp>
        <p:nvSpPr>
          <p:cNvPr id="20" name="Text 18"/>
          <p:cNvSpPr/>
          <p:nvPr/>
        </p:nvSpPr>
        <p:spPr>
          <a:xfrm>
            <a:off x="787400" y="3009900"/>
            <a:ext cx="381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fr-FR" sz="1200" b="1" smtClean="0">
                <a:solidFill>
                  <a:srgbClr val="E8E8E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4</a:t>
            </a:r>
            <a:endParaRPr lang="fr-FR" sz="1600" dirty="0"/>
          </a:p>
        </p:txBody>
      </p:sp>
      <p:sp>
        <p:nvSpPr>
          <p:cNvPr id="21" name="Text 19"/>
          <p:cNvSpPr/>
          <p:nvPr/>
        </p:nvSpPr>
        <p:spPr>
          <a:xfrm>
            <a:off x="1231900" y="3035300"/>
            <a:ext cx="14224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fr-FR" sz="1400" smtClean="0">
                <a:solidFill>
                  <a:srgbClr val="E8E8E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Sélection moteur</a:t>
            </a:r>
            <a:endParaRPr lang="fr-FR" sz="1600" dirty="0"/>
          </a:p>
        </p:txBody>
      </p:sp>
      <p:sp>
        <p:nvSpPr>
          <p:cNvPr id="22" name="Shape 20"/>
          <p:cNvSpPr/>
          <p:nvPr/>
        </p:nvSpPr>
        <p:spPr>
          <a:xfrm>
            <a:off x="3361134" y="2908300"/>
            <a:ext cx="2540000" cy="508000"/>
          </a:xfrm>
          <a:custGeom>
            <a:avLst/>
            <a:gdLst/>
            <a:ahLst/>
            <a:cxnLst/>
            <a:rect l="l" t="t" r="r" b="b"/>
            <a:pathLst>
              <a:path w="2540000" h="508000">
                <a:moveTo>
                  <a:pt x="50800" y="0"/>
                </a:moveTo>
                <a:lnTo>
                  <a:pt x="2489200" y="0"/>
                </a:lnTo>
                <a:cubicBezTo>
                  <a:pt x="2517237" y="0"/>
                  <a:pt x="2540000" y="22763"/>
                  <a:pt x="2540000" y="50800"/>
                </a:cubicBezTo>
                <a:lnTo>
                  <a:pt x="2540000" y="457200"/>
                </a:lnTo>
                <a:cubicBezTo>
                  <a:pt x="2540000" y="485237"/>
                  <a:pt x="2517237" y="508000"/>
                  <a:pt x="2489200" y="508000"/>
                </a:cubicBezTo>
                <a:lnTo>
                  <a:pt x="50800" y="508000"/>
                </a:lnTo>
                <a:cubicBezTo>
                  <a:pt x="22763" y="508000"/>
                  <a:pt x="0" y="485237"/>
                  <a:pt x="0" y="457200"/>
                </a:cubicBezTo>
                <a:lnTo>
                  <a:pt x="0" y="50800"/>
                </a:lnTo>
                <a:cubicBezTo>
                  <a:pt x="0" y="22763"/>
                  <a:pt x="22763" y="0"/>
                  <a:pt x="50800" y="0"/>
                </a:cubicBezTo>
                <a:close/>
              </a:path>
            </a:pathLst>
          </a:custGeom>
          <a:solidFill>
            <a:srgbClr val="1A1D21"/>
          </a:solidFill>
          <a:ln/>
        </p:spPr>
      </p:sp>
      <p:sp>
        <p:nvSpPr>
          <p:cNvPr id="23" name="Shape 21"/>
          <p:cNvSpPr/>
          <p:nvPr/>
        </p:nvSpPr>
        <p:spPr>
          <a:xfrm>
            <a:off x="3462734" y="30099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152400" y="0"/>
                </a:moveTo>
                <a:lnTo>
                  <a:pt x="152400" y="0"/>
                </a:lnTo>
                <a:cubicBezTo>
                  <a:pt x="236512" y="0"/>
                  <a:pt x="304800" y="68288"/>
                  <a:pt x="304800" y="152400"/>
                </a:cubicBezTo>
                <a:lnTo>
                  <a:pt x="304800" y="152400"/>
                </a:lnTo>
                <a:cubicBezTo>
                  <a:pt x="304800" y="236512"/>
                  <a:pt x="236512" y="304800"/>
                  <a:pt x="152400" y="304800"/>
                </a:cubicBezTo>
                <a:lnTo>
                  <a:pt x="152400" y="304800"/>
                </a:lnTo>
                <a:cubicBezTo>
                  <a:pt x="68288" y="304800"/>
                  <a:pt x="0" y="236512"/>
                  <a:pt x="0" y="152400"/>
                </a:cubicBezTo>
                <a:lnTo>
                  <a:pt x="0" y="152400"/>
                </a:lnTo>
                <a:cubicBezTo>
                  <a:pt x="0" y="68288"/>
                  <a:pt x="68288" y="0"/>
                  <a:pt x="152400" y="0"/>
                </a:cubicBezTo>
                <a:close/>
              </a:path>
            </a:pathLst>
          </a:custGeom>
          <a:solidFill>
            <a:srgbClr val="4A6C8C"/>
          </a:solidFill>
          <a:ln/>
        </p:spPr>
      </p:sp>
      <p:sp>
        <p:nvSpPr>
          <p:cNvPr id="24" name="Text 22"/>
          <p:cNvSpPr/>
          <p:nvPr/>
        </p:nvSpPr>
        <p:spPr>
          <a:xfrm>
            <a:off x="3424634" y="3009900"/>
            <a:ext cx="381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fr-FR" sz="1200" b="1" smtClean="0">
                <a:solidFill>
                  <a:srgbClr val="E8E8E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5</a:t>
            </a:r>
            <a:endParaRPr lang="fr-FR" sz="1600" dirty="0"/>
          </a:p>
        </p:txBody>
      </p:sp>
      <p:sp>
        <p:nvSpPr>
          <p:cNvPr id="25" name="Text 23"/>
          <p:cNvSpPr/>
          <p:nvPr/>
        </p:nvSpPr>
        <p:spPr>
          <a:xfrm>
            <a:off x="3869134" y="3035300"/>
            <a:ext cx="11049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fr-FR" sz="1400" smtClean="0">
                <a:solidFill>
                  <a:srgbClr val="E8E8E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Appli. couple</a:t>
            </a:r>
            <a:endParaRPr lang="fr-FR" sz="1600" dirty="0"/>
          </a:p>
        </p:txBody>
      </p:sp>
      <p:sp>
        <p:nvSpPr>
          <p:cNvPr id="26" name="Shape 24"/>
          <p:cNvSpPr/>
          <p:nvPr/>
        </p:nvSpPr>
        <p:spPr>
          <a:xfrm>
            <a:off x="5998567" y="2908300"/>
            <a:ext cx="2540000" cy="508000"/>
          </a:xfrm>
          <a:custGeom>
            <a:avLst/>
            <a:gdLst/>
            <a:ahLst/>
            <a:cxnLst/>
            <a:rect l="l" t="t" r="r" b="b"/>
            <a:pathLst>
              <a:path w="2540000" h="508000">
                <a:moveTo>
                  <a:pt x="50800" y="0"/>
                </a:moveTo>
                <a:lnTo>
                  <a:pt x="2489200" y="0"/>
                </a:lnTo>
                <a:cubicBezTo>
                  <a:pt x="2517237" y="0"/>
                  <a:pt x="2540000" y="22763"/>
                  <a:pt x="2540000" y="50800"/>
                </a:cubicBezTo>
                <a:lnTo>
                  <a:pt x="2540000" y="457200"/>
                </a:lnTo>
                <a:cubicBezTo>
                  <a:pt x="2540000" y="485237"/>
                  <a:pt x="2517237" y="508000"/>
                  <a:pt x="2489200" y="508000"/>
                </a:cubicBezTo>
                <a:lnTo>
                  <a:pt x="50800" y="508000"/>
                </a:lnTo>
                <a:cubicBezTo>
                  <a:pt x="22763" y="508000"/>
                  <a:pt x="0" y="485237"/>
                  <a:pt x="0" y="457200"/>
                </a:cubicBezTo>
                <a:lnTo>
                  <a:pt x="0" y="50800"/>
                </a:lnTo>
                <a:cubicBezTo>
                  <a:pt x="0" y="22763"/>
                  <a:pt x="22763" y="0"/>
                  <a:pt x="50800" y="0"/>
                </a:cubicBezTo>
                <a:close/>
              </a:path>
            </a:pathLst>
          </a:custGeom>
          <a:solidFill>
            <a:srgbClr val="1A1D21"/>
          </a:solidFill>
          <a:ln/>
        </p:spPr>
      </p:sp>
      <p:sp>
        <p:nvSpPr>
          <p:cNvPr id="27" name="Shape 25"/>
          <p:cNvSpPr/>
          <p:nvPr/>
        </p:nvSpPr>
        <p:spPr>
          <a:xfrm>
            <a:off x="6100167" y="30099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152400" y="0"/>
                </a:moveTo>
                <a:lnTo>
                  <a:pt x="152400" y="0"/>
                </a:lnTo>
                <a:cubicBezTo>
                  <a:pt x="236512" y="0"/>
                  <a:pt x="304800" y="68288"/>
                  <a:pt x="304800" y="152400"/>
                </a:cubicBezTo>
                <a:lnTo>
                  <a:pt x="304800" y="152400"/>
                </a:lnTo>
                <a:cubicBezTo>
                  <a:pt x="304800" y="236512"/>
                  <a:pt x="236512" y="304800"/>
                  <a:pt x="152400" y="304800"/>
                </a:cubicBezTo>
                <a:lnTo>
                  <a:pt x="152400" y="304800"/>
                </a:lnTo>
                <a:cubicBezTo>
                  <a:pt x="68288" y="304800"/>
                  <a:pt x="0" y="236512"/>
                  <a:pt x="0" y="152400"/>
                </a:cubicBezTo>
                <a:lnTo>
                  <a:pt x="0" y="152400"/>
                </a:lnTo>
                <a:cubicBezTo>
                  <a:pt x="0" y="68288"/>
                  <a:pt x="68288" y="0"/>
                  <a:pt x="152400" y="0"/>
                </a:cubicBezTo>
                <a:close/>
              </a:path>
            </a:pathLst>
          </a:custGeom>
          <a:solidFill>
            <a:srgbClr val="4A6C8C"/>
          </a:solidFill>
          <a:ln/>
        </p:spPr>
      </p:sp>
      <p:sp>
        <p:nvSpPr>
          <p:cNvPr id="28" name="Text 26"/>
          <p:cNvSpPr/>
          <p:nvPr/>
        </p:nvSpPr>
        <p:spPr>
          <a:xfrm>
            <a:off x="6062067" y="3009900"/>
            <a:ext cx="381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fr-FR" sz="1200" b="1" smtClean="0">
                <a:solidFill>
                  <a:srgbClr val="E8E8E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6</a:t>
            </a:r>
            <a:endParaRPr lang="fr-FR" sz="1600" dirty="0"/>
          </a:p>
        </p:txBody>
      </p:sp>
      <p:sp>
        <p:nvSpPr>
          <p:cNvPr id="29" name="Text 27"/>
          <p:cNvSpPr/>
          <p:nvPr/>
        </p:nvSpPr>
        <p:spPr>
          <a:xfrm>
            <a:off x="6506567" y="3035300"/>
            <a:ext cx="10541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fr-FR" sz="1400" smtClean="0">
                <a:solidFill>
                  <a:srgbClr val="E8E8E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Stabilisation</a:t>
            </a:r>
            <a:endParaRPr lang="fr-FR" sz="1600" dirty="0"/>
          </a:p>
        </p:txBody>
      </p:sp>
      <p:sp>
        <p:nvSpPr>
          <p:cNvPr id="30" name="Shape 28"/>
          <p:cNvSpPr/>
          <p:nvPr/>
        </p:nvSpPr>
        <p:spPr>
          <a:xfrm>
            <a:off x="723900" y="3517900"/>
            <a:ext cx="2540000" cy="508000"/>
          </a:xfrm>
          <a:custGeom>
            <a:avLst/>
            <a:gdLst/>
            <a:ahLst/>
            <a:cxnLst/>
            <a:rect l="l" t="t" r="r" b="b"/>
            <a:pathLst>
              <a:path w="2540000" h="508000">
                <a:moveTo>
                  <a:pt x="50800" y="0"/>
                </a:moveTo>
                <a:lnTo>
                  <a:pt x="2489200" y="0"/>
                </a:lnTo>
                <a:cubicBezTo>
                  <a:pt x="2517237" y="0"/>
                  <a:pt x="2540000" y="22763"/>
                  <a:pt x="2540000" y="50800"/>
                </a:cubicBezTo>
                <a:lnTo>
                  <a:pt x="2540000" y="457200"/>
                </a:lnTo>
                <a:cubicBezTo>
                  <a:pt x="2540000" y="485237"/>
                  <a:pt x="2517237" y="508000"/>
                  <a:pt x="2489200" y="508000"/>
                </a:cubicBezTo>
                <a:lnTo>
                  <a:pt x="50800" y="508000"/>
                </a:lnTo>
                <a:cubicBezTo>
                  <a:pt x="22763" y="508000"/>
                  <a:pt x="0" y="485237"/>
                  <a:pt x="0" y="457200"/>
                </a:cubicBezTo>
                <a:lnTo>
                  <a:pt x="0" y="50800"/>
                </a:lnTo>
                <a:cubicBezTo>
                  <a:pt x="0" y="22763"/>
                  <a:pt x="22763" y="0"/>
                  <a:pt x="50800" y="0"/>
                </a:cubicBezTo>
                <a:close/>
              </a:path>
            </a:pathLst>
          </a:custGeom>
          <a:solidFill>
            <a:srgbClr val="1A1D21"/>
          </a:solidFill>
          <a:ln/>
        </p:spPr>
      </p:sp>
      <p:sp>
        <p:nvSpPr>
          <p:cNvPr id="31" name="Shape 29"/>
          <p:cNvSpPr/>
          <p:nvPr/>
        </p:nvSpPr>
        <p:spPr>
          <a:xfrm>
            <a:off x="825500" y="36195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152400" y="0"/>
                </a:moveTo>
                <a:lnTo>
                  <a:pt x="152400" y="0"/>
                </a:lnTo>
                <a:cubicBezTo>
                  <a:pt x="236512" y="0"/>
                  <a:pt x="304800" y="68288"/>
                  <a:pt x="304800" y="152400"/>
                </a:cubicBezTo>
                <a:lnTo>
                  <a:pt x="304800" y="152400"/>
                </a:lnTo>
                <a:cubicBezTo>
                  <a:pt x="304800" y="236512"/>
                  <a:pt x="236512" y="304800"/>
                  <a:pt x="152400" y="304800"/>
                </a:cubicBezTo>
                <a:lnTo>
                  <a:pt x="152400" y="304800"/>
                </a:lnTo>
                <a:cubicBezTo>
                  <a:pt x="68288" y="304800"/>
                  <a:pt x="0" y="236512"/>
                  <a:pt x="0" y="152400"/>
                </a:cubicBezTo>
                <a:lnTo>
                  <a:pt x="0" y="152400"/>
                </a:lnTo>
                <a:cubicBezTo>
                  <a:pt x="0" y="68288"/>
                  <a:pt x="68288" y="0"/>
                  <a:pt x="152400" y="0"/>
                </a:cubicBezTo>
                <a:close/>
              </a:path>
            </a:pathLst>
          </a:custGeom>
          <a:solidFill>
            <a:srgbClr val="7D8A9B"/>
          </a:solidFill>
          <a:ln/>
        </p:spPr>
      </p:sp>
      <p:sp>
        <p:nvSpPr>
          <p:cNvPr id="32" name="Text 30"/>
          <p:cNvSpPr/>
          <p:nvPr/>
        </p:nvSpPr>
        <p:spPr>
          <a:xfrm>
            <a:off x="787400" y="3619500"/>
            <a:ext cx="381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fr-FR" sz="1200" b="1" smtClean="0">
                <a:solidFill>
                  <a:srgbClr val="E8E8E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7</a:t>
            </a:r>
            <a:endParaRPr lang="fr-FR" sz="1600" dirty="0"/>
          </a:p>
        </p:txBody>
      </p:sp>
      <p:sp>
        <p:nvSpPr>
          <p:cNvPr id="33" name="Text 31"/>
          <p:cNvSpPr/>
          <p:nvPr/>
        </p:nvSpPr>
        <p:spPr>
          <a:xfrm>
            <a:off x="1231900" y="3644900"/>
            <a:ext cx="9652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fr-FR" sz="1400" smtClean="0">
                <a:solidFill>
                  <a:srgbClr val="E8E8E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Acquisition</a:t>
            </a:r>
            <a:endParaRPr lang="fr-FR" sz="1600" dirty="0"/>
          </a:p>
        </p:txBody>
      </p:sp>
      <p:sp>
        <p:nvSpPr>
          <p:cNvPr id="34" name="Shape 32"/>
          <p:cNvSpPr/>
          <p:nvPr/>
        </p:nvSpPr>
        <p:spPr>
          <a:xfrm>
            <a:off x="3361134" y="3517900"/>
            <a:ext cx="2540000" cy="508000"/>
          </a:xfrm>
          <a:custGeom>
            <a:avLst/>
            <a:gdLst/>
            <a:ahLst/>
            <a:cxnLst/>
            <a:rect l="l" t="t" r="r" b="b"/>
            <a:pathLst>
              <a:path w="2540000" h="508000">
                <a:moveTo>
                  <a:pt x="50800" y="0"/>
                </a:moveTo>
                <a:lnTo>
                  <a:pt x="2489200" y="0"/>
                </a:lnTo>
                <a:cubicBezTo>
                  <a:pt x="2517237" y="0"/>
                  <a:pt x="2540000" y="22763"/>
                  <a:pt x="2540000" y="50800"/>
                </a:cubicBezTo>
                <a:lnTo>
                  <a:pt x="2540000" y="457200"/>
                </a:lnTo>
                <a:cubicBezTo>
                  <a:pt x="2540000" y="485237"/>
                  <a:pt x="2517237" y="508000"/>
                  <a:pt x="2489200" y="508000"/>
                </a:cubicBezTo>
                <a:lnTo>
                  <a:pt x="50800" y="508000"/>
                </a:lnTo>
                <a:cubicBezTo>
                  <a:pt x="22763" y="508000"/>
                  <a:pt x="0" y="485237"/>
                  <a:pt x="0" y="457200"/>
                </a:cubicBezTo>
                <a:lnTo>
                  <a:pt x="0" y="50800"/>
                </a:lnTo>
                <a:cubicBezTo>
                  <a:pt x="0" y="22763"/>
                  <a:pt x="22763" y="0"/>
                  <a:pt x="50800" y="0"/>
                </a:cubicBezTo>
                <a:close/>
              </a:path>
            </a:pathLst>
          </a:custGeom>
          <a:solidFill>
            <a:srgbClr val="1A1D21"/>
          </a:solidFill>
          <a:ln/>
        </p:spPr>
      </p:sp>
      <p:sp>
        <p:nvSpPr>
          <p:cNvPr id="35" name="Shape 33"/>
          <p:cNvSpPr/>
          <p:nvPr/>
        </p:nvSpPr>
        <p:spPr>
          <a:xfrm>
            <a:off x="3462734" y="36195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152400" y="0"/>
                </a:moveTo>
                <a:lnTo>
                  <a:pt x="152400" y="0"/>
                </a:lnTo>
                <a:cubicBezTo>
                  <a:pt x="236512" y="0"/>
                  <a:pt x="304800" y="68288"/>
                  <a:pt x="304800" y="152400"/>
                </a:cubicBezTo>
                <a:lnTo>
                  <a:pt x="304800" y="152400"/>
                </a:lnTo>
                <a:cubicBezTo>
                  <a:pt x="304800" y="236512"/>
                  <a:pt x="236512" y="304800"/>
                  <a:pt x="152400" y="304800"/>
                </a:cubicBezTo>
                <a:lnTo>
                  <a:pt x="152400" y="304800"/>
                </a:lnTo>
                <a:cubicBezTo>
                  <a:pt x="68288" y="304800"/>
                  <a:pt x="0" y="236512"/>
                  <a:pt x="0" y="152400"/>
                </a:cubicBezTo>
                <a:lnTo>
                  <a:pt x="0" y="152400"/>
                </a:lnTo>
                <a:cubicBezTo>
                  <a:pt x="0" y="68288"/>
                  <a:pt x="68288" y="0"/>
                  <a:pt x="152400" y="0"/>
                </a:cubicBezTo>
                <a:close/>
              </a:path>
            </a:pathLst>
          </a:custGeom>
          <a:solidFill>
            <a:srgbClr val="7D8A9B"/>
          </a:solidFill>
          <a:ln/>
        </p:spPr>
      </p:sp>
      <p:sp>
        <p:nvSpPr>
          <p:cNvPr id="36" name="Text 34"/>
          <p:cNvSpPr/>
          <p:nvPr/>
        </p:nvSpPr>
        <p:spPr>
          <a:xfrm>
            <a:off x="3424634" y="3619500"/>
            <a:ext cx="381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fr-FR" sz="1200" b="1" smtClean="0">
                <a:solidFill>
                  <a:srgbClr val="E8E8E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8</a:t>
            </a:r>
            <a:endParaRPr lang="fr-FR" sz="1600" dirty="0"/>
          </a:p>
        </p:txBody>
      </p:sp>
      <p:sp>
        <p:nvSpPr>
          <p:cNvPr id="37" name="Text 35"/>
          <p:cNvSpPr/>
          <p:nvPr/>
        </p:nvSpPr>
        <p:spPr>
          <a:xfrm>
            <a:off x="3869134" y="3644900"/>
            <a:ext cx="138174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fr-FR" sz="1400" smtClean="0">
                <a:solidFill>
                  <a:srgbClr val="E8E8E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Retour position</a:t>
            </a:r>
            <a:endParaRPr lang="fr-FR" sz="1600" dirty="0"/>
          </a:p>
        </p:txBody>
      </p:sp>
      <p:sp>
        <p:nvSpPr>
          <p:cNvPr id="38" name="Shape 36"/>
          <p:cNvSpPr/>
          <p:nvPr/>
        </p:nvSpPr>
        <p:spPr>
          <a:xfrm>
            <a:off x="5998567" y="3517900"/>
            <a:ext cx="2540000" cy="508000"/>
          </a:xfrm>
          <a:custGeom>
            <a:avLst/>
            <a:gdLst/>
            <a:ahLst/>
            <a:cxnLst/>
            <a:rect l="l" t="t" r="r" b="b"/>
            <a:pathLst>
              <a:path w="2540000" h="508000">
                <a:moveTo>
                  <a:pt x="50800" y="0"/>
                </a:moveTo>
                <a:lnTo>
                  <a:pt x="2489200" y="0"/>
                </a:lnTo>
                <a:cubicBezTo>
                  <a:pt x="2517237" y="0"/>
                  <a:pt x="2540000" y="22763"/>
                  <a:pt x="2540000" y="50800"/>
                </a:cubicBezTo>
                <a:lnTo>
                  <a:pt x="2540000" y="457200"/>
                </a:lnTo>
                <a:cubicBezTo>
                  <a:pt x="2540000" y="485237"/>
                  <a:pt x="2517237" y="508000"/>
                  <a:pt x="2489200" y="508000"/>
                </a:cubicBezTo>
                <a:lnTo>
                  <a:pt x="50800" y="508000"/>
                </a:lnTo>
                <a:cubicBezTo>
                  <a:pt x="22763" y="508000"/>
                  <a:pt x="0" y="485237"/>
                  <a:pt x="0" y="457200"/>
                </a:cubicBezTo>
                <a:lnTo>
                  <a:pt x="0" y="50800"/>
                </a:lnTo>
                <a:cubicBezTo>
                  <a:pt x="0" y="22763"/>
                  <a:pt x="22763" y="0"/>
                  <a:pt x="50800" y="0"/>
                </a:cubicBezTo>
                <a:close/>
              </a:path>
            </a:pathLst>
          </a:custGeom>
          <a:solidFill>
            <a:srgbClr val="1A1D21"/>
          </a:solidFill>
          <a:ln/>
        </p:spPr>
      </p:sp>
      <p:sp>
        <p:nvSpPr>
          <p:cNvPr id="39" name="Shape 37"/>
          <p:cNvSpPr/>
          <p:nvPr/>
        </p:nvSpPr>
        <p:spPr>
          <a:xfrm>
            <a:off x="6100167" y="36195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152400" y="0"/>
                </a:moveTo>
                <a:lnTo>
                  <a:pt x="152400" y="0"/>
                </a:lnTo>
                <a:cubicBezTo>
                  <a:pt x="236512" y="0"/>
                  <a:pt x="304800" y="68288"/>
                  <a:pt x="304800" y="152400"/>
                </a:cubicBezTo>
                <a:lnTo>
                  <a:pt x="304800" y="152400"/>
                </a:lnTo>
                <a:cubicBezTo>
                  <a:pt x="304800" y="236512"/>
                  <a:pt x="236512" y="304800"/>
                  <a:pt x="152400" y="304800"/>
                </a:cubicBezTo>
                <a:lnTo>
                  <a:pt x="152400" y="304800"/>
                </a:lnTo>
                <a:cubicBezTo>
                  <a:pt x="68288" y="304800"/>
                  <a:pt x="0" y="236512"/>
                  <a:pt x="0" y="152400"/>
                </a:cubicBezTo>
                <a:lnTo>
                  <a:pt x="0" y="152400"/>
                </a:lnTo>
                <a:cubicBezTo>
                  <a:pt x="0" y="68288"/>
                  <a:pt x="68288" y="0"/>
                  <a:pt x="152400" y="0"/>
                </a:cubicBezTo>
                <a:close/>
              </a:path>
            </a:pathLst>
          </a:custGeom>
          <a:solidFill>
            <a:srgbClr val="7D8A9B"/>
          </a:solidFill>
          <a:ln/>
        </p:spPr>
      </p:sp>
      <p:sp>
        <p:nvSpPr>
          <p:cNvPr id="40" name="Text 38"/>
          <p:cNvSpPr/>
          <p:nvPr/>
        </p:nvSpPr>
        <p:spPr>
          <a:xfrm>
            <a:off x="6062067" y="3619500"/>
            <a:ext cx="381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fr-FR" sz="1200" b="1" smtClean="0">
                <a:solidFill>
                  <a:srgbClr val="E8E8E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9</a:t>
            </a:r>
            <a:endParaRPr lang="fr-FR" sz="1600" dirty="0"/>
          </a:p>
        </p:txBody>
      </p:sp>
      <p:sp>
        <p:nvSpPr>
          <p:cNvPr id="41" name="Text 39"/>
          <p:cNvSpPr/>
          <p:nvPr/>
        </p:nvSpPr>
        <p:spPr>
          <a:xfrm>
            <a:off x="6506567" y="3644900"/>
            <a:ext cx="127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fr-FR" sz="1400" smtClean="0">
                <a:solidFill>
                  <a:srgbClr val="E8E8E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Calcul ISO</a:t>
            </a:r>
            <a:endParaRPr lang="fr-FR" sz="1600" dirty="0"/>
          </a:p>
        </p:txBody>
      </p:sp>
      <p:sp>
        <p:nvSpPr>
          <p:cNvPr id="42" name="Shape 40"/>
          <p:cNvSpPr/>
          <p:nvPr/>
        </p:nvSpPr>
        <p:spPr>
          <a:xfrm>
            <a:off x="723900" y="4127500"/>
            <a:ext cx="5168900" cy="508000"/>
          </a:xfrm>
          <a:custGeom>
            <a:avLst/>
            <a:gdLst/>
            <a:ahLst/>
            <a:cxnLst/>
            <a:rect l="l" t="t" r="r" b="b"/>
            <a:pathLst>
              <a:path w="5168900" h="508000">
                <a:moveTo>
                  <a:pt x="50800" y="0"/>
                </a:moveTo>
                <a:lnTo>
                  <a:pt x="5118100" y="0"/>
                </a:lnTo>
                <a:cubicBezTo>
                  <a:pt x="5146137" y="0"/>
                  <a:pt x="5168900" y="22763"/>
                  <a:pt x="5168900" y="50800"/>
                </a:cubicBezTo>
                <a:lnTo>
                  <a:pt x="5168900" y="457200"/>
                </a:lnTo>
                <a:cubicBezTo>
                  <a:pt x="5168900" y="485237"/>
                  <a:pt x="5146137" y="508000"/>
                  <a:pt x="5118100" y="508000"/>
                </a:cubicBezTo>
                <a:lnTo>
                  <a:pt x="50800" y="508000"/>
                </a:lnTo>
                <a:cubicBezTo>
                  <a:pt x="22763" y="508000"/>
                  <a:pt x="0" y="485237"/>
                  <a:pt x="0" y="457200"/>
                </a:cubicBezTo>
                <a:lnTo>
                  <a:pt x="0" y="50800"/>
                </a:lnTo>
                <a:cubicBezTo>
                  <a:pt x="0" y="22763"/>
                  <a:pt x="22763" y="0"/>
                  <a:pt x="50800" y="0"/>
                </a:cubicBezTo>
                <a:close/>
              </a:path>
            </a:pathLst>
          </a:custGeom>
          <a:solidFill>
            <a:srgbClr val="1A1D21"/>
          </a:solidFill>
          <a:ln/>
        </p:spPr>
      </p:sp>
      <p:sp>
        <p:nvSpPr>
          <p:cNvPr id="43" name="Shape 41"/>
          <p:cNvSpPr/>
          <p:nvPr/>
        </p:nvSpPr>
        <p:spPr>
          <a:xfrm>
            <a:off x="825500" y="42291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152400" y="0"/>
                </a:moveTo>
                <a:lnTo>
                  <a:pt x="152400" y="0"/>
                </a:lnTo>
                <a:cubicBezTo>
                  <a:pt x="236512" y="0"/>
                  <a:pt x="304800" y="68288"/>
                  <a:pt x="304800" y="152400"/>
                </a:cubicBezTo>
                <a:lnTo>
                  <a:pt x="304800" y="152400"/>
                </a:lnTo>
                <a:cubicBezTo>
                  <a:pt x="304800" y="236512"/>
                  <a:pt x="236512" y="304800"/>
                  <a:pt x="152400" y="304800"/>
                </a:cubicBezTo>
                <a:lnTo>
                  <a:pt x="152400" y="304800"/>
                </a:lnTo>
                <a:cubicBezTo>
                  <a:pt x="68288" y="304800"/>
                  <a:pt x="0" y="236512"/>
                  <a:pt x="0" y="152400"/>
                </a:cubicBezTo>
                <a:lnTo>
                  <a:pt x="0" y="152400"/>
                </a:lnTo>
                <a:cubicBezTo>
                  <a:pt x="0" y="68288"/>
                  <a:pt x="68288" y="0"/>
                  <a:pt x="152400" y="0"/>
                </a:cubicBezTo>
                <a:close/>
              </a:path>
            </a:pathLst>
          </a:custGeom>
          <a:solidFill>
            <a:srgbClr val="E89F5B"/>
          </a:solidFill>
          <a:ln/>
        </p:spPr>
      </p:sp>
      <p:sp>
        <p:nvSpPr>
          <p:cNvPr id="44" name="Text 42"/>
          <p:cNvSpPr/>
          <p:nvPr/>
        </p:nvSpPr>
        <p:spPr>
          <a:xfrm>
            <a:off x="787400" y="4229100"/>
            <a:ext cx="381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fr-FR" sz="1200" b="1" smtClean="0">
                <a:solidFill>
                  <a:srgbClr val="1A1D21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10</a:t>
            </a:r>
            <a:endParaRPr lang="fr-FR" sz="1600" dirty="0"/>
          </a:p>
        </p:txBody>
      </p:sp>
      <p:sp>
        <p:nvSpPr>
          <p:cNvPr id="45" name="Text 43"/>
          <p:cNvSpPr/>
          <p:nvPr/>
        </p:nvSpPr>
        <p:spPr>
          <a:xfrm>
            <a:off x="1231900" y="4254500"/>
            <a:ext cx="15621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fr-FR" sz="1400" smtClean="0">
                <a:solidFill>
                  <a:srgbClr val="E8E8E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Génération rapport</a:t>
            </a:r>
            <a:endParaRPr lang="fr-FR" sz="1600" dirty="0"/>
          </a:p>
        </p:txBody>
      </p:sp>
      <p:sp>
        <p:nvSpPr>
          <p:cNvPr id="46" name="Shape 44"/>
          <p:cNvSpPr/>
          <p:nvPr/>
        </p:nvSpPr>
        <p:spPr>
          <a:xfrm>
            <a:off x="5998567" y="4127500"/>
            <a:ext cx="2540000" cy="508000"/>
          </a:xfrm>
          <a:custGeom>
            <a:avLst/>
            <a:gdLst/>
            <a:ahLst/>
            <a:cxnLst/>
            <a:rect l="l" t="t" r="r" b="b"/>
            <a:pathLst>
              <a:path w="2540000" h="508000">
                <a:moveTo>
                  <a:pt x="50800" y="0"/>
                </a:moveTo>
                <a:lnTo>
                  <a:pt x="2489200" y="0"/>
                </a:lnTo>
                <a:cubicBezTo>
                  <a:pt x="2517237" y="0"/>
                  <a:pt x="2540000" y="22763"/>
                  <a:pt x="2540000" y="50800"/>
                </a:cubicBezTo>
                <a:lnTo>
                  <a:pt x="2540000" y="457200"/>
                </a:lnTo>
                <a:cubicBezTo>
                  <a:pt x="2540000" y="485237"/>
                  <a:pt x="2517237" y="508000"/>
                  <a:pt x="2489200" y="508000"/>
                </a:cubicBezTo>
                <a:lnTo>
                  <a:pt x="50800" y="508000"/>
                </a:lnTo>
                <a:cubicBezTo>
                  <a:pt x="22763" y="508000"/>
                  <a:pt x="0" y="485237"/>
                  <a:pt x="0" y="457200"/>
                </a:cubicBezTo>
                <a:lnTo>
                  <a:pt x="0" y="50800"/>
                </a:lnTo>
                <a:cubicBezTo>
                  <a:pt x="0" y="22763"/>
                  <a:pt x="22763" y="0"/>
                  <a:pt x="50800" y="0"/>
                </a:cubicBezTo>
                <a:close/>
              </a:path>
            </a:pathLst>
          </a:custGeom>
          <a:solidFill>
            <a:srgbClr val="1A1D21"/>
          </a:solidFill>
          <a:ln/>
        </p:spPr>
      </p:sp>
      <p:sp>
        <p:nvSpPr>
          <p:cNvPr id="47" name="Shape 45"/>
          <p:cNvSpPr/>
          <p:nvPr/>
        </p:nvSpPr>
        <p:spPr>
          <a:xfrm>
            <a:off x="6100167" y="42291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152400" y="0"/>
                </a:moveTo>
                <a:lnTo>
                  <a:pt x="152400" y="0"/>
                </a:lnTo>
                <a:cubicBezTo>
                  <a:pt x="236512" y="0"/>
                  <a:pt x="304800" y="68288"/>
                  <a:pt x="304800" y="152400"/>
                </a:cubicBezTo>
                <a:lnTo>
                  <a:pt x="304800" y="152400"/>
                </a:lnTo>
                <a:cubicBezTo>
                  <a:pt x="304800" y="236512"/>
                  <a:pt x="236512" y="304800"/>
                  <a:pt x="152400" y="304800"/>
                </a:cubicBezTo>
                <a:lnTo>
                  <a:pt x="152400" y="304800"/>
                </a:lnTo>
                <a:cubicBezTo>
                  <a:pt x="68288" y="304800"/>
                  <a:pt x="0" y="236512"/>
                  <a:pt x="0" y="152400"/>
                </a:cubicBezTo>
                <a:lnTo>
                  <a:pt x="0" y="152400"/>
                </a:lnTo>
                <a:cubicBezTo>
                  <a:pt x="0" y="68288"/>
                  <a:pt x="68288" y="0"/>
                  <a:pt x="152400" y="0"/>
                </a:cubicBezTo>
                <a:close/>
              </a:path>
            </a:pathLst>
          </a:custGeom>
          <a:solidFill>
            <a:srgbClr val="E89F5B"/>
          </a:solidFill>
          <a:ln/>
        </p:spPr>
      </p:sp>
      <p:sp>
        <p:nvSpPr>
          <p:cNvPr id="48" name="Text 46"/>
          <p:cNvSpPr/>
          <p:nvPr/>
        </p:nvSpPr>
        <p:spPr>
          <a:xfrm>
            <a:off x="6062067" y="4229100"/>
            <a:ext cx="381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fr-FR" sz="1200" b="1" smtClean="0">
                <a:solidFill>
                  <a:srgbClr val="1A1D21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11</a:t>
            </a:r>
            <a:endParaRPr lang="fr-FR" sz="1600" dirty="0"/>
          </a:p>
        </p:txBody>
      </p:sp>
      <p:sp>
        <p:nvSpPr>
          <p:cNvPr id="49" name="Text 47"/>
          <p:cNvSpPr/>
          <p:nvPr/>
        </p:nvSpPr>
        <p:spPr>
          <a:xfrm>
            <a:off x="6506567" y="4254500"/>
            <a:ext cx="7874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fr-FR" sz="1400" smtClean="0">
                <a:solidFill>
                  <a:srgbClr val="E8E8E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Fin cycle</a:t>
            </a:r>
            <a:endParaRPr lang="fr-FR" sz="1600" dirty="0"/>
          </a:p>
        </p:txBody>
      </p:sp>
      <p:sp>
        <p:nvSpPr>
          <p:cNvPr id="50" name="Shape 48"/>
          <p:cNvSpPr/>
          <p:nvPr/>
        </p:nvSpPr>
        <p:spPr>
          <a:xfrm>
            <a:off x="514350" y="5010150"/>
            <a:ext cx="2628900" cy="1714500"/>
          </a:xfrm>
          <a:custGeom>
            <a:avLst/>
            <a:gdLst/>
            <a:ahLst/>
            <a:cxnLst/>
            <a:rect l="l" t="t" r="r" b="b"/>
            <a:pathLst>
              <a:path w="2628900" h="1714500">
                <a:moveTo>
                  <a:pt x="101601" y="0"/>
                </a:moveTo>
                <a:lnTo>
                  <a:pt x="2527299" y="0"/>
                </a:lnTo>
                <a:cubicBezTo>
                  <a:pt x="2583412" y="0"/>
                  <a:pt x="2628900" y="45488"/>
                  <a:pt x="2628900" y="101601"/>
                </a:cubicBezTo>
                <a:lnTo>
                  <a:pt x="2628900" y="1612899"/>
                </a:lnTo>
                <a:cubicBezTo>
                  <a:pt x="2628900" y="1669012"/>
                  <a:pt x="2583412" y="1714500"/>
                  <a:pt x="2527299" y="1714500"/>
                </a:cubicBezTo>
                <a:lnTo>
                  <a:pt x="101601" y="1714500"/>
                </a:lnTo>
                <a:cubicBezTo>
                  <a:pt x="45488" y="1714500"/>
                  <a:pt x="0" y="1669012"/>
                  <a:pt x="0" y="1612899"/>
                </a:cubicBezTo>
                <a:lnTo>
                  <a:pt x="0" y="101601"/>
                </a:lnTo>
                <a:cubicBezTo>
                  <a:pt x="0" y="45488"/>
                  <a:pt x="45488" y="0"/>
                  <a:pt x="101601" y="0"/>
                </a:cubicBezTo>
                <a:close/>
              </a:path>
            </a:pathLst>
          </a:custGeom>
          <a:solidFill>
            <a:srgbClr val="4A6C8C">
              <a:alpha val="10196"/>
            </a:srgbClr>
          </a:solidFill>
          <a:ln w="12700">
            <a:solidFill>
              <a:srgbClr val="4A6C8C">
                <a:alpha val="30196"/>
              </a:srgbClr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1092200" y="5168900"/>
            <a:ext cx="9906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fr-FR" sz="1600" b="1" dirty="0" smtClean="0">
                <a:solidFill>
                  <a:srgbClr val="E8E8E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Vérif. ISO</a:t>
            </a:r>
            <a:endParaRPr lang="fr-FR" sz="1600" dirty="0"/>
          </a:p>
        </p:txBody>
      </p:sp>
      <p:sp>
        <p:nvSpPr>
          <p:cNvPr id="53" name="Text 51"/>
          <p:cNvSpPr/>
          <p:nvPr/>
        </p:nvSpPr>
        <p:spPr>
          <a:xfrm>
            <a:off x="673100" y="5575300"/>
            <a:ext cx="24003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fr-FR" sz="1400" smtClean="0">
                <a:solidFill>
                  <a:srgbClr val="7D8A9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Position: MIL</a:t>
            </a:r>
            <a:endParaRPr lang="fr-FR" sz="1600" dirty="0"/>
          </a:p>
        </p:txBody>
      </p:sp>
      <p:sp>
        <p:nvSpPr>
          <p:cNvPr id="54" name="Text 52"/>
          <p:cNvSpPr/>
          <p:nvPr/>
        </p:nvSpPr>
        <p:spPr>
          <a:xfrm>
            <a:off x="673100" y="5930900"/>
            <a:ext cx="2463800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fr-FR" sz="2400" b="1" dirty="0" smtClean="0">
                <a:solidFill>
                  <a:srgbClr val="E89F5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15 mesures</a:t>
            </a:r>
            <a:endParaRPr lang="fr-FR" sz="1600" dirty="0"/>
          </a:p>
        </p:txBody>
      </p:sp>
      <p:sp>
        <p:nvSpPr>
          <p:cNvPr id="55" name="Text 53"/>
          <p:cNvSpPr/>
          <p:nvPr/>
        </p:nvSpPr>
        <p:spPr>
          <a:xfrm>
            <a:off x="673100" y="6375400"/>
            <a:ext cx="23876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fr-FR" sz="1200" smtClean="0">
                <a:solidFill>
                  <a:srgbClr val="7D8A9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20% · 60% · 100%</a:t>
            </a:r>
            <a:endParaRPr lang="fr-FR" sz="1600" dirty="0"/>
          </a:p>
        </p:txBody>
      </p:sp>
      <p:sp>
        <p:nvSpPr>
          <p:cNvPr id="56" name="Shape 54"/>
          <p:cNvSpPr/>
          <p:nvPr/>
        </p:nvSpPr>
        <p:spPr>
          <a:xfrm>
            <a:off x="3312517" y="5010150"/>
            <a:ext cx="2628900" cy="1714500"/>
          </a:xfrm>
          <a:custGeom>
            <a:avLst/>
            <a:gdLst/>
            <a:ahLst/>
            <a:cxnLst/>
            <a:rect l="l" t="t" r="r" b="b"/>
            <a:pathLst>
              <a:path w="2628900" h="1714500">
                <a:moveTo>
                  <a:pt x="101601" y="0"/>
                </a:moveTo>
                <a:lnTo>
                  <a:pt x="2527299" y="0"/>
                </a:lnTo>
                <a:cubicBezTo>
                  <a:pt x="2583412" y="0"/>
                  <a:pt x="2628900" y="45488"/>
                  <a:pt x="2628900" y="101601"/>
                </a:cubicBezTo>
                <a:lnTo>
                  <a:pt x="2628900" y="1612899"/>
                </a:lnTo>
                <a:cubicBezTo>
                  <a:pt x="2628900" y="1669012"/>
                  <a:pt x="2583412" y="1714500"/>
                  <a:pt x="2527299" y="1714500"/>
                </a:cubicBezTo>
                <a:lnTo>
                  <a:pt x="101601" y="1714500"/>
                </a:lnTo>
                <a:cubicBezTo>
                  <a:pt x="45488" y="1714500"/>
                  <a:pt x="0" y="1669012"/>
                  <a:pt x="0" y="1612899"/>
                </a:cubicBezTo>
                <a:lnTo>
                  <a:pt x="0" y="101601"/>
                </a:lnTo>
                <a:cubicBezTo>
                  <a:pt x="0" y="45488"/>
                  <a:pt x="45488" y="0"/>
                  <a:pt x="101601" y="0"/>
                </a:cubicBezTo>
                <a:close/>
              </a:path>
            </a:pathLst>
          </a:custGeom>
          <a:solidFill>
            <a:srgbClr val="4A6C8C">
              <a:alpha val="10196"/>
            </a:srgbClr>
          </a:solidFill>
          <a:ln w="12700">
            <a:solidFill>
              <a:srgbClr val="4A6C8C">
                <a:alpha val="30196"/>
              </a:srgbClr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3566517" y="5194300"/>
            <a:ext cx="127000" cy="254000"/>
          </a:xfrm>
          <a:custGeom>
            <a:avLst/>
            <a:gdLst/>
            <a:ahLst/>
            <a:cxnLst/>
            <a:rect l="l" t="t" r="r" b="b"/>
            <a:pathLst>
              <a:path w="127000" h="254000">
                <a:moveTo>
                  <a:pt x="81806" y="128984"/>
                </a:moveTo>
                <a:lnTo>
                  <a:pt x="127744" y="77738"/>
                </a:lnTo>
                <a:lnTo>
                  <a:pt x="55364" y="0"/>
                </a:lnTo>
                <a:lnTo>
                  <a:pt x="55364" y="102344"/>
                </a:lnTo>
                <a:lnTo>
                  <a:pt x="12601" y="59630"/>
                </a:lnTo>
                <a:lnTo>
                  <a:pt x="-2977" y="75208"/>
                </a:lnTo>
                <a:lnTo>
                  <a:pt x="50651" y="128984"/>
                </a:lnTo>
                <a:lnTo>
                  <a:pt x="-2977" y="182761"/>
                </a:lnTo>
                <a:lnTo>
                  <a:pt x="12601" y="198338"/>
                </a:lnTo>
                <a:lnTo>
                  <a:pt x="55364" y="155625"/>
                </a:lnTo>
                <a:lnTo>
                  <a:pt x="56704" y="254000"/>
                </a:lnTo>
                <a:lnTo>
                  <a:pt x="130373" y="180280"/>
                </a:lnTo>
                <a:lnTo>
                  <a:pt x="81806" y="128984"/>
                </a:lnTo>
                <a:close/>
                <a:moveTo>
                  <a:pt x="102096" y="77887"/>
                </a:moveTo>
                <a:lnTo>
                  <a:pt x="77291" y="102691"/>
                </a:lnTo>
                <a:lnTo>
                  <a:pt x="77143" y="52933"/>
                </a:lnTo>
                <a:lnTo>
                  <a:pt x="102096" y="77887"/>
                </a:lnTo>
                <a:close/>
                <a:moveTo>
                  <a:pt x="77291" y="155277"/>
                </a:moveTo>
                <a:lnTo>
                  <a:pt x="102096" y="180082"/>
                </a:lnTo>
                <a:lnTo>
                  <a:pt x="77143" y="205036"/>
                </a:lnTo>
                <a:lnTo>
                  <a:pt x="77291" y="155277"/>
                </a:lnTo>
                <a:close/>
              </a:path>
            </a:pathLst>
          </a:custGeom>
          <a:solidFill>
            <a:srgbClr val="4A6C8C"/>
          </a:solidFill>
          <a:ln/>
        </p:spPr>
      </p:sp>
      <p:sp>
        <p:nvSpPr>
          <p:cNvPr id="58" name="Text 56"/>
          <p:cNvSpPr/>
          <p:nvPr/>
        </p:nvSpPr>
        <p:spPr>
          <a:xfrm>
            <a:off x="3890367" y="5168900"/>
            <a:ext cx="9398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fr-FR" sz="1600" b="1" dirty="0" smtClean="0">
                <a:solidFill>
                  <a:srgbClr val="E8E8E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Calib. BT</a:t>
            </a:r>
            <a:endParaRPr lang="fr-FR" sz="1600" dirty="0"/>
          </a:p>
        </p:txBody>
      </p:sp>
      <p:sp>
        <p:nvSpPr>
          <p:cNvPr id="59" name="Text 57"/>
          <p:cNvSpPr/>
          <p:nvPr/>
        </p:nvSpPr>
        <p:spPr>
          <a:xfrm>
            <a:off x="3471267" y="5575300"/>
            <a:ext cx="24003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fr-FR" sz="1400" smtClean="0">
                <a:solidFill>
                  <a:srgbClr val="7D8A9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Position: AV+AR</a:t>
            </a:r>
            <a:endParaRPr lang="fr-FR" sz="1600" dirty="0"/>
          </a:p>
        </p:txBody>
      </p:sp>
      <p:sp>
        <p:nvSpPr>
          <p:cNvPr id="60" name="Text 58"/>
          <p:cNvSpPr/>
          <p:nvPr/>
        </p:nvSpPr>
        <p:spPr>
          <a:xfrm>
            <a:off x="3471267" y="5930900"/>
            <a:ext cx="2463800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fr-FR" sz="2400" b="1" smtClean="0">
                <a:solidFill>
                  <a:srgbClr val="4A6C8C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12 mesures</a:t>
            </a:r>
            <a:endParaRPr lang="fr-FR" sz="1600" dirty="0"/>
          </a:p>
        </p:txBody>
      </p:sp>
      <p:sp>
        <p:nvSpPr>
          <p:cNvPr id="61" name="Text 59"/>
          <p:cNvSpPr/>
          <p:nvPr/>
        </p:nvSpPr>
        <p:spPr>
          <a:xfrm>
            <a:off x="3471267" y="6375400"/>
            <a:ext cx="23876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fr-FR" sz="1200" smtClean="0">
                <a:solidFill>
                  <a:srgbClr val="7D8A9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4 Nm · 24 Nm · 40 Nm</a:t>
            </a:r>
            <a:endParaRPr lang="fr-FR" sz="1600" dirty="0"/>
          </a:p>
        </p:txBody>
      </p:sp>
      <p:sp>
        <p:nvSpPr>
          <p:cNvPr id="62" name="Shape 60"/>
          <p:cNvSpPr/>
          <p:nvPr/>
        </p:nvSpPr>
        <p:spPr>
          <a:xfrm>
            <a:off x="6110684" y="5010150"/>
            <a:ext cx="2628900" cy="1714500"/>
          </a:xfrm>
          <a:custGeom>
            <a:avLst/>
            <a:gdLst/>
            <a:ahLst/>
            <a:cxnLst/>
            <a:rect l="l" t="t" r="r" b="b"/>
            <a:pathLst>
              <a:path w="2628900" h="1714500">
                <a:moveTo>
                  <a:pt x="101601" y="0"/>
                </a:moveTo>
                <a:lnTo>
                  <a:pt x="2527299" y="0"/>
                </a:lnTo>
                <a:cubicBezTo>
                  <a:pt x="2583412" y="0"/>
                  <a:pt x="2628900" y="45488"/>
                  <a:pt x="2628900" y="101601"/>
                </a:cubicBezTo>
                <a:lnTo>
                  <a:pt x="2628900" y="1612899"/>
                </a:lnTo>
                <a:cubicBezTo>
                  <a:pt x="2628900" y="1669012"/>
                  <a:pt x="2583412" y="1714500"/>
                  <a:pt x="2527299" y="1714500"/>
                </a:cubicBezTo>
                <a:lnTo>
                  <a:pt x="101601" y="1714500"/>
                </a:lnTo>
                <a:cubicBezTo>
                  <a:pt x="45488" y="1714500"/>
                  <a:pt x="0" y="1669012"/>
                  <a:pt x="0" y="1612899"/>
                </a:cubicBezTo>
                <a:lnTo>
                  <a:pt x="0" y="101601"/>
                </a:lnTo>
                <a:cubicBezTo>
                  <a:pt x="0" y="45488"/>
                  <a:pt x="45488" y="0"/>
                  <a:pt x="101601" y="0"/>
                </a:cubicBezTo>
                <a:close/>
              </a:path>
            </a:pathLst>
          </a:custGeom>
          <a:solidFill>
            <a:srgbClr val="4A6C8C">
              <a:alpha val="10196"/>
            </a:srgbClr>
          </a:solidFill>
          <a:ln w="12700">
            <a:solidFill>
              <a:srgbClr val="4A6C8C">
                <a:alpha val="30196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285309" y="5194300"/>
            <a:ext cx="285750" cy="254000"/>
          </a:xfrm>
          <a:custGeom>
            <a:avLst/>
            <a:gdLst/>
            <a:ahLst/>
            <a:cxnLst/>
            <a:rect l="l" t="t" r="r" b="b"/>
            <a:pathLst>
              <a:path w="285750" h="254000">
                <a:moveTo>
                  <a:pt x="142875" y="47625"/>
                </a:moveTo>
                <a:cubicBezTo>
                  <a:pt x="97780" y="47625"/>
                  <a:pt x="56952" y="65484"/>
                  <a:pt x="26938" y="94555"/>
                </a:cubicBezTo>
                <a:cubicBezTo>
                  <a:pt x="20638" y="100657"/>
                  <a:pt x="10567" y="100509"/>
                  <a:pt x="4514" y="94208"/>
                </a:cubicBezTo>
                <a:cubicBezTo>
                  <a:pt x="-1538" y="87908"/>
                  <a:pt x="-1439" y="77837"/>
                  <a:pt x="4862" y="71785"/>
                </a:cubicBezTo>
                <a:cubicBezTo>
                  <a:pt x="40531" y="37157"/>
                  <a:pt x="89247" y="15875"/>
                  <a:pt x="142875" y="15875"/>
                </a:cubicBezTo>
                <a:cubicBezTo>
                  <a:pt x="196503" y="15875"/>
                  <a:pt x="245219" y="37157"/>
                  <a:pt x="280938" y="71785"/>
                </a:cubicBezTo>
                <a:cubicBezTo>
                  <a:pt x="287238" y="77887"/>
                  <a:pt x="287387" y="87957"/>
                  <a:pt x="281285" y="94208"/>
                </a:cubicBezTo>
                <a:cubicBezTo>
                  <a:pt x="275183" y="100459"/>
                  <a:pt x="265113" y="100657"/>
                  <a:pt x="258862" y="94555"/>
                </a:cubicBezTo>
                <a:cubicBezTo>
                  <a:pt x="228798" y="65484"/>
                  <a:pt x="187970" y="47625"/>
                  <a:pt x="142875" y="47625"/>
                </a:cubicBezTo>
                <a:close/>
                <a:moveTo>
                  <a:pt x="119063" y="214313"/>
                </a:moveTo>
                <a:cubicBezTo>
                  <a:pt x="119063" y="201170"/>
                  <a:pt x="129733" y="190500"/>
                  <a:pt x="142875" y="190500"/>
                </a:cubicBezTo>
                <a:cubicBezTo>
                  <a:pt x="156017" y="190500"/>
                  <a:pt x="166688" y="201170"/>
                  <a:pt x="166688" y="214313"/>
                </a:cubicBezTo>
                <a:cubicBezTo>
                  <a:pt x="166688" y="227455"/>
                  <a:pt x="156017" y="238125"/>
                  <a:pt x="142875" y="238125"/>
                </a:cubicBezTo>
                <a:cubicBezTo>
                  <a:pt x="129733" y="238125"/>
                  <a:pt x="119063" y="227455"/>
                  <a:pt x="119063" y="214313"/>
                </a:cubicBezTo>
                <a:close/>
                <a:moveTo>
                  <a:pt x="83344" y="161826"/>
                </a:moveTo>
                <a:cubicBezTo>
                  <a:pt x="77539" y="168424"/>
                  <a:pt x="67518" y="169019"/>
                  <a:pt x="60920" y="163215"/>
                </a:cubicBezTo>
                <a:cubicBezTo>
                  <a:pt x="54322" y="157411"/>
                  <a:pt x="53727" y="147389"/>
                  <a:pt x="59531" y="140791"/>
                </a:cubicBezTo>
                <a:cubicBezTo>
                  <a:pt x="79871" y="117773"/>
                  <a:pt x="109686" y="103188"/>
                  <a:pt x="142875" y="103188"/>
                </a:cubicBezTo>
                <a:cubicBezTo>
                  <a:pt x="176064" y="103188"/>
                  <a:pt x="205879" y="117773"/>
                  <a:pt x="226219" y="140791"/>
                </a:cubicBezTo>
                <a:cubicBezTo>
                  <a:pt x="232023" y="147389"/>
                  <a:pt x="231378" y="157411"/>
                  <a:pt x="224830" y="163215"/>
                </a:cubicBezTo>
                <a:cubicBezTo>
                  <a:pt x="218281" y="169019"/>
                  <a:pt x="208211" y="168374"/>
                  <a:pt x="202406" y="161826"/>
                </a:cubicBezTo>
                <a:cubicBezTo>
                  <a:pt x="187821" y="145306"/>
                  <a:pt x="166588" y="134938"/>
                  <a:pt x="142875" y="134938"/>
                </a:cubicBezTo>
                <a:cubicBezTo>
                  <a:pt x="119162" y="134938"/>
                  <a:pt x="97929" y="145306"/>
                  <a:pt x="83344" y="161826"/>
                </a:cubicBezTo>
                <a:close/>
              </a:path>
            </a:pathLst>
          </a:custGeom>
          <a:solidFill>
            <a:srgbClr val="4A6C8C"/>
          </a:solidFill>
          <a:ln/>
        </p:spPr>
      </p:sp>
      <p:sp>
        <p:nvSpPr>
          <p:cNvPr id="64" name="Text 62"/>
          <p:cNvSpPr/>
          <p:nvPr/>
        </p:nvSpPr>
        <p:spPr>
          <a:xfrm>
            <a:off x="6688534" y="5168900"/>
            <a:ext cx="1079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fr-FR" sz="1600" b="1" dirty="0" smtClean="0">
                <a:solidFill>
                  <a:srgbClr val="E8E8E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Calib. Wifi</a:t>
            </a:r>
            <a:endParaRPr lang="fr-FR" sz="1600" dirty="0"/>
          </a:p>
        </p:txBody>
      </p:sp>
      <p:sp>
        <p:nvSpPr>
          <p:cNvPr id="65" name="Text 63"/>
          <p:cNvSpPr/>
          <p:nvPr/>
        </p:nvSpPr>
        <p:spPr>
          <a:xfrm>
            <a:off x="6269434" y="5575300"/>
            <a:ext cx="24003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fr-FR" sz="1400" smtClean="0">
                <a:solidFill>
                  <a:srgbClr val="7D8A9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Position: AV+AR</a:t>
            </a:r>
            <a:endParaRPr lang="fr-FR" sz="1600" dirty="0"/>
          </a:p>
        </p:txBody>
      </p:sp>
      <p:sp>
        <p:nvSpPr>
          <p:cNvPr id="66" name="Text 64"/>
          <p:cNvSpPr/>
          <p:nvPr/>
        </p:nvSpPr>
        <p:spPr>
          <a:xfrm>
            <a:off x="6269434" y="5930900"/>
            <a:ext cx="2463800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fr-FR" sz="2400" b="1" smtClean="0">
                <a:solidFill>
                  <a:srgbClr val="4A6C8C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12 mesures</a:t>
            </a:r>
            <a:endParaRPr lang="fr-FR" sz="1600" dirty="0"/>
          </a:p>
        </p:txBody>
      </p:sp>
      <p:sp>
        <p:nvSpPr>
          <p:cNvPr id="68" name="Shape 66"/>
          <p:cNvSpPr/>
          <p:nvPr/>
        </p:nvSpPr>
        <p:spPr>
          <a:xfrm>
            <a:off x="9220201" y="3035300"/>
            <a:ext cx="6238736" cy="2828925"/>
          </a:xfrm>
          <a:custGeom>
            <a:avLst/>
            <a:gdLst/>
            <a:ahLst/>
            <a:cxnLst/>
            <a:rect l="l" t="t" r="r" b="b"/>
            <a:pathLst>
              <a:path w="6731000" h="6731000">
                <a:moveTo>
                  <a:pt x="101571" y="0"/>
                </a:moveTo>
                <a:lnTo>
                  <a:pt x="6629429" y="0"/>
                </a:lnTo>
                <a:cubicBezTo>
                  <a:pt x="6685525" y="0"/>
                  <a:pt x="6731000" y="45475"/>
                  <a:pt x="6731000" y="101571"/>
                </a:cubicBezTo>
                <a:lnTo>
                  <a:pt x="6731000" y="6629429"/>
                </a:lnTo>
                <a:cubicBezTo>
                  <a:pt x="6731000" y="6685525"/>
                  <a:pt x="6685525" y="6731000"/>
                  <a:pt x="6629429" y="6731000"/>
                </a:cubicBezTo>
                <a:lnTo>
                  <a:pt x="101571" y="6731000"/>
                </a:lnTo>
                <a:cubicBezTo>
                  <a:pt x="45475" y="6731000"/>
                  <a:pt x="0" y="6685525"/>
                  <a:pt x="0" y="6629429"/>
                </a:cubicBezTo>
                <a:lnTo>
                  <a:pt x="0" y="101571"/>
                </a:lnTo>
                <a:cubicBezTo>
                  <a:pt x="0" y="45512"/>
                  <a:pt x="45512" y="0"/>
                  <a:pt x="101571" y="0"/>
                </a:cubicBezTo>
                <a:close/>
              </a:path>
            </a:pathLst>
          </a:custGeom>
          <a:solidFill>
            <a:srgbClr val="000000">
              <a:alpha val="0"/>
            </a:srgbClr>
          </a:solidFill>
          <a:ln w="12700">
            <a:solidFill>
              <a:srgbClr val="4A6C8C">
                <a:alpha val="30196"/>
              </a:srgbClr>
            </a:solidFill>
            <a:prstDash val="solid"/>
          </a:ln>
        </p:spPr>
      </p:sp>
      <p:sp>
        <p:nvSpPr>
          <p:cNvPr id="70" name="Shape 67"/>
          <p:cNvSpPr/>
          <p:nvPr/>
        </p:nvSpPr>
        <p:spPr>
          <a:xfrm>
            <a:off x="9220201" y="3035300"/>
            <a:ext cx="6238736" cy="2828925"/>
          </a:xfrm>
          <a:custGeom>
            <a:avLst/>
            <a:gdLst/>
            <a:ahLst/>
            <a:cxnLst/>
            <a:rect l="l" t="t" r="r" b="b"/>
            <a:pathLst>
              <a:path w="6731000" h="3060700">
                <a:moveTo>
                  <a:pt x="101615" y="0"/>
                </a:moveTo>
                <a:lnTo>
                  <a:pt x="6629385" y="0"/>
                </a:lnTo>
                <a:cubicBezTo>
                  <a:pt x="6685505" y="0"/>
                  <a:pt x="6731000" y="45495"/>
                  <a:pt x="6731000" y="101615"/>
                </a:cubicBezTo>
                <a:lnTo>
                  <a:pt x="6731000" y="2959085"/>
                </a:lnTo>
                <a:cubicBezTo>
                  <a:pt x="6731000" y="3015205"/>
                  <a:pt x="6685505" y="3060700"/>
                  <a:pt x="6629385" y="3060700"/>
                </a:cubicBezTo>
                <a:lnTo>
                  <a:pt x="101615" y="3060700"/>
                </a:lnTo>
                <a:cubicBezTo>
                  <a:pt x="45495" y="3060700"/>
                  <a:pt x="0" y="3015205"/>
                  <a:pt x="0" y="2959085"/>
                </a:cubicBezTo>
                <a:lnTo>
                  <a:pt x="0" y="101615"/>
                </a:lnTo>
                <a:cubicBezTo>
                  <a:pt x="0" y="45495"/>
                  <a:pt x="45495" y="0"/>
                  <a:pt x="101615" y="0"/>
                </a:cubicBezTo>
                <a:close/>
              </a:path>
            </a:pathLst>
          </a:custGeom>
          <a:gradFill flip="none" rotWithShape="1">
            <a:gsLst>
              <a:gs pos="0">
                <a:srgbClr val="E89F5B">
                  <a:alpha val="20000"/>
                </a:srgbClr>
              </a:gs>
              <a:gs pos="100000">
                <a:srgbClr val="4A6C8C">
                  <a:alpha val="20000"/>
                </a:srgbClr>
              </a:gs>
            </a:gsLst>
            <a:lin ang="2700000" scaled="1"/>
          </a:gradFill>
          <a:ln w="12700">
            <a:solidFill>
              <a:srgbClr val="E89F5B">
                <a:alpha val="40000"/>
              </a:srgbClr>
            </a:solidFill>
            <a:prstDash val="solid"/>
          </a:ln>
        </p:spPr>
      </p:sp>
      <p:sp>
        <p:nvSpPr>
          <p:cNvPr id="71" name="Text 68"/>
          <p:cNvSpPr/>
          <p:nvPr/>
        </p:nvSpPr>
        <p:spPr>
          <a:xfrm>
            <a:off x="9429750" y="3214113"/>
            <a:ext cx="6029186" cy="3091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fr-FR" sz="1800" b="1" smtClean="0">
                <a:solidFill>
                  <a:srgbClr val="E8E8E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Points Clés</a:t>
            </a:r>
            <a:endParaRPr lang="fr-FR" sz="1600" dirty="0"/>
          </a:p>
        </p:txBody>
      </p:sp>
      <p:sp>
        <p:nvSpPr>
          <p:cNvPr id="72" name="Shape 69"/>
          <p:cNvSpPr/>
          <p:nvPr/>
        </p:nvSpPr>
        <p:spPr>
          <a:xfrm>
            <a:off x="9429750" y="3580833"/>
            <a:ext cx="5921947" cy="397441"/>
          </a:xfrm>
          <a:custGeom>
            <a:avLst/>
            <a:gdLst/>
            <a:ahLst/>
            <a:cxnLst/>
            <a:rect l="l" t="t" r="r" b="b"/>
            <a:pathLst>
              <a:path w="6311900" h="457200">
                <a:moveTo>
                  <a:pt x="50799" y="0"/>
                </a:moveTo>
                <a:lnTo>
                  <a:pt x="6261101" y="0"/>
                </a:lnTo>
                <a:cubicBezTo>
                  <a:pt x="6289156" y="0"/>
                  <a:pt x="6311900" y="22744"/>
                  <a:pt x="6311900" y="50799"/>
                </a:cubicBezTo>
                <a:lnTo>
                  <a:pt x="6311900" y="406401"/>
                </a:lnTo>
                <a:cubicBezTo>
                  <a:pt x="6311900" y="434456"/>
                  <a:pt x="6289156" y="457200"/>
                  <a:pt x="6261101" y="457200"/>
                </a:cubicBezTo>
                <a:lnTo>
                  <a:pt x="50799" y="457200"/>
                </a:lnTo>
                <a:cubicBezTo>
                  <a:pt x="22744" y="457200"/>
                  <a:pt x="0" y="434456"/>
                  <a:pt x="0" y="406401"/>
                </a:cubicBezTo>
                <a:lnTo>
                  <a:pt x="0" y="50799"/>
                </a:lnTo>
                <a:cubicBezTo>
                  <a:pt x="0" y="22762"/>
                  <a:pt x="22762" y="0"/>
                  <a:pt x="50799" y="0"/>
                </a:cubicBezTo>
                <a:close/>
              </a:path>
            </a:pathLst>
          </a:custGeom>
          <a:solidFill>
            <a:srgbClr val="1A1D21"/>
          </a:solidFill>
          <a:ln/>
        </p:spPr>
      </p:sp>
      <p:sp>
        <p:nvSpPr>
          <p:cNvPr id="73" name="Shape 70"/>
          <p:cNvSpPr/>
          <p:nvPr/>
        </p:nvSpPr>
        <p:spPr>
          <a:xfrm>
            <a:off x="9556750" y="3674633"/>
            <a:ext cx="190646" cy="176641"/>
          </a:xfrm>
          <a:custGeom>
            <a:avLst/>
            <a:gdLst/>
            <a:ahLst/>
            <a:cxnLst/>
            <a:rect l="l" t="t" r="r" b="b"/>
            <a:pathLst>
              <a:path w="203200" h="203200">
                <a:moveTo>
                  <a:pt x="101600" y="203200"/>
                </a:moveTo>
                <a:cubicBezTo>
                  <a:pt x="157675" y="203200"/>
                  <a:pt x="203200" y="157675"/>
                  <a:pt x="203200" y="101600"/>
                </a:cubicBezTo>
                <a:cubicBezTo>
                  <a:pt x="203200" y="45525"/>
                  <a:pt x="157675" y="0"/>
                  <a:pt x="101600" y="0"/>
                </a:cubicBezTo>
                <a:cubicBezTo>
                  <a:pt x="45525" y="0"/>
                  <a:pt x="0" y="45525"/>
                  <a:pt x="0" y="101600"/>
                </a:cubicBezTo>
                <a:cubicBezTo>
                  <a:pt x="0" y="157675"/>
                  <a:pt x="45525" y="203200"/>
                  <a:pt x="101600" y="203200"/>
                </a:cubicBezTo>
                <a:close/>
                <a:moveTo>
                  <a:pt x="135096" y="84415"/>
                </a:moveTo>
                <a:lnTo>
                  <a:pt x="103346" y="135215"/>
                </a:lnTo>
                <a:cubicBezTo>
                  <a:pt x="101679" y="137874"/>
                  <a:pt x="98822" y="139541"/>
                  <a:pt x="95687" y="139700"/>
                </a:cubicBezTo>
                <a:cubicBezTo>
                  <a:pt x="92551" y="139859"/>
                  <a:pt x="89535" y="138430"/>
                  <a:pt x="87670" y="135890"/>
                </a:cubicBezTo>
                <a:lnTo>
                  <a:pt x="68620" y="110490"/>
                </a:lnTo>
                <a:cubicBezTo>
                  <a:pt x="65445" y="106283"/>
                  <a:pt x="66318" y="100330"/>
                  <a:pt x="70525" y="97155"/>
                </a:cubicBezTo>
                <a:cubicBezTo>
                  <a:pt x="74732" y="93980"/>
                  <a:pt x="80685" y="94853"/>
                  <a:pt x="83860" y="99060"/>
                </a:cubicBezTo>
                <a:lnTo>
                  <a:pt x="94575" y="113348"/>
                </a:lnTo>
                <a:lnTo>
                  <a:pt x="118943" y="74335"/>
                </a:lnTo>
                <a:cubicBezTo>
                  <a:pt x="121722" y="69890"/>
                  <a:pt x="127595" y="68501"/>
                  <a:pt x="132080" y="71318"/>
                </a:cubicBezTo>
                <a:cubicBezTo>
                  <a:pt x="136565" y="74136"/>
                  <a:pt x="137914" y="79970"/>
                  <a:pt x="135096" y="84455"/>
                </a:cubicBezTo>
                <a:close/>
              </a:path>
            </a:pathLst>
          </a:custGeom>
          <a:solidFill>
            <a:srgbClr val="E89F5B"/>
          </a:solidFill>
          <a:ln/>
        </p:spPr>
      </p:sp>
      <p:sp>
        <p:nvSpPr>
          <p:cNvPr id="74" name="Text 71"/>
          <p:cNvSpPr/>
          <p:nvPr/>
        </p:nvSpPr>
        <p:spPr>
          <a:xfrm>
            <a:off x="9886950" y="3655873"/>
            <a:ext cx="2356510" cy="2684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fr-FR" sz="1400" smtClean="0">
                <a:solidFill>
                  <a:srgbClr val="7D8A9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Retour zéro entre mesures</a:t>
            </a:r>
            <a:endParaRPr lang="fr-FR" sz="1600" dirty="0"/>
          </a:p>
        </p:txBody>
      </p:sp>
      <p:sp>
        <p:nvSpPr>
          <p:cNvPr id="75" name="Shape 72"/>
          <p:cNvSpPr/>
          <p:nvPr/>
        </p:nvSpPr>
        <p:spPr>
          <a:xfrm>
            <a:off x="9429750" y="4139633"/>
            <a:ext cx="5921947" cy="397441"/>
          </a:xfrm>
          <a:custGeom>
            <a:avLst/>
            <a:gdLst/>
            <a:ahLst/>
            <a:cxnLst/>
            <a:rect l="l" t="t" r="r" b="b"/>
            <a:pathLst>
              <a:path w="6311900" h="457200">
                <a:moveTo>
                  <a:pt x="50799" y="0"/>
                </a:moveTo>
                <a:lnTo>
                  <a:pt x="6261101" y="0"/>
                </a:lnTo>
                <a:cubicBezTo>
                  <a:pt x="6289156" y="0"/>
                  <a:pt x="6311900" y="22744"/>
                  <a:pt x="6311900" y="50799"/>
                </a:cubicBezTo>
                <a:lnTo>
                  <a:pt x="6311900" y="406401"/>
                </a:lnTo>
                <a:cubicBezTo>
                  <a:pt x="6311900" y="434456"/>
                  <a:pt x="6289156" y="457200"/>
                  <a:pt x="6261101" y="457200"/>
                </a:cubicBezTo>
                <a:lnTo>
                  <a:pt x="50799" y="457200"/>
                </a:lnTo>
                <a:cubicBezTo>
                  <a:pt x="22744" y="457200"/>
                  <a:pt x="0" y="434456"/>
                  <a:pt x="0" y="406401"/>
                </a:cubicBezTo>
                <a:lnTo>
                  <a:pt x="0" y="50799"/>
                </a:lnTo>
                <a:cubicBezTo>
                  <a:pt x="0" y="22762"/>
                  <a:pt x="22762" y="0"/>
                  <a:pt x="50799" y="0"/>
                </a:cubicBezTo>
                <a:close/>
              </a:path>
            </a:pathLst>
          </a:custGeom>
          <a:solidFill>
            <a:srgbClr val="1A1D21"/>
          </a:solidFill>
          <a:ln/>
        </p:spPr>
      </p:sp>
      <p:sp>
        <p:nvSpPr>
          <p:cNvPr id="76" name="Shape 73"/>
          <p:cNvSpPr/>
          <p:nvPr/>
        </p:nvSpPr>
        <p:spPr>
          <a:xfrm>
            <a:off x="9556750" y="4233433"/>
            <a:ext cx="190646" cy="176641"/>
          </a:xfrm>
          <a:custGeom>
            <a:avLst/>
            <a:gdLst/>
            <a:ahLst/>
            <a:cxnLst/>
            <a:rect l="l" t="t" r="r" b="b"/>
            <a:pathLst>
              <a:path w="203200" h="203200">
                <a:moveTo>
                  <a:pt x="101600" y="203200"/>
                </a:moveTo>
                <a:cubicBezTo>
                  <a:pt x="157675" y="203200"/>
                  <a:pt x="203200" y="157675"/>
                  <a:pt x="203200" y="101600"/>
                </a:cubicBezTo>
                <a:cubicBezTo>
                  <a:pt x="203200" y="45525"/>
                  <a:pt x="157675" y="0"/>
                  <a:pt x="101600" y="0"/>
                </a:cubicBezTo>
                <a:cubicBezTo>
                  <a:pt x="45525" y="0"/>
                  <a:pt x="0" y="45525"/>
                  <a:pt x="0" y="101600"/>
                </a:cubicBezTo>
                <a:cubicBezTo>
                  <a:pt x="0" y="157675"/>
                  <a:pt x="45525" y="203200"/>
                  <a:pt x="101600" y="203200"/>
                </a:cubicBezTo>
                <a:close/>
                <a:moveTo>
                  <a:pt x="135096" y="84415"/>
                </a:moveTo>
                <a:lnTo>
                  <a:pt x="103346" y="135215"/>
                </a:lnTo>
                <a:cubicBezTo>
                  <a:pt x="101679" y="137874"/>
                  <a:pt x="98822" y="139541"/>
                  <a:pt x="95687" y="139700"/>
                </a:cubicBezTo>
                <a:cubicBezTo>
                  <a:pt x="92551" y="139859"/>
                  <a:pt x="89535" y="138430"/>
                  <a:pt x="87670" y="135890"/>
                </a:cubicBezTo>
                <a:lnTo>
                  <a:pt x="68620" y="110490"/>
                </a:lnTo>
                <a:cubicBezTo>
                  <a:pt x="65445" y="106283"/>
                  <a:pt x="66318" y="100330"/>
                  <a:pt x="70525" y="97155"/>
                </a:cubicBezTo>
                <a:cubicBezTo>
                  <a:pt x="74732" y="93980"/>
                  <a:pt x="80685" y="94853"/>
                  <a:pt x="83860" y="99060"/>
                </a:cubicBezTo>
                <a:lnTo>
                  <a:pt x="94575" y="113348"/>
                </a:lnTo>
                <a:lnTo>
                  <a:pt x="118943" y="74335"/>
                </a:lnTo>
                <a:cubicBezTo>
                  <a:pt x="121722" y="69890"/>
                  <a:pt x="127595" y="68501"/>
                  <a:pt x="132080" y="71318"/>
                </a:cubicBezTo>
                <a:cubicBezTo>
                  <a:pt x="136565" y="74136"/>
                  <a:pt x="137914" y="79970"/>
                  <a:pt x="135096" y="84455"/>
                </a:cubicBezTo>
                <a:close/>
              </a:path>
            </a:pathLst>
          </a:custGeom>
          <a:solidFill>
            <a:srgbClr val="E89F5B"/>
          </a:solidFill>
          <a:ln/>
        </p:spPr>
      </p:sp>
      <p:sp>
        <p:nvSpPr>
          <p:cNvPr id="77" name="Text 74"/>
          <p:cNvSpPr/>
          <p:nvPr/>
        </p:nvSpPr>
        <p:spPr>
          <a:xfrm>
            <a:off x="9886950" y="4214673"/>
            <a:ext cx="2001785" cy="2208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fr-FR" sz="1400" smtClean="0">
                <a:solidFill>
                  <a:srgbClr val="7D8A9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Stabilisation obligatoire</a:t>
            </a:r>
            <a:endParaRPr lang="fr-FR" sz="1600" dirty="0"/>
          </a:p>
        </p:txBody>
      </p:sp>
      <p:sp>
        <p:nvSpPr>
          <p:cNvPr id="78" name="Shape 75"/>
          <p:cNvSpPr/>
          <p:nvPr/>
        </p:nvSpPr>
        <p:spPr>
          <a:xfrm>
            <a:off x="9429750" y="4698433"/>
            <a:ext cx="5921947" cy="397441"/>
          </a:xfrm>
          <a:custGeom>
            <a:avLst/>
            <a:gdLst/>
            <a:ahLst/>
            <a:cxnLst/>
            <a:rect l="l" t="t" r="r" b="b"/>
            <a:pathLst>
              <a:path w="6311900" h="457200">
                <a:moveTo>
                  <a:pt x="50799" y="0"/>
                </a:moveTo>
                <a:lnTo>
                  <a:pt x="6261101" y="0"/>
                </a:lnTo>
                <a:cubicBezTo>
                  <a:pt x="6289156" y="0"/>
                  <a:pt x="6311900" y="22744"/>
                  <a:pt x="6311900" y="50799"/>
                </a:cubicBezTo>
                <a:lnTo>
                  <a:pt x="6311900" y="406401"/>
                </a:lnTo>
                <a:cubicBezTo>
                  <a:pt x="6311900" y="434456"/>
                  <a:pt x="6289156" y="457200"/>
                  <a:pt x="6261101" y="457200"/>
                </a:cubicBezTo>
                <a:lnTo>
                  <a:pt x="50799" y="457200"/>
                </a:lnTo>
                <a:cubicBezTo>
                  <a:pt x="22744" y="457200"/>
                  <a:pt x="0" y="434456"/>
                  <a:pt x="0" y="406401"/>
                </a:cubicBezTo>
                <a:lnTo>
                  <a:pt x="0" y="50799"/>
                </a:lnTo>
                <a:cubicBezTo>
                  <a:pt x="0" y="22762"/>
                  <a:pt x="22762" y="0"/>
                  <a:pt x="50799" y="0"/>
                </a:cubicBezTo>
                <a:close/>
              </a:path>
            </a:pathLst>
          </a:custGeom>
          <a:solidFill>
            <a:srgbClr val="1A1D21"/>
          </a:solidFill>
          <a:ln/>
        </p:spPr>
      </p:sp>
      <p:sp>
        <p:nvSpPr>
          <p:cNvPr id="79" name="Shape 76"/>
          <p:cNvSpPr/>
          <p:nvPr/>
        </p:nvSpPr>
        <p:spPr>
          <a:xfrm>
            <a:off x="9556750" y="4792233"/>
            <a:ext cx="190646" cy="176641"/>
          </a:xfrm>
          <a:custGeom>
            <a:avLst/>
            <a:gdLst/>
            <a:ahLst/>
            <a:cxnLst/>
            <a:rect l="l" t="t" r="r" b="b"/>
            <a:pathLst>
              <a:path w="203200" h="203200">
                <a:moveTo>
                  <a:pt x="101600" y="203200"/>
                </a:moveTo>
                <a:cubicBezTo>
                  <a:pt x="157675" y="203200"/>
                  <a:pt x="203200" y="157675"/>
                  <a:pt x="203200" y="101600"/>
                </a:cubicBezTo>
                <a:cubicBezTo>
                  <a:pt x="203200" y="45525"/>
                  <a:pt x="157675" y="0"/>
                  <a:pt x="101600" y="0"/>
                </a:cubicBezTo>
                <a:cubicBezTo>
                  <a:pt x="45525" y="0"/>
                  <a:pt x="0" y="45525"/>
                  <a:pt x="0" y="101600"/>
                </a:cubicBezTo>
                <a:cubicBezTo>
                  <a:pt x="0" y="157675"/>
                  <a:pt x="45525" y="203200"/>
                  <a:pt x="101600" y="203200"/>
                </a:cubicBezTo>
                <a:close/>
                <a:moveTo>
                  <a:pt x="135096" y="84415"/>
                </a:moveTo>
                <a:lnTo>
                  <a:pt x="103346" y="135215"/>
                </a:lnTo>
                <a:cubicBezTo>
                  <a:pt x="101679" y="137874"/>
                  <a:pt x="98822" y="139541"/>
                  <a:pt x="95687" y="139700"/>
                </a:cubicBezTo>
                <a:cubicBezTo>
                  <a:pt x="92551" y="139859"/>
                  <a:pt x="89535" y="138430"/>
                  <a:pt x="87670" y="135890"/>
                </a:cubicBezTo>
                <a:lnTo>
                  <a:pt x="68620" y="110490"/>
                </a:lnTo>
                <a:cubicBezTo>
                  <a:pt x="65445" y="106283"/>
                  <a:pt x="66318" y="100330"/>
                  <a:pt x="70525" y="97155"/>
                </a:cubicBezTo>
                <a:cubicBezTo>
                  <a:pt x="74732" y="93980"/>
                  <a:pt x="80685" y="94853"/>
                  <a:pt x="83860" y="99060"/>
                </a:cubicBezTo>
                <a:lnTo>
                  <a:pt x="94575" y="113348"/>
                </a:lnTo>
                <a:lnTo>
                  <a:pt x="118943" y="74335"/>
                </a:lnTo>
                <a:cubicBezTo>
                  <a:pt x="121722" y="69890"/>
                  <a:pt x="127595" y="68501"/>
                  <a:pt x="132080" y="71318"/>
                </a:cubicBezTo>
                <a:cubicBezTo>
                  <a:pt x="136565" y="74136"/>
                  <a:pt x="137914" y="79970"/>
                  <a:pt x="135096" y="84455"/>
                </a:cubicBezTo>
                <a:close/>
              </a:path>
            </a:pathLst>
          </a:custGeom>
          <a:solidFill>
            <a:srgbClr val="E89F5B"/>
          </a:solidFill>
          <a:ln/>
        </p:spPr>
      </p:sp>
      <p:sp>
        <p:nvSpPr>
          <p:cNvPr id="80" name="Text 77"/>
          <p:cNvSpPr/>
          <p:nvPr/>
        </p:nvSpPr>
        <p:spPr>
          <a:xfrm>
            <a:off x="9886949" y="4773473"/>
            <a:ext cx="2549893" cy="2366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fr-FR" sz="1400" smtClean="0">
                <a:solidFill>
                  <a:srgbClr val="7D8A9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4 positions: AD, ARD, AG, ARG</a:t>
            </a:r>
            <a:endParaRPr lang="fr-FR" sz="1600" dirty="0"/>
          </a:p>
        </p:txBody>
      </p:sp>
      <p:sp>
        <p:nvSpPr>
          <p:cNvPr id="81" name="Shape 78"/>
          <p:cNvSpPr/>
          <p:nvPr/>
        </p:nvSpPr>
        <p:spPr>
          <a:xfrm>
            <a:off x="9429750" y="5257233"/>
            <a:ext cx="5921947" cy="397441"/>
          </a:xfrm>
          <a:custGeom>
            <a:avLst/>
            <a:gdLst/>
            <a:ahLst/>
            <a:cxnLst/>
            <a:rect l="l" t="t" r="r" b="b"/>
            <a:pathLst>
              <a:path w="6311900" h="457200">
                <a:moveTo>
                  <a:pt x="50799" y="0"/>
                </a:moveTo>
                <a:lnTo>
                  <a:pt x="6261101" y="0"/>
                </a:lnTo>
                <a:cubicBezTo>
                  <a:pt x="6289156" y="0"/>
                  <a:pt x="6311900" y="22744"/>
                  <a:pt x="6311900" y="50799"/>
                </a:cubicBezTo>
                <a:lnTo>
                  <a:pt x="6311900" y="406401"/>
                </a:lnTo>
                <a:cubicBezTo>
                  <a:pt x="6311900" y="434456"/>
                  <a:pt x="6289156" y="457200"/>
                  <a:pt x="6261101" y="457200"/>
                </a:cubicBezTo>
                <a:lnTo>
                  <a:pt x="50799" y="457200"/>
                </a:lnTo>
                <a:cubicBezTo>
                  <a:pt x="22744" y="457200"/>
                  <a:pt x="0" y="434456"/>
                  <a:pt x="0" y="406401"/>
                </a:cubicBezTo>
                <a:lnTo>
                  <a:pt x="0" y="50799"/>
                </a:lnTo>
                <a:cubicBezTo>
                  <a:pt x="0" y="22762"/>
                  <a:pt x="22762" y="0"/>
                  <a:pt x="50799" y="0"/>
                </a:cubicBezTo>
                <a:close/>
              </a:path>
            </a:pathLst>
          </a:custGeom>
          <a:solidFill>
            <a:srgbClr val="1A1D21"/>
          </a:solidFill>
          <a:ln/>
        </p:spPr>
      </p:sp>
      <p:sp>
        <p:nvSpPr>
          <p:cNvPr id="82" name="Shape 79"/>
          <p:cNvSpPr/>
          <p:nvPr/>
        </p:nvSpPr>
        <p:spPr>
          <a:xfrm>
            <a:off x="9556750" y="5351033"/>
            <a:ext cx="190646" cy="176641"/>
          </a:xfrm>
          <a:custGeom>
            <a:avLst/>
            <a:gdLst/>
            <a:ahLst/>
            <a:cxnLst/>
            <a:rect l="l" t="t" r="r" b="b"/>
            <a:pathLst>
              <a:path w="203200" h="203200">
                <a:moveTo>
                  <a:pt x="101600" y="203200"/>
                </a:moveTo>
                <a:cubicBezTo>
                  <a:pt x="157675" y="203200"/>
                  <a:pt x="203200" y="157675"/>
                  <a:pt x="203200" y="101600"/>
                </a:cubicBezTo>
                <a:cubicBezTo>
                  <a:pt x="203200" y="45525"/>
                  <a:pt x="157675" y="0"/>
                  <a:pt x="101600" y="0"/>
                </a:cubicBezTo>
                <a:cubicBezTo>
                  <a:pt x="45525" y="0"/>
                  <a:pt x="0" y="45525"/>
                  <a:pt x="0" y="101600"/>
                </a:cubicBezTo>
                <a:cubicBezTo>
                  <a:pt x="0" y="157675"/>
                  <a:pt x="45525" y="203200"/>
                  <a:pt x="101600" y="203200"/>
                </a:cubicBezTo>
                <a:close/>
                <a:moveTo>
                  <a:pt x="135096" y="84415"/>
                </a:moveTo>
                <a:lnTo>
                  <a:pt x="103346" y="135215"/>
                </a:lnTo>
                <a:cubicBezTo>
                  <a:pt x="101679" y="137874"/>
                  <a:pt x="98822" y="139541"/>
                  <a:pt x="95687" y="139700"/>
                </a:cubicBezTo>
                <a:cubicBezTo>
                  <a:pt x="92551" y="139859"/>
                  <a:pt x="89535" y="138430"/>
                  <a:pt x="87670" y="135890"/>
                </a:cubicBezTo>
                <a:lnTo>
                  <a:pt x="68620" y="110490"/>
                </a:lnTo>
                <a:cubicBezTo>
                  <a:pt x="65445" y="106283"/>
                  <a:pt x="66318" y="100330"/>
                  <a:pt x="70525" y="97155"/>
                </a:cubicBezTo>
                <a:cubicBezTo>
                  <a:pt x="74732" y="93980"/>
                  <a:pt x="80685" y="94853"/>
                  <a:pt x="83860" y="99060"/>
                </a:cubicBezTo>
                <a:lnTo>
                  <a:pt x="94575" y="113348"/>
                </a:lnTo>
                <a:lnTo>
                  <a:pt x="118943" y="74335"/>
                </a:lnTo>
                <a:cubicBezTo>
                  <a:pt x="121722" y="69890"/>
                  <a:pt x="127595" y="68501"/>
                  <a:pt x="132080" y="71318"/>
                </a:cubicBezTo>
                <a:cubicBezTo>
                  <a:pt x="136565" y="74136"/>
                  <a:pt x="137914" y="79970"/>
                  <a:pt x="135096" y="84455"/>
                </a:cubicBezTo>
                <a:close/>
              </a:path>
            </a:pathLst>
          </a:custGeom>
          <a:solidFill>
            <a:srgbClr val="E89F5B"/>
          </a:solidFill>
          <a:ln/>
        </p:spPr>
      </p:sp>
      <p:sp>
        <p:nvSpPr>
          <p:cNvPr id="83" name="Text 80"/>
          <p:cNvSpPr/>
          <p:nvPr/>
        </p:nvSpPr>
        <p:spPr>
          <a:xfrm>
            <a:off x="9886950" y="5332273"/>
            <a:ext cx="2819647" cy="2208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fr-FR" sz="1400" smtClean="0">
                <a:solidFill>
                  <a:srgbClr val="7D8A9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Décision conforme/non conforme</a:t>
            </a:r>
            <a:endParaRPr lang="fr-FR" sz="1600" dirty="0"/>
          </a:p>
        </p:txBody>
      </p:sp>
      <p:pic>
        <p:nvPicPr>
          <p:cNvPr id="85" name="Image 84" descr="certifica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6954" y="5131249"/>
            <a:ext cx="273342" cy="392067"/>
          </a:xfrm>
          <a:prstGeom prst="rect">
            <a:avLst/>
          </a:prstGeom>
        </p:spPr>
      </p:pic>
      <p:pic>
        <p:nvPicPr>
          <p:cNvPr id="86" name="Image 85" descr="ISO 6789-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3466" y="6724650"/>
            <a:ext cx="2478484" cy="2478484"/>
          </a:xfrm>
          <a:prstGeom prst="rect">
            <a:avLst/>
          </a:prstGeom>
        </p:spPr>
      </p:pic>
      <p:pic>
        <p:nvPicPr>
          <p:cNvPr id="1026" name="Picture 2" descr="R:\Partage_NonSauvegarde\LST\Photos Clé - Hamza\Clé Carbone retouchée.png"/>
          <p:cNvPicPr>
            <a:picLocks noChangeAspect="1" noChangeArrowheads="1"/>
          </p:cNvPicPr>
          <p:nvPr/>
        </p:nvPicPr>
        <p:blipFill>
          <a:blip r:embed="rId6"/>
          <a:srcRect/>
          <a:stretch>
            <a:fillRect/>
          </a:stretch>
        </p:blipFill>
        <p:spPr bwMode="auto">
          <a:xfrm rot="2782575">
            <a:off x="5705310" y="5763035"/>
            <a:ext cx="2701663" cy="4052087"/>
          </a:xfrm>
          <a:prstGeom prst="rect">
            <a:avLst/>
          </a:prstGeom>
          <a:noFill/>
        </p:spPr>
      </p:pic>
      <p:pic>
        <p:nvPicPr>
          <p:cNvPr id="1027" name="Picture 3" descr="R:\Partage_NonSauvegarde\LST\Photos Clé - Hamza\clé_seule_2_10cm_300dpi.png"/>
          <p:cNvPicPr>
            <a:picLocks noChangeAspect="1" noChangeArrowheads="1"/>
          </p:cNvPicPr>
          <p:nvPr/>
        </p:nvPicPr>
        <p:blipFill>
          <a:blip r:embed="rId7"/>
          <a:srcRect/>
          <a:stretch>
            <a:fillRect/>
          </a:stretch>
        </p:blipFill>
        <p:spPr bwMode="auto">
          <a:xfrm rot="1951303">
            <a:off x="3641527" y="6497599"/>
            <a:ext cx="1621376" cy="2633663"/>
          </a:xfrm>
          <a:prstGeom prst="rect">
            <a:avLst/>
          </a:prstGeom>
          <a:noFill/>
        </p:spPr>
      </p:pic>
      <p:sp>
        <p:nvSpPr>
          <p:cNvPr id="92" name="Text 59"/>
          <p:cNvSpPr/>
          <p:nvPr/>
        </p:nvSpPr>
        <p:spPr>
          <a:xfrm>
            <a:off x="6263325" y="6375400"/>
            <a:ext cx="23876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fr-FR" sz="1200" smtClean="0">
                <a:solidFill>
                  <a:srgbClr val="7D8A9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20 Nm · 120 Nm · 200 Nm</a:t>
            </a:r>
            <a:endParaRPr lang="fr-FR" sz="1600" dirty="0"/>
          </a:p>
        </p:txBody>
      </p:sp>
      <p:sp>
        <p:nvSpPr>
          <p:cNvPr id="93" name="NumPage"/>
          <p:cNvSpPr txBox="1"/>
          <p:nvPr/>
        </p:nvSpPr>
        <p:spPr>
          <a:xfrm>
            <a:off x="15240000" y="8636000"/>
            <a:ext cx="889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fr-FR" sz="1400" smtClean="0">
                <a:solidFill>
                  <a:srgbClr val="E89F5B"/>
                </a:solidFill>
              </a:rPr>
              <a:t>13</a:t>
            </a:r>
            <a:endParaRPr lang="fr-FR" sz="1400" dirty="0">
              <a:solidFill>
                <a:srgbClr val="E89F5B"/>
              </a:solidFill>
            </a:endParaRP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" name="Image 51" descr="esquisse banc fina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7541" y="933450"/>
            <a:ext cx="12040918" cy="8027279"/>
          </a:xfrm>
          <a:prstGeom prst="rect">
            <a:avLst/>
          </a:prstGeom>
        </p:spPr>
      </p:pic>
      <p:sp>
        <p:nvSpPr>
          <p:cNvPr id="2" name="Text 0"/>
          <p:cNvSpPr/>
          <p:nvPr/>
        </p:nvSpPr>
        <p:spPr>
          <a:xfrm>
            <a:off x="514350" y="69850"/>
            <a:ext cx="153289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fr-FR" sz="1400" b="1" kern="0" spc="140" smtClean="0">
                <a:solidFill>
                  <a:srgbClr val="E89F5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05. CYCLE AUTOMATIQUE</a:t>
            </a:r>
            <a:endParaRPr lang="fr-FR" sz="1600" dirty="0"/>
          </a:p>
        </p:txBody>
      </p:sp>
      <p:sp>
        <p:nvSpPr>
          <p:cNvPr id="3" name="Text 1"/>
          <p:cNvSpPr/>
          <p:nvPr/>
        </p:nvSpPr>
        <p:spPr>
          <a:xfrm>
            <a:off x="514350" y="425450"/>
            <a:ext cx="154686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fr-FR" sz="3600" b="1" smtClean="0">
                <a:solidFill>
                  <a:srgbClr val="E8E8E8"/>
                </a:solidFill>
                <a:latin typeface="Hedvig Letters Sans" pitchFamily="34" charset="0"/>
                <a:ea typeface="Hedvig Letters Sans" pitchFamily="34" charset="-122"/>
                <a:cs typeface="Hedvig Letters Sans" pitchFamily="34" charset="-120"/>
              </a:rPr>
              <a:t>Objectifs du Futur Banc Automatisé</a:t>
            </a:r>
            <a:endParaRPr lang="fr-FR" sz="1600" dirty="0"/>
          </a:p>
        </p:txBody>
      </p:sp>
      <p:sp>
        <p:nvSpPr>
          <p:cNvPr id="53" name="Rectangle 52"/>
          <p:cNvSpPr/>
          <p:nvPr/>
        </p:nvSpPr>
        <p:spPr>
          <a:xfrm>
            <a:off x="2354921" y="7825842"/>
            <a:ext cx="750865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i="1" smtClean="0">
                <a:solidFill>
                  <a:schemeClr val="bg1"/>
                </a:solidFill>
              </a:rPr>
              <a:t>Schéma de principe du banc : côté 4-40 Nm à gauche, côté 20-200Nm à droite.</a:t>
            </a:r>
            <a:endParaRPr lang="fr-FR" dirty="0">
              <a:solidFill>
                <a:schemeClr val="bg1"/>
              </a:solidFill>
            </a:endParaRPr>
          </a:p>
        </p:txBody>
      </p:sp>
      <p:sp>
        <p:nvSpPr>
          <p:cNvPr id="54" name="ZoneTexte 53"/>
          <p:cNvSpPr txBox="1"/>
          <p:nvPr/>
        </p:nvSpPr>
        <p:spPr>
          <a:xfrm>
            <a:off x="3408218" y="8360229"/>
            <a:ext cx="35241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i="1" u="sng" smtClean="0">
                <a:solidFill>
                  <a:schemeClr val="bg1"/>
                </a:solidFill>
              </a:rPr>
              <a:t>NB : image généré par un outil d’IA</a:t>
            </a:r>
            <a:endParaRPr lang="fr-FR" b="1" i="1" u="sng" dirty="0">
              <a:solidFill>
                <a:schemeClr val="bg1"/>
              </a:solidFill>
            </a:endParaRPr>
          </a:p>
        </p:txBody>
      </p:sp>
      <p:sp>
        <p:nvSpPr>
          <p:cNvPr id="55" name="NumPage"/>
          <p:cNvSpPr txBox="1"/>
          <p:nvPr/>
        </p:nvSpPr>
        <p:spPr>
          <a:xfrm>
            <a:off x="15240000" y="8636000"/>
            <a:ext cx="889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fr-FR" sz="1400" smtClean="0">
                <a:solidFill>
                  <a:srgbClr val="E89F5B"/>
                </a:solidFill>
              </a:rPr>
              <a:t>14</a:t>
            </a:r>
            <a:endParaRPr lang="fr-FR" sz="1400" dirty="0">
              <a:solidFill>
                <a:srgbClr val="E89F5B"/>
              </a:solidFill>
            </a:endParaRP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14350" y="69850"/>
            <a:ext cx="153289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fr-FR" sz="1400" b="1" kern="0" spc="140" dirty="0" smtClean="0">
                <a:solidFill>
                  <a:srgbClr val="E89F5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06. BILAN</a:t>
            </a:r>
            <a:endParaRPr lang="fr-FR" sz="1600" dirty="0"/>
          </a:p>
        </p:txBody>
      </p:sp>
      <p:sp>
        <p:nvSpPr>
          <p:cNvPr id="3" name="Text 1"/>
          <p:cNvSpPr/>
          <p:nvPr/>
        </p:nvSpPr>
        <p:spPr>
          <a:xfrm>
            <a:off x="514350" y="425450"/>
            <a:ext cx="154686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fr-FR" sz="3600" b="1" smtClean="0">
                <a:solidFill>
                  <a:srgbClr val="FFFFF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Enveloppe Budgétaire &amp; Rentabilité</a:t>
            </a:r>
            <a:endParaRPr lang="fr-FR" sz="3600" dirty="0"/>
          </a:p>
        </p:txBody>
      </p:sp>
      <p:sp>
        <p:nvSpPr>
          <p:cNvPr id="55" name="NumPage"/>
          <p:cNvSpPr txBox="1"/>
          <p:nvPr/>
        </p:nvSpPr>
        <p:spPr>
          <a:xfrm>
            <a:off x="15240000" y="8636000"/>
            <a:ext cx="889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fr-FR" sz="1400" smtClean="0">
                <a:solidFill>
                  <a:srgbClr val="E89F5B"/>
                </a:solidFill>
              </a:rPr>
              <a:t>15</a:t>
            </a:r>
            <a:endParaRPr lang="fr-FR" sz="1400" dirty="0">
              <a:solidFill>
                <a:srgbClr val="E89F5B"/>
              </a:solidFill>
            </a:endParaRPr>
          </a:p>
        </p:txBody>
      </p:sp>
      <p:sp>
        <p:nvSpPr>
          <p:cNvPr id="152" name="Shape 4"/>
          <p:cNvSpPr/>
          <p:nvPr/>
        </p:nvSpPr>
        <p:spPr>
          <a:xfrm>
            <a:off x="239713" y="1108163"/>
            <a:ext cx="155575" cy="177800"/>
          </a:xfrm>
          <a:custGeom>
            <a:avLst/>
            <a:gdLst/>
            <a:ahLst/>
            <a:cxnLst/>
            <a:rect l="l" t="t" r="r" b="b"/>
            <a:pathLst>
              <a:path w="155575" h="177800">
                <a:moveTo>
                  <a:pt x="25455" y="66675"/>
                </a:moveTo>
                <a:cubicBezTo>
                  <a:pt x="35004" y="34553"/>
                  <a:pt x="64765" y="11112"/>
                  <a:pt x="100013" y="11112"/>
                </a:cubicBezTo>
                <a:lnTo>
                  <a:pt x="122238" y="11112"/>
                </a:lnTo>
                <a:cubicBezTo>
                  <a:pt x="128384" y="11112"/>
                  <a:pt x="133350" y="16078"/>
                  <a:pt x="133350" y="22225"/>
                </a:cubicBezTo>
                <a:cubicBezTo>
                  <a:pt x="133350" y="28372"/>
                  <a:pt x="128384" y="33337"/>
                  <a:pt x="122238" y="33337"/>
                </a:cubicBezTo>
                <a:lnTo>
                  <a:pt x="100013" y="33337"/>
                </a:lnTo>
                <a:cubicBezTo>
                  <a:pt x="77232" y="33337"/>
                  <a:pt x="57646" y="47054"/>
                  <a:pt x="49069" y="66675"/>
                </a:cubicBezTo>
                <a:lnTo>
                  <a:pt x="94456" y="66675"/>
                </a:lnTo>
                <a:cubicBezTo>
                  <a:pt x="99075" y="66675"/>
                  <a:pt x="102791" y="70391"/>
                  <a:pt x="102791" y="75009"/>
                </a:cubicBezTo>
                <a:cubicBezTo>
                  <a:pt x="102791" y="79628"/>
                  <a:pt x="99075" y="83344"/>
                  <a:pt x="94456" y="83344"/>
                </a:cubicBezTo>
                <a:lnTo>
                  <a:pt x="44728" y="83344"/>
                </a:lnTo>
                <a:cubicBezTo>
                  <a:pt x="44554" y="85184"/>
                  <a:pt x="44450" y="87025"/>
                  <a:pt x="44450" y="88900"/>
                </a:cubicBezTo>
                <a:cubicBezTo>
                  <a:pt x="44450" y="90775"/>
                  <a:pt x="44554" y="92616"/>
                  <a:pt x="44728" y="94456"/>
                </a:cubicBezTo>
                <a:lnTo>
                  <a:pt x="94456" y="94456"/>
                </a:lnTo>
                <a:cubicBezTo>
                  <a:pt x="99075" y="94456"/>
                  <a:pt x="102791" y="98172"/>
                  <a:pt x="102791" y="102791"/>
                </a:cubicBezTo>
                <a:cubicBezTo>
                  <a:pt x="102791" y="107409"/>
                  <a:pt x="99075" y="111125"/>
                  <a:pt x="94456" y="111125"/>
                </a:cubicBezTo>
                <a:lnTo>
                  <a:pt x="49069" y="111125"/>
                </a:lnTo>
                <a:cubicBezTo>
                  <a:pt x="57646" y="130746"/>
                  <a:pt x="77232" y="144463"/>
                  <a:pt x="100013" y="144463"/>
                </a:cubicBezTo>
                <a:lnTo>
                  <a:pt x="122238" y="144463"/>
                </a:lnTo>
                <a:cubicBezTo>
                  <a:pt x="128384" y="144463"/>
                  <a:pt x="133350" y="149428"/>
                  <a:pt x="133350" y="155575"/>
                </a:cubicBezTo>
                <a:cubicBezTo>
                  <a:pt x="133350" y="161722"/>
                  <a:pt x="128384" y="166688"/>
                  <a:pt x="122238" y="166688"/>
                </a:cubicBezTo>
                <a:lnTo>
                  <a:pt x="100013" y="166688"/>
                </a:lnTo>
                <a:cubicBezTo>
                  <a:pt x="64765" y="166688"/>
                  <a:pt x="35004" y="143247"/>
                  <a:pt x="25455" y="111125"/>
                </a:cubicBezTo>
                <a:lnTo>
                  <a:pt x="13891" y="111125"/>
                </a:lnTo>
                <a:cubicBezTo>
                  <a:pt x="9272" y="111125"/>
                  <a:pt x="5556" y="107409"/>
                  <a:pt x="5556" y="102791"/>
                </a:cubicBezTo>
                <a:cubicBezTo>
                  <a:pt x="5556" y="98172"/>
                  <a:pt x="9272" y="94456"/>
                  <a:pt x="13891" y="94456"/>
                </a:cubicBezTo>
                <a:lnTo>
                  <a:pt x="22433" y="94456"/>
                </a:lnTo>
                <a:cubicBezTo>
                  <a:pt x="22190" y="90810"/>
                  <a:pt x="22190" y="86990"/>
                  <a:pt x="22433" y="83344"/>
                </a:cubicBezTo>
                <a:lnTo>
                  <a:pt x="13891" y="83344"/>
                </a:lnTo>
                <a:cubicBezTo>
                  <a:pt x="9272" y="83344"/>
                  <a:pt x="5556" y="79628"/>
                  <a:pt x="5556" y="75009"/>
                </a:cubicBezTo>
                <a:cubicBezTo>
                  <a:pt x="5556" y="70391"/>
                  <a:pt x="9272" y="66675"/>
                  <a:pt x="13891" y="66675"/>
                </a:cubicBezTo>
                <a:lnTo>
                  <a:pt x="25455" y="66675"/>
                </a:lnTo>
                <a:close/>
              </a:path>
            </a:pathLst>
          </a:custGeom>
          <a:solidFill>
            <a:srgbClr val="FBBF24"/>
          </a:solidFill>
          <a:ln/>
        </p:spPr>
      </p:sp>
      <p:sp>
        <p:nvSpPr>
          <p:cNvPr id="153" name="Text 5"/>
          <p:cNvSpPr/>
          <p:nvPr/>
        </p:nvSpPr>
        <p:spPr>
          <a:xfrm>
            <a:off x="533400" y="1070063"/>
            <a:ext cx="72517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fr-FR" sz="1400" b="1" smtClean="0">
                <a:solidFill>
                  <a:srgbClr val="FBBF24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Coût du Matériel</a:t>
            </a:r>
            <a:endParaRPr lang="fr-FR" sz="1600" dirty="0"/>
          </a:p>
        </p:txBody>
      </p:sp>
      <p:sp>
        <p:nvSpPr>
          <p:cNvPr id="154" name="Shape 6"/>
          <p:cNvSpPr/>
          <p:nvPr/>
        </p:nvSpPr>
        <p:spPr>
          <a:xfrm>
            <a:off x="209550" y="1482813"/>
            <a:ext cx="7480300" cy="3803650"/>
          </a:xfrm>
          <a:prstGeom prst="roundRect">
            <a:avLst>
              <a:gd name="adj" fmla="val 1914"/>
            </a:avLst>
          </a:prstGeom>
          <a:solidFill>
            <a:srgbClr val="FFFFFF">
              <a:alpha val="5098"/>
            </a:srgbClr>
          </a:solidFill>
          <a:ln w="12700">
            <a:solidFill>
              <a:srgbClr val="FFFFFF">
                <a:alpha val="10196"/>
              </a:srgbClr>
            </a:solidFill>
            <a:prstDash val="solid"/>
          </a:ln>
        </p:spPr>
      </p:sp>
      <p:sp>
        <p:nvSpPr>
          <p:cNvPr id="155" name="Text 7"/>
          <p:cNvSpPr/>
          <p:nvPr/>
        </p:nvSpPr>
        <p:spPr>
          <a:xfrm>
            <a:off x="368300" y="1641563"/>
            <a:ext cx="19812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fr-FR" sz="1200" smtClean="0">
                <a:solidFill>
                  <a:srgbClr val="D1D5DC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Motoréducteur faible couple</a:t>
            </a:r>
            <a:endParaRPr lang="fr-FR" sz="1600" dirty="0"/>
          </a:p>
        </p:txBody>
      </p:sp>
      <p:sp>
        <p:nvSpPr>
          <p:cNvPr id="156" name="Text 8"/>
          <p:cNvSpPr/>
          <p:nvPr/>
        </p:nvSpPr>
        <p:spPr>
          <a:xfrm>
            <a:off x="7102475" y="1641563"/>
            <a:ext cx="508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fr-FR" sz="1200" b="1" smtClean="0">
                <a:solidFill>
                  <a:srgbClr val="FFFFF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350 €</a:t>
            </a:r>
            <a:endParaRPr lang="fr-FR" sz="1600" dirty="0"/>
          </a:p>
        </p:txBody>
      </p:sp>
      <p:sp>
        <p:nvSpPr>
          <p:cNvPr id="157" name="Text 9"/>
          <p:cNvSpPr/>
          <p:nvPr/>
        </p:nvSpPr>
        <p:spPr>
          <a:xfrm>
            <a:off x="368300" y="1908263"/>
            <a:ext cx="1841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fr-FR" sz="1200" smtClean="0">
                <a:solidFill>
                  <a:srgbClr val="D1D5DC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Motoréducteur fort couple</a:t>
            </a:r>
            <a:endParaRPr lang="fr-FR" sz="1600" dirty="0"/>
          </a:p>
        </p:txBody>
      </p:sp>
      <p:sp>
        <p:nvSpPr>
          <p:cNvPr id="158" name="Text 10"/>
          <p:cNvSpPr/>
          <p:nvPr/>
        </p:nvSpPr>
        <p:spPr>
          <a:xfrm>
            <a:off x="7102673" y="1908263"/>
            <a:ext cx="508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fr-FR" sz="1200" b="1" smtClean="0">
                <a:solidFill>
                  <a:srgbClr val="FFFFF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450 €</a:t>
            </a:r>
            <a:endParaRPr lang="fr-FR" sz="1600" dirty="0"/>
          </a:p>
        </p:txBody>
      </p:sp>
      <p:sp>
        <p:nvSpPr>
          <p:cNvPr id="159" name="Text 11"/>
          <p:cNvSpPr/>
          <p:nvPr/>
        </p:nvSpPr>
        <p:spPr>
          <a:xfrm>
            <a:off x="368300" y="2174963"/>
            <a:ext cx="17907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fr-FR" sz="1200" smtClean="0">
                <a:solidFill>
                  <a:srgbClr val="D1D5DC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Variateurs de vitesse (×2)</a:t>
            </a:r>
            <a:endParaRPr lang="fr-FR" sz="1600" dirty="0"/>
          </a:p>
        </p:txBody>
      </p:sp>
      <p:sp>
        <p:nvSpPr>
          <p:cNvPr id="160" name="Text 12"/>
          <p:cNvSpPr/>
          <p:nvPr/>
        </p:nvSpPr>
        <p:spPr>
          <a:xfrm>
            <a:off x="7095133" y="2174963"/>
            <a:ext cx="508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fr-FR" sz="1200" b="1" smtClean="0">
                <a:solidFill>
                  <a:srgbClr val="FFFFF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500 €</a:t>
            </a:r>
            <a:endParaRPr lang="fr-FR" sz="1600" dirty="0"/>
          </a:p>
        </p:txBody>
      </p:sp>
      <p:sp>
        <p:nvSpPr>
          <p:cNvPr id="161" name="Text 13"/>
          <p:cNvSpPr/>
          <p:nvPr/>
        </p:nvSpPr>
        <p:spPr>
          <a:xfrm>
            <a:off x="368300" y="2441663"/>
            <a:ext cx="1968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fr-FR" sz="1200" smtClean="0">
                <a:solidFill>
                  <a:srgbClr val="D1D5DC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Vérin électrique / actionneur</a:t>
            </a:r>
            <a:endParaRPr lang="fr-FR" sz="1600" dirty="0"/>
          </a:p>
        </p:txBody>
      </p:sp>
      <p:sp>
        <p:nvSpPr>
          <p:cNvPr id="162" name="Text 14"/>
          <p:cNvSpPr/>
          <p:nvPr/>
        </p:nvSpPr>
        <p:spPr>
          <a:xfrm>
            <a:off x="7094339" y="2441663"/>
            <a:ext cx="508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fr-FR" sz="1200" b="1" smtClean="0">
                <a:solidFill>
                  <a:srgbClr val="FFFFF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200 €</a:t>
            </a:r>
            <a:endParaRPr lang="fr-FR" sz="1600" dirty="0"/>
          </a:p>
        </p:txBody>
      </p:sp>
      <p:sp>
        <p:nvSpPr>
          <p:cNvPr id="163" name="Text 15"/>
          <p:cNvSpPr/>
          <p:nvPr/>
        </p:nvSpPr>
        <p:spPr>
          <a:xfrm>
            <a:off x="368300" y="2708363"/>
            <a:ext cx="1168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fr-FR" sz="1200" smtClean="0">
                <a:solidFill>
                  <a:srgbClr val="D1D5DC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Glissière linéaire</a:t>
            </a:r>
            <a:endParaRPr lang="fr-FR" sz="1600" dirty="0"/>
          </a:p>
        </p:txBody>
      </p:sp>
      <p:sp>
        <p:nvSpPr>
          <p:cNvPr id="164" name="Text 16"/>
          <p:cNvSpPr/>
          <p:nvPr/>
        </p:nvSpPr>
        <p:spPr>
          <a:xfrm>
            <a:off x="7130653" y="2708363"/>
            <a:ext cx="4826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fr-FR" sz="1200" b="1" smtClean="0">
                <a:solidFill>
                  <a:srgbClr val="FFFFF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120 €</a:t>
            </a:r>
            <a:endParaRPr lang="fr-FR" sz="1600" dirty="0"/>
          </a:p>
        </p:txBody>
      </p:sp>
      <p:sp>
        <p:nvSpPr>
          <p:cNvPr id="165" name="Text 17"/>
          <p:cNvSpPr/>
          <p:nvPr/>
        </p:nvSpPr>
        <p:spPr>
          <a:xfrm>
            <a:off x="368300" y="2975063"/>
            <a:ext cx="27559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fr-FR" sz="1200" smtClean="0">
                <a:solidFill>
                  <a:srgbClr val="D1D5DC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Capteurs fin de course (×2)</a:t>
            </a:r>
            <a:endParaRPr lang="fr-FR" sz="1600" dirty="0"/>
          </a:p>
        </p:txBody>
      </p:sp>
      <p:sp>
        <p:nvSpPr>
          <p:cNvPr id="166" name="Text 18"/>
          <p:cNvSpPr/>
          <p:nvPr/>
        </p:nvSpPr>
        <p:spPr>
          <a:xfrm>
            <a:off x="7217909" y="2975063"/>
            <a:ext cx="508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fr-FR" sz="1200" b="1" smtClean="0">
                <a:solidFill>
                  <a:srgbClr val="FFFFF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60 €</a:t>
            </a:r>
            <a:endParaRPr lang="fr-FR" sz="1600" dirty="0"/>
          </a:p>
        </p:txBody>
      </p:sp>
      <p:sp>
        <p:nvSpPr>
          <p:cNvPr id="167" name="Text 19"/>
          <p:cNvSpPr/>
          <p:nvPr/>
        </p:nvSpPr>
        <p:spPr>
          <a:xfrm>
            <a:off x="368300" y="4168537"/>
            <a:ext cx="2139950" cy="2035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fr-FR" sz="1200" smtClean="0">
                <a:solidFill>
                  <a:srgbClr val="D1D5DC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Relais,borniers,câblage (1 lot)</a:t>
            </a:r>
            <a:endParaRPr lang="fr-FR" sz="1600" dirty="0"/>
          </a:p>
        </p:txBody>
      </p:sp>
      <p:sp>
        <p:nvSpPr>
          <p:cNvPr id="168" name="Text 20"/>
          <p:cNvSpPr/>
          <p:nvPr/>
        </p:nvSpPr>
        <p:spPr>
          <a:xfrm>
            <a:off x="7114832" y="4168538"/>
            <a:ext cx="508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fr-FR" sz="1200" b="1" smtClean="0">
                <a:solidFill>
                  <a:srgbClr val="FFFFF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200 €</a:t>
            </a:r>
            <a:endParaRPr lang="fr-FR" sz="1600" dirty="0"/>
          </a:p>
        </p:txBody>
      </p:sp>
      <p:sp>
        <p:nvSpPr>
          <p:cNvPr id="169" name="Text 21"/>
          <p:cNvSpPr/>
          <p:nvPr/>
        </p:nvSpPr>
        <p:spPr>
          <a:xfrm>
            <a:off x="368300" y="4422881"/>
            <a:ext cx="24320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fr-FR" sz="1200" smtClean="0">
                <a:solidFill>
                  <a:srgbClr val="D1D5DC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Adaptateurs clés BT / WiFi (1 lot)</a:t>
            </a:r>
            <a:endParaRPr lang="fr-FR" sz="1600" dirty="0"/>
          </a:p>
        </p:txBody>
      </p:sp>
      <p:sp>
        <p:nvSpPr>
          <p:cNvPr id="170" name="Text 22"/>
          <p:cNvSpPr/>
          <p:nvPr/>
        </p:nvSpPr>
        <p:spPr>
          <a:xfrm>
            <a:off x="7131447" y="4422881"/>
            <a:ext cx="4699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fr-FR" sz="1200" b="1" smtClean="0">
                <a:solidFill>
                  <a:srgbClr val="FFFFF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150 €</a:t>
            </a:r>
            <a:endParaRPr lang="fr-FR" sz="1600" dirty="0"/>
          </a:p>
        </p:txBody>
      </p:sp>
      <p:sp>
        <p:nvSpPr>
          <p:cNvPr id="171" name="Shape 23"/>
          <p:cNvSpPr/>
          <p:nvPr/>
        </p:nvSpPr>
        <p:spPr>
          <a:xfrm>
            <a:off x="368300" y="4721331"/>
            <a:ext cx="7162800" cy="12700"/>
          </a:xfrm>
          <a:prstGeom prst="roundRect">
            <a:avLst>
              <a:gd name="adj" fmla="val 0"/>
            </a:avLst>
          </a:prstGeom>
          <a:solidFill>
            <a:srgbClr val="364153"/>
          </a:solidFill>
          <a:ln/>
        </p:spPr>
      </p:sp>
      <p:sp>
        <p:nvSpPr>
          <p:cNvPr id="172" name="Text 24"/>
          <p:cNvSpPr/>
          <p:nvPr/>
        </p:nvSpPr>
        <p:spPr>
          <a:xfrm>
            <a:off x="368300" y="4911831"/>
            <a:ext cx="14351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fr-FR" sz="1200" b="1" smtClean="0">
                <a:solidFill>
                  <a:srgbClr val="FBBF24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Sous-total  Matériel</a:t>
            </a:r>
            <a:endParaRPr lang="fr-FR" sz="1600" dirty="0"/>
          </a:p>
        </p:txBody>
      </p:sp>
      <p:sp>
        <p:nvSpPr>
          <p:cNvPr id="173" name="Text 25"/>
          <p:cNvSpPr/>
          <p:nvPr/>
        </p:nvSpPr>
        <p:spPr>
          <a:xfrm>
            <a:off x="6691908" y="4829281"/>
            <a:ext cx="9525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fr-FR" sz="1800" b="1" smtClean="0">
                <a:solidFill>
                  <a:srgbClr val="FBBF24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2 360 €</a:t>
            </a:r>
            <a:endParaRPr lang="fr-FR" sz="1600" dirty="0"/>
          </a:p>
        </p:txBody>
      </p:sp>
      <p:sp>
        <p:nvSpPr>
          <p:cNvPr id="174" name="Shape 26"/>
          <p:cNvSpPr/>
          <p:nvPr/>
        </p:nvSpPr>
        <p:spPr>
          <a:xfrm>
            <a:off x="209550" y="5578563"/>
            <a:ext cx="177800" cy="177800"/>
          </a:xfrm>
          <a:custGeom>
            <a:avLst/>
            <a:gdLst/>
            <a:ahLst/>
            <a:cxnLst/>
            <a:rect l="l" t="t" r="r" b="b"/>
            <a:pathLst>
              <a:path w="177800" h="177800">
                <a:moveTo>
                  <a:pt x="140295" y="0"/>
                </a:moveTo>
                <a:cubicBezTo>
                  <a:pt x="146963" y="0"/>
                  <a:pt x="153353" y="2639"/>
                  <a:pt x="158041" y="7362"/>
                </a:cubicBezTo>
                <a:lnTo>
                  <a:pt x="170438" y="19759"/>
                </a:lnTo>
                <a:cubicBezTo>
                  <a:pt x="175161" y="24448"/>
                  <a:pt x="177800" y="30837"/>
                  <a:pt x="177800" y="37505"/>
                </a:cubicBezTo>
                <a:cubicBezTo>
                  <a:pt x="177800" y="44172"/>
                  <a:pt x="175161" y="50562"/>
                  <a:pt x="170438" y="55250"/>
                </a:cubicBezTo>
                <a:lnTo>
                  <a:pt x="154846" y="70842"/>
                </a:lnTo>
                <a:lnTo>
                  <a:pt x="106958" y="22954"/>
                </a:lnTo>
                <a:lnTo>
                  <a:pt x="122550" y="7362"/>
                </a:lnTo>
                <a:cubicBezTo>
                  <a:pt x="127238" y="2639"/>
                  <a:pt x="133628" y="0"/>
                  <a:pt x="140295" y="0"/>
                </a:cubicBezTo>
                <a:close/>
                <a:moveTo>
                  <a:pt x="20454" y="109423"/>
                </a:moveTo>
                <a:lnTo>
                  <a:pt x="95186" y="34727"/>
                </a:lnTo>
                <a:lnTo>
                  <a:pt x="143073" y="82614"/>
                </a:lnTo>
                <a:lnTo>
                  <a:pt x="68377" y="157346"/>
                </a:lnTo>
                <a:cubicBezTo>
                  <a:pt x="64661" y="161062"/>
                  <a:pt x="60008" y="163770"/>
                  <a:pt x="54937" y="165194"/>
                </a:cubicBezTo>
                <a:lnTo>
                  <a:pt x="10557" y="177487"/>
                </a:lnTo>
                <a:cubicBezTo>
                  <a:pt x="7675" y="178286"/>
                  <a:pt x="4549" y="177487"/>
                  <a:pt x="2431" y="175334"/>
                </a:cubicBezTo>
                <a:cubicBezTo>
                  <a:pt x="313" y="173181"/>
                  <a:pt x="-521" y="170091"/>
                  <a:pt x="278" y="167208"/>
                </a:cubicBezTo>
                <a:lnTo>
                  <a:pt x="12640" y="122863"/>
                </a:lnTo>
                <a:cubicBezTo>
                  <a:pt x="14064" y="117793"/>
                  <a:pt x="16738" y="113174"/>
                  <a:pt x="20489" y="109423"/>
                </a:cubicBezTo>
                <a:close/>
                <a:moveTo>
                  <a:pt x="78274" y="28059"/>
                </a:moveTo>
                <a:lnTo>
                  <a:pt x="28059" y="78274"/>
                </a:lnTo>
                <a:lnTo>
                  <a:pt x="4063" y="54278"/>
                </a:lnTo>
                <a:cubicBezTo>
                  <a:pt x="-1354" y="48860"/>
                  <a:pt x="-1354" y="40074"/>
                  <a:pt x="4063" y="34622"/>
                </a:cubicBezTo>
                <a:lnTo>
                  <a:pt x="34622" y="4063"/>
                </a:lnTo>
                <a:cubicBezTo>
                  <a:pt x="40040" y="-1354"/>
                  <a:pt x="48826" y="-1354"/>
                  <a:pt x="54278" y="4063"/>
                </a:cubicBezTo>
                <a:lnTo>
                  <a:pt x="56326" y="6112"/>
                </a:lnTo>
                <a:lnTo>
                  <a:pt x="36775" y="25663"/>
                </a:lnTo>
                <a:cubicBezTo>
                  <a:pt x="34067" y="28372"/>
                  <a:pt x="34067" y="32782"/>
                  <a:pt x="36775" y="35491"/>
                </a:cubicBezTo>
                <a:cubicBezTo>
                  <a:pt x="39484" y="38199"/>
                  <a:pt x="43894" y="38199"/>
                  <a:pt x="46603" y="35491"/>
                </a:cubicBezTo>
                <a:lnTo>
                  <a:pt x="66154" y="15939"/>
                </a:lnTo>
                <a:lnTo>
                  <a:pt x="78274" y="28059"/>
                </a:lnTo>
                <a:close/>
                <a:moveTo>
                  <a:pt x="149741" y="99526"/>
                </a:moveTo>
                <a:lnTo>
                  <a:pt x="161861" y="111646"/>
                </a:lnTo>
                <a:lnTo>
                  <a:pt x="142309" y="131197"/>
                </a:lnTo>
                <a:cubicBezTo>
                  <a:pt x="139601" y="133906"/>
                  <a:pt x="139601" y="138316"/>
                  <a:pt x="142309" y="141025"/>
                </a:cubicBezTo>
                <a:cubicBezTo>
                  <a:pt x="145018" y="143733"/>
                  <a:pt x="149428" y="143733"/>
                  <a:pt x="152137" y="141025"/>
                </a:cubicBezTo>
                <a:lnTo>
                  <a:pt x="171688" y="121474"/>
                </a:lnTo>
                <a:lnTo>
                  <a:pt x="173737" y="123522"/>
                </a:lnTo>
                <a:cubicBezTo>
                  <a:pt x="179154" y="128940"/>
                  <a:pt x="179154" y="137726"/>
                  <a:pt x="173737" y="143178"/>
                </a:cubicBezTo>
                <a:lnTo>
                  <a:pt x="143178" y="173737"/>
                </a:lnTo>
                <a:cubicBezTo>
                  <a:pt x="137760" y="179154"/>
                  <a:pt x="128974" y="179154"/>
                  <a:pt x="123522" y="173737"/>
                </a:cubicBezTo>
                <a:lnTo>
                  <a:pt x="99526" y="149741"/>
                </a:lnTo>
                <a:lnTo>
                  <a:pt x="149741" y="99526"/>
                </a:lnTo>
                <a:close/>
              </a:path>
            </a:pathLst>
          </a:custGeom>
          <a:solidFill>
            <a:srgbClr val="FBBF24"/>
          </a:solidFill>
          <a:ln/>
        </p:spPr>
      </p:sp>
      <p:sp>
        <p:nvSpPr>
          <p:cNvPr id="175" name="Text 27"/>
          <p:cNvSpPr/>
          <p:nvPr/>
        </p:nvSpPr>
        <p:spPr>
          <a:xfrm>
            <a:off x="514350" y="5540463"/>
            <a:ext cx="72517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fr-FR" sz="1400" b="1" smtClean="0">
                <a:solidFill>
                  <a:srgbClr val="FBBF24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Coût des Études</a:t>
            </a:r>
            <a:endParaRPr lang="fr-FR" sz="1600" dirty="0"/>
          </a:p>
        </p:txBody>
      </p:sp>
      <p:sp>
        <p:nvSpPr>
          <p:cNvPr id="176" name="Shape 28"/>
          <p:cNvSpPr/>
          <p:nvPr/>
        </p:nvSpPr>
        <p:spPr>
          <a:xfrm>
            <a:off x="190500" y="5953213"/>
            <a:ext cx="7480300" cy="2494187"/>
          </a:xfrm>
          <a:prstGeom prst="roundRect">
            <a:avLst>
              <a:gd name="adj" fmla="val 4734"/>
            </a:avLst>
          </a:prstGeom>
          <a:solidFill>
            <a:srgbClr val="FFFFFF">
              <a:alpha val="5098"/>
            </a:srgbClr>
          </a:solidFill>
          <a:ln w="12700">
            <a:solidFill>
              <a:srgbClr val="FFFFFF">
                <a:alpha val="10196"/>
              </a:srgbClr>
            </a:solidFill>
            <a:prstDash val="solid"/>
          </a:ln>
        </p:spPr>
      </p:sp>
      <p:sp>
        <p:nvSpPr>
          <p:cNvPr id="177" name="Text 29"/>
          <p:cNvSpPr/>
          <p:nvPr/>
        </p:nvSpPr>
        <p:spPr>
          <a:xfrm>
            <a:off x="349250" y="6111963"/>
            <a:ext cx="16637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fr-FR" sz="1200" dirty="0" smtClean="0">
                <a:solidFill>
                  <a:srgbClr val="D1D5DC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Étude mécanique </a:t>
            </a:r>
            <a:r>
              <a:rPr lang="fr-FR" sz="1200" dirty="0" smtClean="0">
                <a:solidFill>
                  <a:srgbClr val="D1D5DC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(40h</a:t>
            </a:r>
            <a:r>
              <a:rPr lang="fr-FR" sz="1200" dirty="0" smtClean="0">
                <a:solidFill>
                  <a:srgbClr val="D1D5DC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)</a:t>
            </a:r>
            <a:endParaRPr lang="fr-FR" sz="1600" dirty="0"/>
          </a:p>
        </p:txBody>
      </p:sp>
      <p:sp>
        <p:nvSpPr>
          <p:cNvPr id="178" name="Text 30"/>
          <p:cNvSpPr/>
          <p:nvPr/>
        </p:nvSpPr>
        <p:spPr>
          <a:xfrm>
            <a:off x="7085608" y="6111963"/>
            <a:ext cx="508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fr-FR" sz="1200" b="1" dirty="0" smtClean="0">
                <a:solidFill>
                  <a:srgbClr val="FFFFF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110</a:t>
            </a:r>
            <a:r>
              <a:rPr lang="fr-FR" sz="1200" b="1" dirty="0" smtClean="0">
                <a:solidFill>
                  <a:srgbClr val="FFFFF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 </a:t>
            </a:r>
            <a:r>
              <a:rPr lang="fr-FR" sz="1200" b="1" dirty="0" smtClean="0">
                <a:solidFill>
                  <a:srgbClr val="FFFFF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€</a:t>
            </a:r>
            <a:endParaRPr lang="fr-FR" sz="1600" dirty="0"/>
          </a:p>
        </p:txBody>
      </p:sp>
      <p:sp>
        <p:nvSpPr>
          <p:cNvPr id="179" name="Text 31"/>
          <p:cNvSpPr/>
          <p:nvPr/>
        </p:nvSpPr>
        <p:spPr>
          <a:xfrm>
            <a:off x="349250" y="6378663"/>
            <a:ext cx="1549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fr-FR" sz="1200" dirty="0" smtClean="0">
                <a:solidFill>
                  <a:srgbClr val="D1D5DC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Étude électrique </a:t>
            </a:r>
            <a:r>
              <a:rPr lang="fr-FR" sz="1200" dirty="0" smtClean="0">
                <a:solidFill>
                  <a:srgbClr val="D1D5DC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(</a:t>
            </a:r>
            <a:r>
              <a:rPr lang="fr-FR" sz="1200" dirty="0" smtClean="0">
                <a:solidFill>
                  <a:srgbClr val="D1D5DC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30</a:t>
            </a:r>
            <a:r>
              <a:rPr lang="fr-FR" sz="1200" dirty="0" smtClean="0">
                <a:solidFill>
                  <a:srgbClr val="D1D5DC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h</a:t>
            </a:r>
            <a:r>
              <a:rPr lang="fr-FR" sz="1200" dirty="0" smtClean="0">
                <a:solidFill>
                  <a:srgbClr val="D1D5DC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)</a:t>
            </a:r>
            <a:endParaRPr lang="fr-FR" sz="1600" dirty="0"/>
          </a:p>
        </p:txBody>
      </p:sp>
      <p:sp>
        <p:nvSpPr>
          <p:cNvPr id="180" name="Text 32"/>
          <p:cNvSpPr/>
          <p:nvPr/>
        </p:nvSpPr>
        <p:spPr>
          <a:xfrm>
            <a:off x="7129335" y="6379692"/>
            <a:ext cx="698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fr-FR" sz="1200" b="1" dirty="0" smtClean="0">
                <a:solidFill>
                  <a:srgbClr val="FFFFF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825€</a:t>
            </a:r>
            <a:endParaRPr lang="fr-FR" sz="1600" dirty="0"/>
          </a:p>
        </p:txBody>
      </p:sp>
      <p:sp>
        <p:nvSpPr>
          <p:cNvPr id="181" name="Text 33"/>
          <p:cNvSpPr/>
          <p:nvPr/>
        </p:nvSpPr>
        <p:spPr>
          <a:xfrm>
            <a:off x="349250" y="7152000"/>
            <a:ext cx="24511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fr-FR" sz="1200" smtClean="0">
                <a:solidFill>
                  <a:srgbClr val="D1D5DC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Programmation automatisme (30h)</a:t>
            </a:r>
            <a:endParaRPr lang="fr-FR" sz="1600" dirty="0"/>
          </a:p>
        </p:txBody>
      </p:sp>
      <p:sp>
        <p:nvSpPr>
          <p:cNvPr id="182" name="Text 34"/>
          <p:cNvSpPr/>
          <p:nvPr/>
        </p:nvSpPr>
        <p:spPr>
          <a:xfrm>
            <a:off x="7088386" y="7152000"/>
            <a:ext cx="495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fr-FR" sz="1200" b="1" smtClean="0">
                <a:solidFill>
                  <a:srgbClr val="FFFFF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825 €</a:t>
            </a:r>
            <a:endParaRPr lang="fr-FR" sz="1600" dirty="0"/>
          </a:p>
        </p:txBody>
      </p:sp>
      <p:sp>
        <p:nvSpPr>
          <p:cNvPr id="183" name="Text 35"/>
          <p:cNvSpPr/>
          <p:nvPr/>
        </p:nvSpPr>
        <p:spPr>
          <a:xfrm>
            <a:off x="349250" y="7418700"/>
            <a:ext cx="2159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fr-FR" sz="1200" smtClean="0">
                <a:solidFill>
                  <a:srgbClr val="D1D5DC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Développement IHM / PC (15h)</a:t>
            </a:r>
            <a:endParaRPr lang="fr-FR" sz="1600" dirty="0"/>
          </a:p>
        </p:txBody>
      </p:sp>
      <p:sp>
        <p:nvSpPr>
          <p:cNvPr id="184" name="Text 36"/>
          <p:cNvSpPr/>
          <p:nvPr/>
        </p:nvSpPr>
        <p:spPr>
          <a:xfrm>
            <a:off x="6886377" y="7418700"/>
            <a:ext cx="698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fr-FR" sz="1200" b="1" smtClean="0">
                <a:solidFill>
                  <a:srgbClr val="FFFFF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412,50 €</a:t>
            </a:r>
            <a:endParaRPr lang="fr-FR" sz="1600" dirty="0"/>
          </a:p>
        </p:txBody>
      </p:sp>
      <p:sp>
        <p:nvSpPr>
          <p:cNvPr id="185" name="Text 37"/>
          <p:cNvSpPr/>
          <p:nvPr/>
        </p:nvSpPr>
        <p:spPr>
          <a:xfrm>
            <a:off x="349250" y="7685400"/>
            <a:ext cx="1968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fr-FR" sz="1200" smtClean="0">
                <a:solidFill>
                  <a:srgbClr val="D1D5DC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Mise au point et essais (15h)</a:t>
            </a:r>
            <a:endParaRPr lang="fr-FR" sz="1600" dirty="0"/>
          </a:p>
        </p:txBody>
      </p:sp>
      <p:sp>
        <p:nvSpPr>
          <p:cNvPr id="186" name="Text 38"/>
          <p:cNvSpPr/>
          <p:nvPr/>
        </p:nvSpPr>
        <p:spPr>
          <a:xfrm>
            <a:off x="6886377" y="7685400"/>
            <a:ext cx="698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fr-FR" sz="1200" b="1" smtClean="0">
                <a:solidFill>
                  <a:srgbClr val="FFFFF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412,50 €</a:t>
            </a:r>
            <a:endParaRPr lang="fr-FR" sz="1600" dirty="0"/>
          </a:p>
        </p:txBody>
      </p:sp>
      <p:sp>
        <p:nvSpPr>
          <p:cNvPr id="187" name="Shape 39"/>
          <p:cNvSpPr/>
          <p:nvPr/>
        </p:nvSpPr>
        <p:spPr>
          <a:xfrm>
            <a:off x="349250" y="7983850"/>
            <a:ext cx="7162800" cy="12700"/>
          </a:xfrm>
          <a:prstGeom prst="roundRect">
            <a:avLst>
              <a:gd name="adj" fmla="val 0"/>
            </a:avLst>
          </a:prstGeom>
          <a:solidFill>
            <a:srgbClr val="364153"/>
          </a:solidFill>
          <a:ln/>
        </p:spPr>
      </p:sp>
      <p:sp>
        <p:nvSpPr>
          <p:cNvPr id="188" name="Text 40"/>
          <p:cNvSpPr/>
          <p:nvPr/>
        </p:nvSpPr>
        <p:spPr>
          <a:xfrm>
            <a:off x="349250" y="8174350"/>
            <a:ext cx="13462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fr-FR" sz="1200" b="1" smtClean="0">
                <a:solidFill>
                  <a:srgbClr val="FBBF24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Sous-total  Études</a:t>
            </a:r>
            <a:endParaRPr lang="fr-FR" sz="1600" dirty="0"/>
          </a:p>
        </p:txBody>
      </p:sp>
      <p:sp>
        <p:nvSpPr>
          <p:cNvPr id="189" name="Text 41"/>
          <p:cNvSpPr/>
          <p:nvPr/>
        </p:nvSpPr>
        <p:spPr>
          <a:xfrm>
            <a:off x="6729413" y="8091800"/>
            <a:ext cx="9017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fr-FR" b="1" dirty="0" smtClean="0">
                <a:solidFill>
                  <a:srgbClr val="FBBF24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5 </a:t>
            </a:r>
            <a:r>
              <a:rPr lang="fr-FR" b="1" dirty="0" smtClean="0">
                <a:solidFill>
                  <a:srgbClr val="FBBF24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225€</a:t>
            </a:r>
            <a:endParaRPr lang="fr-FR" sz="1600" dirty="0"/>
          </a:p>
        </p:txBody>
      </p:sp>
      <p:sp>
        <p:nvSpPr>
          <p:cNvPr id="190" name="Shape 42"/>
          <p:cNvSpPr/>
          <p:nvPr/>
        </p:nvSpPr>
        <p:spPr>
          <a:xfrm>
            <a:off x="7956550" y="1076413"/>
            <a:ext cx="7480300" cy="1930400"/>
          </a:xfrm>
          <a:prstGeom prst="roundRect">
            <a:avLst>
              <a:gd name="adj" fmla="val 7895"/>
            </a:avLst>
          </a:prstGeom>
          <a:solidFill>
            <a:srgbClr val="FFFFFF">
              <a:alpha val="5098"/>
            </a:srgbClr>
          </a:solidFill>
          <a:ln w="12700">
            <a:solidFill>
              <a:srgbClr val="FFFFFF">
                <a:alpha val="10196"/>
              </a:srgbClr>
            </a:solidFill>
            <a:prstDash val="solid"/>
          </a:ln>
        </p:spPr>
      </p:sp>
      <p:sp>
        <p:nvSpPr>
          <p:cNvPr id="191" name="Text 43"/>
          <p:cNvSpPr/>
          <p:nvPr/>
        </p:nvSpPr>
        <p:spPr>
          <a:xfrm>
            <a:off x="8172450" y="1336763"/>
            <a:ext cx="7048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fr-FR" sz="1400" smtClean="0">
                <a:solidFill>
                  <a:srgbClr val="99A1A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Total Général du Projet</a:t>
            </a:r>
            <a:endParaRPr lang="fr-FR" sz="1600" dirty="0"/>
          </a:p>
        </p:txBody>
      </p:sp>
      <p:sp>
        <p:nvSpPr>
          <p:cNvPr id="192" name="Text 44"/>
          <p:cNvSpPr/>
          <p:nvPr/>
        </p:nvSpPr>
        <p:spPr>
          <a:xfrm>
            <a:off x="8026400" y="1692363"/>
            <a:ext cx="73406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80000"/>
              </a:lnSpc>
            </a:pPr>
            <a:r>
              <a:rPr lang="fr-FR" sz="6000" b="1" dirty="0" smtClean="0">
                <a:solidFill>
                  <a:srgbClr val="FBBF24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7 </a:t>
            </a:r>
            <a:r>
              <a:rPr lang="fr-FR" sz="6000" b="1" dirty="0" smtClean="0">
                <a:solidFill>
                  <a:srgbClr val="FBBF24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585 </a:t>
            </a:r>
            <a:r>
              <a:rPr lang="fr-FR" sz="6000" b="1" dirty="0" smtClean="0">
                <a:solidFill>
                  <a:srgbClr val="FBBF24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€</a:t>
            </a:r>
            <a:endParaRPr lang="fr-FR" sz="1600" dirty="0"/>
          </a:p>
        </p:txBody>
      </p:sp>
      <p:sp>
        <p:nvSpPr>
          <p:cNvPr id="193" name="Text 45"/>
          <p:cNvSpPr/>
          <p:nvPr/>
        </p:nvSpPr>
        <p:spPr>
          <a:xfrm>
            <a:off x="8178800" y="2555963"/>
            <a:ext cx="70358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fr-FR" sz="1200" dirty="0" smtClean="0">
                <a:solidFill>
                  <a:srgbClr val="6A728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Matériel 2 360 € + Études 5 </a:t>
            </a:r>
            <a:r>
              <a:rPr lang="fr-FR" sz="1200" dirty="0" smtClean="0">
                <a:solidFill>
                  <a:srgbClr val="6A728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225 </a:t>
            </a:r>
            <a:r>
              <a:rPr lang="fr-FR" sz="1200" dirty="0" smtClean="0">
                <a:solidFill>
                  <a:srgbClr val="6A728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€</a:t>
            </a:r>
            <a:endParaRPr lang="fr-FR" sz="1600" dirty="0"/>
          </a:p>
        </p:txBody>
      </p:sp>
      <p:sp>
        <p:nvSpPr>
          <p:cNvPr id="194" name="Shape 46"/>
          <p:cNvSpPr/>
          <p:nvPr/>
        </p:nvSpPr>
        <p:spPr>
          <a:xfrm>
            <a:off x="7975600" y="3203663"/>
            <a:ext cx="177800" cy="177800"/>
          </a:xfrm>
          <a:custGeom>
            <a:avLst/>
            <a:gdLst/>
            <a:ahLst/>
            <a:cxnLst/>
            <a:rect l="l" t="t" r="r" b="b"/>
            <a:pathLst>
              <a:path w="177800" h="177800">
                <a:moveTo>
                  <a:pt x="22225" y="22225"/>
                </a:moveTo>
                <a:cubicBezTo>
                  <a:pt x="22225" y="16078"/>
                  <a:pt x="17259" y="11112"/>
                  <a:pt x="11112" y="11112"/>
                </a:cubicBezTo>
                <a:cubicBezTo>
                  <a:pt x="4966" y="11112"/>
                  <a:pt x="0" y="16078"/>
                  <a:pt x="0" y="22225"/>
                </a:cubicBezTo>
                <a:lnTo>
                  <a:pt x="0" y="138906"/>
                </a:lnTo>
                <a:cubicBezTo>
                  <a:pt x="0" y="154255"/>
                  <a:pt x="12432" y="166688"/>
                  <a:pt x="27781" y="166688"/>
                </a:cubicBezTo>
                <a:lnTo>
                  <a:pt x="166688" y="166688"/>
                </a:lnTo>
                <a:cubicBezTo>
                  <a:pt x="172834" y="166688"/>
                  <a:pt x="177800" y="161722"/>
                  <a:pt x="177800" y="155575"/>
                </a:cubicBezTo>
                <a:cubicBezTo>
                  <a:pt x="177800" y="149428"/>
                  <a:pt x="172834" y="144463"/>
                  <a:pt x="166688" y="144463"/>
                </a:cubicBezTo>
                <a:lnTo>
                  <a:pt x="27781" y="144463"/>
                </a:lnTo>
                <a:cubicBezTo>
                  <a:pt x="24725" y="144463"/>
                  <a:pt x="22225" y="141962"/>
                  <a:pt x="22225" y="138906"/>
                </a:cubicBezTo>
                <a:lnTo>
                  <a:pt x="22225" y="22225"/>
                </a:lnTo>
                <a:close/>
                <a:moveTo>
                  <a:pt x="163423" y="52298"/>
                </a:moveTo>
                <a:cubicBezTo>
                  <a:pt x="167764" y="47957"/>
                  <a:pt x="167764" y="40908"/>
                  <a:pt x="163423" y="36567"/>
                </a:cubicBezTo>
                <a:cubicBezTo>
                  <a:pt x="159082" y="32226"/>
                  <a:pt x="152033" y="32226"/>
                  <a:pt x="147692" y="36567"/>
                </a:cubicBezTo>
                <a:lnTo>
                  <a:pt x="111125" y="73169"/>
                </a:lnTo>
                <a:lnTo>
                  <a:pt x="91192" y="53271"/>
                </a:lnTo>
                <a:cubicBezTo>
                  <a:pt x="86851" y="48930"/>
                  <a:pt x="79802" y="48930"/>
                  <a:pt x="75461" y="53271"/>
                </a:cubicBezTo>
                <a:lnTo>
                  <a:pt x="42123" y="86608"/>
                </a:lnTo>
                <a:cubicBezTo>
                  <a:pt x="37783" y="90949"/>
                  <a:pt x="37783" y="97998"/>
                  <a:pt x="42123" y="102339"/>
                </a:cubicBezTo>
                <a:cubicBezTo>
                  <a:pt x="46464" y="106680"/>
                  <a:pt x="53514" y="106680"/>
                  <a:pt x="57854" y="102339"/>
                </a:cubicBezTo>
                <a:lnTo>
                  <a:pt x="83344" y="76850"/>
                </a:lnTo>
                <a:lnTo>
                  <a:pt x="103277" y="96783"/>
                </a:lnTo>
                <a:cubicBezTo>
                  <a:pt x="107618" y="101124"/>
                  <a:pt x="114667" y="101124"/>
                  <a:pt x="119008" y="96783"/>
                </a:cubicBezTo>
                <a:lnTo>
                  <a:pt x="163458" y="52333"/>
                </a:lnTo>
                <a:close/>
              </a:path>
            </a:pathLst>
          </a:custGeom>
          <a:solidFill>
            <a:srgbClr val="FBBF24"/>
          </a:solidFill>
          <a:ln/>
        </p:spPr>
      </p:sp>
      <p:sp>
        <p:nvSpPr>
          <p:cNvPr id="195" name="Text 47"/>
          <p:cNvSpPr/>
          <p:nvPr/>
        </p:nvSpPr>
        <p:spPr>
          <a:xfrm>
            <a:off x="8280400" y="3165563"/>
            <a:ext cx="72517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fr-FR" sz="1400" b="1" smtClean="0">
                <a:solidFill>
                  <a:srgbClr val="FBBF24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Retour sur Investissement</a:t>
            </a:r>
            <a:endParaRPr lang="fr-FR" sz="1600" dirty="0"/>
          </a:p>
        </p:txBody>
      </p:sp>
      <p:sp>
        <p:nvSpPr>
          <p:cNvPr id="196" name="Shape 48"/>
          <p:cNvSpPr/>
          <p:nvPr/>
        </p:nvSpPr>
        <p:spPr>
          <a:xfrm>
            <a:off x="7956550" y="3578313"/>
            <a:ext cx="7480300" cy="4140200"/>
          </a:xfrm>
          <a:prstGeom prst="roundRect">
            <a:avLst>
              <a:gd name="adj" fmla="val 2454"/>
            </a:avLst>
          </a:prstGeom>
          <a:solidFill>
            <a:srgbClr val="FFFFFF">
              <a:alpha val="5098"/>
            </a:srgbClr>
          </a:solidFill>
          <a:ln w="12700">
            <a:solidFill>
              <a:srgbClr val="FFFFFF">
                <a:alpha val="10196"/>
              </a:srgbClr>
            </a:solidFill>
            <a:prstDash val="solid"/>
          </a:ln>
        </p:spPr>
      </p:sp>
      <p:sp>
        <p:nvSpPr>
          <p:cNvPr id="197" name="Text 49"/>
          <p:cNvSpPr/>
          <p:nvPr/>
        </p:nvSpPr>
        <p:spPr>
          <a:xfrm>
            <a:off x="8128000" y="3787863"/>
            <a:ext cx="35306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fr-FR" sz="1200" smtClean="0">
                <a:solidFill>
                  <a:srgbClr val="99A1A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Temps actuel</a:t>
            </a:r>
            <a:endParaRPr lang="fr-FR" sz="1600" dirty="0"/>
          </a:p>
        </p:txBody>
      </p:sp>
      <p:sp>
        <p:nvSpPr>
          <p:cNvPr id="198" name="Text 50"/>
          <p:cNvSpPr/>
          <p:nvPr/>
        </p:nvSpPr>
        <p:spPr>
          <a:xfrm>
            <a:off x="8089900" y="3978363"/>
            <a:ext cx="3606800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fr-FR" sz="2400" b="1" smtClean="0">
                <a:solidFill>
                  <a:srgbClr val="FF6467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2h25</a:t>
            </a:r>
            <a:endParaRPr lang="fr-FR" sz="1600" dirty="0"/>
          </a:p>
        </p:txBody>
      </p:sp>
      <p:sp>
        <p:nvSpPr>
          <p:cNvPr id="199" name="Text 51"/>
          <p:cNvSpPr/>
          <p:nvPr/>
        </p:nvSpPr>
        <p:spPr>
          <a:xfrm>
            <a:off x="8128000" y="4372063"/>
            <a:ext cx="35306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fr-FR" sz="1200" smtClean="0">
                <a:solidFill>
                  <a:srgbClr val="6A728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par clé</a:t>
            </a:r>
            <a:endParaRPr lang="fr-FR" sz="1600" dirty="0"/>
          </a:p>
        </p:txBody>
      </p:sp>
      <p:sp>
        <p:nvSpPr>
          <p:cNvPr id="200" name="Text 52"/>
          <p:cNvSpPr/>
          <p:nvPr/>
        </p:nvSpPr>
        <p:spPr>
          <a:xfrm>
            <a:off x="11734800" y="3787863"/>
            <a:ext cx="35306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fr-FR" sz="1200" smtClean="0">
                <a:solidFill>
                  <a:srgbClr val="99A1A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Temps objectif</a:t>
            </a:r>
            <a:endParaRPr lang="fr-FR" sz="1600" dirty="0"/>
          </a:p>
        </p:txBody>
      </p:sp>
      <p:sp>
        <p:nvSpPr>
          <p:cNvPr id="201" name="Text 53"/>
          <p:cNvSpPr/>
          <p:nvPr/>
        </p:nvSpPr>
        <p:spPr>
          <a:xfrm>
            <a:off x="11696700" y="3978363"/>
            <a:ext cx="3606800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fr-FR" sz="2400" b="1" dirty="0" smtClean="0">
                <a:solidFill>
                  <a:srgbClr val="05DF7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~1h </a:t>
            </a:r>
            <a:endParaRPr lang="fr-FR" sz="1600" dirty="0"/>
          </a:p>
        </p:txBody>
      </p:sp>
      <p:sp>
        <p:nvSpPr>
          <p:cNvPr id="202" name="Text 54"/>
          <p:cNvSpPr/>
          <p:nvPr/>
        </p:nvSpPr>
        <p:spPr>
          <a:xfrm>
            <a:off x="11734800" y="4372063"/>
            <a:ext cx="35306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fr-FR" sz="1200" smtClean="0">
                <a:solidFill>
                  <a:srgbClr val="6A728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par clé</a:t>
            </a:r>
            <a:endParaRPr lang="fr-FR" sz="1600" dirty="0"/>
          </a:p>
        </p:txBody>
      </p:sp>
      <p:sp>
        <p:nvSpPr>
          <p:cNvPr id="203" name="Shape 55"/>
          <p:cNvSpPr/>
          <p:nvPr/>
        </p:nvSpPr>
        <p:spPr>
          <a:xfrm>
            <a:off x="8166100" y="4772113"/>
            <a:ext cx="7061200" cy="12700"/>
          </a:xfrm>
          <a:prstGeom prst="roundRect">
            <a:avLst>
              <a:gd name="adj" fmla="val 0"/>
            </a:avLst>
          </a:prstGeom>
          <a:solidFill>
            <a:srgbClr val="364153"/>
          </a:solidFill>
          <a:ln/>
        </p:spPr>
      </p:sp>
      <p:sp>
        <p:nvSpPr>
          <p:cNvPr id="204" name="Text 56"/>
          <p:cNvSpPr/>
          <p:nvPr/>
        </p:nvSpPr>
        <p:spPr>
          <a:xfrm>
            <a:off x="8166100" y="4930863"/>
            <a:ext cx="14351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fr-FR" sz="1400" smtClean="0">
                <a:solidFill>
                  <a:srgbClr val="D1D5DC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Économie par clé</a:t>
            </a:r>
            <a:endParaRPr lang="fr-FR" sz="1600" dirty="0"/>
          </a:p>
        </p:txBody>
      </p:sp>
      <p:sp>
        <p:nvSpPr>
          <p:cNvPr id="205" name="Text 57"/>
          <p:cNvSpPr/>
          <p:nvPr/>
        </p:nvSpPr>
        <p:spPr>
          <a:xfrm>
            <a:off x="14734183" y="4930863"/>
            <a:ext cx="5842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fr-FR" sz="1400" b="1" smtClean="0">
                <a:solidFill>
                  <a:srgbClr val="05DF7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~60 €</a:t>
            </a:r>
            <a:endParaRPr lang="fr-FR" sz="1600" dirty="0"/>
          </a:p>
        </p:txBody>
      </p:sp>
      <p:sp>
        <p:nvSpPr>
          <p:cNvPr id="206" name="Text 58"/>
          <p:cNvSpPr/>
          <p:nvPr/>
        </p:nvSpPr>
        <p:spPr>
          <a:xfrm>
            <a:off x="8166100" y="5286463"/>
            <a:ext cx="13208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fr-FR" sz="1400" smtClean="0">
                <a:solidFill>
                  <a:srgbClr val="D1D5DC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Clés traitées/an</a:t>
            </a:r>
            <a:endParaRPr lang="fr-FR" sz="1600" dirty="0"/>
          </a:p>
        </p:txBody>
      </p:sp>
      <p:sp>
        <p:nvSpPr>
          <p:cNvPr id="207" name="Text 59"/>
          <p:cNvSpPr/>
          <p:nvPr/>
        </p:nvSpPr>
        <p:spPr>
          <a:xfrm>
            <a:off x="14815344" y="5286463"/>
            <a:ext cx="4953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fr-FR" sz="1400" b="1" smtClean="0">
                <a:solidFill>
                  <a:srgbClr val="FFFFF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~100</a:t>
            </a:r>
            <a:endParaRPr lang="fr-FR" sz="1600" dirty="0"/>
          </a:p>
        </p:txBody>
      </p:sp>
      <p:sp>
        <p:nvSpPr>
          <p:cNvPr id="208" name="Text 60"/>
          <p:cNvSpPr/>
          <p:nvPr/>
        </p:nvSpPr>
        <p:spPr>
          <a:xfrm>
            <a:off x="8166100" y="5642063"/>
            <a:ext cx="15621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fr-FR" sz="1400" smtClean="0">
                <a:solidFill>
                  <a:srgbClr val="D1D5DC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Économie annuelle</a:t>
            </a:r>
            <a:endParaRPr lang="fr-FR" sz="1600" dirty="0"/>
          </a:p>
        </p:txBody>
      </p:sp>
      <p:sp>
        <p:nvSpPr>
          <p:cNvPr id="209" name="Text 61"/>
          <p:cNvSpPr/>
          <p:nvPr/>
        </p:nvSpPr>
        <p:spPr>
          <a:xfrm>
            <a:off x="14456966" y="5642063"/>
            <a:ext cx="8636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fr-FR" sz="1400" b="1" smtClean="0">
                <a:solidFill>
                  <a:srgbClr val="05DF7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~6 000 €</a:t>
            </a:r>
            <a:endParaRPr lang="fr-FR" sz="1600" dirty="0"/>
          </a:p>
        </p:txBody>
      </p:sp>
      <p:sp>
        <p:nvSpPr>
          <p:cNvPr id="210" name="Text 62"/>
          <p:cNvSpPr/>
          <p:nvPr/>
        </p:nvSpPr>
        <p:spPr>
          <a:xfrm>
            <a:off x="8166100" y="5997663"/>
            <a:ext cx="12827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fr-FR" sz="1400" smtClean="0">
                <a:solidFill>
                  <a:srgbClr val="D1D5DC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Coût actuel/clé</a:t>
            </a:r>
            <a:endParaRPr lang="fr-FR" sz="1600" dirty="0"/>
          </a:p>
        </p:txBody>
      </p:sp>
      <p:sp>
        <p:nvSpPr>
          <p:cNvPr id="211" name="Text 63"/>
          <p:cNvSpPr/>
          <p:nvPr/>
        </p:nvSpPr>
        <p:spPr>
          <a:xfrm>
            <a:off x="14567694" y="5997663"/>
            <a:ext cx="7493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fr-FR" sz="1400" b="1" smtClean="0">
                <a:solidFill>
                  <a:srgbClr val="FF6467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89,38 €</a:t>
            </a:r>
            <a:endParaRPr lang="fr-FR" sz="1600" dirty="0"/>
          </a:p>
        </p:txBody>
      </p:sp>
      <p:sp>
        <p:nvSpPr>
          <p:cNvPr id="212" name="Text 64"/>
          <p:cNvSpPr/>
          <p:nvPr/>
        </p:nvSpPr>
        <p:spPr>
          <a:xfrm>
            <a:off x="8166100" y="6353263"/>
            <a:ext cx="11811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fr-FR" sz="1400" smtClean="0">
                <a:solidFill>
                  <a:srgbClr val="D1D5DC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Coût futur/clé</a:t>
            </a:r>
            <a:endParaRPr lang="fr-FR" sz="1600" dirty="0"/>
          </a:p>
        </p:txBody>
      </p:sp>
      <p:sp>
        <p:nvSpPr>
          <p:cNvPr id="213" name="Text 65"/>
          <p:cNvSpPr/>
          <p:nvPr/>
        </p:nvSpPr>
        <p:spPr>
          <a:xfrm>
            <a:off x="14573448" y="6353263"/>
            <a:ext cx="7366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fr-FR" sz="1400" b="1" smtClean="0">
                <a:solidFill>
                  <a:srgbClr val="05DF7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34,38 €</a:t>
            </a:r>
            <a:endParaRPr lang="fr-FR" sz="1600" dirty="0"/>
          </a:p>
        </p:txBody>
      </p:sp>
      <p:sp>
        <p:nvSpPr>
          <p:cNvPr id="214" name="Shape 66"/>
          <p:cNvSpPr/>
          <p:nvPr/>
        </p:nvSpPr>
        <p:spPr>
          <a:xfrm>
            <a:off x="8166100" y="6759663"/>
            <a:ext cx="7061200" cy="749300"/>
          </a:xfrm>
          <a:prstGeom prst="roundRect">
            <a:avLst>
              <a:gd name="adj" fmla="val 13559"/>
            </a:avLst>
          </a:prstGeom>
          <a:solidFill>
            <a:srgbClr val="00C950">
              <a:alpha val="10196"/>
            </a:srgbClr>
          </a:solidFill>
          <a:ln/>
        </p:spPr>
      </p:sp>
      <p:sp>
        <p:nvSpPr>
          <p:cNvPr id="215" name="Text 67"/>
          <p:cNvSpPr/>
          <p:nvPr/>
        </p:nvSpPr>
        <p:spPr>
          <a:xfrm>
            <a:off x="8274050" y="6912063"/>
            <a:ext cx="68453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fr-FR" sz="1400" b="1" dirty="0" smtClean="0">
                <a:solidFill>
                  <a:srgbClr val="05DF7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Amortissement en moins d'1 an</a:t>
            </a:r>
            <a:endParaRPr lang="fr-FR" sz="1600" dirty="0"/>
          </a:p>
        </p:txBody>
      </p:sp>
      <p:sp>
        <p:nvSpPr>
          <p:cNvPr id="216" name="Text 68"/>
          <p:cNvSpPr/>
          <p:nvPr/>
        </p:nvSpPr>
        <p:spPr>
          <a:xfrm>
            <a:off x="8280400" y="7166063"/>
            <a:ext cx="68326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fr-FR" sz="1200" smtClean="0">
                <a:solidFill>
                  <a:srgbClr val="99A1A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Projet économiquement rentable</a:t>
            </a:r>
            <a:endParaRPr lang="fr-FR" sz="1600" dirty="0"/>
          </a:p>
        </p:txBody>
      </p:sp>
      <p:sp>
        <p:nvSpPr>
          <p:cNvPr id="217" name="Shape 71"/>
          <p:cNvSpPr/>
          <p:nvPr/>
        </p:nvSpPr>
        <p:spPr>
          <a:xfrm>
            <a:off x="8115300" y="8807450"/>
            <a:ext cx="3479800" cy="0"/>
          </a:xfrm>
          <a:prstGeom prst="roundRect">
            <a:avLst>
              <a:gd name="adj" fmla="val 0"/>
            </a:avLst>
          </a:prstGeom>
          <a:solidFill>
            <a:srgbClr val="FB2C36">
              <a:alpha val="30196"/>
            </a:srgbClr>
          </a:solidFill>
          <a:ln/>
        </p:spPr>
      </p:sp>
      <p:sp>
        <p:nvSpPr>
          <p:cNvPr id="218" name="Shape 74"/>
          <p:cNvSpPr/>
          <p:nvPr/>
        </p:nvSpPr>
        <p:spPr>
          <a:xfrm>
            <a:off x="11798300" y="8807450"/>
            <a:ext cx="3479800" cy="0"/>
          </a:xfrm>
          <a:prstGeom prst="roundRect">
            <a:avLst>
              <a:gd name="adj" fmla="val 0"/>
            </a:avLst>
          </a:prstGeom>
          <a:solidFill>
            <a:srgbClr val="00C950">
              <a:alpha val="30196"/>
            </a:srgbClr>
          </a:solidFill>
          <a:ln/>
        </p:spPr>
      </p:sp>
      <p:sp>
        <p:nvSpPr>
          <p:cNvPr id="220" name="Text 17"/>
          <p:cNvSpPr/>
          <p:nvPr/>
        </p:nvSpPr>
        <p:spPr>
          <a:xfrm>
            <a:off x="368300" y="3222713"/>
            <a:ext cx="27559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fr-FR" sz="1200" smtClean="0">
                <a:solidFill>
                  <a:srgbClr val="D1D5DC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Capteur de température</a:t>
            </a:r>
            <a:endParaRPr lang="fr-FR" sz="1600" dirty="0"/>
          </a:p>
        </p:txBody>
      </p:sp>
      <p:sp>
        <p:nvSpPr>
          <p:cNvPr id="221" name="Text 17"/>
          <p:cNvSpPr/>
          <p:nvPr/>
        </p:nvSpPr>
        <p:spPr>
          <a:xfrm>
            <a:off x="361264" y="3458349"/>
            <a:ext cx="27559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fr-FR" sz="1200" smtClean="0">
                <a:solidFill>
                  <a:srgbClr val="D1D5DC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Arrêt d’urgence</a:t>
            </a:r>
            <a:endParaRPr lang="fr-FR" sz="1600" dirty="0"/>
          </a:p>
        </p:txBody>
      </p:sp>
      <p:sp>
        <p:nvSpPr>
          <p:cNvPr id="222" name="Text 17"/>
          <p:cNvSpPr/>
          <p:nvPr/>
        </p:nvSpPr>
        <p:spPr>
          <a:xfrm>
            <a:off x="361264" y="3685920"/>
            <a:ext cx="27559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fr-FR" sz="1200" smtClean="0">
                <a:solidFill>
                  <a:srgbClr val="D1D5DC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Capteur sécurité capot</a:t>
            </a:r>
            <a:endParaRPr lang="fr-FR" sz="1600" dirty="0"/>
          </a:p>
        </p:txBody>
      </p:sp>
      <p:sp>
        <p:nvSpPr>
          <p:cNvPr id="223" name="Text 17"/>
          <p:cNvSpPr/>
          <p:nvPr/>
        </p:nvSpPr>
        <p:spPr>
          <a:xfrm>
            <a:off x="373621" y="3916253"/>
            <a:ext cx="27559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fr-FR" sz="1200" smtClean="0">
                <a:solidFill>
                  <a:srgbClr val="D1D5DC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Coffret électrique</a:t>
            </a:r>
            <a:endParaRPr lang="fr-FR" sz="1600" dirty="0"/>
          </a:p>
        </p:txBody>
      </p:sp>
      <p:sp>
        <p:nvSpPr>
          <p:cNvPr id="224" name="Text 18"/>
          <p:cNvSpPr/>
          <p:nvPr/>
        </p:nvSpPr>
        <p:spPr>
          <a:xfrm>
            <a:off x="7219497" y="3215677"/>
            <a:ext cx="508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fr-FR" sz="1200" b="1" smtClean="0">
                <a:solidFill>
                  <a:srgbClr val="FFFFF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80 €</a:t>
            </a:r>
            <a:endParaRPr lang="fr-FR" sz="1600" dirty="0"/>
          </a:p>
        </p:txBody>
      </p:sp>
      <p:sp>
        <p:nvSpPr>
          <p:cNvPr id="225" name="Text 18"/>
          <p:cNvSpPr/>
          <p:nvPr/>
        </p:nvSpPr>
        <p:spPr>
          <a:xfrm>
            <a:off x="7216917" y="3437241"/>
            <a:ext cx="508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fr-FR" sz="1200" b="1" smtClean="0">
                <a:solidFill>
                  <a:srgbClr val="FFFFF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40 €</a:t>
            </a:r>
            <a:endParaRPr lang="fr-FR" sz="1600" dirty="0"/>
          </a:p>
        </p:txBody>
      </p:sp>
      <p:sp>
        <p:nvSpPr>
          <p:cNvPr id="226" name="Text 18"/>
          <p:cNvSpPr/>
          <p:nvPr/>
        </p:nvSpPr>
        <p:spPr>
          <a:xfrm>
            <a:off x="7216917" y="3659148"/>
            <a:ext cx="508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fr-FR" sz="1200" b="1" smtClean="0">
                <a:solidFill>
                  <a:srgbClr val="FFFFF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60 €</a:t>
            </a:r>
            <a:endParaRPr lang="fr-FR" sz="1600" dirty="0"/>
          </a:p>
        </p:txBody>
      </p:sp>
      <p:sp>
        <p:nvSpPr>
          <p:cNvPr id="227" name="Text 18"/>
          <p:cNvSpPr/>
          <p:nvPr/>
        </p:nvSpPr>
        <p:spPr>
          <a:xfrm>
            <a:off x="7155132" y="3919859"/>
            <a:ext cx="508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fr-FR" sz="1200" b="1" smtClean="0">
                <a:solidFill>
                  <a:srgbClr val="FFFFF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150 €</a:t>
            </a:r>
            <a:endParaRPr lang="fr-FR" sz="1600" dirty="0"/>
          </a:p>
        </p:txBody>
      </p:sp>
      <p:sp>
        <p:nvSpPr>
          <p:cNvPr id="230" name="Text 31"/>
          <p:cNvSpPr/>
          <p:nvPr/>
        </p:nvSpPr>
        <p:spPr>
          <a:xfrm>
            <a:off x="353366" y="6642276"/>
            <a:ext cx="199613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fr-FR" sz="1200" smtClean="0">
                <a:solidFill>
                  <a:srgbClr val="D1D5DC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Fabrication mécanique (30h)</a:t>
            </a:r>
            <a:endParaRPr lang="fr-FR" sz="1600" dirty="0"/>
          </a:p>
        </p:txBody>
      </p:sp>
      <p:sp>
        <p:nvSpPr>
          <p:cNvPr id="232" name="Text 31"/>
          <p:cNvSpPr/>
          <p:nvPr/>
        </p:nvSpPr>
        <p:spPr>
          <a:xfrm>
            <a:off x="365722" y="6901773"/>
            <a:ext cx="243462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fr-FR" sz="1200" smtClean="0">
                <a:solidFill>
                  <a:srgbClr val="D1D5DC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Fabrication automatisme (30h)</a:t>
            </a:r>
            <a:endParaRPr lang="fr-FR" sz="1600" dirty="0"/>
          </a:p>
        </p:txBody>
      </p:sp>
      <p:sp>
        <p:nvSpPr>
          <p:cNvPr id="234" name="Text 34"/>
          <p:cNvSpPr/>
          <p:nvPr/>
        </p:nvSpPr>
        <p:spPr>
          <a:xfrm>
            <a:off x="7078535" y="6642276"/>
            <a:ext cx="495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fr-FR" sz="1200" b="1" smtClean="0">
                <a:solidFill>
                  <a:srgbClr val="FFFFF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825 €</a:t>
            </a:r>
            <a:endParaRPr lang="fr-FR" sz="1600" dirty="0"/>
          </a:p>
        </p:txBody>
      </p:sp>
      <p:sp>
        <p:nvSpPr>
          <p:cNvPr id="235" name="Text 34"/>
          <p:cNvSpPr/>
          <p:nvPr/>
        </p:nvSpPr>
        <p:spPr>
          <a:xfrm>
            <a:off x="7085228" y="6901773"/>
            <a:ext cx="495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fr-FR" sz="1200" b="1" smtClean="0">
                <a:solidFill>
                  <a:srgbClr val="FFFFF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825 €</a:t>
            </a:r>
            <a:endParaRPr lang="fr-FR" sz="1600" dirty="0"/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8000" y="508000"/>
            <a:ext cx="153289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fr-FR" sz="1400" b="1" kern="0" spc="140" smtClean="0">
                <a:solidFill>
                  <a:srgbClr val="E89F5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06. BILAN</a:t>
            </a:r>
            <a:endParaRPr lang="fr-FR" sz="1600" dirty="0"/>
          </a:p>
        </p:txBody>
      </p:sp>
      <p:sp>
        <p:nvSpPr>
          <p:cNvPr id="3" name="Text 1"/>
          <p:cNvSpPr/>
          <p:nvPr/>
        </p:nvSpPr>
        <p:spPr>
          <a:xfrm>
            <a:off x="508000" y="863600"/>
            <a:ext cx="154686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fr-FR" sz="3600" b="1" smtClean="0">
                <a:solidFill>
                  <a:srgbClr val="E8E8E8"/>
                </a:solidFill>
                <a:latin typeface="Hedvig Letters Sans" pitchFamily="34" charset="0"/>
                <a:ea typeface="Hedvig Letters Sans" pitchFamily="34" charset="-122"/>
                <a:cs typeface="Hedvig Letters Sans" pitchFamily="34" charset="-120"/>
              </a:rPr>
              <a:t>Bilan &amp; Compétences Développées</a:t>
            </a:r>
            <a:endParaRPr lang="fr-FR" sz="1600" dirty="0"/>
          </a:p>
        </p:txBody>
      </p:sp>
      <p:sp>
        <p:nvSpPr>
          <p:cNvPr id="4" name="Shape 2"/>
          <p:cNvSpPr/>
          <p:nvPr/>
        </p:nvSpPr>
        <p:spPr>
          <a:xfrm>
            <a:off x="514350" y="1581150"/>
            <a:ext cx="7480300" cy="3822700"/>
          </a:xfrm>
          <a:custGeom>
            <a:avLst/>
            <a:gdLst/>
            <a:ahLst/>
            <a:cxnLst/>
            <a:rect l="l" t="t" r="r" b="b"/>
            <a:pathLst>
              <a:path w="7480300" h="3822700">
                <a:moveTo>
                  <a:pt x="101607" y="0"/>
                </a:moveTo>
                <a:lnTo>
                  <a:pt x="7378693" y="0"/>
                </a:lnTo>
                <a:cubicBezTo>
                  <a:pt x="7434809" y="0"/>
                  <a:pt x="7480300" y="45491"/>
                  <a:pt x="7480300" y="101607"/>
                </a:cubicBezTo>
                <a:lnTo>
                  <a:pt x="7480300" y="3721093"/>
                </a:lnTo>
                <a:cubicBezTo>
                  <a:pt x="7480300" y="3777209"/>
                  <a:pt x="7434809" y="3822700"/>
                  <a:pt x="7378693" y="3822700"/>
                </a:cubicBezTo>
                <a:lnTo>
                  <a:pt x="101607" y="3822700"/>
                </a:lnTo>
                <a:cubicBezTo>
                  <a:pt x="45491" y="3822700"/>
                  <a:pt x="0" y="3777209"/>
                  <a:pt x="0" y="3721093"/>
                </a:cubicBezTo>
                <a:lnTo>
                  <a:pt x="0" y="101607"/>
                </a:lnTo>
                <a:cubicBezTo>
                  <a:pt x="0" y="45491"/>
                  <a:pt x="45491" y="0"/>
                  <a:pt x="101607" y="0"/>
                </a:cubicBezTo>
                <a:close/>
              </a:path>
            </a:pathLst>
          </a:custGeom>
          <a:gradFill flip="none" rotWithShape="1">
            <a:gsLst>
              <a:gs pos="0">
                <a:srgbClr val="4A6C8C">
                  <a:alpha val="20000"/>
                </a:srgbClr>
              </a:gs>
              <a:gs pos="100000">
                <a:srgbClr val="4A6C8C">
                  <a:alpha val="5000"/>
                </a:srgbClr>
              </a:gs>
            </a:gsLst>
            <a:lin ang="2700000" scaled="1"/>
          </a:gradFill>
          <a:ln w="12700">
            <a:solidFill>
              <a:srgbClr val="4A6C8C">
                <a:alpha val="4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23900" y="1790700"/>
            <a:ext cx="609600" cy="609600"/>
          </a:xfrm>
          <a:custGeom>
            <a:avLst/>
            <a:gdLst/>
            <a:ahLst/>
            <a:cxnLst/>
            <a:rect l="l" t="t" r="r" b="b"/>
            <a:pathLst>
              <a:path w="609600" h="609600">
                <a:moveTo>
                  <a:pt x="304800" y="0"/>
                </a:moveTo>
                <a:lnTo>
                  <a:pt x="304800" y="0"/>
                </a:lnTo>
                <a:cubicBezTo>
                  <a:pt x="473024" y="0"/>
                  <a:pt x="609600" y="136576"/>
                  <a:pt x="609600" y="304800"/>
                </a:cubicBezTo>
                <a:lnTo>
                  <a:pt x="609600" y="304800"/>
                </a:lnTo>
                <a:cubicBezTo>
                  <a:pt x="609600" y="473024"/>
                  <a:pt x="473024" y="609600"/>
                  <a:pt x="304800" y="609600"/>
                </a:cubicBezTo>
                <a:lnTo>
                  <a:pt x="304800" y="609600"/>
                </a:lnTo>
                <a:cubicBezTo>
                  <a:pt x="136576" y="609600"/>
                  <a:pt x="0" y="473024"/>
                  <a:pt x="0" y="304800"/>
                </a:cubicBezTo>
                <a:lnTo>
                  <a:pt x="0" y="304800"/>
                </a:lnTo>
                <a:cubicBezTo>
                  <a:pt x="0" y="136576"/>
                  <a:pt x="136576" y="0"/>
                  <a:pt x="304800" y="0"/>
                </a:cubicBezTo>
                <a:close/>
              </a:path>
            </a:pathLst>
          </a:custGeom>
          <a:solidFill>
            <a:srgbClr val="E89F5B"/>
          </a:solidFill>
          <a:ln/>
        </p:spPr>
      </p:sp>
      <p:sp>
        <p:nvSpPr>
          <p:cNvPr id="6" name="Shape 4"/>
          <p:cNvSpPr/>
          <p:nvPr/>
        </p:nvSpPr>
        <p:spPr>
          <a:xfrm>
            <a:off x="869950" y="1968500"/>
            <a:ext cx="317500" cy="254000"/>
          </a:xfrm>
          <a:custGeom>
            <a:avLst/>
            <a:gdLst/>
            <a:ahLst/>
            <a:cxnLst/>
            <a:rect l="l" t="t" r="r" b="b"/>
            <a:pathLst>
              <a:path w="317500" h="254000">
                <a:moveTo>
                  <a:pt x="206325" y="104428"/>
                </a:moveTo>
                <a:cubicBezTo>
                  <a:pt x="212378" y="102791"/>
                  <a:pt x="218728" y="105668"/>
                  <a:pt x="221456" y="111274"/>
                </a:cubicBezTo>
                <a:lnTo>
                  <a:pt x="230684" y="129927"/>
                </a:lnTo>
                <a:cubicBezTo>
                  <a:pt x="235793" y="130621"/>
                  <a:pt x="240804" y="132011"/>
                  <a:pt x="245517" y="133945"/>
                </a:cubicBezTo>
                <a:lnTo>
                  <a:pt x="262880" y="122386"/>
                </a:lnTo>
                <a:cubicBezTo>
                  <a:pt x="268089" y="118914"/>
                  <a:pt x="274985" y="119608"/>
                  <a:pt x="279400" y="124023"/>
                </a:cubicBezTo>
                <a:lnTo>
                  <a:pt x="288925" y="133548"/>
                </a:lnTo>
                <a:cubicBezTo>
                  <a:pt x="293340" y="137964"/>
                  <a:pt x="294035" y="144909"/>
                  <a:pt x="290562" y="150068"/>
                </a:cubicBezTo>
                <a:lnTo>
                  <a:pt x="279003" y="167382"/>
                </a:lnTo>
                <a:cubicBezTo>
                  <a:pt x="279946" y="169714"/>
                  <a:pt x="280789" y="172145"/>
                  <a:pt x="281484" y="174675"/>
                </a:cubicBezTo>
                <a:cubicBezTo>
                  <a:pt x="282178" y="177205"/>
                  <a:pt x="282625" y="179685"/>
                  <a:pt x="282972" y="182215"/>
                </a:cubicBezTo>
                <a:lnTo>
                  <a:pt x="301675" y="191443"/>
                </a:lnTo>
                <a:cubicBezTo>
                  <a:pt x="307280" y="194221"/>
                  <a:pt x="310158" y="200571"/>
                  <a:pt x="308521" y="206573"/>
                </a:cubicBezTo>
                <a:lnTo>
                  <a:pt x="305048" y="219571"/>
                </a:lnTo>
                <a:cubicBezTo>
                  <a:pt x="303411" y="225574"/>
                  <a:pt x="297805" y="229642"/>
                  <a:pt x="291554" y="229245"/>
                </a:cubicBezTo>
                <a:lnTo>
                  <a:pt x="270718" y="227905"/>
                </a:lnTo>
                <a:cubicBezTo>
                  <a:pt x="267593" y="231924"/>
                  <a:pt x="263971" y="235645"/>
                  <a:pt x="259854" y="238820"/>
                </a:cubicBezTo>
                <a:lnTo>
                  <a:pt x="261193" y="259606"/>
                </a:lnTo>
                <a:cubicBezTo>
                  <a:pt x="261590" y="265857"/>
                  <a:pt x="257522" y="271512"/>
                  <a:pt x="251520" y="273100"/>
                </a:cubicBezTo>
                <a:lnTo>
                  <a:pt x="238522" y="276572"/>
                </a:lnTo>
                <a:cubicBezTo>
                  <a:pt x="232470" y="278209"/>
                  <a:pt x="226169" y="275332"/>
                  <a:pt x="223391" y="269726"/>
                </a:cubicBezTo>
                <a:lnTo>
                  <a:pt x="214164" y="251073"/>
                </a:lnTo>
                <a:cubicBezTo>
                  <a:pt x="209054" y="250379"/>
                  <a:pt x="204043" y="248989"/>
                  <a:pt x="199330" y="247055"/>
                </a:cubicBezTo>
                <a:lnTo>
                  <a:pt x="181967" y="258614"/>
                </a:lnTo>
                <a:cubicBezTo>
                  <a:pt x="176758" y="262086"/>
                  <a:pt x="169863" y="261392"/>
                  <a:pt x="165447" y="256977"/>
                </a:cubicBezTo>
                <a:lnTo>
                  <a:pt x="155922" y="247452"/>
                </a:lnTo>
                <a:cubicBezTo>
                  <a:pt x="151507" y="243036"/>
                  <a:pt x="150813" y="236141"/>
                  <a:pt x="154285" y="230932"/>
                </a:cubicBezTo>
                <a:lnTo>
                  <a:pt x="165844" y="213568"/>
                </a:lnTo>
                <a:cubicBezTo>
                  <a:pt x="164902" y="211237"/>
                  <a:pt x="164058" y="208806"/>
                  <a:pt x="163364" y="206276"/>
                </a:cubicBezTo>
                <a:cubicBezTo>
                  <a:pt x="162669" y="203746"/>
                  <a:pt x="162223" y="201216"/>
                  <a:pt x="161875" y="198735"/>
                </a:cubicBezTo>
                <a:lnTo>
                  <a:pt x="143173" y="189508"/>
                </a:lnTo>
                <a:cubicBezTo>
                  <a:pt x="137567" y="186730"/>
                  <a:pt x="134739" y="180380"/>
                  <a:pt x="136327" y="174377"/>
                </a:cubicBezTo>
                <a:lnTo>
                  <a:pt x="139799" y="161379"/>
                </a:lnTo>
                <a:cubicBezTo>
                  <a:pt x="141436" y="155377"/>
                  <a:pt x="147042" y="151309"/>
                  <a:pt x="153293" y="151705"/>
                </a:cubicBezTo>
                <a:lnTo>
                  <a:pt x="174079" y="153045"/>
                </a:lnTo>
                <a:cubicBezTo>
                  <a:pt x="177205" y="149027"/>
                  <a:pt x="180826" y="145306"/>
                  <a:pt x="184944" y="142131"/>
                </a:cubicBezTo>
                <a:lnTo>
                  <a:pt x="183604" y="121394"/>
                </a:lnTo>
                <a:cubicBezTo>
                  <a:pt x="183207" y="115143"/>
                  <a:pt x="187275" y="109488"/>
                  <a:pt x="193278" y="107900"/>
                </a:cubicBezTo>
                <a:lnTo>
                  <a:pt x="206276" y="104428"/>
                </a:lnTo>
                <a:close/>
                <a:moveTo>
                  <a:pt x="222448" y="168672"/>
                </a:moveTo>
                <a:cubicBezTo>
                  <a:pt x="210401" y="168686"/>
                  <a:pt x="200631" y="178478"/>
                  <a:pt x="200645" y="190525"/>
                </a:cubicBezTo>
                <a:cubicBezTo>
                  <a:pt x="200659" y="202572"/>
                  <a:pt x="210451" y="212342"/>
                  <a:pt x="222498" y="212328"/>
                </a:cubicBezTo>
                <a:cubicBezTo>
                  <a:pt x="234545" y="212314"/>
                  <a:pt x="244315" y="202522"/>
                  <a:pt x="244301" y="190475"/>
                </a:cubicBezTo>
                <a:cubicBezTo>
                  <a:pt x="244288" y="178428"/>
                  <a:pt x="234496" y="168658"/>
                  <a:pt x="222448" y="168672"/>
                </a:cubicBezTo>
                <a:close/>
                <a:moveTo>
                  <a:pt x="111571" y="-22572"/>
                </a:moveTo>
                <a:lnTo>
                  <a:pt x="124569" y="-19100"/>
                </a:lnTo>
                <a:cubicBezTo>
                  <a:pt x="130572" y="-17462"/>
                  <a:pt x="134640" y="-11807"/>
                  <a:pt x="134243" y="-5606"/>
                </a:cubicBezTo>
                <a:lnTo>
                  <a:pt x="132904" y="15131"/>
                </a:lnTo>
                <a:cubicBezTo>
                  <a:pt x="137021" y="18306"/>
                  <a:pt x="140643" y="21977"/>
                  <a:pt x="143768" y="26045"/>
                </a:cubicBezTo>
                <a:lnTo>
                  <a:pt x="164604" y="24705"/>
                </a:lnTo>
                <a:cubicBezTo>
                  <a:pt x="170805" y="24309"/>
                  <a:pt x="176461" y="28377"/>
                  <a:pt x="178098" y="34379"/>
                </a:cubicBezTo>
                <a:lnTo>
                  <a:pt x="181570" y="47377"/>
                </a:lnTo>
                <a:cubicBezTo>
                  <a:pt x="183158" y="53380"/>
                  <a:pt x="180330" y="59730"/>
                  <a:pt x="174724" y="62508"/>
                </a:cubicBezTo>
                <a:lnTo>
                  <a:pt x="156021" y="71735"/>
                </a:lnTo>
                <a:cubicBezTo>
                  <a:pt x="155674" y="74265"/>
                  <a:pt x="155178" y="76795"/>
                  <a:pt x="154533" y="79276"/>
                </a:cubicBezTo>
                <a:cubicBezTo>
                  <a:pt x="153888" y="81756"/>
                  <a:pt x="152995" y="84237"/>
                  <a:pt x="152053" y="86568"/>
                </a:cubicBezTo>
                <a:lnTo>
                  <a:pt x="163612" y="103932"/>
                </a:lnTo>
                <a:cubicBezTo>
                  <a:pt x="167084" y="109141"/>
                  <a:pt x="166390" y="116036"/>
                  <a:pt x="161975" y="120452"/>
                </a:cubicBezTo>
                <a:lnTo>
                  <a:pt x="152450" y="129977"/>
                </a:lnTo>
                <a:cubicBezTo>
                  <a:pt x="148034" y="134392"/>
                  <a:pt x="141139" y="135086"/>
                  <a:pt x="135930" y="131614"/>
                </a:cubicBezTo>
                <a:lnTo>
                  <a:pt x="118566" y="120055"/>
                </a:lnTo>
                <a:cubicBezTo>
                  <a:pt x="113854" y="121989"/>
                  <a:pt x="108843" y="123379"/>
                  <a:pt x="103733" y="124073"/>
                </a:cubicBezTo>
                <a:lnTo>
                  <a:pt x="94506" y="142726"/>
                </a:lnTo>
                <a:cubicBezTo>
                  <a:pt x="91728" y="148332"/>
                  <a:pt x="85378" y="151160"/>
                  <a:pt x="79375" y="149572"/>
                </a:cubicBezTo>
                <a:lnTo>
                  <a:pt x="66377" y="146100"/>
                </a:lnTo>
                <a:cubicBezTo>
                  <a:pt x="60325" y="144463"/>
                  <a:pt x="56307" y="138807"/>
                  <a:pt x="56704" y="132606"/>
                </a:cubicBezTo>
                <a:lnTo>
                  <a:pt x="58043" y="111820"/>
                </a:lnTo>
                <a:cubicBezTo>
                  <a:pt x="53925" y="108645"/>
                  <a:pt x="50304" y="104973"/>
                  <a:pt x="47179" y="100905"/>
                </a:cubicBezTo>
                <a:lnTo>
                  <a:pt x="26343" y="102245"/>
                </a:lnTo>
                <a:cubicBezTo>
                  <a:pt x="20141" y="102642"/>
                  <a:pt x="14486" y="98574"/>
                  <a:pt x="12849" y="92571"/>
                </a:cubicBezTo>
                <a:lnTo>
                  <a:pt x="9376" y="79573"/>
                </a:lnTo>
                <a:cubicBezTo>
                  <a:pt x="7789" y="73571"/>
                  <a:pt x="10616" y="67221"/>
                  <a:pt x="16222" y="64443"/>
                </a:cubicBezTo>
                <a:lnTo>
                  <a:pt x="34925" y="55215"/>
                </a:lnTo>
                <a:cubicBezTo>
                  <a:pt x="35272" y="52685"/>
                  <a:pt x="35768" y="50205"/>
                  <a:pt x="36413" y="47675"/>
                </a:cubicBezTo>
                <a:cubicBezTo>
                  <a:pt x="37108" y="45145"/>
                  <a:pt x="37902" y="42714"/>
                  <a:pt x="38894" y="40382"/>
                </a:cubicBezTo>
                <a:lnTo>
                  <a:pt x="27335" y="23068"/>
                </a:lnTo>
                <a:cubicBezTo>
                  <a:pt x="23862" y="17859"/>
                  <a:pt x="24557" y="10964"/>
                  <a:pt x="28972" y="6548"/>
                </a:cubicBezTo>
                <a:lnTo>
                  <a:pt x="38497" y="-2977"/>
                </a:lnTo>
                <a:cubicBezTo>
                  <a:pt x="42912" y="-7392"/>
                  <a:pt x="49808" y="-8086"/>
                  <a:pt x="55017" y="-4614"/>
                </a:cubicBezTo>
                <a:lnTo>
                  <a:pt x="72380" y="6945"/>
                </a:lnTo>
                <a:cubicBezTo>
                  <a:pt x="77093" y="5011"/>
                  <a:pt x="82104" y="3621"/>
                  <a:pt x="87213" y="2927"/>
                </a:cubicBezTo>
                <a:lnTo>
                  <a:pt x="96441" y="-15726"/>
                </a:lnTo>
                <a:cubicBezTo>
                  <a:pt x="99219" y="-21332"/>
                  <a:pt x="105519" y="-24160"/>
                  <a:pt x="111571" y="-22572"/>
                </a:cubicBezTo>
                <a:close/>
                <a:moveTo>
                  <a:pt x="95448" y="41672"/>
                </a:moveTo>
                <a:cubicBezTo>
                  <a:pt x="83401" y="41672"/>
                  <a:pt x="73620" y="51453"/>
                  <a:pt x="73620" y="63500"/>
                </a:cubicBezTo>
                <a:cubicBezTo>
                  <a:pt x="73620" y="75547"/>
                  <a:pt x="83401" y="85328"/>
                  <a:pt x="95448" y="85328"/>
                </a:cubicBezTo>
                <a:cubicBezTo>
                  <a:pt x="107496" y="85328"/>
                  <a:pt x="117277" y="75547"/>
                  <a:pt x="117277" y="63500"/>
                </a:cubicBezTo>
                <a:cubicBezTo>
                  <a:pt x="117277" y="51453"/>
                  <a:pt x="107496" y="41672"/>
                  <a:pt x="95448" y="41672"/>
                </a:cubicBezTo>
                <a:close/>
              </a:path>
            </a:pathLst>
          </a:custGeom>
          <a:solidFill>
            <a:srgbClr val="1A1D21"/>
          </a:solidFill>
          <a:ln/>
        </p:spPr>
      </p:sp>
      <p:sp>
        <p:nvSpPr>
          <p:cNvPr id="7" name="Text 5"/>
          <p:cNvSpPr/>
          <p:nvPr/>
        </p:nvSpPr>
        <p:spPr>
          <a:xfrm>
            <a:off x="1485900" y="1917700"/>
            <a:ext cx="31877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fr-FR" sz="2000" b="1" smtClean="0">
                <a:solidFill>
                  <a:srgbClr val="E8E8E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Compétences Techniques</a:t>
            </a:r>
            <a:endParaRPr lang="fr-FR" sz="1600" dirty="0"/>
          </a:p>
        </p:txBody>
      </p:sp>
      <p:sp>
        <p:nvSpPr>
          <p:cNvPr id="8" name="Shape 6"/>
          <p:cNvSpPr/>
          <p:nvPr/>
        </p:nvSpPr>
        <p:spPr>
          <a:xfrm>
            <a:off x="723900" y="2552700"/>
            <a:ext cx="7061200" cy="812800"/>
          </a:xfrm>
          <a:custGeom>
            <a:avLst/>
            <a:gdLst/>
            <a:ahLst/>
            <a:cxnLst/>
            <a:rect l="l" t="t" r="r" b="b"/>
            <a:pathLst>
              <a:path w="7061200" h="812800">
                <a:moveTo>
                  <a:pt x="50800" y="0"/>
                </a:moveTo>
                <a:lnTo>
                  <a:pt x="7010400" y="0"/>
                </a:lnTo>
                <a:cubicBezTo>
                  <a:pt x="7038437" y="0"/>
                  <a:pt x="7061200" y="22763"/>
                  <a:pt x="7061200" y="50800"/>
                </a:cubicBezTo>
                <a:lnTo>
                  <a:pt x="7061200" y="762000"/>
                </a:lnTo>
                <a:cubicBezTo>
                  <a:pt x="7061200" y="790037"/>
                  <a:pt x="7038437" y="812800"/>
                  <a:pt x="7010400" y="812800"/>
                </a:cubicBezTo>
                <a:lnTo>
                  <a:pt x="50800" y="812800"/>
                </a:lnTo>
                <a:cubicBezTo>
                  <a:pt x="22763" y="812800"/>
                  <a:pt x="0" y="790037"/>
                  <a:pt x="0" y="762000"/>
                </a:cubicBezTo>
                <a:lnTo>
                  <a:pt x="0" y="50800"/>
                </a:lnTo>
                <a:cubicBezTo>
                  <a:pt x="0" y="22763"/>
                  <a:pt x="22763" y="0"/>
                  <a:pt x="50800" y="0"/>
                </a:cubicBezTo>
                <a:close/>
              </a:path>
            </a:pathLst>
          </a:custGeom>
          <a:solidFill>
            <a:srgbClr val="1A1D21"/>
          </a:solidFill>
          <a:ln/>
        </p:spPr>
      </p:sp>
      <p:sp>
        <p:nvSpPr>
          <p:cNvPr id="9" name="Shape 7"/>
          <p:cNvSpPr/>
          <p:nvPr/>
        </p:nvSpPr>
        <p:spPr>
          <a:xfrm>
            <a:off x="850900" y="2705100"/>
            <a:ext cx="203200" cy="203200"/>
          </a:xfrm>
          <a:custGeom>
            <a:avLst/>
            <a:gdLst/>
            <a:ahLst/>
            <a:cxnLst/>
            <a:rect l="l" t="t" r="r" b="b"/>
            <a:pathLst>
              <a:path w="203200" h="203200">
                <a:moveTo>
                  <a:pt x="69850" y="9525"/>
                </a:moveTo>
                <a:cubicBezTo>
                  <a:pt x="69850" y="4247"/>
                  <a:pt x="65603" y="0"/>
                  <a:pt x="60325" y="0"/>
                </a:cubicBezTo>
                <a:cubicBezTo>
                  <a:pt x="55047" y="0"/>
                  <a:pt x="50800" y="4247"/>
                  <a:pt x="50800" y="9525"/>
                </a:cubicBezTo>
                <a:lnTo>
                  <a:pt x="50800" y="25400"/>
                </a:lnTo>
                <a:cubicBezTo>
                  <a:pt x="36790" y="25400"/>
                  <a:pt x="25400" y="36790"/>
                  <a:pt x="25400" y="50800"/>
                </a:cubicBezTo>
                <a:lnTo>
                  <a:pt x="9525" y="50800"/>
                </a:lnTo>
                <a:cubicBezTo>
                  <a:pt x="4247" y="50800"/>
                  <a:pt x="0" y="55047"/>
                  <a:pt x="0" y="60325"/>
                </a:cubicBezTo>
                <a:cubicBezTo>
                  <a:pt x="0" y="65603"/>
                  <a:pt x="4247" y="69850"/>
                  <a:pt x="9525" y="69850"/>
                </a:cubicBezTo>
                <a:lnTo>
                  <a:pt x="25400" y="69850"/>
                </a:lnTo>
                <a:lnTo>
                  <a:pt x="25400" y="92075"/>
                </a:lnTo>
                <a:lnTo>
                  <a:pt x="9525" y="92075"/>
                </a:lnTo>
                <a:cubicBezTo>
                  <a:pt x="4247" y="92075"/>
                  <a:pt x="0" y="96322"/>
                  <a:pt x="0" y="101600"/>
                </a:cubicBezTo>
                <a:cubicBezTo>
                  <a:pt x="0" y="106878"/>
                  <a:pt x="4247" y="111125"/>
                  <a:pt x="9525" y="111125"/>
                </a:cubicBezTo>
                <a:lnTo>
                  <a:pt x="25400" y="111125"/>
                </a:lnTo>
                <a:lnTo>
                  <a:pt x="25400" y="133350"/>
                </a:lnTo>
                <a:lnTo>
                  <a:pt x="9525" y="133350"/>
                </a:lnTo>
                <a:cubicBezTo>
                  <a:pt x="4247" y="133350"/>
                  <a:pt x="0" y="137597"/>
                  <a:pt x="0" y="142875"/>
                </a:cubicBezTo>
                <a:cubicBezTo>
                  <a:pt x="0" y="148153"/>
                  <a:pt x="4247" y="152400"/>
                  <a:pt x="9525" y="152400"/>
                </a:cubicBezTo>
                <a:lnTo>
                  <a:pt x="25400" y="152400"/>
                </a:lnTo>
                <a:cubicBezTo>
                  <a:pt x="25400" y="166410"/>
                  <a:pt x="36790" y="177800"/>
                  <a:pt x="50800" y="177800"/>
                </a:cubicBezTo>
                <a:lnTo>
                  <a:pt x="50800" y="193675"/>
                </a:lnTo>
                <a:cubicBezTo>
                  <a:pt x="50800" y="198953"/>
                  <a:pt x="55047" y="203200"/>
                  <a:pt x="60325" y="203200"/>
                </a:cubicBezTo>
                <a:cubicBezTo>
                  <a:pt x="65603" y="203200"/>
                  <a:pt x="69850" y="198953"/>
                  <a:pt x="69850" y="193675"/>
                </a:cubicBezTo>
                <a:lnTo>
                  <a:pt x="69850" y="177800"/>
                </a:lnTo>
                <a:lnTo>
                  <a:pt x="92075" y="177800"/>
                </a:lnTo>
                <a:lnTo>
                  <a:pt x="92075" y="193675"/>
                </a:lnTo>
                <a:cubicBezTo>
                  <a:pt x="92075" y="198953"/>
                  <a:pt x="96322" y="203200"/>
                  <a:pt x="101600" y="203200"/>
                </a:cubicBezTo>
                <a:cubicBezTo>
                  <a:pt x="106878" y="203200"/>
                  <a:pt x="111125" y="198953"/>
                  <a:pt x="111125" y="193675"/>
                </a:cubicBezTo>
                <a:lnTo>
                  <a:pt x="111125" y="177800"/>
                </a:lnTo>
                <a:lnTo>
                  <a:pt x="133350" y="177800"/>
                </a:lnTo>
                <a:lnTo>
                  <a:pt x="133350" y="193675"/>
                </a:lnTo>
                <a:cubicBezTo>
                  <a:pt x="133350" y="198953"/>
                  <a:pt x="137597" y="203200"/>
                  <a:pt x="142875" y="203200"/>
                </a:cubicBezTo>
                <a:cubicBezTo>
                  <a:pt x="148153" y="203200"/>
                  <a:pt x="152400" y="198953"/>
                  <a:pt x="152400" y="193675"/>
                </a:cubicBezTo>
                <a:lnTo>
                  <a:pt x="152400" y="177800"/>
                </a:lnTo>
                <a:cubicBezTo>
                  <a:pt x="166410" y="177800"/>
                  <a:pt x="177800" y="166410"/>
                  <a:pt x="177800" y="152400"/>
                </a:cubicBezTo>
                <a:lnTo>
                  <a:pt x="193675" y="152400"/>
                </a:lnTo>
                <a:cubicBezTo>
                  <a:pt x="198953" y="152400"/>
                  <a:pt x="203200" y="148153"/>
                  <a:pt x="203200" y="142875"/>
                </a:cubicBezTo>
                <a:cubicBezTo>
                  <a:pt x="203200" y="137597"/>
                  <a:pt x="198953" y="133350"/>
                  <a:pt x="193675" y="133350"/>
                </a:cubicBezTo>
                <a:lnTo>
                  <a:pt x="177800" y="133350"/>
                </a:lnTo>
                <a:lnTo>
                  <a:pt x="177800" y="111125"/>
                </a:lnTo>
                <a:lnTo>
                  <a:pt x="193675" y="111125"/>
                </a:lnTo>
                <a:cubicBezTo>
                  <a:pt x="198953" y="111125"/>
                  <a:pt x="203200" y="106878"/>
                  <a:pt x="203200" y="101600"/>
                </a:cubicBezTo>
                <a:cubicBezTo>
                  <a:pt x="203200" y="96322"/>
                  <a:pt x="198953" y="92075"/>
                  <a:pt x="193675" y="92075"/>
                </a:cubicBezTo>
                <a:lnTo>
                  <a:pt x="177800" y="92075"/>
                </a:lnTo>
                <a:lnTo>
                  <a:pt x="177800" y="69850"/>
                </a:lnTo>
                <a:lnTo>
                  <a:pt x="193675" y="69850"/>
                </a:lnTo>
                <a:cubicBezTo>
                  <a:pt x="198953" y="69850"/>
                  <a:pt x="203200" y="65603"/>
                  <a:pt x="203200" y="60325"/>
                </a:cubicBezTo>
                <a:cubicBezTo>
                  <a:pt x="203200" y="55047"/>
                  <a:pt x="198953" y="50800"/>
                  <a:pt x="193675" y="50800"/>
                </a:cubicBezTo>
                <a:lnTo>
                  <a:pt x="177800" y="50800"/>
                </a:lnTo>
                <a:cubicBezTo>
                  <a:pt x="177800" y="36790"/>
                  <a:pt x="166410" y="25400"/>
                  <a:pt x="152400" y="25400"/>
                </a:cubicBezTo>
                <a:lnTo>
                  <a:pt x="152400" y="9525"/>
                </a:lnTo>
                <a:cubicBezTo>
                  <a:pt x="152400" y="4247"/>
                  <a:pt x="148153" y="0"/>
                  <a:pt x="142875" y="0"/>
                </a:cubicBezTo>
                <a:cubicBezTo>
                  <a:pt x="137597" y="0"/>
                  <a:pt x="133350" y="4247"/>
                  <a:pt x="133350" y="9525"/>
                </a:cubicBezTo>
                <a:lnTo>
                  <a:pt x="133350" y="25400"/>
                </a:lnTo>
                <a:lnTo>
                  <a:pt x="111125" y="25400"/>
                </a:lnTo>
                <a:lnTo>
                  <a:pt x="111125" y="9525"/>
                </a:lnTo>
                <a:cubicBezTo>
                  <a:pt x="111125" y="4247"/>
                  <a:pt x="106878" y="0"/>
                  <a:pt x="101600" y="0"/>
                </a:cubicBezTo>
                <a:cubicBezTo>
                  <a:pt x="96322" y="0"/>
                  <a:pt x="92075" y="4247"/>
                  <a:pt x="92075" y="9525"/>
                </a:cubicBezTo>
                <a:lnTo>
                  <a:pt x="92075" y="25400"/>
                </a:lnTo>
                <a:lnTo>
                  <a:pt x="69850" y="25400"/>
                </a:lnTo>
                <a:lnTo>
                  <a:pt x="69850" y="9525"/>
                </a:lnTo>
                <a:close/>
                <a:moveTo>
                  <a:pt x="63500" y="50800"/>
                </a:moveTo>
                <a:lnTo>
                  <a:pt x="139700" y="50800"/>
                </a:lnTo>
                <a:cubicBezTo>
                  <a:pt x="146725" y="50800"/>
                  <a:pt x="152400" y="56475"/>
                  <a:pt x="152400" y="63500"/>
                </a:cubicBezTo>
                <a:lnTo>
                  <a:pt x="152400" y="139700"/>
                </a:lnTo>
                <a:cubicBezTo>
                  <a:pt x="152400" y="146725"/>
                  <a:pt x="146725" y="152400"/>
                  <a:pt x="139700" y="152400"/>
                </a:cubicBezTo>
                <a:lnTo>
                  <a:pt x="63500" y="152400"/>
                </a:lnTo>
                <a:cubicBezTo>
                  <a:pt x="56475" y="152400"/>
                  <a:pt x="50800" y="146725"/>
                  <a:pt x="50800" y="139700"/>
                </a:cubicBezTo>
                <a:lnTo>
                  <a:pt x="50800" y="63500"/>
                </a:lnTo>
                <a:cubicBezTo>
                  <a:pt x="50800" y="56475"/>
                  <a:pt x="56475" y="50800"/>
                  <a:pt x="63500" y="50800"/>
                </a:cubicBezTo>
                <a:close/>
                <a:moveTo>
                  <a:pt x="69850" y="69850"/>
                </a:moveTo>
                <a:lnTo>
                  <a:pt x="69850" y="133350"/>
                </a:lnTo>
                <a:lnTo>
                  <a:pt x="133350" y="133350"/>
                </a:lnTo>
                <a:lnTo>
                  <a:pt x="133350" y="69850"/>
                </a:lnTo>
                <a:lnTo>
                  <a:pt x="69850" y="69850"/>
                </a:lnTo>
                <a:close/>
              </a:path>
            </a:pathLst>
          </a:custGeom>
          <a:solidFill>
            <a:srgbClr val="E89F5B"/>
          </a:solidFill>
          <a:ln/>
        </p:spPr>
      </p:sp>
      <p:sp>
        <p:nvSpPr>
          <p:cNvPr id="10" name="Text 8"/>
          <p:cNvSpPr/>
          <p:nvPr/>
        </p:nvSpPr>
        <p:spPr>
          <a:xfrm>
            <a:off x="1181100" y="2654300"/>
            <a:ext cx="6604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fr-FR" sz="1600" b="1" smtClean="0">
                <a:solidFill>
                  <a:srgbClr val="E8E8E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Automatisme</a:t>
            </a:r>
            <a:endParaRPr lang="fr-FR" sz="1600" dirty="0"/>
          </a:p>
        </p:txBody>
      </p:sp>
      <p:sp>
        <p:nvSpPr>
          <p:cNvPr id="11" name="Text 9"/>
          <p:cNvSpPr/>
          <p:nvPr/>
        </p:nvSpPr>
        <p:spPr>
          <a:xfrm>
            <a:off x="825500" y="3009900"/>
            <a:ext cx="69469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fr-FR" sz="1400" smtClean="0">
                <a:solidFill>
                  <a:srgbClr val="7D8A9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Cycle industriel, sécurités, système automatisé</a:t>
            </a:r>
            <a:endParaRPr lang="fr-FR" sz="1600" dirty="0"/>
          </a:p>
        </p:txBody>
      </p:sp>
      <p:sp>
        <p:nvSpPr>
          <p:cNvPr id="12" name="Shape 10"/>
          <p:cNvSpPr/>
          <p:nvPr/>
        </p:nvSpPr>
        <p:spPr>
          <a:xfrm>
            <a:off x="723900" y="3467100"/>
            <a:ext cx="7061200" cy="812800"/>
          </a:xfrm>
          <a:custGeom>
            <a:avLst/>
            <a:gdLst/>
            <a:ahLst/>
            <a:cxnLst/>
            <a:rect l="l" t="t" r="r" b="b"/>
            <a:pathLst>
              <a:path w="7061200" h="812800">
                <a:moveTo>
                  <a:pt x="50800" y="0"/>
                </a:moveTo>
                <a:lnTo>
                  <a:pt x="7010400" y="0"/>
                </a:lnTo>
                <a:cubicBezTo>
                  <a:pt x="7038437" y="0"/>
                  <a:pt x="7061200" y="22763"/>
                  <a:pt x="7061200" y="50800"/>
                </a:cubicBezTo>
                <a:lnTo>
                  <a:pt x="7061200" y="762000"/>
                </a:lnTo>
                <a:cubicBezTo>
                  <a:pt x="7061200" y="790037"/>
                  <a:pt x="7038437" y="812800"/>
                  <a:pt x="7010400" y="812800"/>
                </a:cubicBezTo>
                <a:lnTo>
                  <a:pt x="50800" y="812800"/>
                </a:lnTo>
                <a:cubicBezTo>
                  <a:pt x="22763" y="812800"/>
                  <a:pt x="0" y="790037"/>
                  <a:pt x="0" y="762000"/>
                </a:cubicBezTo>
                <a:lnTo>
                  <a:pt x="0" y="50800"/>
                </a:lnTo>
                <a:cubicBezTo>
                  <a:pt x="0" y="22763"/>
                  <a:pt x="22763" y="0"/>
                  <a:pt x="50800" y="0"/>
                </a:cubicBezTo>
                <a:close/>
              </a:path>
            </a:pathLst>
          </a:custGeom>
          <a:solidFill>
            <a:srgbClr val="1A1D21"/>
          </a:solidFill>
          <a:ln/>
        </p:spPr>
      </p:sp>
      <p:sp>
        <p:nvSpPr>
          <p:cNvPr id="13" name="Shape 11"/>
          <p:cNvSpPr/>
          <p:nvPr/>
        </p:nvSpPr>
        <p:spPr>
          <a:xfrm>
            <a:off x="838200" y="3619500"/>
            <a:ext cx="228600" cy="203200"/>
          </a:xfrm>
          <a:custGeom>
            <a:avLst/>
            <a:gdLst/>
            <a:ahLst/>
            <a:cxnLst/>
            <a:rect l="l" t="t" r="r" b="b"/>
            <a:pathLst>
              <a:path w="228600" h="203200">
                <a:moveTo>
                  <a:pt x="82987" y="204867"/>
                </a:moveTo>
                <a:cubicBezTo>
                  <a:pt x="75565" y="212288"/>
                  <a:pt x="63500" y="212288"/>
                  <a:pt x="56039" y="204867"/>
                </a:cubicBezTo>
                <a:lnTo>
                  <a:pt x="11152" y="159980"/>
                </a:lnTo>
                <a:cubicBezTo>
                  <a:pt x="3731" y="152559"/>
                  <a:pt x="3731" y="140494"/>
                  <a:pt x="11152" y="133033"/>
                </a:cubicBezTo>
                <a:lnTo>
                  <a:pt x="17899" y="126286"/>
                </a:lnTo>
                <a:lnTo>
                  <a:pt x="47069" y="155456"/>
                </a:lnTo>
                <a:cubicBezTo>
                  <a:pt x="50800" y="159187"/>
                  <a:pt x="56832" y="159187"/>
                  <a:pt x="60523" y="155456"/>
                </a:cubicBezTo>
                <a:cubicBezTo>
                  <a:pt x="64214" y="151725"/>
                  <a:pt x="64254" y="145693"/>
                  <a:pt x="60523" y="142002"/>
                </a:cubicBezTo>
                <a:lnTo>
                  <a:pt x="31353" y="112832"/>
                </a:lnTo>
                <a:lnTo>
                  <a:pt x="44807" y="99378"/>
                </a:lnTo>
                <a:lnTo>
                  <a:pt x="65008" y="119578"/>
                </a:lnTo>
                <a:cubicBezTo>
                  <a:pt x="68739" y="123309"/>
                  <a:pt x="74771" y="123309"/>
                  <a:pt x="78462" y="119578"/>
                </a:cubicBezTo>
                <a:cubicBezTo>
                  <a:pt x="82153" y="115848"/>
                  <a:pt x="82193" y="109815"/>
                  <a:pt x="78462" y="106124"/>
                </a:cubicBezTo>
                <a:lnTo>
                  <a:pt x="58261" y="85923"/>
                </a:lnTo>
                <a:lnTo>
                  <a:pt x="71715" y="72469"/>
                </a:lnTo>
                <a:lnTo>
                  <a:pt x="100886" y="101640"/>
                </a:lnTo>
                <a:cubicBezTo>
                  <a:pt x="104616" y="105370"/>
                  <a:pt x="110649" y="105370"/>
                  <a:pt x="114340" y="101640"/>
                </a:cubicBezTo>
                <a:cubicBezTo>
                  <a:pt x="118031" y="97909"/>
                  <a:pt x="118070" y="91877"/>
                  <a:pt x="114340" y="88186"/>
                </a:cubicBezTo>
                <a:lnTo>
                  <a:pt x="85169" y="59015"/>
                </a:lnTo>
                <a:lnTo>
                  <a:pt x="98623" y="45561"/>
                </a:lnTo>
                <a:lnTo>
                  <a:pt x="118824" y="65762"/>
                </a:lnTo>
                <a:cubicBezTo>
                  <a:pt x="122555" y="69493"/>
                  <a:pt x="128588" y="69493"/>
                  <a:pt x="132278" y="65762"/>
                </a:cubicBezTo>
                <a:cubicBezTo>
                  <a:pt x="135969" y="62032"/>
                  <a:pt x="136009" y="55999"/>
                  <a:pt x="132278" y="52308"/>
                </a:cubicBezTo>
                <a:lnTo>
                  <a:pt x="112078" y="32107"/>
                </a:lnTo>
                <a:lnTo>
                  <a:pt x="125532" y="18653"/>
                </a:lnTo>
                <a:lnTo>
                  <a:pt x="154702" y="47823"/>
                </a:lnTo>
                <a:cubicBezTo>
                  <a:pt x="158433" y="51554"/>
                  <a:pt x="164465" y="51554"/>
                  <a:pt x="168156" y="47823"/>
                </a:cubicBezTo>
                <a:cubicBezTo>
                  <a:pt x="171847" y="44093"/>
                  <a:pt x="171887" y="38060"/>
                  <a:pt x="168156" y="34369"/>
                </a:cubicBezTo>
                <a:lnTo>
                  <a:pt x="138986" y="5199"/>
                </a:lnTo>
                <a:lnTo>
                  <a:pt x="145733" y="-1548"/>
                </a:lnTo>
                <a:cubicBezTo>
                  <a:pt x="153154" y="-8969"/>
                  <a:pt x="165219" y="-8969"/>
                  <a:pt x="172680" y="-1548"/>
                </a:cubicBezTo>
                <a:lnTo>
                  <a:pt x="217686" y="43220"/>
                </a:lnTo>
                <a:cubicBezTo>
                  <a:pt x="225108" y="50641"/>
                  <a:pt x="225108" y="62706"/>
                  <a:pt x="217686" y="70168"/>
                </a:cubicBezTo>
                <a:lnTo>
                  <a:pt x="82987" y="204867"/>
                </a:lnTo>
                <a:close/>
              </a:path>
            </a:pathLst>
          </a:custGeom>
          <a:solidFill>
            <a:srgbClr val="E89F5B"/>
          </a:solidFill>
          <a:ln/>
        </p:spPr>
      </p:sp>
      <p:sp>
        <p:nvSpPr>
          <p:cNvPr id="14" name="Text 12"/>
          <p:cNvSpPr/>
          <p:nvPr/>
        </p:nvSpPr>
        <p:spPr>
          <a:xfrm>
            <a:off x="1181100" y="3568700"/>
            <a:ext cx="6604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fr-FR" sz="1600" b="1" smtClean="0">
                <a:solidFill>
                  <a:srgbClr val="E8E8E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Métrologie</a:t>
            </a:r>
            <a:endParaRPr lang="fr-FR" sz="1600" dirty="0"/>
          </a:p>
        </p:txBody>
      </p:sp>
      <p:sp>
        <p:nvSpPr>
          <p:cNvPr id="15" name="Text 13"/>
          <p:cNvSpPr/>
          <p:nvPr/>
        </p:nvSpPr>
        <p:spPr>
          <a:xfrm>
            <a:off x="825500" y="3924300"/>
            <a:ext cx="69469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fr-FR" sz="1400" smtClean="0">
                <a:solidFill>
                  <a:srgbClr val="7D8A9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Norme ISO 6789-1:2017, précision couple</a:t>
            </a:r>
            <a:endParaRPr lang="fr-FR" sz="1600" dirty="0"/>
          </a:p>
        </p:txBody>
      </p:sp>
      <p:sp>
        <p:nvSpPr>
          <p:cNvPr id="16" name="Shape 14"/>
          <p:cNvSpPr/>
          <p:nvPr/>
        </p:nvSpPr>
        <p:spPr>
          <a:xfrm>
            <a:off x="723900" y="4381500"/>
            <a:ext cx="7061200" cy="812800"/>
          </a:xfrm>
          <a:custGeom>
            <a:avLst/>
            <a:gdLst/>
            <a:ahLst/>
            <a:cxnLst/>
            <a:rect l="l" t="t" r="r" b="b"/>
            <a:pathLst>
              <a:path w="7061200" h="812800">
                <a:moveTo>
                  <a:pt x="50800" y="0"/>
                </a:moveTo>
                <a:lnTo>
                  <a:pt x="7010400" y="0"/>
                </a:lnTo>
                <a:cubicBezTo>
                  <a:pt x="7038437" y="0"/>
                  <a:pt x="7061200" y="22763"/>
                  <a:pt x="7061200" y="50800"/>
                </a:cubicBezTo>
                <a:lnTo>
                  <a:pt x="7061200" y="762000"/>
                </a:lnTo>
                <a:cubicBezTo>
                  <a:pt x="7061200" y="790037"/>
                  <a:pt x="7038437" y="812800"/>
                  <a:pt x="7010400" y="812800"/>
                </a:cubicBezTo>
                <a:lnTo>
                  <a:pt x="50800" y="812800"/>
                </a:lnTo>
                <a:cubicBezTo>
                  <a:pt x="22763" y="812800"/>
                  <a:pt x="0" y="790037"/>
                  <a:pt x="0" y="762000"/>
                </a:cubicBezTo>
                <a:lnTo>
                  <a:pt x="0" y="50800"/>
                </a:lnTo>
                <a:cubicBezTo>
                  <a:pt x="0" y="22763"/>
                  <a:pt x="22763" y="0"/>
                  <a:pt x="50800" y="0"/>
                </a:cubicBezTo>
                <a:close/>
              </a:path>
            </a:pathLst>
          </a:custGeom>
          <a:solidFill>
            <a:srgbClr val="1A1D21"/>
          </a:solidFill>
          <a:ln/>
        </p:spPr>
      </p:sp>
      <p:sp>
        <p:nvSpPr>
          <p:cNvPr id="17" name="Shape 15"/>
          <p:cNvSpPr/>
          <p:nvPr/>
        </p:nvSpPr>
        <p:spPr>
          <a:xfrm>
            <a:off x="850900" y="4533900"/>
            <a:ext cx="203200" cy="203200"/>
          </a:xfrm>
          <a:custGeom>
            <a:avLst/>
            <a:gdLst/>
            <a:ahLst/>
            <a:cxnLst/>
            <a:rect l="l" t="t" r="r" b="b"/>
            <a:pathLst>
              <a:path w="203200" h="203200">
                <a:moveTo>
                  <a:pt x="0" y="31750"/>
                </a:moveTo>
                <a:cubicBezTo>
                  <a:pt x="0" y="21233"/>
                  <a:pt x="8533" y="12700"/>
                  <a:pt x="19050" y="12700"/>
                </a:cubicBezTo>
                <a:lnTo>
                  <a:pt x="57150" y="12700"/>
                </a:lnTo>
                <a:cubicBezTo>
                  <a:pt x="67667" y="12700"/>
                  <a:pt x="76200" y="21233"/>
                  <a:pt x="76200" y="31750"/>
                </a:cubicBezTo>
                <a:lnTo>
                  <a:pt x="76200" y="38100"/>
                </a:lnTo>
                <a:lnTo>
                  <a:pt x="127000" y="38100"/>
                </a:lnTo>
                <a:lnTo>
                  <a:pt x="127000" y="31750"/>
                </a:lnTo>
                <a:cubicBezTo>
                  <a:pt x="127000" y="21233"/>
                  <a:pt x="135533" y="12700"/>
                  <a:pt x="146050" y="12700"/>
                </a:cubicBezTo>
                <a:lnTo>
                  <a:pt x="184150" y="12700"/>
                </a:lnTo>
                <a:cubicBezTo>
                  <a:pt x="194667" y="12700"/>
                  <a:pt x="203200" y="21233"/>
                  <a:pt x="203200" y="31750"/>
                </a:cubicBezTo>
                <a:lnTo>
                  <a:pt x="203200" y="69850"/>
                </a:lnTo>
                <a:cubicBezTo>
                  <a:pt x="203200" y="80367"/>
                  <a:pt x="194667" y="88900"/>
                  <a:pt x="184150" y="88900"/>
                </a:cubicBezTo>
                <a:lnTo>
                  <a:pt x="146050" y="88900"/>
                </a:lnTo>
                <a:cubicBezTo>
                  <a:pt x="135533" y="88900"/>
                  <a:pt x="127000" y="80367"/>
                  <a:pt x="127000" y="69850"/>
                </a:cubicBezTo>
                <a:lnTo>
                  <a:pt x="127000" y="63500"/>
                </a:lnTo>
                <a:lnTo>
                  <a:pt x="76200" y="63500"/>
                </a:lnTo>
                <a:lnTo>
                  <a:pt x="76200" y="69850"/>
                </a:lnTo>
                <a:cubicBezTo>
                  <a:pt x="76200" y="72747"/>
                  <a:pt x="75525" y="75525"/>
                  <a:pt x="74374" y="77986"/>
                </a:cubicBezTo>
                <a:lnTo>
                  <a:pt x="101600" y="114300"/>
                </a:lnTo>
                <a:lnTo>
                  <a:pt x="133350" y="114300"/>
                </a:lnTo>
                <a:cubicBezTo>
                  <a:pt x="143867" y="114300"/>
                  <a:pt x="152400" y="122833"/>
                  <a:pt x="152400" y="133350"/>
                </a:cubicBezTo>
                <a:lnTo>
                  <a:pt x="152400" y="171450"/>
                </a:lnTo>
                <a:cubicBezTo>
                  <a:pt x="152400" y="181967"/>
                  <a:pt x="143867" y="190500"/>
                  <a:pt x="133350" y="190500"/>
                </a:cubicBezTo>
                <a:lnTo>
                  <a:pt x="95250" y="190500"/>
                </a:lnTo>
                <a:cubicBezTo>
                  <a:pt x="84733" y="190500"/>
                  <a:pt x="76200" y="181967"/>
                  <a:pt x="76200" y="171450"/>
                </a:cubicBezTo>
                <a:lnTo>
                  <a:pt x="76200" y="133350"/>
                </a:lnTo>
                <a:cubicBezTo>
                  <a:pt x="76200" y="130453"/>
                  <a:pt x="76875" y="127675"/>
                  <a:pt x="78026" y="125214"/>
                </a:cubicBezTo>
                <a:lnTo>
                  <a:pt x="50800" y="88900"/>
                </a:lnTo>
                <a:lnTo>
                  <a:pt x="19050" y="88900"/>
                </a:lnTo>
                <a:cubicBezTo>
                  <a:pt x="8533" y="88900"/>
                  <a:pt x="0" y="80367"/>
                  <a:pt x="0" y="69850"/>
                </a:cubicBezTo>
                <a:lnTo>
                  <a:pt x="0" y="31750"/>
                </a:lnTo>
                <a:close/>
              </a:path>
            </a:pathLst>
          </a:custGeom>
          <a:solidFill>
            <a:srgbClr val="E89F5B"/>
          </a:solidFill>
          <a:ln/>
        </p:spPr>
      </p:sp>
      <p:sp>
        <p:nvSpPr>
          <p:cNvPr id="18" name="Text 16"/>
          <p:cNvSpPr/>
          <p:nvPr/>
        </p:nvSpPr>
        <p:spPr>
          <a:xfrm>
            <a:off x="1181100" y="4483100"/>
            <a:ext cx="6604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fr-FR" sz="1600" b="1" smtClean="0">
                <a:solidFill>
                  <a:srgbClr val="E8E8E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Analyse Fonctionnelle</a:t>
            </a:r>
            <a:endParaRPr lang="fr-FR" sz="1600" dirty="0"/>
          </a:p>
        </p:txBody>
      </p:sp>
      <p:sp>
        <p:nvSpPr>
          <p:cNvPr id="19" name="Text 17"/>
          <p:cNvSpPr/>
          <p:nvPr/>
        </p:nvSpPr>
        <p:spPr>
          <a:xfrm>
            <a:off x="825500" y="4838700"/>
            <a:ext cx="69469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fr-FR" sz="1400" smtClean="0">
                <a:solidFill>
                  <a:srgbClr val="7D8A9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Structuration besoin → fonctions techniques</a:t>
            </a:r>
            <a:endParaRPr lang="fr-FR" sz="1600" dirty="0"/>
          </a:p>
        </p:txBody>
      </p:sp>
      <p:sp>
        <p:nvSpPr>
          <p:cNvPr id="20" name="Shape 18"/>
          <p:cNvSpPr/>
          <p:nvPr/>
        </p:nvSpPr>
        <p:spPr>
          <a:xfrm>
            <a:off x="514350" y="5568950"/>
            <a:ext cx="7480300" cy="2197100"/>
          </a:xfrm>
          <a:custGeom>
            <a:avLst/>
            <a:gdLst/>
            <a:ahLst/>
            <a:cxnLst/>
            <a:rect l="l" t="t" r="r" b="b"/>
            <a:pathLst>
              <a:path w="7480300" h="2197100">
                <a:moveTo>
                  <a:pt x="101594" y="0"/>
                </a:moveTo>
                <a:lnTo>
                  <a:pt x="7378706" y="0"/>
                </a:lnTo>
                <a:cubicBezTo>
                  <a:pt x="7434815" y="0"/>
                  <a:pt x="7480300" y="45485"/>
                  <a:pt x="7480300" y="101594"/>
                </a:cubicBezTo>
                <a:lnTo>
                  <a:pt x="7480300" y="2095506"/>
                </a:lnTo>
                <a:cubicBezTo>
                  <a:pt x="7480300" y="2151615"/>
                  <a:pt x="7434815" y="2197100"/>
                  <a:pt x="7378706" y="2197100"/>
                </a:cubicBezTo>
                <a:lnTo>
                  <a:pt x="101594" y="2197100"/>
                </a:lnTo>
                <a:cubicBezTo>
                  <a:pt x="45485" y="2197100"/>
                  <a:pt x="0" y="2151615"/>
                  <a:pt x="0" y="2095506"/>
                </a:cubicBezTo>
                <a:lnTo>
                  <a:pt x="0" y="101594"/>
                </a:lnTo>
                <a:cubicBezTo>
                  <a:pt x="0" y="45523"/>
                  <a:pt x="45523" y="0"/>
                  <a:pt x="101594" y="0"/>
                </a:cubicBezTo>
                <a:close/>
              </a:path>
            </a:pathLst>
          </a:custGeom>
          <a:gradFill flip="none" rotWithShape="1">
            <a:gsLst>
              <a:gs pos="0">
                <a:srgbClr val="E89F5B">
                  <a:alpha val="20000"/>
                </a:srgbClr>
              </a:gs>
              <a:gs pos="100000">
                <a:srgbClr val="E89F5B">
                  <a:alpha val="5000"/>
                </a:srgbClr>
              </a:gs>
            </a:gsLst>
            <a:lin ang="2700000" scaled="1"/>
          </a:gradFill>
          <a:ln w="12700">
            <a:solidFill>
              <a:srgbClr val="E89F5B">
                <a:alpha val="40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23900" y="5778500"/>
            <a:ext cx="609600" cy="609600"/>
          </a:xfrm>
          <a:custGeom>
            <a:avLst/>
            <a:gdLst/>
            <a:ahLst/>
            <a:cxnLst/>
            <a:rect l="l" t="t" r="r" b="b"/>
            <a:pathLst>
              <a:path w="609600" h="609600">
                <a:moveTo>
                  <a:pt x="304800" y="0"/>
                </a:moveTo>
                <a:lnTo>
                  <a:pt x="304800" y="0"/>
                </a:lnTo>
                <a:cubicBezTo>
                  <a:pt x="473024" y="0"/>
                  <a:pt x="609600" y="136576"/>
                  <a:pt x="609600" y="304800"/>
                </a:cubicBezTo>
                <a:lnTo>
                  <a:pt x="609600" y="304800"/>
                </a:lnTo>
                <a:cubicBezTo>
                  <a:pt x="609600" y="473024"/>
                  <a:pt x="473024" y="609600"/>
                  <a:pt x="304800" y="609600"/>
                </a:cubicBezTo>
                <a:lnTo>
                  <a:pt x="304800" y="609600"/>
                </a:lnTo>
                <a:cubicBezTo>
                  <a:pt x="136576" y="609600"/>
                  <a:pt x="0" y="473024"/>
                  <a:pt x="0" y="304800"/>
                </a:cubicBezTo>
                <a:lnTo>
                  <a:pt x="0" y="304800"/>
                </a:lnTo>
                <a:cubicBezTo>
                  <a:pt x="0" y="136576"/>
                  <a:pt x="136576" y="0"/>
                  <a:pt x="304800" y="0"/>
                </a:cubicBezTo>
                <a:close/>
              </a:path>
            </a:pathLst>
          </a:custGeom>
          <a:solidFill>
            <a:srgbClr val="4A6C8C"/>
          </a:solidFill>
          <a:ln/>
        </p:spPr>
      </p:sp>
      <p:sp>
        <p:nvSpPr>
          <p:cNvPr id="22" name="Shape 20"/>
          <p:cNvSpPr/>
          <p:nvPr/>
        </p:nvSpPr>
        <p:spPr>
          <a:xfrm>
            <a:off x="869950" y="5956300"/>
            <a:ext cx="317500" cy="254000"/>
          </a:xfrm>
          <a:custGeom>
            <a:avLst/>
            <a:gdLst/>
            <a:ahLst/>
            <a:cxnLst/>
            <a:rect l="l" t="t" r="r" b="b"/>
            <a:pathLst>
              <a:path w="317500" h="254000">
                <a:moveTo>
                  <a:pt x="158750" y="7938"/>
                </a:moveTo>
                <a:cubicBezTo>
                  <a:pt x="187225" y="7938"/>
                  <a:pt x="210344" y="31056"/>
                  <a:pt x="210344" y="59531"/>
                </a:cubicBezTo>
                <a:cubicBezTo>
                  <a:pt x="210344" y="88007"/>
                  <a:pt x="187225" y="111125"/>
                  <a:pt x="158750" y="111125"/>
                </a:cubicBezTo>
                <a:cubicBezTo>
                  <a:pt x="130275" y="111125"/>
                  <a:pt x="107156" y="88007"/>
                  <a:pt x="107156" y="59531"/>
                </a:cubicBezTo>
                <a:cubicBezTo>
                  <a:pt x="107156" y="31056"/>
                  <a:pt x="130275" y="7938"/>
                  <a:pt x="158750" y="7938"/>
                </a:cubicBezTo>
                <a:close/>
                <a:moveTo>
                  <a:pt x="47625" y="43656"/>
                </a:moveTo>
                <a:cubicBezTo>
                  <a:pt x="67339" y="43656"/>
                  <a:pt x="83344" y="59661"/>
                  <a:pt x="83344" y="79375"/>
                </a:cubicBezTo>
                <a:cubicBezTo>
                  <a:pt x="83344" y="99089"/>
                  <a:pt x="67339" y="115094"/>
                  <a:pt x="47625" y="115094"/>
                </a:cubicBezTo>
                <a:cubicBezTo>
                  <a:pt x="27911" y="115094"/>
                  <a:pt x="11906" y="99089"/>
                  <a:pt x="11906" y="79375"/>
                </a:cubicBezTo>
                <a:cubicBezTo>
                  <a:pt x="11906" y="59661"/>
                  <a:pt x="27911" y="43656"/>
                  <a:pt x="47625" y="43656"/>
                </a:cubicBezTo>
                <a:close/>
                <a:moveTo>
                  <a:pt x="0" y="206375"/>
                </a:moveTo>
                <a:cubicBezTo>
                  <a:pt x="0" y="171301"/>
                  <a:pt x="28426" y="142875"/>
                  <a:pt x="63500" y="142875"/>
                </a:cubicBezTo>
                <a:cubicBezTo>
                  <a:pt x="69850" y="142875"/>
                  <a:pt x="76002" y="143818"/>
                  <a:pt x="81806" y="145554"/>
                </a:cubicBezTo>
                <a:cubicBezTo>
                  <a:pt x="65484" y="163810"/>
                  <a:pt x="55563" y="187920"/>
                  <a:pt x="55563" y="214313"/>
                </a:cubicBezTo>
                <a:lnTo>
                  <a:pt x="55563" y="222250"/>
                </a:lnTo>
                <a:cubicBezTo>
                  <a:pt x="55563" y="227905"/>
                  <a:pt x="56753" y="233263"/>
                  <a:pt x="58886" y="238125"/>
                </a:cubicBezTo>
                <a:lnTo>
                  <a:pt x="15875" y="238125"/>
                </a:lnTo>
                <a:cubicBezTo>
                  <a:pt x="7094" y="238125"/>
                  <a:pt x="0" y="231031"/>
                  <a:pt x="0" y="222250"/>
                </a:cubicBezTo>
                <a:lnTo>
                  <a:pt x="0" y="206375"/>
                </a:lnTo>
                <a:close/>
                <a:moveTo>
                  <a:pt x="258614" y="238125"/>
                </a:moveTo>
                <a:cubicBezTo>
                  <a:pt x="260747" y="233263"/>
                  <a:pt x="261937" y="227905"/>
                  <a:pt x="261937" y="222250"/>
                </a:cubicBezTo>
                <a:lnTo>
                  <a:pt x="261937" y="214313"/>
                </a:lnTo>
                <a:cubicBezTo>
                  <a:pt x="261937" y="187920"/>
                  <a:pt x="252016" y="163810"/>
                  <a:pt x="235694" y="145554"/>
                </a:cubicBezTo>
                <a:cubicBezTo>
                  <a:pt x="241498" y="143818"/>
                  <a:pt x="247650" y="142875"/>
                  <a:pt x="254000" y="142875"/>
                </a:cubicBezTo>
                <a:cubicBezTo>
                  <a:pt x="289074" y="142875"/>
                  <a:pt x="317500" y="171301"/>
                  <a:pt x="317500" y="206375"/>
                </a:cubicBezTo>
                <a:lnTo>
                  <a:pt x="317500" y="222250"/>
                </a:lnTo>
                <a:cubicBezTo>
                  <a:pt x="317500" y="231031"/>
                  <a:pt x="310406" y="238125"/>
                  <a:pt x="301625" y="238125"/>
                </a:cubicBezTo>
                <a:lnTo>
                  <a:pt x="258614" y="238125"/>
                </a:lnTo>
                <a:close/>
                <a:moveTo>
                  <a:pt x="234156" y="79375"/>
                </a:moveTo>
                <a:cubicBezTo>
                  <a:pt x="234156" y="59661"/>
                  <a:pt x="250161" y="43656"/>
                  <a:pt x="269875" y="43656"/>
                </a:cubicBezTo>
                <a:cubicBezTo>
                  <a:pt x="289589" y="43656"/>
                  <a:pt x="305594" y="59661"/>
                  <a:pt x="305594" y="79375"/>
                </a:cubicBezTo>
                <a:cubicBezTo>
                  <a:pt x="305594" y="99089"/>
                  <a:pt x="289589" y="115094"/>
                  <a:pt x="269875" y="115094"/>
                </a:cubicBezTo>
                <a:cubicBezTo>
                  <a:pt x="250161" y="115094"/>
                  <a:pt x="234156" y="99089"/>
                  <a:pt x="234156" y="79375"/>
                </a:cubicBezTo>
                <a:close/>
                <a:moveTo>
                  <a:pt x="79375" y="214313"/>
                </a:moveTo>
                <a:cubicBezTo>
                  <a:pt x="79375" y="170458"/>
                  <a:pt x="114895" y="134938"/>
                  <a:pt x="158750" y="134938"/>
                </a:cubicBezTo>
                <a:cubicBezTo>
                  <a:pt x="202605" y="134938"/>
                  <a:pt x="238125" y="170458"/>
                  <a:pt x="238125" y="214313"/>
                </a:cubicBezTo>
                <a:lnTo>
                  <a:pt x="238125" y="222250"/>
                </a:lnTo>
                <a:cubicBezTo>
                  <a:pt x="238125" y="231031"/>
                  <a:pt x="231031" y="238125"/>
                  <a:pt x="222250" y="238125"/>
                </a:cubicBezTo>
                <a:lnTo>
                  <a:pt x="95250" y="238125"/>
                </a:lnTo>
                <a:cubicBezTo>
                  <a:pt x="86469" y="238125"/>
                  <a:pt x="79375" y="231031"/>
                  <a:pt x="79375" y="222250"/>
                </a:cubicBezTo>
                <a:lnTo>
                  <a:pt x="79375" y="214313"/>
                </a:lnTo>
                <a:close/>
              </a:path>
            </a:pathLst>
          </a:custGeom>
          <a:solidFill>
            <a:srgbClr val="E8E8E8"/>
          </a:solidFill>
          <a:ln/>
        </p:spPr>
      </p:sp>
      <p:sp>
        <p:nvSpPr>
          <p:cNvPr id="23" name="Text 21"/>
          <p:cNvSpPr/>
          <p:nvPr/>
        </p:nvSpPr>
        <p:spPr>
          <a:xfrm>
            <a:off x="1485900" y="5905500"/>
            <a:ext cx="34544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fr-FR" sz="2000" b="1" smtClean="0">
                <a:solidFill>
                  <a:srgbClr val="E8E8E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Compétences Transversales</a:t>
            </a:r>
            <a:endParaRPr lang="fr-FR" sz="1600" dirty="0"/>
          </a:p>
        </p:txBody>
      </p:sp>
      <p:sp>
        <p:nvSpPr>
          <p:cNvPr id="24" name="Shape 22"/>
          <p:cNvSpPr/>
          <p:nvPr/>
        </p:nvSpPr>
        <p:spPr>
          <a:xfrm>
            <a:off x="723900" y="6540500"/>
            <a:ext cx="3479800" cy="457200"/>
          </a:xfrm>
          <a:custGeom>
            <a:avLst/>
            <a:gdLst/>
            <a:ahLst/>
            <a:cxnLst/>
            <a:rect l="l" t="t" r="r" b="b"/>
            <a:pathLst>
              <a:path w="3479800" h="457200">
                <a:moveTo>
                  <a:pt x="50799" y="0"/>
                </a:moveTo>
                <a:lnTo>
                  <a:pt x="3429001" y="0"/>
                </a:lnTo>
                <a:cubicBezTo>
                  <a:pt x="3457056" y="0"/>
                  <a:pt x="3479800" y="22744"/>
                  <a:pt x="3479800" y="50799"/>
                </a:cubicBezTo>
                <a:lnTo>
                  <a:pt x="3479800" y="406401"/>
                </a:lnTo>
                <a:cubicBezTo>
                  <a:pt x="3479800" y="434456"/>
                  <a:pt x="3457056" y="457200"/>
                  <a:pt x="3429001" y="457200"/>
                </a:cubicBezTo>
                <a:lnTo>
                  <a:pt x="50799" y="457200"/>
                </a:lnTo>
                <a:cubicBezTo>
                  <a:pt x="22744" y="457200"/>
                  <a:pt x="0" y="434456"/>
                  <a:pt x="0" y="406401"/>
                </a:cubicBezTo>
                <a:lnTo>
                  <a:pt x="0" y="50799"/>
                </a:lnTo>
                <a:cubicBezTo>
                  <a:pt x="0" y="22762"/>
                  <a:pt x="22762" y="0"/>
                  <a:pt x="50799" y="0"/>
                </a:cubicBezTo>
                <a:close/>
              </a:path>
            </a:pathLst>
          </a:custGeom>
          <a:solidFill>
            <a:srgbClr val="1A1D21"/>
          </a:solidFill>
          <a:ln/>
        </p:spPr>
      </p:sp>
      <p:sp>
        <p:nvSpPr>
          <p:cNvPr id="25" name="Shape 23"/>
          <p:cNvSpPr/>
          <p:nvPr/>
        </p:nvSpPr>
        <p:spPr>
          <a:xfrm>
            <a:off x="825500" y="6667500"/>
            <a:ext cx="254000" cy="203200"/>
          </a:xfrm>
          <a:custGeom>
            <a:avLst/>
            <a:gdLst/>
            <a:ahLst/>
            <a:cxnLst/>
            <a:rect l="l" t="t" r="r" b="b"/>
            <a:pathLst>
              <a:path w="254000" h="203200">
                <a:moveTo>
                  <a:pt x="53975" y="50800"/>
                </a:moveTo>
                <a:cubicBezTo>
                  <a:pt x="53975" y="24515"/>
                  <a:pt x="75315" y="3175"/>
                  <a:pt x="101600" y="3175"/>
                </a:cubicBezTo>
                <a:cubicBezTo>
                  <a:pt x="127885" y="3175"/>
                  <a:pt x="149225" y="24515"/>
                  <a:pt x="149225" y="50800"/>
                </a:cubicBezTo>
                <a:cubicBezTo>
                  <a:pt x="149225" y="77085"/>
                  <a:pt x="127885" y="98425"/>
                  <a:pt x="101600" y="98425"/>
                </a:cubicBezTo>
                <a:cubicBezTo>
                  <a:pt x="75315" y="98425"/>
                  <a:pt x="53975" y="77085"/>
                  <a:pt x="53975" y="50800"/>
                </a:cubicBezTo>
                <a:close/>
                <a:moveTo>
                  <a:pt x="19050" y="191413"/>
                </a:moveTo>
                <a:cubicBezTo>
                  <a:pt x="19050" y="152321"/>
                  <a:pt x="50721" y="120650"/>
                  <a:pt x="89813" y="120650"/>
                </a:cubicBezTo>
                <a:lnTo>
                  <a:pt x="113387" y="120650"/>
                </a:lnTo>
                <a:cubicBezTo>
                  <a:pt x="152479" y="120650"/>
                  <a:pt x="184150" y="152321"/>
                  <a:pt x="184150" y="191413"/>
                </a:cubicBezTo>
                <a:cubicBezTo>
                  <a:pt x="184150" y="197922"/>
                  <a:pt x="178872" y="203200"/>
                  <a:pt x="172363" y="203200"/>
                </a:cubicBezTo>
                <a:lnTo>
                  <a:pt x="30837" y="203200"/>
                </a:lnTo>
                <a:cubicBezTo>
                  <a:pt x="24328" y="203200"/>
                  <a:pt x="19050" y="197922"/>
                  <a:pt x="19050" y="191413"/>
                </a:cubicBezTo>
                <a:close/>
                <a:moveTo>
                  <a:pt x="243046" y="52665"/>
                </a:moveTo>
                <a:lnTo>
                  <a:pt x="211296" y="103465"/>
                </a:lnTo>
                <a:cubicBezTo>
                  <a:pt x="209629" y="106124"/>
                  <a:pt x="206772" y="107791"/>
                  <a:pt x="203637" y="107950"/>
                </a:cubicBezTo>
                <a:cubicBezTo>
                  <a:pt x="200501" y="108109"/>
                  <a:pt x="197485" y="106680"/>
                  <a:pt x="195620" y="104140"/>
                </a:cubicBezTo>
                <a:lnTo>
                  <a:pt x="176570" y="78740"/>
                </a:lnTo>
                <a:cubicBezTo>
                  <a:pt x="173395" y="74533"/>
                  <a:pt x="174268" y="68580"/>
                  <a:pt x="178475" y="65405"/>
                </a:cubicBezTo>
                <a:cubicBezTo>
                  <a:pt x="182682" y="62230"/>
                  <a:pt x="188635" y="63103"/>
                  <a:pt x="191810" y="67310"/>
                </a:cubicBezTo>
                <a:lnTo>
                  <a:pt x="202525" y="81598"/>
                </a:lnTo>
                <a:lnTo>
                  <a:pt x="226893" y="42585"/>
                </a:lnTo>
                <a:cubicBezTo>
                  <a:pt x="229672" y="38140"/>
                  <a:pt x="235545" y="36751"/>
                  <a:pt x="240030" y="39568"/>
                </a:cubicBezTo>
                <a:cubicBezTo>
                  <a:pt x="244515" y="42386"/>
                  <a:pt x="245864" y="48220"/>
                  <a:pt x="243046" y="52705"/>
                </a:cubicBezTo>
                <a:close/>
              </a:path>
            </a:pathLst>
          </a:custGeom>
          <a:solidFill>
            <a:srgbClr val="4A6C8C"/>
          </a:solidFill>
          <a:ln/>
        </p:spPr>
      </p:sp>
      <p:sp>
        <p:nvSpPr>
          <p:cNvPr id="26" name="Text 24"/>
          <p:cNvSpPr/>
          <p:nvPr/>
        </p:nvSpPr>
        <p:spPr>
          <a:xfrm>
            <a:off x="1181100" y="6642100"/>
            <a:ext cx="9398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fr-FR" sz="1400" smtClean="0">
                <a:solidFill>
                  <a:srgbClr val="E8E8E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Autonomie</a:t>
            </a:r>
            <a:endParaRPr lang="fr-FR" sz="1600" dirty="0"/>
          </a:p>
        </p:txBody>
      </p:sp>
      <p:sp>
        <p:nvSpPr>
          <p:cNvPr id="27" name="Shape 25"/>
          <p:cNvSpPr/>
          <p:nvPr/>
        </p:nvSpPr>
        <p:spPr>
          <a:xfrm>
            <a:off x="4305300" y="6540500"/>
            <a:ext cx="3479800" cy="457200"/>
          </a:xfrm>
          <a:custGeom>
            <a:avLst/>
            <a:gdLst/>
            <a:ahLst/>
            <a:cxnLst/>
            <a:rect l="l" t="t" r="r" b="b"/>
            <a:pathLst>
              <a:path w="3479800" h="457200">
                <a:moveTo>
                  <a:pt x="50799" y="0"/>
                </a:moveTo>
                <a:lnTo>
                  <a:pt x="3429001" y="0"/>
                </a:lnTo>
                <a:cubicBezTo>
                  <a:pt x="3457056" y="0"/>
                  <a:pt x="3479800" y="22744"/>
                  <a:pt x="3479800" y="50799"/>
                </a:cubicBezTo>
                <a:lnTo>
                  <a:pt x="3479800" y="406401"/>
                </a:lnTo>
                <a:cubicBezTo>
                  <a:pt x="3479800" y="434456"/>
                  <a:pt x="3457056" y="457200"/>
                  <a:pt x="3429001" y="457200"/>
                </a:cubicBezTo>
                <a:lnTo>
                  <a:pt x="50799" y="457200"/>
                </a:lnTo>
                <a:cubicBezTo>
                  <a:pt x="22744" y="457200"/>
                  <a:pt x="0" y="434456"/>
                  <a:pt x="0" y="406401"/>
                </a:cubicBezTo>
                <a:lnTo>
                  <a:pt x="0" y="50799"/>
                </a:lnTo>
                <a:cubicBezTo>
                  <a:pt x="0" y="22762"/>
                  <a:pt x="22762" y="0"/>
                  <a:pt x="50799" y="0"/>
                </a:cubicBezTo>
                <a:close/>
              </a:path>
            </a:pathLst>
          </a:custGeom>
          <a:solidFill>
            <a:srgbClr val="1A1D21"/>
          </a:solidFill>
          <a:ln/>
        </p:spPr>
      </p:sp>
      <p:sp>
        <p:nvSpPr>
          <p:cNvPr id="28" name="Shape 26"/>
          <p:cNvSpPr/>
          <p:nvPr/>
        </p:nvSpPr>
        <p:spPr>
          <a:xfrm>
            <a:off x="4432300" y="6667500"/>
            <a:ext cx="203200" cy="203200"/>
          </a:xfrm>
          <a:custGeom>
            <a:avLst/>
            <a:gdLst/>
            <a:ahLst/>
            <a:cxnLst/>
            <a:rect l="l" t="t" r="r" b="b"/>
            <a:pathLst>
              <a:path w="203200" h="203200">
                <a:moveTo>
                  <a:pt x="53102" y="14407"/>
                </a:moveTo>
                <a:cubicBezTo>
                  <a:pt x="57428" y="17423"/>
                  <a:pt x="58460" y="23376"/>
                  <a:pt x="55443" y="27662"/>
                </a:cubicBezTo>
                <a:lnTo>
                  <a:pt x="33218" y="59412"/>
                </a:lnTo>
                <a:cubicBezTo>
                  <a:pt x="31591" y="61714"/>
                  <a:pt x="29051" y="63182"/>
                  <a:pt x="26233" y="63421"/>
                </a:cubicBezTo>
                <a:cubicBezTo>
                  <a:pt x="23416" y="63659"/>
                  <a:pt x="20638" y="62706"/>
                  <a:pt x="18653" y="60722"/>
                </a:cubicBezTo>
                <a:lnTo>
                  <a:pt x="2778" y="44847"/>
                </a:lnTo>
                <a:cubicBezTo>
                  <a:pt x="-913" y="41116"/>
                  <a:pt x="-913" y="35084"/>
                  <a:pt x="2778" y="31353"/>
                </a:cubicBezTo>
                <a:cubicBezTo>
                  <a:pt x="6469" y="27622"/>
                  <a:pt x="12541" y="27662"/>
                  <a:pt x="16272" y="31353"/>
                </a:cubicBezTo>
                <a:lnTo>
                  <a:pt x="24130" y="39211"/>
                </a:lnTo>
                <a:lnTo>
                  <a:pt x="39846" y="16748"/>
                </a:lnTo>
                <a:cubicBezTo>
                  <a:pt x="42863" y="12422"/>
                  <a:pt x="48816" y="11390"/>
                  <a:pt x="53102" y="14407"/>
                </a:cubicBezTo>
                <a:close/>
                <a:moveTo>
                  <a:pt x="53102" y="77907"/>
                </a:moveTo>
                <a:cubicBezTo>
                  <a:pt x="57428" y="80923"/>
                  <a:pt x="58460" y="86876"/>
                  <a:pt x="55443" y="91162"/>
                </a:cubicBezTo>
                <a:lnTo>
                  <a:pt x="33218" y="122912"/>
                </a:lnTo>
                <a:cubicBezTo>
                  <a:pt x="31591" y="125214"/>
                  <a:pt x="29051" y="126683"/>
                  <a:pt x="26233" y="126921"/>
                </a:cubicBezTo>
                <a:cubicBezTo>
                  <a:pt x="23416" y="127159"/>
                  <a:pt x="20638" y="126206"/>
                  <a:pt x="18653" y="124222"/>
                </a:cubicBezTo>
                <a:lnTo>
                  <a:pt x="2778" y="108347"/>
                </a:lnTo>
                <a:cubicBezTo>
                  <a:pt x="-953" y="104616"/>
                  <a:pt x="-953" y="98584"/>
                  <a:pt x="2778" y="94893"/>
                </a:cubicBezTo>
                <a:cubicBezTo>
                  <a:pt x="6509" y="91202"/>
                  <a:pt x="12541" y="91162"/>
                  <a:pt x="16232" y="94893"/>
                </a:cubicBezTo>
                <a:lnTo>
                  <a:pt x="24090" y="102751"/>
                </a:lnTo>
                <a:lnTo>
                  <a:pt x="39807" y="80288"/>
                </a:lnTo>
                <a:cubicBezTo>
                  <a:pt x="42823" y="75962"/>
                  <a:pt x="48776" y="74930"/>
                  <a:pt x="53062" y="77946"/>
                </a:cubicBezTo>
                <a:close/>
                <a:moveTo>
                  <a:pt x="88900" y="38100"/>
                </a:moveTo>
                <a:cubicBezTo>
                  <a:pt x="88900" y="31075"/>
                  <a:pt x="94575" y="25400"/>
                  <a:pt x="101600" y="25400"/>
                </a:cubicBezTo>
                <a:lnTo>
                  <a:pt x="190500" y="25400"/>
                </a:lnTo>
                <a:cubicBezTo>
                  <a:pt x="197525" y="25400"/>
                  <a:pt x="203200" y="31075"/>
                  <a:pt x="203200" y="38100"/>
                </a:cubicBezTo>
                <a:cubicBezTo>
                  <a:pt x="203200" y="45125"/>
                  <a:pt x="197525" y="50800"/>
                  <a:pt x="190500" y="50800"/>
                </a:cubicBezTo>
                <a:lnTo>
                  <a:pt x="101600" y="50800"/>
                </a:lnTo>
                <a:cubicBezTo>
                  <a:pt x="94575" y="50800"/>
                  <a:pt x="88900" y="45125"/>
                  <a:pt x="88900" y="38100"/>
                </a:cubicBezTo>
                <a:close/>
                <a:moveTo>
                  <a:pt x="88900" y="101600"/>
                </a:moveTo>
                <a:cubicBezTo>
                  <a:pt x="88900" y="94575"/>
                  <a:pt x="94575" y="88900"/>
                  <a:pt x="101600" y="88900"/>
                </a:cubicBezTo>
                <a:lnTo>
                  <a:pt x="190500" y="88900"/>
                </a:lnTo>
                <a:cubicBezTo>
                  <a:pt x="197525" y="88900"/>
                  <a:pt x="203200" y="94575"/>
                  <a:pt x="203200" y="101600"/>
                </a:cubicBezTo>
                <a:cubicBezTo>
                  <a:pt x="203200" y="108625"/>
                  <a:pt x="197525" y="114300"/>
                  <a:pt x="190500" y="114300"/>
                </a:cubicBezTo>
                <a:lnTo>
                  <a:pt x="101600" y="114300"/>
                </a:lnTo>
                <a:cubicBezTo>
                  <a:pt x="94575" y="114300"/>
                  <a:pt x="88900" y="108625"/>
                  <a:pt x="88900" y="101600"/>
                </a:cubicBezTo>
                <a:close/>
                <a:moveTo>
                  <a:pt x="63500" y="165100"/>
                </a:moveTo>
                <a:cubicBezTo>
                  <a:pt x="63500" y="158075"/>
                  <a:pt x="69175" y="152400"/>
                  <a:pt x="76200" y="152400"/>
                </a:cubicBezTo>
                <a:lnTo>
                  <a:pt x="190500" y="152400"/>
                </a:lnTo>
                <a:cubicBezTo>
                  <a:pt x="197525" y="152400"/>
                  <a:pt x="203200" y="158075"/>
                  <a:pt x="203200" y="165100"/>
                </a:cubicBezTo>
                <a:cubicBezTo>
                  <a:pt x="203200" y="172125"/>
                  <a:pt x="197525" y="177800"/>
                  <a:pt x="190500" y="177800"/>
                </a:cubicBezTo>
                <a:lnTo>
                  <a:pt x="76200" y="177800"/>
                </a:lnTo>
                <a:cubicBezTo>
                  <a:pt x="69175" y="177800"/>
                  <a:pt x="63500" y="172125"/>
                  <a:pt x="63500" y="165100"/>
                </a:cubicBezTo>
                <a:close/>
                <a:moveTo>
                  <a:pt x="25400" y="149225"/>
                </a:moveTo>
                <a:cubicBezTo>
                  <a:pt x="34162" y="149225"/>
                  <a:pt x="41275" y="156338"/>
                  <a:pt x="41275" y="165100"/>
                </a:cubicBezTo>
                <a:cubicBezTo>
                  <a:pt x="41275" y="173862"/>
                  <a:pt x="34162" y="180975"/>
                  <a:pt x="25400" y="180975"/>
                </a:cubicBezTo>
                <a:cubicBezTo>
                  <a:pt x="16638" y="180975"/>
                  <a:pt x="9525" y="173862"/>
                  <a:pt x="9525" y="165100"/>
                </a:cubicBezTo>
                <a:cubicBezTo>
                  <a:pt x="9525" y="156338"/>
                  <a:pt x="16638" y="149225"/>
                  <a:pt x="25400" y="149225"/>
                </a:cubicBezTo>
                <a:close/>
              </a:path>
            </a:pathLst>
          </a:custGeom>
          <a:solidFill>
            <a:srgbClr val="4A6C8C"/>
          </a:solidFill>
          <a:ln/>
        </p:spPr>
      </p:sp>
      <p:sp>
        <p:nvSpPr>
          <p:cNvPr id="29" name="Text 27"/>
          <p:cNvSpPr/>
          <p:nvPr/>
        </p:nvSpPr>
        <p:spPr>
          <a:xfrm>
            <a:off x="4762500" y="6642100"/>
            <a:ext cx="698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fr-FR" sz="1400" smtClean="0">
                <a:solidFill>
                  <a:srgbClr val="E8E8E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Rigueur</a:t>
            </a:r>
            <a:endParaRPr lang="fr-FR" sz="1600" dirty="0"/>
          </a:p>
        </p:txBody>
      </p:sp>
      <p:sp>
        <p:nvSpPr>
          <p:cNvPr id="30" name="Shape 28"/>
          <p:cNvSpPr/>
          <p:nvPr/>
        </p:nvSpPr>
        <p:spPr>
          <a:xfrm>
            <a:off x="723900" y="7099300"/>
            <a:ext cx="3479800" cy="457200"/>
          </a:xfrm>
          <a:custGeom>
            <a:avLst/>
            <a:gdLst/>
            <a:ahLst/>
            <a:cxnLst/>
            <a:rect l="l" t="t" r="r" b="b"/>
            <a:pathLst>
              <a:path w="3479800" h="457200">
                <a:moveTo>
                  <a:pt x="50799" y="0"/>
                </a:moveTo>
                <a:lnTo>
                  <a:pt x="3429001" y="0"/>
                </a:lnTo>
                <a:cubicBezTo>
                  <a:pt x="3457056" y="0"/>
                  <a:pt x="3479800" y="22744"/>
                  <a:pt x="3479800" y="50799"/>
                </a:cubicBezTo>
                <a:lnTo>
                  <a:pt x="3479800" y="406401"/>
                </a:lnTo>
                <a:cubicBezTo>
                  <a:pt x="3479800" y="434456"/>
                  <a:pt x="3457056" y="457200"/>
                  <a:pt x="3429001" y="457200"/>
                </a:cubicBezTo>
                <a:lnTo>
                  <a:pt x="50799" y="457200"/>
                </a:lnTo>
                <a:cubicBezTo>
                  <a:pt x="22744" y="457200"/>
                  <a:pt x="0" y="434456"/>
                  <a:pt x="0" y="406401"/>
                </a:cubicBezTo>
                <a:lnTo>
                  <a:pt x="0" y="50799"/>
                </a:lnTo>
                <a:cubicBezTo>
                  <a:pt x="0" y="22762"/>
                  <a:pt x="22762" y="0"/>
                  <a:pt x="50799" y="0"/>
                </a:cubicBezTo>
                <a:close/>
              </a:path>
            </a:pathLst>
          </a:custGeom>
          <a:solidFill>
            <a:srgbClr val="1A1D21"/>
          </a:solidFill>
          <a:ln/>
        </p:spPr>
      </p:sp>
      <p:sp>
        <p:nvSpPr>
          <p:cNvPr id="31" name="Shape 29"/>
          <p:cNvSpPr/>
          <p:nvPr/>
        </p:nvSpPr>
        <p:spPr>
          <a:xfrm>
            <a:off x="838200" y="7226300"/>
            <a:ext cx="228600" cy="203200"/>
          </a:xfrm>
          <a:custGeom>
            <a:avLst/>
            <a:gdLst/>
            <a:ahLst/>
            <a:cxnLst/>
            <a:rect l="l" t="t" r="r" b="b"/>
            <a:pathLst>
              <a:path w="228600" h="203200">
                <a:moveTo>
                  <a:pt x="152400" y="57150"/>
                </a:moveTo>
                <a:cubicBezTo>
                  <a:pt x="152400" y="95726"/>
                  <a:pt x="118269" y="127000"/>
                  <a:pt x="76200" y="127000"/>
                </a:cubicBezTo>
                <a:cubicBezTo>
                  <a:pt x="65603" y="127000"/>
                  <a:pt x="55523" y="125016"/>
                  <a:pt x="46355" y="121444"/>
                </a:cubicBezTo>
                <a:lnTo>
                  <a:pt x="13970" y="138589"/>
                </a:lnTo>
                <a:cubicBezTo>
                  <a:pt x="10279" y="140533"/>
                  <a:pt x="5755" y="139859"/>
                  <a:pt x="2778" y="136922"/>
                </a:cubicBezTo>
                <a:cubicBezTo>
                  <a:pt x="-198" y="133985"/>
                  <a:pt x="-873" y="129421"/>
                  <a:pt x="1111" y="125730"/>
                </a:cubicBezTo>
                <a:lnTo>
                  <a:pt x="15240" y="99060"/>
                </a:lnTo>
                <a:cubicBezTo>
                  <a:pt x="5675" y="87392"/>
                  <a:pt x="0" y="72866"/>
                  <a:pt x="0" y="57150"/>
                </a:cubicBezTo>
                <a:cubicBezTo>
                  <a:pt x="0" y="18574"/>
                  <a:pt x="34131" y="-12700"/>
                  <a:pt x="76200" y="-12700"/>
                </a:cubicBezTo>
                <a:cubicBezTo>
                  <a:pt x="118269" y="-12700"/>
                  <a:pt x="152400" y="18574"/>
                  <a:pt x="152400" y="57150"/>
                </a:cubicBezTo>
                <a:close/>
                <a:moveTo>
                  <a:pt x="152400" y="203200"/>
                </a:moveTo>
                <a:cubicBezTo>
                  <a:pt x="115054" y="203200"/>
                  <a:pt x="83979" y="178554"/>
                  <a:pt x="77470" y="146050"/>
                </a:cubicBezTo>
                <a:cubicBezTo>
                  <a:pt x="125095" y="145455"/>
                  <a:pt x="166489" y="111562"/>
                  <a:pt x="171053" y="65603"/>
                </a:cubicBezTo>
                <a:cubicBezTo>
                  <a:pt x="204113" y="73223"/>
                  <a:pt x="228600" y="100648"/>
                  <a:pt x="228600" y="133350"/>
                </a:cubicBezTo>
                <a:cubicBezTo>
                  <a:pt x="228600" y="149066"/>
                  <a:pt x="222925" y="163592"/>
                  <a:pt x="213360" y="175260"/>
                </a:cubicBezTo>
                <a:lnTo>
                  <a:pt x="227489" y="201930"/>
                </a:lnTo>
                <a:cubicBezTo>
                  <a:pt x="229433" y="205621"/>
                  <a:pt x="228759" y="210145"/>
                  <a:pt x="225822" y="213122"/>
                </a:cubicBezTo>
                <a:cubicBezTo>
                  <a:pt x="222885" y="216098"/>
                  <a:pt x="218321" y="216773"/>
                  <a:pt x="214630" y="214789"/>
                </a:cubicBezTo>
                <a:lnTo>
                  <a:pt x="182245" y="197644"/>
                </a:lnTo>
                <a:cubicBezTo>
                  <a:pt x="173077" y="201216"/>
                  <a:pt x="162997" y="203200"/>
                  <a:pt x="152400" y="203200"/>
                </a:cubicBezTo>
                <a:close/>
              </a:path>
            </a:pathLst>
          </a:custGeom>
          <a:solidFill>
            <a:srgbClr val="4A6C8C"/>
          </a:solidFill>
          <a:ln/>
        </p:spPr>
      </p:sp>
      <p:sp>
        <p:nvSpPr>
          <p:cNvPr id="32" name="Text 30"/>
          <p:cNvSpPr/>
          <p:nvPr/>
        </p:nvSpPr>
        <p:spPr>
          <a:xfrm>
            <a:off x="1181100" y="7200900"/>
            <a:ext cx="1333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fr-FR" sz="1400" smtClean="0">
                <a:solidFill>
                  <a:srgbClr val="E8E8E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Communication</a:t>
            </a:r>
            <a:endParaRPr lang="fr-FR" sz="1600" dirty="0"/>
          </a:p>
        </p:txBody>
      </p:sp>
      <p:sp>
        <p:nvSpPr>
          <p:cNvPr id="33" name="Shape 31"/>
          <p:cNvSpPr/>
          <p:nvPr/>
        </p:nvSpPr>
        <p:spPr>
          <a:xfrm>
            <a:off x="4305300" y="7099300"/>
            <a:ext cx="3479800" cy="457200"/>
          </a:xfrm>
          <a:custGeom>
            <a:avLst/>
            <a:gdLst/>
            <a:ahLst/>
            <a:cxnLst/>
            <a:rect l="l" t="t" r="r" b="b"/>
            <a:pathLst>
              <a:path w="3479800" h="457200">
                <a:moveTo>
                  <a:pt x="50799" y="0"/>
                </a:moveTo>
                <a:lnTo>
                  <a:pt x="3429001" y="0"/>
                </a:lnTo>
                <a:cubicBezTo>
                  <a:pt x="3457056" y="0"/>
                  <a:pt x="3479800" y="22744"/>
                  <a:pt x="3479800" y="50799"/>
                </a:cubicBezTo>
                <a:lnTo>
                  <a:pt x="3479800" y="406401"/>
                </a:lnTo>
                <a:cubicBezTo>
                  <a:pt x="3479800" y="434456"/>
                  <a:pt x="3457056" y="457200"/>
                  <a:pt x="3429001" y="457200"/>
                </a:cubicBezTo>
                <a:lnTo>
                  <a:pt x="50799" y="457200"/>
                </a:lnTo>
                <a:cubicBezTo>
                  <a:pt x="22744" y="457200"/>
                  <a:pt x="0" y="434456"/>
                  <a:pt x="0" y="406401"/>
                </a:cubicBezTo>
                <a:lnTo>
                  <a:pt x="0" y="50799"/>
                </a:lnTo>
                <a:cubicBezTo>
                  <a:pt x="0" y="22762"/>
                  <a:pt x="22762" y="0"/>
                  <a:pt x="50799" y="0"/>
                </a:cubicBezTo>
                <a:close/>
              </a:path>
            </a:pathLst>
          </a:custGeom>
          <a:solidFill>
            <a:srgbClr val="1A1D21"/>
          </a:solidFill>
          <a:ln/>
        </p:spPr>
      </p:sp>
      <p:sp>
        <p:nvSpPr>
          <p:cNvPr id="34" name="Shape 32"/>
          <p:cNvSpPr/>
          <p:nvPr/>
        </p:nvSpPr>
        <p:spPr>
          <a:xfrm>
            <a:off x="4457700" y="7226300"/>
            <a:ext cx="152400" cy="203200"/>
          </a:xfrm>
          <a:custGeom>
            <a:avLst/>
            <a:gdLst/>
            <a:ahLst/>
            <a:cxnLst/>
            <a:rect l="l" t="t" r="r" b="b"/>
            <a:pathLst>
              <a:path w="152400" h="203200">
                <a:moveTo>
                  <a:pt x="116245" y="152400"/>
                </a:moveTo>
                <a:cubicBezTo>
                  <a:pt x="119142" y="143550"/>
                  <a:pt x="124936" y="135533"/>
                  <a:pt x="131485" y="128627"/>
                </a:cubicBezTo>
                <a:cubicBezTo>
                  <a:pt x="144462" y="114975"/>
                  <a:pt x="152400" y="96520"/>
                  <a:pt x="152400" y="76200"/>
                </a:cubicBezTo>
                <a:cubicBezTo>
                  <a:pt x="152400" y="34131"/>
                  <a:pt x="118269" y="0"/>
                  <a:pt x="76200" y="0"/>
                </a:cubicBezTo>
                <a:cubicBezTo>
                  <a:pt x="34131" y="0"/>
                  <a:pt x="0" y="34131"/>
                  <a:pt x="0" y="76200"/>
                </a:cubicBezTo>
                <a:cubicBezTo>
                  <a:pt x="0" y="96520"/>
                  <a:pt x="7938" y="114975"/>
                  <a:pt x="20915" y="128627"/>
                </a:cubicBezTo>
                <a:cubicBezTo>
                  <a:pt x="27464" y="135533"/>
                  <a:pt x="33298" y="143550"/>
                  <a:pt x="36155" y="152400"/>
                </a:cubicBezTo>
                <a:lnTo>
                  <a:pt x="116205" y="152400"/>
                </a:lnTo>
                <a:close/>
                <a:moveTo>
                  <a:pt x="114300" y="171450"/>
                </a:moveTo>
                <a:lnTo>
                  <a:pt x="38100" y="171450"/>
                </a:lnTo>
                <a:lnTo>
                  <a:pt x="38100" y="177800"/>
                </a:lnTo>
                <a:cubicBezTo>
                  <a:pt x="38100" y="195342"/>
                  <a:pt x="52308" y="209550"/>
                  <a:pt x="69850" y="209550"/>
                </a:cubicBezTo>
                <a:lnTo>
                  <a:pt x="82550" y="209550"/>
                </a:lnTo>
                <a:cubicBezTo>
                  <a:pt x="100092" y="209550"/>
                  <a:pt x="114300" y="195342"/>
                  <a:pt x="114300" y="177800"/>
                </a:cubicBezTo>
                <a:lnTo>
                  <a:pt x="114300" y="171450"/>
                </a:lnTo>
                <a:close/>
                <a:moveTo>
                  <a:pt x="73025" y="44450"/>
                </a:moveTo>
                <a:cubicBezTo>
                  <a:pt x="57229" y="44450"/>
                  <a:pt x="44450" y="57229"/>
                  <a:pt x="44450" y="73025"/>
                </a:cubicBezTo>
                <a:cubicBezTo>
                  <a:pt x="44450" y="78303"/>
                  <a:pt x="40203" y="82550"/>
                  <a:pt x="34925" y="82550"/>
                </a:cubicBezTo>
                <a:cubicBezTo>
                  <a:pt x="29647" y="82550"/>
                  <a:pt x="25400" y="78303"/>
                  <a:pt x="25400" y="73025"/>
                </a:cubicBezTo>
                <a:cubicBezTo>
                  <a:pt x="25400" y="46712"/>
                  <a:pt x="46712" y="25400"/>
                  <a:pt x="73025" y="25400"/>
                </a:cubicBezTo>
                <a:cubicBezTo>
                  <a:pt x="78303" y="25400"/>
                  <a:pt x="82550" y="29647"/>
                  <a:pt x="82550" y="34925"/>
                </a:cubicBezTo>
                <a:cubicBezTo>
                  <a:pt x="82550" y="40203"/>
                  <a:pt x="78303" y="44450"/>
                  <a:pt x="73025" y="44450"/>
                </a:cubicBezTo>
                <a:close/>
              </a:path>
            </a:pathLst>
          </a:custGeom>
          <a:solidFill>
            <a:srgbClr val="4A6C8C"/>
          </a:solidFill>
          <a:ln/>
        </p:spPr>
      </p:sp>
      <p:sp>
        <p:nvSpPr>
          <p:cNvPr id="35" name="Text 33"/>
          <p:cNvSpPr/>
          <p:nvPr/>
        </p:nvSpPr>
        <p:spPr>
          <a:xfrm>
            <a:off x="4762500" y="7200900"/>
            <a:ext cx="9144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fr-FR" sz="1400" smtClean="0">
                <a:solidFill>
                  <a:srgbClr val="E8E8E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Résolution</a:t>
            </a:r>
            <a:endParaRPr lang="fr-FR" sz="1600" dirty="0"/>
          </a:p>
        </p:txBody>
      </p:sp>
      <p:sp>
        <p:nvSpPr>
          <p:cNvPr id="36" name="Shape 34"/>
          <p:cNvSpPr/>
          <p:nvPr/>
        </p:nvSpPr>
        <p:spPr>
          <a:xfrm>
            <a:off x="8356600" y="3365500"/>
            <a:ext cx="7480300" cy="2501900"/>
          </a:xfrm>
          <a:custGeom>
            <a:avLst/>
            <a:gdLst/>
            <a:ahLst/>
            <a:cxnLst/>
            <a:rect l="l" t="t" r="r" b="b"/>
            <a:pathLst>
              <a:path w="7480300" h="7480300">
                <a:moveTo>
                  <a:pt x="101582" y="0"/>
                </a:moveTo>
                <a:lnTo>
                  <a:pt x="7378718" y="0"/>
                </a:lnTo>
                <a:cubicBezTo>
                  <a:pt x="7434820" y="0"/>
                  <a:pt x="7480300" y="45480"/>
                  <a:pt x="7480300" y="101582"/>
                </a:cubicBezTo>
                <a:lnTo>
                  <a:pt x="7480300" y="7378718"/>
                </a:lnTo>
                <a:cubicBezTo>
                  <a:pt x="7480300" y="7434820"/>
                  <a:pt x="7434820" y="7480300"/>
                  <a:pt x="7378718" y="7480300"/>
                </a:cubicBezTo>
                <a:lnTo>
                  <a:pt x="101582" y="7480300"/>
                </a:lnTo>
                <a:cubicBezTo>
                  <a:pt x="45480" y="7480300"/>
                  <a:pt x="0" y="7434820"/>
                  <a:pt x="0" y="7378718"/>
                </a:cubicBezTo>
                <a:lnTo>
                  <a:pt x="0" y="101582"/>
                </a:lnTo>
                <a:cubicBezTo>
                  <a:pt x="0" y="45518"/>
                  <a:pt x="45518" y="0"/>
                  <a:pt x="101582" y="0"/>
                </a:cubicBezTo>
                <a:close/>
              </a:path>
            </a:pathLst>
          </a:custGeom>
          <a:solidFill>
            <a:srgbClr val="000000">
              <a:alpha val="0"/>
            </a:srgbClr>
          </a:solidFill>
          <a:ln w="12700">
            <a:solidFill>
              <a:srgbClr val="4A6C8C">
                <a:alpha val="30196"/>
              </a:srgbClr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8356600" y="3365500"/>
            <a:ext cx="7480300" cy="2501900"/>
          </a:xfrm>
          <a:custGeom>
            <a:avLst/>
            <a:gdLst/>
            <a:ahLst/>
            <a:cxnLst/>
            <a:rect l="l" t="t" r="r" b="b"/>
            <a:pathLst>
              <a:path w="7480300" h="2501900">
                <a:moveTo>
                  <a:pt x="101602" y="0"/>
                </a:moveTo>
                <a:lnTo>
                  <a:pt x="7378698" y="0"/>
                </a:lnTo>
                <a:cubicBezTo>
                  <a:pt x="7434811" y="0"/>
                  <a:pt x="7480300" y="45489"/>
                  <a:pt x="7480300" y="101602"/>
                </a:cubicBezTo>
                <a:lnTo>
                  <a:pt x="7480300" y="2400298"/>
                </a:lnTo>
                <a:cubicBezTo>
                  <a:pt x="7480300" y="2456411"/>
                  <a:pt x="7434811" y="2501900"/>
                  <a:pt x="7378698" y="2501900"/>
                </a:cubicBezTo>
                <a:lnTo>
                  <a:pt x="101602" y="2501900"/>
                </a:lnTo>
                <a:cubicBezTo>
                  <a:pt x="45489" y="2501900"/>
                  <a:pt x="0" y="2456411"/>
                  <a:pt x="0" y="2400298"/>
                </a:cubicBezTo>
                <a:lnTo>
                  <a:pt x="0" y="101602"/>
                </a:lnTo>
                <a:cubicBezTo>
                  <a:pt x="0" y="45526"/>
                  <a:pt x="45526" y="0"/>
                  <a:pt x="101602" y="0"/>
                </a:cubicBezTo>
                <a:close/>
              </a:path>
            </a:pathLst>
          </a:custGeom>
          <a:solidFill>
            <a:srgbClr val="4A6C8C">
              <a:alpha val="10196"/>
            </a:srgbClr>
          </a:solidFill>
          <a:ln w="12700">
            <a:solidFill>
              <a:srgbClr val="4A6C8C">
                <a:alpha val="30196"/>
              </a:srgbClr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8509000" y="3575050"/>
            <a:ext cx="71755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fr-FR" sz="1800" b="1" smtClean="0">
                <a:solidFill>
                  <a:srgbClr val="E8E8E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Limites de l'Étude</a:t>
            </a:r>
            <a:endParaRPr lang="fr-FR" sz="1600" dirty="0"/>
          </a:p>
        </p:txBody>
      </p:sp>
      <p:sp>
        <p:nvSpPr>
          <p:cNvPr id="40" name="Shape 37"/>
          <p:cNvSpPr/>
          <p:nvPr/>
        </p:nvSpPr>
        <p:spPr>
          <a:xfrm>
            <a:off x="8566150" y="4083050"/>
            <a:ext cx="7061200" cy="457200"/>
          </a:xfrm>
          <a:custGeom>
            <a:avLst/>
            <a:gdLst/>
            <a:ahLst/>
            <a:cxnLst/>
            <a:rect l="l" t="t" r="r" b="b"/>
            <a:pathLst>
              <a:path w="7061200" h="457200">
                <a:moveTo>
                  <a:pt x="50799" y="0"/>
                </a:moveTo>
                <a:lnTo>
                  <a:pt x="7010401" y="0"/>
                </a:lnTo>
                <a:cubicBezTo>
                  <a:pt x="7038456" y="0"/>
                  <a:pt x="7061200" y="22744"/>
                  <a:pt x="7061200" y="50799"/>
                </a:cubicBezTo>
                <a:lnTo>
                  <a:pt x="7061200" y="406401"/>
                </a:lnTo>
                <a:cubicBezTo>
                  <a:pt x="7061200" y="434456"/>
                  <a:pt x="7038456" y="457200"/>
                  <a:pt x="7010401" y="457200"/>
                </a:cubicBezTo>
                <a:lnTo>
                  <a:pt x="50799" y="457200"/>
                </a:lnTo>
                <a:cubicBezTo>
                  <a:pt x="22744" y="457200"/>
                  <a:pt x="0" y="434456"/>
                  <a:pt x="0" y="406401"/>
                </a:cubicBezTo>
                <a:lnTo>
                  <a:pt x="0" y="50799"/>
                </a:lnTo>
                <a:cubicBezTo>
                  <a:pt x="0" y="22762"/>
                  <a:pt x="22762" y="0"/>
                  <a:pt x="50799" y="0"/>
                </a:cubicBezTo>
                <a:close/>
              </a:path>
            </a:pathLst>
          </a:custGeom>
          <a:solidFill>
            <a:srgbClr val="1A1D21"/>
          </a:solidFill>
          <a:ln/>
        </p:spPr>
      </p:sp>
      <p:sp>
        <p:nvSpPr>
          <p:cNvPr id="41" name="Shape 38"/>
          <p:cNvSpPr/>
          <p:nvPr/>
        </p:nvSpPr>
        <p:spPr>
          <a:xfrm>
            <a:off x="8693150" y="4235450"/>
            <a:ext cx="203200" cy="203200"/>
          </a:xfrm>
          <a:custGeom>
            <a:avLst/>
            <a:gdLst/>
            <a:ahLst/>
            <a:cxnLst/>
            <a:rect l="l" t="t" r="r" b="b"/>
            <a:pathLst>
              <a:path w="203200" h="203200">
                <a:moveTo>
                  <a:pt x="101600" y="203200"/>
                </a:moveTo>
                <a:cubicBezTo>
                  <a:pt x="157675" y="203200"/>
                  <a:pt x="203200" y="157675"/>
                  <a:pt x="203200" y="101600"/>
                </a:cubicBezTo>
                <a:cubicBezTo>
                  <a:pt x="203200" y="45525"/>
                  <a:pt x="157675" y="0"/>
                  <a:pt x="101600" y="0"/>
                </a:cubicBezTo>
                <a:cubicBezTo>
                  <a:pt x="45525" y="0"/>
                  <a:pt x="0" y="45525"/>
                  <a:pt x="0" y="101600"/>
                </a:cubicBezTo>
                <a:cubicBezTo>
                  <a:pt x="0" y="157675"/>
                  <a:pt x="45525" y="203200"/>
                  <a:pt x="101600" y="203200"/>
                </a:cubicBezTo>
                <a:close/>
                <a:moveTo>
                  <a:pt x="88900" y="63500"/>
                </a:moveTo>
                <a:cubicBezTo>
                  <a:pt x="88900" y="56491"/>
                  <a:pt x="94591" y="50800"/>
                  <a:pt x="101600" y="50800"/>
                </a:cubicBezTo>
                <a:cubicBezTo>
                  <a:pt x="108609" y="50800"/>
                  <a:pt x="114300" y="56491"/>
                  <a:pt x="114300" y="63500"/>
                </a:cubicBezTo>
                <a:cubicBezTo>
                  <a:pt x="114300" y="70509"/>
                  <a:pt x="108609" y="76200"/>
                  <a:pt x="101600" y="76200"/>
                </a:cubicBezTo>
                <a:cubicBezTo>
                  <a:pt x="94591" y="76200"/>
                  <a:pt x="88900" y="70509"/>
                  <a:pt x="88900" y="63500"/>
                </a:cubicBezTo>
                <a:close/>
                <a:moveTo>
                  <a:pt x="85725" y="88900"/>
                </a:moveTo>
                <a:lnTo>
                  <a:pt x="104775" y="88900"/>
                </a:lnTo>
                <a:cubicBezTo>
                  <a:pt x="110053" y="88900"/>
                  <a:pt x="114300" y="93147"/>
                  <a:pt x="114300" y="98425"/>
                </a:cubicBezTo>
                <a:lnTo>
                  <a:pt x="114300" y="133350"/>
                </a:lnTo>
                <a:lnTo>
                  <a:pt x="117475" y="133350"/>
                </a:lnTo>
                <a:cubicBezTo>
                  <a:pt x="122753" y="133350"/>
                  <a:pt x="127000" y="137597"/>
                  <a:pt x="127000" y="142875"/>
                </a:cubicBezTo>
                <a:cubicBezTo>
                  <a:pt x="127000" y="148153"/>
                  <a:pt x="122753" y="152400"/>
                  <a:pt x="117475" y="152400"/>
                </a:cubicBezTo>
                <a:lnTo>
                  <a:pt x="85725" y="152400"/>
                </a:lnTo>
                <a:cubicBezTo>
                  <a:pt x="80447" y="152400"/>
                  <a:pt x="76200" y="148153"/>
                  <a:pt x="76200" y="142875"/>
                </a:cubicBezTo>
                <a:cubicBezTo>
                  <a:pt x="76200" y="137597"/>
                  <a:pt x="80447" y="133350"/>
                  <a:pt x="85725" y="133350"/>
                </a:cubicBezTo>
                <a:lnTo>
                  <a:pt x="95250" y="133350"/>
                </a:lnTo>
                <a:lnTo>
                  <a:pt x="95250" y="107950"/>
                </a:lnTo>
                <a:lnTo>
                  <a:pt x="85725" y="107950"/>
                </a:lnTo>
                <a:cubicBezTo>
                  <a:pt x="80447" y="107950"/>
                  <a:pt x="76200" y="103703"/>
                  <a:pt x="76200" y="98425"/>
                </a:cubicBezTo>
                <a:cubicBezTo>
                  <a:pt x="76200" y="93147"/>
                  <a:pt x="80447" y="88900"/>
                  <a:pt x="85725" y="88900"/>
                </a:cubicBezTo>
                <a:close/>
              </a:path>
            </a:pathLst>
          </a:custGeom>
          <a:solidFill>
            <a:srgbClr val="E89F5B"/>
          </a:solidFill>
          <a:ln/>
        </p:spPr>
      </p:sp>
      <p:sp>
        <p:nvSpPr>
          <p:cNvPr id="42" name="Text 39"/>
          <p:cNvSpPr/>
          <p:nvPr/>
        </p:nvSpPr>
        <p:spPr>
          <a:xfrm>
            <a:off x="9023350" y="4184650"/>
            <a:ext cx="25654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fr-FR" sz="1400" dirty="0" smtClean="0">
                <a:solidFill>
                  <a:srgbClr val="7D8A9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Phase conception </a:t>
            </a:r>
            <a:r>
              <a:rPr lang="fr-FR" sz="1400" dirty="0" smtClean="0">
                <a:solidFill>
                  <a:schemeClr val="bg1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uniquement</a:t>
            </a:r>
            <a:endParaRPr lang="fr-FR" sz="1600" dirty="0">
              <a:solidFill>
                <a:schemeClr val="bg1"/>
              </a:solidFill>
            </a:endParaRPr>
          </a:p>
        </p:txBody>
      </p:sp>
      <p:sp>
        <p:nvSpPr>
          <p:cNvPr id="43" name="Shape 40"/>
          <p:cNvSpPr/>
          <p:nvPr/>
        </p:nvSpPr>
        <p:spPr>
          <a:xfrm>
            <a:off x="8566150" y="4641850"/>
            <a:ext cx="7061200" cy="457200"/>
          </a:xfrm>
          <a:custGeom>
            <a:avLst/>
            <a:gdLst/>
            <a:ahLst/>
            <a:cxnLst/>
            <a:rect l="l" t="t" r="r" b="b"/>
            <a:pathLst>
              <a:path w="7061200" h="457200">
                <a:moveTo>
                  <a:pt x="50799" y="0"/>
                </a:moveTo>
                <a:lnTo>
                  <a:pt x="7010401" y="0"/>
                </a:lnTo>
                <a:cubicBezTo>
                  <a:pt x="7038456" y="0"/>
                  <a:pt x="7061200" y="22744"/>
                  <a:pt x="7061200" y="50799"/>
                </a:cubicBezTo>
                <a:lnTo>
                  <a:pt x="7061200" y="406401"/>
                </a:lnTo>
                <a:cubicBezTo>
                  <a:pt x="7061200" y="434456"/>
                  <a:pt x="7038456" y="457200"/>
                  <a:pt x="7010401" y="457200"/>
                </a:cubicBezTo>
                <a:lnTo>
                  <a:pt x="50799" y="457200"/>
                </a:lnTo>
                <a:cubicBezTo>
                  <a:pt x="22744" y="457200"/>
                  <a:pt x="0" y="434456"/>
                  <a:pt x="0" y="406401"/>
                </a:cubicBezTo>
                <a:lnTo>
                  <a:pt x="0" y="50799"/>
                </a:lnTo>
                <a:cubicBezTo>
                  <a:pt x="0" y="22762"/>
                  <a:pt x="22762" y="0"/>
                  <a:pt x="50799" y="0"/>
                </a:cubicBezTo>
                <a:close/>
              </a:path>
            </a:pathLst>
          </a:custGeom>
          <a:solidFill>
            <a:srgbClr val="1A1D21"/>
          </a:solidFill>
          <a:ln/>
        </p:spPr>
      </p:sp>
      <p:sp>
        <p:nvSpPr>
          <p:cNvPr id="44" name="Shape 41"/>
          <p:cNvSpPr/>
          <p:nvPr/>
        </p:nvSpPr>
        <p:spPr>
          <a:xfrm>
            <a:off x="8693150" y="4794250"/>
            <a:ext cx="203200" cy="203200"/>
          </a:xfrm>
          <a:custGeom>
            <a:avLst/>
            <a:gdLst/>
            <a:ahLst/>
            <a:cxnLst/>
            <a:rect l="l" t="t" r="r" b="b"/>
            <a:pathLst>
              <a:path w="203200" h="203200">
                <a:moveTo>
                  <a:pt x="101600" y="203200"/>
                </a:moveTo>
                <a:cubicBezTo>
                  <a:pt x="157675" y="203200"/>
                  <a:pt x="203200" y="157675"/>
                  <a:pt x="203200" y="101600"/>
                </a:cubicBezTo>
                <a:cubicBezTo>
                  <a:pt x="203200" y="45525"/>
                  <a:pt x="157675" y="0"/>
                  <a:pt x="101600" y="0"/>
                </a:cubicBezTo>
                <a:cubicBezTo>
                  <a:pt x="45525" y="0"/>
                  <a:pt x="0" y="45525"/>
                  <a:pt x="0" y="101600"/>
                </a:cubicBezTo>
                <a:cubicBezTo>
                  <a:pt x="0" y="157675"/>
                  <a:pt x="45525" y="203200"/>
                  <a:pt x="101600" y="203200"/>
                </a:cubicBezTo>
                <a:close/>
                <a:moveTo>
                  <a:pt x="88900" y="63500"/>
                </a:moveTo>
                <a:cubicBezTo>
                  <a:pt x="88900" y="56491"/>
                  <a:pt x="94591" y="50800"/>
                  <a:pt x="101600" y="50800"/>
                </a:cubicBezTo>
                <a:cubicBezTo>
                  <a:pt x="108609" y="50800"/>
                  <a:pt x="114300" y="56491"/>
                  <a:pt x="114300" y="63500"/>
                </a:cubicBezTo>
                <a:cubicBezTo>
                  <a:pt x="114300" y="70509"/>
                  <a:pt x="108609" y="76200"/>
                  <a:pt x="101600" y="76200"/>
                </a:cubicBezTo>
                <a:cubicBezTo>
                  <a:pt x="94591" y="76200"/>
                  <a:pt x="88900" y="70509"/>
                  <a:pt x="88900" y="63500"/>
                </a:cubicBezTo>
                <a:close/>
                <a:moveTo>
                  <a:pt x="85725" y="88900"/>
                </a:moveTo>
                <a:lnTo>
                  <a:pt x="104775" y="88900"/>
                </a:lnTo>
                <a:cubicBezTo>
                  <a:pt x="110053" y="88900"/>
                  <a:pt x="114300" y="93147"/>
                  <a:pt x="114300" y="98425"/>
                </a:cubicBezTo>
                <a:lnTo>
                  <a:pt x="114300" y="133350"/>
                </a:lnTo>
                <a:lnTo>
                  <a:pt x="117475" y="133350"/>
                </a:lnTo>
                <a:cubicBezTo>
                  <a:pt x="122753" y="133350"/>
                  <a:pt x="127000" y="137597"/>
                  <a:pt x="127000" y="142875"/>
                </a:cubicBezTo>
                <a:cubicBezTo>
                  <a:pt x="127000" y="148153"/>
                  <a:pt x="122753" y="152400"/>
                  <a:pt x="117475" y="152400"/>
                </a:cubicBezTo>
                <a:lnTo>
                  <a:pt x="85725" y="152400"/>
                </a:lnTo>
                <a:cubicBezTo>
                  <a:pt x="80447" y="152400"/>
                  <a:pt x="76200" y="148153"/>
                  <a:pt x="76200" y="142875"/>
                </a:cubicBezTo>
                <a:cubicBezTo>
                  <a:pt x="76200" y="137597"/>
                  <a:pt x="80447" y="133350"/>
                  <a:pt x="85725" y="133350"/>
                </a:cubicBezTo>
                <a:lnTo>
                  <a:pt x="95250" y="133350"/>
                </a:lnTo>
                <a:lnTo>
                  <a:pt x="95250" y="107950"/>
                </a:lnTo>
                <a:lnTo>
                  <a:pt x="85725" y="107950"/>
                </a:lnTo>
                <a:cubicBezTo>
                  <a:pt x="80447" y="107950"/>
                  <a:pt x="76200" y="103703"/>
                  <a:pt x="76200" y="98425"/>
                </a:cubicBezTo>
                <a:cubicBezTo>
                  <a:pt x="76200" y="93147"/>
                  <a:pt x="80447" y="88900"/>
                  <a:pt x="85725" y="88900"/>
                </a:cubicBezTo>
                <a:close/>
              </a:path>
            </a:pathLst>
          </a:custGeom>
          <a:solidFill>
            <a:srgbClr val="E89F5B"/>
          </a:solidFill>
          <a:ln/>
        </p:spPr>
      </p:sp>
      <p:sp>
        <p:nvSpPr>
          <p:cNvPr id="45" name="Text 42"/>
          <p:cNvSpPr/>
          <p:nvPr/>
        </p:nvSpPr>
        <p:spPr>
          <a:xfrm>
            <a:off x="9023350" y="4743450"/>
            <a:ext cx="2667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fr-FR" sz="1400" dirty="0" smtClean="0">
                <a:solidFill>
                  <a:srgbClr val="7D8A9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Programmation automate </a:t>
            </a:r>
            <a:r>
              <a:rPr lang="fr-FR" sz="1400" dirty="0" smtClean="0">
                <a:solidFill>
                  <a:schemeClr val="bg1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à venir</a:t>
            </a:r>
            <a:endParaRPr lang="fr-FR" sz="1600" dirty="0">
              <a:solidFill>
                <a:schemeClr val="bg1"/>
              </a:solidFill>
            </a:endParaRPr>
          </a:p>
        </p:txBody>
      </p:sp>
      <p:sp>
        <p:nvSpPr>
          <p:cNvPr id="46" name="Shape 43"/>
          <p:cNvSpPr/>
          <p:nvPr/>
        </p:nvSpPr>
        <p:spPr>
          <a:xfrm>
            <a:off x="8566150" y="5200650"/>
            <a:ext cx="7061200" cy="457200"/>
          </a:xfrm>
          <a:custGeom>
            <a:avLst/>
            <a:gdLst/>
            <a:ahLst/>
            <a:cxnLst/>
            <a:rect l="l" t="t" r="r" b="b"/>
            <a:pathLst>
              <a:path w="7061200" h="457200">
                <a:moveTo>
                  <a:pt x="50799" y="0"/>
                </a:moveTo>
                <a:lnTo>
                  <a:pt x="7010401" y="0"/>
                </a:lnTo>
                <a:cubicBezTo>
                  <a:pt x="7038456" y="0"/>
                  <a:pt x="7061200" y="22744"/>
                  <a:pt x="7061200" y="50799"/>
                </a:cubicBezTo>
                <a:lnTo>
                  <a:pt x="7061200" y="406401"/>
                </a:lnTo>
                <a:cubicBezTo>
                  <a:pt x="7061200" y="434456"/>
                  <a:pt x="7038456" y="457200"/>
                  <a:pt x="7010401" y="457200"/>
                </a:cubicBezTo>
                <a:lnTo>
                  <a:pt x="50799" y="457200"/>
                </a:lnTo>
                <a:cubicBezTo>
                  <a:pt x="22744" y="457200"/>
                  <a:pt x="0" y="434456"/>
                  <a:pt x="0" y="406401"/>
                </a:cubicBezTo>
                <a:lnTo>
                  <a:pt x="0" y="50799"/>
                </a:lnTo>
                <a:cubicBezTo>
                  <a:pt x="0" y="22762"/>
                  <a:pt x="22762" y="0"/>
                  <a:pt x="50799" y="0"/>
                </a:cubicBezTo>
                <a:close/>
              </a:path>
            </a:pathLst>
          </a:custGeom>
          <a:solidFill>
            <a:srgbClr val="1A1D21"/>
          </a:solidFill>
          <a:ln/>
        </p:spPr>
      </p:sp>
      <p:sp>
        <p:nvSpPr>
          <p:cNvPr id="47" name="Shape 44"/>
          <p:cNvSpPr/>
          <p:nvPr/>
        </p:nvSpPr>
        <p:spPr>
          <a:xfrm>
            <a:off x="8693150" y="5353050"/>
            <a:ext cx="203200" cy="203200"/>
          </a:xfrm>
          <a:custGeom>
            <a:avLst/>
            <a:gdLst/>
            <a:ahLst/>
            <a:cxnLst/>
            <a:rect l="l" t="t" r="r" b="b"/>
            <a:pathLst>
              <a:path w="203200" h="203200">
                <a:moveTo>
                  <a:pt x="101600" y="203200"/>
                </a:moveTo>
                <a:cubicBezTo>
                  <a:pt x="157675" y="203200"/>
                  <a:pt x="203200" y="157675"/>
                  <a:pt x="203200" y="101600"/>
                </a:cubicBezTo>
                <a:cubicBezTo>
                  <a:pt x="203200" y="45525"/>
                  <a:pt x="157675" y="0"/>
                  <a:pt x="101600" y="0"/>
                </a:cubicBezTo>
                <a:cubicBezTo>
                  <a:pt x="45525" y="0"/>
                  <a:pt x="0" y="45525"/>
                  <a:pt x="0" y="101600"/>
                </a:cubicBezTo>
                <a:cubicBezTo>
                  <a:pt x="0" y="157675"/>
                  <a:pt x="45525" y="203200"/>
                  <a:pt x="101600" y="203200"/>
                </a:cubicBezTo>
                <a:close/>
                <a:moveTo>
                  <a:pt x="88900" y="63500"/>
                </a:moveTo>
                <a:cubicBezTo>
                  <a:pt x="88900" y="56491"/>
                  <a:pt x="94591" y="50800"/>
                  <a:pt x="101600" y="50800"/>
                </a:cubicBezTo>
                <a:cubicBezTo>
                  <a:pt x="108609" y="50800"/>
                  <a:pt x="114300" y="56491"/>
                  <a:pt x="114300" y="63500"/>
                </a:cubicBezTo>
                <a:cubicBezTo>
                  <a:pt x="114300" y="70509"/>
                  <a:pt x="108609" y="76200"/>
                  <a:pt x="101600" y="76200"/>
                </a:cubicBezTo>
                <a:cubicBezTo>
                  <a:pt x="94591" y="76200"/>
                  <a:pt x="88900" y="70509"/>
                  <a:pt x="88900" y="63500"/>
                </a:cubicBezTo>
                <a:close/>
                <a:moveTo>
                  <a:pt x="85725" y="88900"/>
                </a:moveTo>
                <a:lnTo>
                  <a:pt x="104775" y="88900"/>
                </a:lnTo>
                <a:cubicBezTo>
                  <a:pt x="110053" y="88900"/>
                  <a:pt x="114300" y="93147"/>
                  <a:pt x="114300" y="98425"/>
                </a:cubicBezTo>
                <a:lnTo>
                  <a:pt x="114300" y="133350"/>
                </a:lnTo>
                <a:lnTo>
                  <a:pt x="117475" y="133350"/>
                </a:lnTo>
                <a:cubicBezTo>
                  <a:pt x="122753" y="133350"/>
                  <a:pt x="127000" y="137597"/>
                  <a:pt x="127000" y="142875"/>
                </a:cubicBezTo>
                <a:cubicBezTo>
                  <a:pt x="127000" y="148153"/>
                  <a:pt x="122753" y="152400"/>
                  <a:pt x="117475" y="152400"/>
                </a:cubicBezTo>
                <a:lnTo>
                  <a:pt x="85725" y="152400"/>
                </a:lnTo>
                <a:cubicBezTo>
                  <a:pt x="80447" y="152400"/>
                  <a:pt x="76200" y="148153"/>
                  <a:pt x="76200" y="142875"/>
                </a:cubicBezTo>
                <a:cubicBezTo>
                  <a:pt x="76200" y="137597"/>
                  <a:pt x="80447" y="133350"/>
                  <a:pt x="85725" y="133350"/>
                </a:cubicBezTo>
                <a:lnTo>
                  <a:pt x="95250" y="133350"/>
                </a:lnTo>
                <a:lnTo>
                  <a:pt x="95250" y="107950"/>
                </a:lnTo>
                <a:lnTo>
                  <a:pt x="85725" y="107950"/>
                </a:lnTo>
                <a:cubicBezTo>
                  <a:pt x="80447" y="107950"/>
                  <a:pt x="76200" y="103703"/>
                  <a:pt x="76200" y="98425"/>
                </a:cubicBezTo>
                <a:cubicBezTo>
                  <a:pt x="76200" y="93147"/>
                  <a:pt x="80447" y="88900"/>
                  <a:pt x="85725" y="88900"/>
                </a:cubicBezTo>
                <a:close/>
              </a:path>
            </a:pathLst>
          </a:custGeom>
          <a:solidFill>
            <a:srgbClr val="E89F5B"/>
          </a:solidFill>
          <a:ln/>
        </p:spPr>
      </p:sp>
      <p:sp>
        <p:nvSpPr>
          <p:cNvPr id="48" name="Text 45"/>
          <p:cNvSpPr/>
          <p:nvPr/>
        </p:nvSpPr>
        <p:spPr>
          <a:xfrm>
            <a:off x="9023350" y="5302250"/>
            <a:ext cx="23114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fr-FR" sz="1400" dirty="0" smtClean="0">
                <a:solidFill>
                  <a:srgbClr val="7D8A9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Validation industrielle </a:t>
            </a:r>
            <a:r>
              <a:rPr lang="fr-FR" sz="1400" dirty="0" smtClean="0">
                <a:solidFill>
                  <a:schemeClr val="bg1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future</a:t>
            </a:r>
            <a:endParaRPr lang="fr-FR" sz="1600" dirty="0">
              <a:solidFill>
                <a:schemeClr val="bg1"/>
              </a:solidFill>
            </a:endParaRPr>
          </a:p>
        </p:txBody>
      </p:sp>
      <p:sp>
        <p:nvSpPr>
          <p:cNvPr id="52" name="NumPage"/>
          <p:cNvSpPr txBox="1"/>
          <p:nvPr/>
        </p:nvSpPr>
        <p:spPr>
          <a:xfrm>
            <a:off x="15240000" y="8636000"/>
            <a:ext cx="889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fr-FR" sz="1400" smtClean="0">
                <a:solidFill>
                  <a:srgbClr val="E89F5B"/>
                </a:solidFill>
              </a:rPr>
              <a:t>16</a:t>
            </a:r>
            <a:endParaRPr lang="fr-FR" sz="1400" dirty="0">
              <a:solidFill>
                <a:srgbClr val="E89F5B"/>
              </a:solidFill>
            </a:endParaRP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web-img.moonshot.cn/img/www.mga-tech.com/bb8e0f13845f04cc3db574b572091c2e8b80cd48.jpg"/>
          <p:cNvPicPr>
            <a:picLocks noChangeAspect="1"/>
          </p:cNvPicPr>
          <p:nvPr/>
        </p:nvPicPr>
        <p:blipFill>
          <a:blip r:embed="rId3">
            <a:alphaModFix amt="20000"/>
          </a:blip>
          <a:srcRect t="44" b="44"/>
          <a:stretch/>
        </p:blipFill>
        <p:spPr>
          <a:xfrm>
            <a:off x="0" y="0"/>
            <a:ext cx="16256000" cy="9144000"/>
          </a:xfrm>
          <a:prstGeom prst="roundRect">
            <a:avLst>
              <a:gd name="adj" fmla="val 0"/>
            </a:avLst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6256000" cy="9144000"/>
          </a:xfrm>
          <a:custGeom>
            <a:avLst/>
            <a:gdLst/>
            <a:ahLst/>
            <a:cxnLst/>
            <a:rect l="l" t="t" r="r" b="b"/>
            <a:pathLst>
              <a:path w="16256000" h="9144000">
                <a:moveTo>
                  <a:pt x="0" y="0"/>
                </a:moveTo>
                <a:lnTo>
                  <a:pt x="16256000" y="0"/>
                </a:lnTo>
                <a:lnTo>
                  <a:pt x="16256000" y="9144000"/>
                </a:lnTo>
                <a:lnTo>
                  <a:pt x="0" y="9144000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0">
                <a:srgbClr val="1A1D21">
                  <a:alpha val="95000"/>
                </a:srgbClr>
              </a:gs>
              <a:gs pos="50000">
                <a:srgbClr val="4A6C8C">
                  <a:alpha val="30000"/>
                </a:srgbClr>
              </a:gs>
              <a:gs pos="100000">
                <a:srgbClr val="1A1D21">
                  <a:alpha val="95000"/>
                </a:srgbClr>
              </a:gs>
            </a:gsLst>
            <a:lin ang="2700000" scaled="1"/>
          </a:gradFill>
          <a:ln/>
        </p:spPr>
      </p:sp>
      <p:sp>
        <p:nvSpPr>
          <p:cNvPr id="4" name="Shape 1"/>
          <p:cNvSpPr/>
          <p:nvPr/>
        </p:nvSpPr>
        <p:spPr>
          <a:xfrm>
            <a:off x="6927850" y="400050"/>
            <a:ext cx="2400300" cy="685800"/>
          </a:xfrm>
          <a:custGeom>
            <a:avLst/>
            <a:gdLst/>
            <a:ahLst/>
            <a:cxnLst/>
            <a:rect l="l" t="t" r="r" b="b"/>
            <a:pathLst>
              <a:path w="2400300" h="685800">
                <a:moveTo>
                  <a:pt x="342900" y="0"/>
                </a:moveTo>
                <a:lnTo>
                  <a:pt x="2057400" y="0"/>
                </a:lnTo>
                <a:cubicBezTo>
                  <a:pt x="2246652" y="0"/>
                  <a:pt x="2400300" y="153648"/>
                  <a:pt x="2400300" y="342900"/>
                </a:cubicBezTo>
                <a:lnTo>
                  <a:pt x="2400300" y="342900"/>
                </a:lnTo>
                <a:cubicBezTo>
                  <a:pt x="2400300" y="532152"/>
                  <a:pt x="2246652" y="685800"/>
                  <a:pt x="2057400" y="685800"/>
                </a:cubicBezTo>
                <a:lnTo>
                  <a:pt x="342900" y="685800"/>
                </a:lnTo>
                <a:cubicBezTo>
                  <a:pt x="153648" y="685800"/>
                  <a:pt x="0" y="532152"/>
                  <a:pt x="0" y="342900"/>
                </a:cubicBezTo>
                <a:lnTo>
                  <a:pt x="0" y="342900"/>
                </a:lnTo>
                <a:cubicBezTo>
                  <a:pt x="0" y="153648"/>
                  <a:pt x="153648" y="0"/>
                  <a:pt x="342900" y="0"/>
                </a:cubicBezTo>
                <a:close/>
              </a:path>
            </a:pathLst>
          </a:custGeom>
          <a:solidFill>
            <a:srgbClr val="E89F5B">
              <a:alpha val="20000"/>
            </a:srgbClr>
          </a:solidFill>
          <a:ln w="25400">
            <a:solidFill>
              <a:srgbClr val="E89F5B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7188200" y="565150"/>
            <a:ext cx="18796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fr-FR" sz="1800" b="1" kern="0" spc="180" smtClean="0">
                <a:solidFill>
                  <a:srgbClr val="E89F5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CONCLUSION</a:t>
            </a:r>
            <a:endParaRPr lang="fr-FR" sz="1600" dirty="0"/>
          </a:p>
        </p:txBody>
      </p:sp>
      <p:sp>
        <p:nvSpPr>
          <p:cNvPr id="6" name="Text 3"/>
          <p:cNvSpPr/>
          <p:nvPr/>
        </p:nvSpPr>
        <p:spPr>
          <a:xfrm>
            <a:off x="5678289" y="1403350"/>
            <a:ext cx="49022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fr-FR" sz="4800" b="1" dirty="0" smtClean="0">
                <a:solidFill>
                  <a:srgbClr val="E8E8E8"/>
                </a:solidFill>
                <a:latin typeface="Hedvig Letters Sans" pitchFamily="34" charset="0"/>
                <a:ea typeface="Hedvig Letters Sans" pitchFamily="34" charset="-122"/>
                <a:cs typeface="Hedvig Letters Sans" pitchFamily="34" charset="-120"/>
              </a:rPr>
              <a:t>Une Expérience</a:t>
            </a:r>
          </a:p>
          <a:p>
            <a:pPr algn="ctr">
              <a:lnSpc>
                <a:spcPct val="100000"/>
              </a:lnSpc>
            </a:pPr>
            <a:r>
              <a:rPr lang="fr-FR" sz="4800" b="1" dirty="0" smtClean="0">
                <a:solidFill>
                  <a:srgbClr val="4A6C8C"/>
                </a:solidFill>
                <a:latin typeface="Hedvig Letters Sans" pitchFamily="34" charset="0"/>
                <a:ea typeface="Hedvig Letters Sans" pitchFamily="34" charset="-122"/>
                <a:cs typeface="Hedvig Letters Sans" pitchFamily="34" charset="-120"/>
              </a:rPr>
              <a:t>Enrichissante</a:t>
            </a:r>
            <a:endParaRPr lang="fr-FR" sz="4800" b="1" dirty="0">
              <a:solidFill>
                <a:srgbClr val="4A6C8C"/>
              </a:solidFill>
              <a:latin typeface="Hedvig Letters Sans" pitchFamily="34" charset="0"/>
              <a:ea typeface="Hedvig Letters Sans" pitchFamily="34" charset="-122"/>
              <a:cs typeface="Hedvig Letters Sans" pitchFamily="34" charset="-120"/>
            </a:endParaRPr>
          </a:p>
        </p:txBody>
      </p:sp>
      <p:sp>
        <p:nvSpPr>
          <p:cNvPr id="7" name="Text 4"/>
          <p:cNvSpPr/>
          <p:nvPr/>
        </p:nvSpPr>
        <p:spPr>
          <a:xfrm>
            <a:off x="2374900" y="3638550"/>
            <a:ext cx="11506200" cy="812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40000"/>
              </a:lnSpc>
            </a:pPr>
            <a:r>
              <a:rPr lang="fr-FR" sz="2000" dirty="0" smtClean="0">
                <a:solidFill>
                  <a:srgbClr val="E8E8E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Ce stage a permis de poser les </a:t>
            </a:r>
            <a:r>
              <a:rPr lang="fr-FR" sz="2000" b="1" dirty="0" smtClean="0">
                <a:solidFill>
                  <a:srgbClr val="E89F5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bases solides </a:t>
            </a:r>
            <a:r>
              <a:rPr lang="fr-FR" sz="2000" dirty="0" smtClean="0">
                <a:solidFill>
                  <a:srgbClr val="E8E8E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pour le développement d'un banc de calibration </a:t>
            </a:r>
            <a:r>
              <a:rPr lang="fr-FR" sz="2000" b="1" dirty="0" smtClean="0">
                <a:solidFill>
                  <a:srgbClr val="E89F5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moderne, fiable et conforme</a:t>
            </a:r>
            <a:r>
              <a:rPr lang="fr-FR" sz="2000" dirty="0" smtClean="0">
                <a:solidFill>
                  <a:srgbClr val="E8E8E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aux normes internationales.</a:t>
            </a:r>
            <a:endParaRPr lang="fr-FR" sz="1600" dirty="0"/>
          </a:p>
        </p:txBody>
      </p:sp>
      <p:sp>
        <p:nvSpPr>
          <p:cNvPr id="8" name="Text 5"/>
          <p:cNvSpPr/>
          <p:nvPr/>
        </p:nvSpPr>
        <p:spPr>
          <a:xfrm>
            <a:off x="2381250" y="4654550"/>
            <a:ext cx="11493500" cy="736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40000"/>
              </a:lnSpc>
            </a:pPr>
            <a:r>
              <a:rPr lang="fr-FR" sz="1800" dirty="0" smtClean="0">
                <a:solidFill>
                  <a:srgbClr val="7D8A9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Une expérience qui a renforcé mon projet professionnel dans </a:t>
            </a:r>
            <a:r>
              <a:rPr lang="fr-FR" b="1" dirty="0" smtClean="0">
                <a:solidFill>
                  <a:srgbClr val="E8E8E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l'automatisme industriel </a:t>
            </a:r>
            <a:r>
              <a:rPr lang="fr-FR" sz="1800" dirty="0" smtClean="0">
                <a:solidFill>
                  <a:srgbClr val="7D8A9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et m'a permis de gagner en </a:t>
            </a:r>
            <a:r>
              <a:rPr lang="fr-FR" b="1" dirty="0" smtClean="0">
                <a:solidFill>
                  <a:srgbClr val="E8E8E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compétences, autonomie et confiance</a:t>
            </a:r>
            <a:r>
              <a:rPr lang="fr-FR" dirty="0" smtClean="0">
                <a:solidFill>
                  <a:srgbClr val="7D8A9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.</a:t>
            </a:r>
          </a:p>
        </p:txBody>
      </p:sp>
      <p:sp>
        <p:nvSpPr>
          <p:cNvPr id="9" name="Shape 6"/>
          <p:cNvSpPr/>
          <p:nvPr/>
        </p:nvSpPr>
        <p:spPr>
          <a:xfrm>
            <a:off x="4060230" y="5803900"/>
            <a:ext cx="2501900" cy="1460500"/>
          </a:xfrm>
          <a:custGeom>
            <a:avLst/>
            <a:gdLst/>
            <a:ahLst/>
            <a:cxnLst/>
            <a:rect l="l" t="t" r="r" b="b"/>
            <a:pathLst>
              <a:path w="2501900" h="1460500">
                <a:moveTo>
                  <a:pt x="101607" y="0"/>
                </a:moveTo>
                <a:lnTo>
                  <a:pt x="2400293" y="0"/>
                </a:lnTo>
                <a:cubicBezTo>
                  <a:pt x="2456409" y="0"/>
                  <a:pt x="2501900" y="45491"/>
                  <a:pt x="2501900" y="101607"/>
                </a:cubicBezTo>
                <a:lnTo>
                  <a:pt x="2501900" y="1358893"/>
                </a:lnTo>
                <a:cubicBezTo>
                  <a:pt x="2501900" y="1415009"/>
                  <a:pt x="2456409" y="1460500"/>
                  <a:pt x="2400293" y="1460500"/>
                </a:cubicBezTo>
                <a:lnTo>
                  <a:pt x="101607" y="1460500"/>
                </a:lnTo>
                <a:cubicBezTo>
                  <a:pt x="45491" y="1460500"/>
                  <a:pt x="0" y="1415009"/>
                  <a:pt x="0" y="1358893"/>
                </a:cubicBezTo>
                <a:lnTo>
                  <a:pt x="0" y="101607"/>
                </a:lnTo>
                <a:cubicBezTo>
                  <a:pt x="0" y="45529"/>
                  <a:pt x="45529" y="0"/>
                  <a:pt x="101607" y="0"/>
                </a:cubicBezTo>
                <a:close/>
              </a:path>
            </a:pathLst>
          </a:custGeom>
          <a:solidFill>
            <a:srgbClr val="4A6C8C">
              <a:alpha val="20000"/>
            </a:srgbClr>
          </a:solidFill>
          <a:ln w="12700">
            <a:solidFill>
              <a:srgbClr val="4A6C8C">
                <a:alpha val="40000"/>
              </a:srgbClr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122863" y="6013450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>
                <a:moveTo>
                  <a:pt x="190500" y="381000"/>
                </a:moveTo>
                <a:cubicBezTo>
                  <a:pt x="295640" y="381000"/>
                  <a:pt x="381000" y="295640"/>
                  <a:pt x="381000" y="190500"/>
                </a:cubicBezTo>
                <a:cubicBezTo>
                  <a:pt x="381000" y="85360"/>
                  <a:pt x="295640" y="0"/>
                  <a:pt x="190500" y="0"/>
                </a:cubicBezTo>
                <a:cubicBezTo>
                  <a:pt x="85360" y="0"/>
                  <a:pt x="0" y="85360"/>
                  <a:pt x="0" y="190500"/>
                </a:cubicBezTo>
                <a:cubicBezTo>
                  <a:pt x="0" y="295640"/>
                  <a:pt x="85360" y="381000"/>
                  <a:pt x="190500" y="381000"/>
                </a:cubicBezTo>
                <a:close/>
                <a:moveTo>
                  <a:pt x="253305" y="158279"/>
                </a:moveTo>
                <a:lnTo>
                  <a:pt x="193774" y="253529"/>
                </a:lnTo>
                <a:cubicBezTo>
                  <a:pt x="190649" y="258514"/>
                  <a:pt x="185291" y="261640"/>
                  <a:pt x="179412" y="261938"/>
                </a:cubicBezTo>
                <a:cubicBezTo>
                  <a:pt x="173534" y="262235"/>
                  <a:pt x="167878" y="259556"/>
                  <a:pt x="164381" y="254794"/>
                </a:cubicBezTo>
                <a:lnTo>
                  <a:pt x="128662" y="207169"/>
                </a:lnTo>
                <a:cubicBezTo>
                  <a:pt x="122709" y="199281"/>
                  <a:pt x="124346" y="188119"/>
                  <a:pt x="132234" y="182166"/>
                </a:cubicBezTo>
                <a:cubicBezTo>
                  <a:pt x="140122" y="176212"/>
                  <a:pt x="151284" y="177850"/>
                  <a:pt x="157237" y="185738"/>
                </a:cubicBezTo>
                <a:lnTo>
                  <a:pt x="177329" y="212527"/>
                </a:lnTo>
                <a:lnTo>
                  <a:pt x="223019" y="139378"/>
                </a:lnTo>
                <a:cubicBezTo>
                  <a:pt x="228228" y="131043"/>
                  <a:pt x="239241" y="128439"/>
                  <a:pt x="247650" y="133722"/>
                </a:cubicBezTo>
                <a:cubicBezTo>
                  <a:pt x="256059" y="139005"/>
                  <a:pt x="258589" y="149944"/>
                  <a:pt x="253305" y="158353"/>
                </a:cubicBezTo>
                <a:close/>
              </a:path>
            </a:pathLst>
          </a:custGeom>
          <a:solidFill>
            <a:srgbClr val="E89F5B"/>
          </a:solidFill>
          <a:ln/>
        </p:spPr>
      </p:sp>
      <p:sp>
        <p:nvSpPr>
          <p:cNvPr id="11" name="Text 8"/>
          <p:cNvSpPr/>
          <p:nvPr/>
        </p:nvSpPr>
        <p:spPr>
          <a:xfrm>
            <a:off x="4218980" y="6496050"/>
            <a:ext cx="21844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fr-FR" sz="1600" b="1" smtClean="0">
                <a:solidFill>
                  <a:srgbClr val="E8E8E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Analyse Fonctionnelle</a:t>
            </a:r>
            <a:endParaRPr lang="fr-FR" sz="1600" dirty="0"/>
          </a:p>
        </p:txBody>
      </p:sp>
      <p:sp>
        <p:nvSpPr>
          <p:cNvPr id="12" name="Text 9"/>
          <p:cNvSpPr/>
          <p:nvPr/>
        </p:nvSpPr>
        <p:spPr>
          <a:xfrm>
            <a:off x="4225330" y="6800850"/>
            <a:ext cx="21717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fr-FR" sz="1400" smtClean="0">
                <a:solidFill>
                  <a:srgbClr val="7D8A9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Complète et structurée</a:t>
            </a:r>
            <a:endParaRPr lang="fr-FR" sz="1600" dirty="0"/>
          </a:p>
        </p:txBody>
      </p:sp>
      <p:sp>
        <p:nvSpPr>
          <p:cNvPr id="13" name="Shape 10"/>
          <p:cNvSpPr/>
          <p:nvPr/>
        </p:nvSpPr>
        <p:spPr>
          <a:xfrm>
            <a:off x="6877844" y="5803900"/>
            <a:ext cx="2501900" cy="1460500"/>
          </a:xfrm>
          <a:custGeom>
            <a:avLst/>
            <a:gdLst/>
            <a:ahLst/>
            <a:cxnLst/>
            <a:rect l="l" t="t" r="r" b="b"/>
            <a:pathLst>
              <a:path w="2501900" h="1460500">
                <a:moveTo>
                  <a:pt x="101607" y="0"/>
                </a:moveTo>
                <a:lnTo>
                  <a:pt x="2400293" y="0"/>
                </a:lnTo>
                <a:cubicBezTo>
                  <a:pt x="2456409" y="0"/>
                  <a:pt x="2501900" y="45491"/>
                  <a:pt x="2501900" y="101607"/>
                </a:cubicBezTo>
                <a:lnTo>
                  <a:pt x="2501900" y="1358893"/>
                </a:lnTo>
                <a:cubicBezTo>
                  <a:pt x="2501900" y="1415009"/>
                  <a:pt x="2456409" y="1460500"/>
                  <a:pt x="2400293" y="1460500"/>
                </a:cubicBezTo>
                <a:lnTo>
                  <a:pt x="101607" y="1460500"/>
                </a:lnTo>
                <a:cubicBezTo>
                  <a:pt x="45491" y="1460500"/>
                  <a:pt x="0" y="1415009"/>
                  <a:pt x="0" y="1358893"/>
                </a:cubicBezTo>
                <a:lnTo>
                  <a:pt x="0" y="101607"/>
                </a:lnTo>
                <a:cubicBezTo>
                  <a:pt x="0" y="45529"/>
                  <a:pt x="45529" y="0"/>
                  <a:pt x="101607" y="0"/>
                </a:cubicBezTo>
                <a:close/>
              </a:path>
            </a:pathLst>
          </a:custGeom>
          <a:solidFill>
            <a:srgbClr val="4A6C8C">
              <a:alpha val="20000"/>
            </a:srgbClr>
          </a:solidFill>
          <a:ln w="12700">
            <a:solidFill>
              <a:srgbClr val="4A6C8C">
                <a:alpha val="40000"/>
              </a:srgbClr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940477" y="6013450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>
                <a:moveTo>
                  <a:pt x="190500" y="0"/>
                </a:moveTo>
                <a:cubicBezTo>
                  <a:pt x="193923" y="0"/>
                  <a:pt x="197346" y="744"/>
                  <a:pt x="200471" y="2158"/>
                </a:cubicBezTo>
                <a:lnTo>
                  <a:pt x="340668" y="61615"/>
                </a:lnTo>
                <a:cubicBezTo>
                  <a:pt x="357039" y="68535"/>
                  <a:pt x="369243" y="84683"/>
                  <a:pt x="369168" y="104180"/>
                </a:cubicBezTo>
                <a:cubicBezTo>
                  <a:pt x="368796" y="177998"/>
                  <a:pt x="338435" y="313060"/>
                  <a:pt x="210220" y="374452"/>
                </a:cubicBezTo>
                <a:cubicBezTo>
                  <a:pt x="197793" y="380405"/>
                  <a:pt x="183356" y="380405"/>
                  <a:pt x="170929" y="374452"/>
                </a:cubicBezTo>
                <a:cubicBezTo>
                  <a:pt x="42639" y="313060"/>
                  <a:pt x="12353" y="177998"/>
                  <a:pt x="11981" y="104180"/>
                </a:cubicBezTo>
                <a:cubicBezTo>
                  <a:pt x="11906" y="84683"/>
                  <a:pt x="24110" y="68535"/>
                  <a:pt x="40481" y="61615"/>
                </a:cubicBezTo>
                <a:lnTo>
                  <a:pt x="180603" y="2158"/>
                </a:lnTo>
                <a:cubicBezTo>
                  <a:pt x="183728" y="744"/>
                  <a:pt x="187077" y="0"/>
                  <a:pt x="190500" y="0"/>
                </a:cubicBezTo>
                <a:close/>
                <a:moveTo>
                  <a:pt x="190500" y="49709"/>
                </a:moveTo>
                <a:lnTo>
                  <a:pt x="190500" y="331068"/>
                </a:lnTo>
                <a:cubicBezTo>
                  <a:pt x="293191" y="281360"/>
                  <a:pt x="320799" y="171227"/>
                  <a:pt x="321469" y="105296"/>
                </a:cubicBezTo>
                <a:lnTo>
                  <a:pt x="190500" y="49783"/>
                </a:lnTo>
                <a:lnTo>
                  <a:pt x="190500" y="49783"/>
                </a:lnTo>
                <a:close/>
              </a:path>
            </a:pathLst>
          </a:custGeom>
          <a:solidFill>
            <a:srgbClr val="E89F5B"/>
          </a:solidFill>
          <a:ln/>
        </p:spPr>
      </p:sp>
      <p:sp>
        <p:nvSpPr>
          <p:cNvPr id="15" name="Text 12"/>
          <p:cNvSpPr/>
          <p:nvPr/>
        </p:nvSpPr>
        <p:spPr>
          <a:xfrm>
            <a:off x="7036594" y="6496050"/>
            <a:ext cx="21844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fr-FR" sz="1600" b="1" smtClean="0">
                <a:solidFill>
                  <a:srgbClr val="E8E8E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Sécurités Intégrées</a:t>
            </a:r>
            <a:endParaRPr lang="fr-FR" sz="1600" dirty="0"/>
          </a:p>
        </p:txBody>
      </p:sp>
      <p:sp>
        <p:nvSpPr>
          <p:cNvPr id="16" name="Text 13"/>
          <p:cNvSpPr/>
          <p:nvPr/>
        </p:nvSpPr>
        <p:spPr>
          <a:xfrm>
            <a:off x="7042944" y="6800850"/>
            <a:ext cx="21717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fr-FR" sz="1400" smtClean="0">
                <a:solidFill>
                  <a:srgbClr val="7D8A9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Multi-niveaux</a:t>
            </a:r>
            <a:endParaRPr lang="fr-FR" sz="1600" dirty="0"/>
          </a:p>
        </p:txBody>
      </p:sp>
      <p:sp>
        <p:nvSpPr>
          <p:cNvPr id="17" name="Shape 14"/>
          <p:cNvSpPr/>
          <p:nvPr/>
        </p:nvSpPr>
        <p:spPr>
          <a:xfrm>
            <a:off x="9695458" y="5803900"/>
            <a:ext cx="2501900" cy="1460500"/>
          </a:xfrm>
          <a:custGeom>
            <a:avLst/>
            <a:gdLst/>
            <a:ahLst/>
            <a:cxnLst/>
            <a:rect l="l" t="t" r="r" b="b"/>
            <a:pathLst>
              <a:path w="2501900" h="1460500">
                <a:moveTo>
                  <a:pt x="101607" y="0"/>
                </a:moveTo>
                <a:lnTo>
                  <a:pt x="2400293" y="0"/>
                </a:lnTo>
                <a:cubicBezTo>
                  <a:pt x="2456409" y="0"/>
                  <a:pt x="2501900" y="45491"/>
                  <a:pt x="2501900" y="101607"/>
                </a:cubicBezTo>
                <a:lnTo>
                  <a:pt x="2501900" y="1358893"/>
                </a:lnTo>
                <a:cubicBezTo>
                  <a:pt x="2501900" y="1415009"/>
                  <a:pt x="2456409" y="1460500"/>
                  <a:pt x="2400293" y="1460500"/>
                </a:cubicBezTo>
                <a:lnTo>
                  <a:pt x="101607" y="1460500"/>
                </a:lnTo>
                <a:cubicBezTo>
                  <a:pt x="45491" y="1460500"/>
                  <a:pt x="0" y="1415009"/>
                  <a:pt x="0" y="1358893"/>
                </a:cubicBezTo>
                <a:lnTo>
                  <a:pt x="0" y="101607"/>
                </a:lnTo>
                <a:cubicBezTo>
                  <a:pt x="0" y="45529"/>
                  <a:pt x="45529" y="0"/>
                  <a:pt x="101607" y="0"/>
                </a:cubicBezTo>
                <a:close/>
              </a:path>
            </a:pathLst>
          </a:custGeom>
          <a:solidFill>
            <a:srgbClr val="4A6C8C">
              <a:alpha val="20000"/>
            </a:srgbClr>
          </a:solidFill>
          <a:ln w="12700">
            <a:solidFill>
              <a:srgbClr val="4A6C8C">
                <a:alpha val="40000"/>
              </a:srgbClr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10758091" y="6013450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>
                <a:moveTo>
                  <a:pt x="357262" y="142875"/>
                </a:moveTo>
                <a:lnTo>
                  <a:pt x="363141" y="142875"/>
                </a:lnTo>
                <a:cubicBezTo>
                  <a:pt x="373038" y="142875"/>
                  <a:pt x="381000" y="134913"/>
                  <a:pt x="381000" y="125016"/>
                </a:cubicBezTo>
                <a:lnTo>
                  <a:pt x="381000" y="17859"/>
                </a:lnTo>
                <a:cubicBezTo>
                  <a:pt x="381000" y="10641"/>
                  <a:pt x="376684" y="4093"/>
                  <a:pt x="369987" y="1339"/>
                </a:cubicBezTo>
                <a:cubicBezTo>
                  <a:pt x="363289" y="-1414"/>
                  <a:pt x="355625" y="149"/>
                  <a:pt x="350490" y="5209"/>
                </a:cubicBezTo>
                <a:lnTo>
                  <a:pt x="312018" y="43755"/>
                </a:lnTo>
                <a:cubicBezTo>
                  <a:pt x="279053" y="16446"/>
                  <a:pt x="236637" y="0"/>
                  <a:pt x="190500" y="0"/>
                </a:cubicBezTo>
                <a:cubicBezTo>
                  <a:pt x="94506" y="0"/>
                  <a:pt x="15106" y="70991"/>
                  <a:pt x="1935" y="163339"/>
                </a:cubicBezTo>
                <a:cubicBezTo>
                  <a:pt x="74" y="176361"/>
                  <a:pt x="9079" y="188416"/>
                  <a:pt x="22101" y="190277"/>
                </a:cubicBezTo>
                <a:cubicBezTo>
                  <a:pt x="35123" y="192137"/>
                  <a:pt x="47179" y="183059"/>
                  <a:pt x="49039" y="170111"/>
                </a:cubicBezTo>
                <a:cubicBezTo>
                  <a:pt x="58936" y="100831"/>
                  <a:pt x="118542" y="47625"/>
                  <a:pt x="190500" y="47625"/>
                </a:cubicBezTo>
                <a:cubicBezTo>
                  <a:pt x="223540" y="47625"/>
                  <a:pt x="253901" y="58787"/>
                  <a:pt x="278085" y="77614"/>
                </a:cubicBezTo>
                <a:lnTo>
                  <a:pt x="243334" y="112365"/>
                </a:lnTo>
                <a:cubicBezTo>
                  <a:pt x="238199" y="117500"/>
                  <a:pt x="236711" y="125164"/>
                  <a:pt x="239464" y="131862"/>
                </a:cubicBezTo>
                <a:cubicBezTo>
                  <a:pt x="242218" y="138559"/>
                  <a:pt x="248766" y="142875"/>
                  <a:pt x="255984" y="142875"/>
                </a:cubicBezTo>
                <a:lnTo>
                  <a:pt x="357262" y="142875"/>
                </a:lnTo>
                <a:close/>
                <a:moveTo>
                  <a:pt x="379140" y="217661"/>
                </a:moveTo>
                <a:cubicBezTo>
                  <a:pt x="381000" y="204639"/>
                  <a:pt x="371921" y="192584"/>
                  <a:pt x="358973" y="190723"/>
                </a:cubicBezTo>
                <a:cubicBezTo>
                  <a:pt x="346025" y="188863"/>
                  <a:pt x="333896" y="197941"/>
                  <a:pt x="332036" y="210889"/>
                </a:cubicBezTo>
                <a:cubicBezTo>
                  <a:pt x="322138" y="280095"/>
                  <a:pt x="262533" y="333301"/>
                  <a:pt x="190574" y="333301"/>
                </a:cubicBezTo>
                <a:cubicBezTo>
                  <a:pt x="157535" y="333301"/>
                  <a:pt x="127174" y="322138"/>
                  <a:pt x="102989" y="303312"/>
                </a:cubicBezTo>
                <a:lnTo>
                  <a:pt x="137666" y="268635"/>
                </a:lnTo>
                <a:cubicBezTo>
                  <a:pt x="142801" y="263500"/>
                  <a:pt x="144289" y="255836"/>
                  <a:pt x="141536" y="249138"/>
                </a:cubicBezTo>
                <a:cubicBezTo>
                  <a:pt x="138782" y="242441"/>
                  <a:pt x="132234" y="238125"/>
                  <a:pt x="125016" y="238125"/>
                </a:cubicBezTo>
                <a:lnTo>
                  <a:pt x="17859" y="238125"/>
                </a:lnTo>
                <a:cubicBezTo>
                  <a:pt x="7962" y="238125"/>
                  <a:pt x="0" y="246087"/>
                  <a:pt x="0" y="255984"/>
                </a:cubicBezTo>
                <a:lnTo>
                  <a:pt x="0" y="363141"/>
                </a:lnTo>
                <a:cubicBezTo>
                  <a:pt x="0" y="370359"/>
                  <a:pt x="4316" y="376907"/>
                  <a:pt x="11013" y="379661"/>
                </a:cubicBezTo>
                <a:cubicBezTo>
                  <a:pt x="17711" y="382414"/>
                  <a:pt x="25375" y="380851"/>
                  <a:pt x="30510" y="375791"/>
                </a:cubicBezTo>
                <a:lnTo>
                  <a:pt x="69056" y="337245"/>
                </a:lnTo>
                <a:cubicBezTo>
                  <a:pt x="101947" y="364554"/>
                  <a:pt x="144363" y="381000"/>
                  <a:pt x="190500" y="381000"/>
                </a:cubicBezTo>
                <a:cubicBezTo>
                  <a:pt x="286494" y="381000"/>
                  <a:pt x="365894" y="310009"/>
                  <a:pt x="379065" y="217661"/>
                </a:cubicBezTo>
                <a:close/>
              </a:path>
            </a:pathLst>
          </a:custGeom>
          <a:solidFill>
            <a:srgbClr val="E89F5B"/>
          </a:solidFill>
          <a:ln/>
        </p:spPr>
      </p:sp>
      <p:sp>
        <p:nvSpPr>
          <p:cNvPr id="19" name="Text 16"/>
          <p:cNvSpPr/>
          <p:nvPr/>
        </p:nvSpPr>
        <p:spPr>
          <a:xfrm>
            <a:off x="9854208" y="6496050"/>
            <a:ext cx="21844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fr-FR" sz="1600" b="1" smtClean="0">
                <a:solidFill>
                  <a:srgbClr val="E8E8E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Cycle Automatique</a:t>
            </a:r>
            <a:endParaRPr lang="fr-FR" sz="1600" dirty="0"/>
          </a:p>
        </p:txBody>
      </p:sp>
      <p:sp>
        <p:nvSpPr>
          <p:cNvPr id="20" name="Text 17"/>
          <p:cNvSpPr/>
          <p:nvPr/>
        </p:nvSpPr>
        <p:spPr>
          <a:xfrm>
            <a:off x="9860558" y="6800850"/>
            <a:ext cx="21717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fr-FR" sz="1400" smtClean="0">
                <a:solidFill>
                  <a:srgbClr val="7D8A9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11 étapes définies</a:t>
            </a:r>
            <a:endParaRPr lang="fr-FR" sz="1600" dirty="0"/>
          </a:p>
        </p:txBody>
      </p:sp>
      <p:sp>
        <p:nvSpPr>
          <p:cNvPr id="21" name="Shape 18"/>
          <p:cNvSpPr/>
          <p:nvPr/>
        </p:nvSpPr>
        <p:spPr>
          <a:xfrm>
            <a:off x="6323409" y="7683500"/>
            <a:ext cx="3606800" cy="12700"/>
          </a:xfrm>
          <a:custGeom>
            <a:avLst/>
            <a:gdLst/>
            <a:ahLst/>
            <a:cxnLst/>
            <a:rect l="l" t="t" r="r" b="b"/>
            <a:pathLst>
              <a:path w="3606800" h="12700">
                <a:moveTo>
                  <a:pt x="0" y="0"/>
                </a:moveTo>
                <a:lnTo>
                  <a:pt x="3606800" y="0"/>
                </a:lnTo>
                <a:lnTo>
                  <a:pt x="3606800" y="12700"/>
                </a:lnTo>
                <a:lnTo>
                  <a:pt x="0" y="12700"/>
                </a:lnTo>
                <a:lnTo>
                  <a:pt x="0" y="0"/>
                </a:lnTo>
                <a:close/>
              </a:path>
            </a:pathLst>
          </a:custGeom>
          <a:solidFill>
            <a:srgbClr val="4A6C8C">
              <a:alpha val="30196"/>
            </a:srgbClr>
          </a:solidFill>
          <a:ln/>
        </p:spPr>
      </p:sp>
      <p:sp>
        <p:nvSpPr>
          <p:cNvPr id="22" name="Text 19"/>
          <p:cNvSpPr/>
          <p:nvPr/>
        </p:nvSpPr>
        <p:spPr>
          <a:xfrm>
            <a:off x="6259909" y="7994650"/>
            <a:ext cx="37338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fr-FR" sz="2000" b="1" smtClean="0">
                <a:solidFill>
                  <a:srgbClr val="E8E8E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Merci pour votre attention</a:t>
            </a:r>
            <a:endParaRPr lang="fr-FR" sz="1600" dirty="0"/>
          </a:p>
        </p:txBody>
      </p:sp>
      <p:sp>
        <p:nvSpPr>
          <p:cNvPr id="23" name="Text 20"/>
          <p:cNvSpPr/>
          <p:nvPr/>
        </p:nvSpPr>
        <p:spPr>
          <a:xfrm>
            <a:off x="6272609" y="8451850"/>
            <a:ext cx="37084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fr-FR" sz="1600" smtClean="0">
                <a:solidFill>
                  <a:srgbClr val="7D8A9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Hamza Moussa | Stage ONE-TOO | 2026</a:t>
            </a:r>
            <a:endParaRPr lang="fr-FR" sz="1600" dirty="0"/>
          </a:p>
        </p:txBody>
      </p:sp>
      <p:sp>
        <p:nvSpPr>
          <p:cNvPr id="24" name="NumPage"/>
          <p:cNvSpPr txBox="1"/>
          <p:nvPr/>
        </p:nvSpPr>
        <p:spPr>
          <a:xfrm>
            <a:off x="15240000" y="8636000"/>
            <a:ext cx="889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fr-FR" sz="1400" smtClean="0">
                <a:solidFill>
                  <a:srgbClr val="E89F5B"/>
                </a:solidFill>
              </a:rPr>
              <a:t>17</a:t>
            </a:r>
            <a:endParaRPr lang="fr-FR" sz="1400" dirty="0">
              <a:solidFill>
                <a:srgbClr val="E89F5B"/>
              </a:solidFill>
            </a:endParaRP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Custom Theme">
  <a:themeElements>
    <a:clrScheme name="Custom">
      <a:dk1>
        <a:srgbClr val="000000"/>
      </a:dk1>
      <a:lt1>
        <a:srgbClr val="FFFFFF"/>
      </a:lt1>
      <a:dk2>
        <a:srgbClr val="333333"/>
      </a:dk2>
      <a:lt2>
        <a:srgbClr val="EEEEEE"/>
      </a:lt2>
      <a:accent1>
        <a:srgbClr val="8DAAC2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16068</TotalTime>
  <Words>1383</Words>
  <Application>Microsoft Office PowerPoint</Application>
  <PresentationFormat>Personnalisé</PresentationFormat>
  <Paragraphs>439</Paragraphs>
  <Slides>17</Slides>
  <Notes>17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17</vt:i4>
      </vt:variant>
    </vt:vector>
  </HeadingPairs>
  <TitlesOfParts>
    <vt:vector size="22" baseType="lpstr">
      <vt:lpstr>Arial</vt:lpstr>
      <vt:lpstr>Liter</vt:lpstr>
      <vt:lpstr>Calibri</vt:lpstr>
      <vt:lpstr>Hedvig Letters Sans</vt:lpstr>
      <vt:lpstr>Custom Theme</vt:lpstr>
      <vt:lpstr>Diapositive 1</vt:lpstr>
      <vt:lpstr>Diapositive 2</vt:lpstr>
      <vt:lpstr>Diapositive 3</vt:lpstr>
      <vt:lpstr>Diapositive 4</vt:lpstr>
      <vt:lpstr>Diapositive 5</vt:lpstr>
      <vt:lpstr>Diapositive 6</vt:lpstr>
      <vt:lpstr>Diapositive 7</vt:lpstr>
      <vt:lpstr>Diapositive 8</vt:lpstr>
      <vt:lpstr>Diapositive 9</vt:lpstr>
      <vt:lpstr>Diapositive 10</vt:lpstr>
      <vt:lpstr>Diapositive 11</vt:lpstr>
      <vt:lpstr>Diapositive 12</vt:lpstr>
      <vt:lpstr>Diapositive 13</vt:lpstr>
      <vt:lpstr>Diapositive 14</vt:lpstr>
      <vt:lpstr>Diapositive 15</vt:lpstr>
      <vt:lpstr>Diapositive 16</vt:lpstr>
      <vt:lpstr>Diapositive 17</vt:lpstr>
    </vt:vector>
  </TitlesOfParts>
  <Company>Moonshot</Company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Soutenance Stage</dc:title>
  <dc:subject>Soutenance Stage - Banc de Calibration Automatisé</dc:subject>
  <dc:creator>sspoto</dc:creator>
  <cp:lastModifiedBy>onetoo</cp:lastModifiedBy>
  <cp:revision>1348</cp:revision>
  <dcterms:created xsi:type="dcterms:W3CDTF">2026-04-16T12:52:59Z</dcterms:created>
  <dcterms:modified xsi:type="dcterms:W3CDTF">2026-04-29T13:50:18Z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{"Label":"Soutenance Stage - Banc de Calibration Automatisé","ContentProducer":"001191110108MACG2KBH8F10000","ProduceID":"","ReservedCode1":"","ContentPropagator":"001191110108MACG2KBH8F20000","PropagateID":"","ReservedCode2":""}</vt:lpwstr>
  </property>
</Properties>
</file>