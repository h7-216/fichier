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71" r:id="rId5"/>
    <p:sldId id="269" r:id="rId6"/>
    <p:sldId id="259" r:id="rId7"/>
    <p:sldId id="260" r:id="rId8"/>
    <p:sldId id="261" r:id="rId9"/>
    <p:sldId id="262" r:id="rId10"/>
    <p:sldId id="263" r:id="rId11"/>
    <p:sldId id="273" r:id="rId12"/>
    <p:sldId id="264" r:id="rId13"/>
    <p:sldId id="265" r:id="rId14"/>
    <p:sldId id="268" r:id="rId15"/>
    <p:sldId id="272" r:id="rId16"/>
    <p:sldId id="266" r:id="rId17"/>
    <p:sldId id="267" r:id="rId18"/>
  </p:sldIdLst>
  <p:sldSz cx="16256000" cy="9144000"/>
  <p:notesSz cx="9144000" cy="16256000"/>
  <p:embeddedFontLst>
    <p:embeddedFont>
      <p:font typeface="Liter" charset="0"/>
      <p:regular r:id="rId21"/>
    </p:embeddedFon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Hedvig Letters Sans" charset="0"/>
      <p:regular r:id="rId2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D21"/>
    <a:srgbClr val="E89F5B"/>
    <a:srgbClr val="FF9719"/>
    <a:srgbClr val="FFB65D"/>
    <a:srgbClr val="667C8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-240" y="-300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FDF98-1617-4013-9648-AB97B3F455F4}" type="datetimeFigureOut">
              <a:rPr lang="fr-FR" smtClean="0"/>
              <a:pPr/>
              <a:t>24/04/2026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15440025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180013" y="15440025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FF84A-ED44-4A04-82BA-C0CE1C898716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s://www.transtechnik.fr/product/mini-verins-electriques-mce/" TargetMode="External"/><Relationship Id="rId7" Type="http://schemas.openxmlformats.org/officeDocument/2006/relationships/hyperlink" Target="https://www.nord.com/fr/catalogues-produits/motoreducteurs/reducteurs-a-couple-conique/motoreducteur-a-couple-conique-monobloc.jsp?utm_source=copilot.com" TargetMode="Externa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hyperlink" Target="https://www.fs.com/fr/products/69078.html?country=FR&amp;currency=EUR&amp;languages=Fran%C3%A7ais&amp;paid=google_shopping&amp;gad_source=1&amp;gad_campaignid=17956897400&amp;gbraid=0AAAAAoz-wfRjJyiFy-9pHw1CFXde09MDZ&amp;gclid=EAIaIQobChMI-uaWo4r8kwMVKpSDBx16lCd7EAQYASABEgLn7vD_BwE" TargetMode="External"/><Relationship Id="rId5" Type="http://schemas.openxmlformats.org/officeDocument/2006/relationships/hyperlink" Target="https://www.directindustry.fr/prod/oriental-motor/product-15581-2450328.html" TargetMode="Externa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hyperlink" Target="https://www.jc-electronics.com/fr/6es7314-6bf01-0ab0?gad_source=1&amp;gad_campaignid=20983987831&amp;gbraid=0AAAAAC1d6sYD9egUrFmjcEC1t_B6LAMnD&amp;gclid=EAIaIQobChMI_6KR1oj8kwMV-WtBAh0f0SHgEAQYBiABEgLpyPD_Bw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png"/><Relationship Id="rId3" Type="http://schemas.openxmlformats.org/officeDocument/2006/relationships/hyperlink" Target="https://fr.rs-online.com/web/p/boites-a-boutons-vides/0546648?cm_mmc=FR-PLA-DS3A-_-google-_-CSS_FR_FR_PMAX_WD_CHAMPION-_--_-546648&amp;matchtype=&amp;&amp;gclsrc=aw.ds&amp;gad_source=1&amp;gad_campaignid=22719610980&amp;gbraid=0AAAAADkeWNNbWtvIWbT0O6HRrKyzLL7sD&amp;gclid=EAIaIQobChMI" TargetMode="External"/><Relationship Id="rId7" Type="http://schemas.openxmlformats.org/officeDocument/2006/relationships/hyperlink" Target="https://fr.rs-online.com/web/p/capteurs-photoelectriques/6956808?cm_mmc=FR-PLA-DS3A-_-google-_-CSS_FR_FR_PMAX_WD_CHALLENGER-_--_-6956808&amp;matchtype=&amp;&amp;gclsrc=aw.ds&amp;gad_source=1&amp;gad_campaignid=22729363849&amp;gbraid=0AAAAADkeWNOIpF0cohJebIq_W3QGd_dW9&amp;gclid=EAIaIQ" TargetMode="External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hyperlink" Target="https://www.conrad.fr/fr/p/colonne-de-signalisation-tru-components-tc-9539296-led-rouge-jaune-vert-1-pc-s-2384824.html?experience=b2c&amp;qwer=EAIaIQobChMI9puglLeDlAMV6ch5BB13_R-uEAQYAyABEgKAFvD_BwE&amp;utm_source=google&amp;utm_medium=cpc&amp;utm_campaign=SH%20-%20FR%20-" TargetMode="External"/><Relationship Id="rId5" Type="http://schemas.openxmlformats.org/officeDocument/2006/relationships/hyperlink" Target="https://www.directindustry.fr/prod/repar2/product-20824-831867.html" TargetMode="External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hyperlink" Target="https://www.verinelectrique.fr/products/capteur-ou-interrupteur-de-fin-de-course-a-poussoir-a-galet-modele-001001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puremachinedesign.com/e9dce031486b37bc27083b36020575b7905ce6e6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36" r="3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4350" y="2241550"/>
            <a:ext cx="3251200" cy="520700"/>
          </a:xfrm>
          <a:custGeom>
            <a:avLst/>
            <a:gdLst/>
            <a:ahLst/>
            <a:cxnLst/>
            <a:rect l="l" t="t" r="r" b="b"/>
            <a:pathLst>
              <a:path w="3251200" h="520700">
                <a:moveTo>
                  <a:pt x="50799" y="0"/>
                </a:moveTo>
                <a:lnTo>
                  <a:pt x="3200401" y="0"/>
                </a:lnTo>
                <a:cubicBezTo>
                  <a:pt x="3228456" y="0"/>
                  <a:pt x="3251200" y="22744"/>
                  <a:pt x="3251200" y="50799"/>
                </a:cubicBezTo>
                <a:lnTo>
                  <a:pt x="3251200" y="469901"/>
                </a:lnTo>
                <a:cubicBezTo>
                  <a:pt x="3251200" y="497956"/>
                  <a:pt x="3228456" y="520700"/>
                  <a:pt x="32004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 w="12700">
            <a:solidFill>
              <a:srgbClr val="E89F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3100" y="2349500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kern="0" spc="16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SOUTENANCE DE STAGE</a:t>
            </a:r>
            <a:endParaRPr lang="fr-FR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0734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60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Banc de Calibration</a:t>
            </a:r>
          </a:p>
          <a:p>
            <a:pPr algn="ctr">
              <a:lnSpc>
                <a:spcPct val="100000"/>
              </a:lnSpc>
            </a:pPr>
            <a:r>
              <a:rPr lang="fr-FR" sz="6000" b="1" dirty="0" smtClean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Automatisé</a:t>
            </a:r>
            <a:endParaRPr lang="fr-FR" sz="6000" b="1" dirty="0">
              <a:solidFill>
                <a:srgbClr val="4A6C8C"/>
              </a:solidFill>
              <a:latin typeface="Hedvig Letters Sans" pitchFamily="34" charset="0"/>
              <a:ea typeface="Hedvig Letters Sans" pitchFamily="34" charset="-122"/>
              <a:cs typeface="Hedvig Letters Sans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8000" y="5181600"/>
            <a:ext cx="15392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2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 Dynamométriques Mt Alpha V1+</a:t>
            </a:r>
            <a:endParaRPr lang="fr-FR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761365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08000" y="7924800"/>
            <a:ext cx="207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Moussa Hamza</a:t>
            </a:r>
            <a:endParaRPr lang="fr-FR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83312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chez ONE-TOO</a:t>
            </a:r>
            <a:endParaRPr lang="fr-FR" sz="1600" dirty="0"/>
          </a:p>
        </p:txBody>
      </p:sp>
      <p:sp>
        <p:nvSpPr>
          <p:cNvPr id="11" name="Text 8"/>
          <p:cNvSpPr/>
          <p:nvPr/>
        </p:nvSpPr>
        <p:spPr>
          <a:xfrm>
            <a:off x="11661570" y="7975600"/>
            <a:ext cx="40858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Génie électrique et Informatique Industrielle</a:t>
            </a:r>
            <a:endParaRPr lang="fr-FR" sz="1600" dirty="0"/>
          </a:p>
        </p:txBody>
      </p:sp>
      <p:sp>
        <p:nvSpPr>
          <p:cNvPr id="12" name="Text 9"/>
          <p:cNvSpPr/>
          <p:nvPr/>
        </p:nvSpPr>
        <p:spPr>
          <a:xfrm>
            <a:off x="12407305" y="8280400"/>
            <a:ext cx="334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fr-FR" sz="16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fr-FR" sz="1600" dirty="0"/>
          </a:p>
        </p:txBody>
      </p:sp>
      <p:pic>
        <p:nvPicPr>
          <p:cNvPr id="18" name="Image 17" descr="ONE TOO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8911"/>
            <a:ext cx="4100150" cy="1096206"/>
          </a:xfrm>
          <a:prstGeom prst="rect">
            <a:avLst/>
          </a:prstGeom>
        </p:spPr>
      </p:pic>
      <p:pic>
        <p:nvPicPr>
          <p:cNvPr id="20" name="Image 19" descr="IUT 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1971" y="0"/>
            <a:ext cx="2434029" cy="2434029"/>
          </a:xfrm>
          <a:prstGeom prst="rect">
            <a:avLst/>
          </a:prstGeom>
        </p:spPr>
      </p:pic>
      <p:pic>
        <p:nvPicPr>
          <p:cNvPr id="21" name="Image 20" descr="LOGO ONE TOO ALPH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753" y="7816558"/>
            <a:ext cx="4574494" cy="1327442"/>
          </a:xfrm>
          <a:prstGeom prst="rect">
            <a:avLst/>
          </a:prstGeom>
        </p:spPr>
      </p:pic>
      <p:sp>
        <p:nvSpPr>
          <p:cNvPr id="22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fr-FR" sz="48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Plan de la Présentation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79600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9600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330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Text 5"/>
          <p:cNvSpPr/>
          <p:nvPr/>
        </p:nvSpPr>
        <p:spPr>
          <a:xfrm>
            <a:off x="749300" y="2633067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fr-FR" sz="1600" dirty="0"/>
          </a:p>
        </p:txBody>
      </p:sp>
      <p:sp>
        <p:nvSpPr>
          <p:cNvPr id="8" name="Text 6">
            <a:hlinkClick r:id="" action="ppaction://hlinkshowjump?jump=nextslide"/>
          </p:cNvPr>
          <p:cNvSpPr/>
          <p:nvPr/>
        </p:nvSpPr>
        <p:spPr>
          <a:xfrm>
            <a:off x="1625600" y="2582267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Contexte</a:t>
            </a:r>
            <a:endParaRPr lang="fr-FR" sz="1600" dirty="0"/>
          </a:p>
        </p:txBody>
      </p:sp>
      <p:sp>
        <p:nvSpPr>
          <p:cNvPr id="9" name="Text 7"/>
          <p:cNvSpPr/>
          <p:nvPr/>
        </p:nvSpPr>
        <p:spPr>
          <a:xfrm>
            <a:off x="1625600" y="2988667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Présentation ONE-TOO et projet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8356600" y="1879600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56600" y="1879600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6000" y="26330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2633067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fr-FR" sz="1600" dirty="0"/>
          </a:p>
        </p:txBody>
      </p:sp>
      <p:sp>
        <p:nvSpPr>
          <p:cNvPr id="14" name="Text 12">
            <a:hlinkClick r:id="rId3" action="ppaction://hlinksldjump"/>
          </p:cNvPr>
          <p:cNvSpPr/>
          <p:nvPr/>
        </p:nvSpPr>
        <p:spPr>
          <a:xfrm>
            <a:off x="9448800" y="2582267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Problématique &amp; Objectifs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9448799" y="2988667"/>
            <a:ext cx="37565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Actuel vs Futur Banc automatisé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199334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4199334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" y="495280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300" y="4952802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fr-FR" sz="1600" dirty="0"/>
          </a:p>
        </p:txBody>
      </p:sp>
      <p:sp>
        <p:nvSpPr>
          <p:cNvPr id="20" name="Text 18">
            <a:hlinkClick r:id="rId4" action="ppaction://hlinksldjump"/>
          </p:cNvPr>
          <p:cNvSpPr/>
          <p:nvPr/>
        </p:nvSpPr>
        <p:spPr>
          <a:xfrm>
            <a:off x="1625600" y="4902002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du Système</a:t>
            </a:r>
            <a:endParaRPr lang="fr-FR" sz="1600" dirty="0"/>
          </a:p>
        </p:txBody>
      </p:sp>
      <p:sp>
        <p:nvSpPr>
          <p:cNvPr id="21" name="Text 19"/>
          <p:cNvSpPr/>
          <p:nvPr/>
        </p:nvSpPr>
        <p:spPr>
          <a:xfrm>
            <a:off x="1625600" y="5308402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Matériel et logicielle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8356600" y="4199334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56600" y="4199334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6000" y="495280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4952802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fr-FR" sz="1600" dirty="0"/>
          </a:p>
        </p:txBody>
      </p:sp>
      <p:sp>
        <p:nvSpPr>
          <p:cNvPr id="26" name="Text 24">
            <a:hlinkClick r:id="rId5" action="ppaction://hlinksldjump"/>
          </p:cNvPr>
          <p:cNvSpPr/>
          <p:nvPr/>
        </p:nvSpPr>
        <p:spPr>
          <a:xfrm>
            <a:off x="9448800" y="4902002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Sous-systèmes Clés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5308402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Mécanique, motorisation, mesure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6519069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" y="6519069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800" y="72725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749300" y="727253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fr-FR" sz="1600" dirty="0"/>
          </a:p>
        </p:txBody>
      </p:sp>
      <p:sp>
        <p:nvSpPr>
          <p:cNvPr id="32" name="Text 30">
            <a:hlinkClick r:id="rId6" action="ppaction://hlinksldjump"/>
          </p:cNvPr>
          <p:cNvSpPr/>
          <p:nvPr/>
        </p:nvSpPr>
        <p:spPr>
          <a:xfrm>
            <a:off x="1625600" y="7221736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&amp; Cycle</a:t>
            </a:r>
            <a:endParaRPr lang="fr-FR" sz="1600" dirty="0"/>
          </a:p>
        </p:txBody>
      </p:sp>
      <p:sp>
        <p:nvSpPr>
          <p:cNvPr id="33" name="Text 31"/>
          <p:cNvSpPr/>
          <p:nvPr/>
        </p:nvSpPr>
        <p:spPr>
          <a:xfrm>
            <a:off x="1625600" y="7628136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et fonctionnement</a:t>
            </a:r>
            <a:endParaRPr lang="fr-FR" sz="1600" dirty="0"/>
          </a:p>
        </p:txBody>
      </p:sp>
      <p:sp>
        <p:nvSpPr>
          <p:cNvPr id="34" name="Shape 32"/>
          <p:cNvSpPr/>
          <p:nvPr/>
        </p:nvSpPr>
        <p:spPr>
          <a:xfrm>
            <a:off x="8356600" y="6519069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56600" y="6519069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6" name="Shape 34"/>
          <p:cNvSpPr/>
          <p:nvPr/>
        </p:nvSpPr>
        <p:spPr>
          <a:xfrm>
            <a:off x="8636000" y="72725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7" name="Text 35"/>
          <p:cNvSpPr/>
          <p:nvPr/>
        </p:nvSpPr>
        <p:spPr>
          <a:xfrm>
            <a:off x="8572500" y="727253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fr-FR" sz="1600" dirty="0"/>
          </a:p>
        </p:txBody>
      </p:sp>
      <p:sp>
        <p:nvSpPr>
          <p:cNvPr id="38" name="Text 36">
            <a:hlinkClick r:id="rId7" action="ppaction://hlinksldjump"/>
          </p:cNvPr>
          <p:cNvSpPr/>
          <p:nvPr/>
        </p:nvSpPr>
        <p:spPr>
          <a:xfrm>
            <a:off x="9448800" y="7221736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&amp; Conclusion</a:t>
            </a:r>
            <a:endParaRPr lang="fr-FR" sz="1600" dirty="0"/>
          </a:p>
        </p:txBody>
      </p:sp>
      <p:sp>
        <p:nvSpPr>
          <p:cNvPr id="39" name="Text 37"/>
          <p:cNvSpPr/>
          <p:nvPr/>
        </p:nvSpPr>
        <p:spPr>
          <a:xfrm>
            <a:off x="9448800" y="7628136"/>
            <a:ext cx="276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et perspectives</a:t>
            </a:r>
            <a:endParaRPr lang="fr-FR" sz="1600" dirty="0"/>
          </a:p>
        </p:txBody>
      </p:sp>
      <p:sp>
        <p:nvSpPr>
          <p:cNvPr id="40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2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682750"/>
            <a:ext cx="8204200" cy="1866900"/>
          </a:xfrm>
          <a:custGeom>
            <a:avLst/>
            <a:gdLst/>
            <a:ahLst/>
            <a:cxnLst/>
            <a:rect l="l" t="t" r="r" b="b"/>
            <a:pathLst>
              <a:path w="8204200" h="1866900">
                <a:moveTo>
                  <a:pt x="101597" y="0"/>
                </a:moveTo>
                <a:lnTo>
                  <a:pt x="8102603" y="0"/>
                </a:lnTo>
                <a:cubicBezTo>
                  <a:pt x="8158714" y="0"/>
                  <a:pt x="8204200" y="45486"/>
                  <a:pt x="8204200" y="101597"/>
                </a:cubicBezTo>
                <a:lnTo>
                  <a:pt x="8204200" y="1765303"/>
                </a:lnTo>
                <a:cubicBezTo>
                  <a:pt x="8204200" y="1821414"/>
                  <a:pt x="8158714" y="1866900"/>
                  <a:pt x="8102603" y="1866900"/>
                </a:cubicBezTo>
                <a:lnTo>
                  <a:pt x="101597" y="1866900"/>
                </a:lnTo>
                <a:cubicBezTo>
                  <a:pt x="45486" y="1866900"/>
                  <a:pt x="0" y="1821414"/>
                  <a:pt x="0" y="1765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8100" y="19431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L'Entreprise</a:t>
            </a:r>
            <a:endParaRPr lang="fr-FR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451100"/>
            <a:ext cx="778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Société industrielle implantée à </a:t>
            </a:r>
            <a:r>
              <a:rPr lang="fr-FR" sz="1600" dirty="0" smtClean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Carros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crée en </a:t>
            </a:r>
            <a:r>
              <a:rPr lang="fr-FR" sz="1600" dirty="0" smtClean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1971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4700" y="2933700"/>
            <a:ext cx="1358900" cy="355600"/>
          </a:xfrm>
          <a:custGeom>
            <a:avLst/>
            <a:gdLst/>
            <a:ahLst/>
            <a:cxnLst/>
            <a:rect l="l" t="t" r="r" b="b"/>
            <a:pathLst>
              <a:path w="1358900" h="355600">
                <a:moveTo>
                  <a:pt x="177800" y="0"/>
                </a:moveTo>
                <a:lnTo>
                  <a:pt x="1181100" y="0"/>
                </a:lnTo>
                <a:cubicBezTo>
                  <a:pt x="1279230" y="0"/>
                  <a:pt x="1358900" y="79670"/>
                  <a:pt x="1358900" y="177800"/>
                </a:cubicBezTo>
                <a:lnTo>
                  <a:pt x="1358900" y="177800"/>
                </a:lnTo>
                <a:cubicBezTo>
                  <a:pt x="1358900" y="275930"/>
                  <a:pt x="1279230" y="355600"/>
                  <a:pt x="1181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4700" y="2933700"/>
            <a:ext cx="1447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Automatisme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2234803" y="2933700"/>
            <a:ext cx="1117600" cy="355600"/>
          </a:xfrm>
          <a:custGeom>
            <a:avLst/>
            <a:gdLst/>
            <a:ahLst/>
            <a:cxnLst/>
            <a:rect l="l" t="t" r="r" b="b"/>
            <a:pathLst>
              <a:path w="1117600" h="355600">
                <a:moveTo>
                  <a:pt x="177800" y="0"/>
                </a:moveTo>
                <a:lnTo>
                  <a:pt x="939800" y="0"/>
                </a:lnTo>
                <a:cubicBezTo>
                  <a:pt x="1037930" y="0"/>
                  <a:pt x="1117600" y="79670"/>
                  <a:pt x="1117600" y="177800"/>
                </a:cubicBezTo>
                <a:lnTo>
                  <a:pt x="1117600" y="177800"/>
                </a:lnTo>
                <a:cubicBezTo>
                  <a:pt x="1117600" y="275930"/>
                  <a:pt x="1037930" y="355600"/>
                  <a:pt x="939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34803" y="2933700"/>
            <a:ext cx="1206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3449042" y="2933700"/>
            <a:ext cx="1155700" cy="355600"/>
          </a:xfrm>
          <a:custGeom>
            <a:avLst/>
            <a:gdLst/>
            <a:ahLst/>
            <a:cxnLst/>
            <a:rect l="l" t="t" r="r" b="b"/>
            <a:pathLst>
              <a:path w="1155700" h="355600">
                <a:moveTo>
                  <a:pt x="177800" y="0"/>
                </a:moveTo>
                <a:lnTo>
                  <a:pt x="977900" y="0"/>
                </a:lnTo>
                <a:cubicBezTo>
                  <a:pt x="1076030" y="0"/>
                  <a:pt x="1155700" y="79670"/>
                  <a:pt x="1155700" y="177800"/>
                </a:cubicBezTo>
                <a:lnTo>
                  <a:pt x="1155700" y="177800"/>
                </a:lnTo>
                <a:cubicBezTo>
                  <a:pt x="1155700" y="275930"/>
                  <a:pt x="1076030" y="355600"/>
                  <a:pt x="9779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49042" y="2933700"/>
            <a:ext cx="12446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Métrologie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502642" y="3765550"/>
            <a:ext cx="8215908" cy="3240892"/>
          </a:xfrm>
          <a:custGeom>
            <a:avLst/>
            <a:gdLst/>
            <a:ahLst/>
            <a:cxnLst/>
            <a:rect l="l" t="t" r="r" b="b"/>
            <a:pathLst>
              <a:path w="8204200" h="1778000">
                <a:moveTo>
                  <a:pt x="101595" y="0"/>
                </a:moveTo>
                <a:lnTo>
                  <a:pt x="8102605" y="0"/>
                </a:lnTo>
                <a:cubicBezTo>
                  <a:pt x="8158714" y="0"/>
                  <a:pt x="8204200" y="45486"/>
                  <a:pt x="8204200" y="101595"/>
                </a:cubicBezTo>
                <a:lnTo>
                  <a:pt x="8204200" y="1676405"/>
                </a:lnTo>
                <a:cubicBezTo>
                  <a:pt x="8204200" y="1732514"/>
                  <a:pt x="8158714" y="1778000"/>
                  <a:pt x="81026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8100" y="40259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Clients</a:t>
            </a:r>
            <a:endParaRPr lang="fr-FR" sz="1600" dirty="0"/>
          </a:p>
        </p:txBody>
      </p:sp>
      <p:sp>
        <p:nvSpPr>
          <p:cNvPr id="17" name="Shape 15"/>
          <p:cNvSpPr/>
          <p:nvPr/>
        </p:nvSpPr>
        <p:spPr>
          <a:xfrm>
            <a:off x="762992" y="4533899"/>
            <a:ext cx="2475508" cy="2021279"/>
          </a:xfrm>
          <a:custGeom>
            <a:avLst/>
            <a:gdLst/>
            <a:ahLst/>
            <a:cxnLst/>
            <a:rect l="l" t="t" r="r" b="b"/>
            <a:pathLst>
              <a:path w="2463800" h="749300">
                <a:moveTo>
                  <a:pt x="50803" y="0"/>
                </a:moveTo>
                <a:lnTo>
                  <a:pt x="2412997" y="0"/>
                </a:lnTo>
                <a:cubicBezTo>
                  <a:pt x="2441055" y="0"/>
                  <a:pt x="2463800" y="22745"/>
                  <a:pt x="2463800" y="50803"/>
                </a:cubicBezTo>
                <a:lnTo>
                  <a:pt x="2463800" y="698497"/>
                </a:lnTo>
                <a:cubicBezTo>
                  <a:pt x="2463800" y="726555"/>
                  <a:pt x="2441055" y="749300"/>
                  <a:pt x="2412997" y="749300"/>
                </a:cubicBezTo>
                <a:lnTo>
                  <a:pt x="50803" y="749300"/>
                </a:lnTo>
                <a:cubicBezTo>
                  <a:pt x="22745" y="749300"/>
                  <a:pt x="0" y="726555"/>
                  <a:pt x="0" y="6984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1805" y="4533900"/>
            <a:ext cx="2497138" cy="2021278"/>
          </a:xfrm>
          <a:custGeom>
            <a:avLst/>
            <a:gdLst/>
            <a:ahLst/>
            <a:cxnLst/>
            <a:rect l="l" t="t" r="r" b="b"/>
            <a:pathLst>
              <a:path w="2463800" h="749300">
                <a:moveTo>
                  <a:pt x="50803" y="0"/>
                </a:moveTo>
                <a:lnTo>
                  <a:pt x="2412997" y="0"/>
                </a:lnTo>
                <a:cubicBezTo>
                  <a:pt x="2441055" y="0"/>
                  <a:pt x="2463800" y="22745"/>
                  <a:pt x="2463800" y="50803"/>
                </a:cubicBezTo>
                <a:lnTo>
                  <a:pt x="2463800" y="698497"/>
                </a:lnTo>
                <a:cubicBezTo>
                  <a:pt x="2463800" y="726555"/>
                  <a:pt x="2441055" y="749300"/>
                  <a:pt x="2412997" y="749300"/>
                </a:cubicBezTo>
                <a:lnTo>
                  <a:pt x="50803" y="749300"/>
                </a:lnTo>
                <a:cubicBezTo>
                  <a:pt x="22745" y="749300"/>
                  <a:pt x="0" y="726555"/>
                  <a:pt x="0" y="6984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642" y="7188200"/>
            <a:ext cx="8204200" cy="1689100"/>
          </a:xfrm>
          <a:custGeom>
            <a:avLst/>
            <a:gdLst/>
            <a:ahLst/>
            <a:cxnLst/>
            <a:rect l="l" t="t" r="r" b="b"/>
            <a:pathLst>
              <a:path w="8204200" h="1689100">
                <a:moveTo>
                  <a:pt x="101599" y="0"/>
                </a:moveTo>
                <a:lnTo>
                  <a:pt x="8102601" y="0"/>
                </a:lnTo>
                <a:cubicBezTo>
                  <a:pt x="8158712" y="0"/>
                  <a:pt x="8204200" y="45488"/>
                  <a:pt x="8204200" y="101599"/>
                </a:cubicBezTo>
                <a:lnTo>
                  <a:pt x="8204200" y="1587501"/>
                </a:lnTo>
                <a:cubicBezTo>
                  <a:pt x="8204200" y="1643612"/>
                  <a:pt x="8158712" y="1689100"/>
                  <a:pt x="8102601" y="1689100"/>
                </a:cubicBezTo>
                <a:lnTo>
                  <a:pt x="101599" y="1689100"/>
                </a:lnTo>
                <a:cubicBezTo>
                  <a:pt x="45488" y="1689100"/>
                  <a:pt x="0" y="1643612"/>
                  <a:pt x="0" y="15875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6392" y="7448550"/>
            <a:ext cx="115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Projet</a:t>
            </a:r>
            <a:endParaRPr lang="fr-FR" sz="1600" dirty="0"/>
          </a:p>
        </p:txBody>
      </p:sp>
      <p:sp>
        <p:nvSpPr>
          <p:cNvPr id="29" name="Text 27"/>
          <p:cNvSpPr/>
          <p:nvPr/>
        </p:nvSpPr>
        <p:spPr>
          <a:xfrm>
            <a:off x="762992" y="7956550"/>
            <a:ext cx="7785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d'un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de calibration automatisé </a:t>
            </a: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 clés dynamométriques Mt Alpha V1+, conforme à la norme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fr-FR" sz="1600" b="1" dirty="0">
              <a:solidFill>
                <a:srgbClr val="E89F5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017566" y="1714499"/>
            <a:ext cx="6713955" cy="4032526"/>
          </a:xfrm>
          <a:custGeom>
            <a:avLst/>
            <a:gdLst/>
            <a:ahLst/>
            <a:cxnLst/>
            <a:rect l="l" t="t" r="r" b="b"/>
            <a:pathLst>
              <a:path w="6705600" h="6705600">
                <a:moveTo>
                  <a:pt x="101590" y="0"/>
                </a:moveTo>
                <a:lnTo>
                  <a:pt x="6604010" y="0"/>
                </a:lnTo>
                <a:cubicBezTo>
                  <a:pt x="6660117" y="0"/>
                  <a:pt x="6705600" y="45483"/>
                  <a:pt x="6705600" y="101590"/>
                </a:cubicBezTo>
                <a:lnTo>
                  <a:pt x="6705600" y="6604010"/>
                </a:lnTo>
                <a:cubicBezTo>
                  <a:pt x="6705600" y="6660117"/>
                  <a:pt x="6660117" y="6705600"/>
                  <a:pt x="6604010" y="6705600"/>
                </a:cubicBezTo>
                <a:lnTo>
                  <a:pt x="101590" y="6705600"/>
                </a:lnTo>
                <a:cubicBezTo>
                  <a:pt x="45483" y="6705600"/>
                  <a:pt x="0" y="6660117"/>
                  <a:pt x="0" y="66040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pic>
        <p:nvPicPr>
          <p:cNvPr id="31" name="Image 0" descr="https://kimi-web-img.moonshot.cn/img/ex31automation.com/df72385270fe41f87d056e3cc578db39440ba8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566" y="1714499"/>
            <a:ext cx="6727853" cy="4044951"/>
          </a:xfrm>
          <a:prstGeom prst="roundRect">
            <a:avLst>
              <a:gd name="adj" fmla="val 1518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9017566" y="6146800"/>
            <a:ext cx="6705600" cy="1219200"/>
          </a:xfrm>
          <a:custGeom>
            <a:avLst/>
            <a:gdLst/>
            <a:ahLst/>
            <a:cxnLst/>
            <a:rect l="l" t="t" r="r" b="b"/>
            <a:pathLst>
              <a:path w="6705600" h="1219200">
                <a:moveTo>
                  <a:pt x="101596" y="0"/>
                </a:moveTo>
                <a:lnTo>
                  <a:pt x="6604004" y="0"/>
                </a:lnTo>
                <a:cubicBezTo>
                  <a:pt x="6660114" y="0"/>
                  <a:pt x="6705600" y="45486"/>
                  <a:pt x="6705600" y="101596"/>
                </a:cubicBezTo>
                <a:lnTo>
                  <a:pt x="6705600" y="1117604"/>
                </a:lnTo>
                <a:cubicBezTo>
                  <a:pt x="6705600" y="1173714"/>
                  <a:pt x="6660114" y="1219200"/>
                  <a:pt x="6604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27116" y="6400800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Équipe</a:t>
            </a:r>
            <a:endParaRPr lang="fr-FR" sz="1600" dirty="0"/>
          </a:p>
        </p:txBody>
      </p:sp>
      <p:sp>
        <p:nvSpPr>
          <p:cNvPr id="34" name="Text 31"/>
          <p:cNvSpPr/>
          <p:nvPr/>
        </p:nvSpPr>
        <p:spPr>
          <a:xfrm>
            <a:off x="15032009" y="6356350"/>
            <a:ext cx="63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</a:t>
            </a:r>
            <a:endParaRPr lang="fr-FR" sz="1600" dirty="0"/>
          </a:p>
        </p:txBody>
      </p:sp>
      <p:sp>
        <p:nvSpPr>
          <p:cNvPr id="35" name="Text 32"/>
          <p:cNvSpPr/>
          <p:nvPr/>
        </p:nvSpPr>
        <p:spPr>
          <a:xfrm>
            <a:off x="9227116" y="685165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Localisation</a:t>
            </a:r>
            <a:endParaRPr lang="fr-FR" sz="1600" dirty="0"/>
          </a:p>
        </p:txBody>
      </p:sp>
      <p:sp>
        <p:nvSpPr>
          <p:cNvPr id="36" name="Text 33"/>
          <p:cNvSpPr/>
          <p:nvPr/>
        </p:nvSpPr>
        <p:spPr>
          <a:xfrm>
            <a:off x="14409113" y="685165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Carros (06)</a:t>
            </a:r>
            <a:endParaRPr lang="fr-FR" sz="1600" dirty="0"/>
          </a:p>
        </p:txBody>
      </p:sp>
      <p:pic>
        <p:nvPicPr>
          <p:cNvPr id="41" name="Image 40" descr="picto-entrepri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48" y="1738249"/>
            <a:ext cx="736927" cy="736927"/>
          </a:xfrm>
          <a:prstGeom prst="rect">
            <a:avLst/>
          </a:prstGeom>
        </p:spPr>
      </p:pic>
      <p:pic>
        <p:nvPicPr>
          <p:cNvPr id="42" name="Image 41" descr="certific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29" y="3923971"/>
            <a:ext cx="609929" cy="609929"/>
          </a:xfrm>
          <a:prstGeom prst="rect">
            <a:avLst/>
          </a:prstGeom>
        </p:spPr>
      </p:pic>
      <p:pic>
        <p:nvPicPr>
          <p:cNvPr id="43" name="Image 42" descr="picto proj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73" y="7220883"/>
            <a:ext cx="713343" cy="711917"/>
          </a:xfrm>
          <a:prstGeom prst="rect">
            <a:avLst/>
          </a:prstGeom>
        </p:spPr>
      </p:pic>
      <p:sp>
        <p:nvSpPr>
          <p:cNvPr id="46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3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44" name="Image 43" descr="picto safr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25" y="4452750"/>
            <a:ext cx="3616173" cy="2410782"/>
          </a:xfrm>
          <a:prstGeom prst="rect">
            <a:avLst/>
          </a:prstGeom>
        </p:spPr>
      </p:pic>
      <p:pic>
        <p:nvPicPr>
          <p:cNvPr id="48" name="Image 47" descr="picto plus 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1805" y="4345875"/>
            <a:ext cx="2477421" cy="247742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992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5548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sp>
        <p:nvSpPr>
          <p:cNvPr id="48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4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61900" y="929385"/>
            <a:ext cx="13561622" cy="8573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302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6858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pic>
        <p:nvPicPr>
          <p:cNvPr id="37" name="Image 36" descr="CLÉ BT_b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3275">
            <a:off x="4694577" y="528678"/>
            <a:ext cx="5062446" cy="8225941"/>
          </a:xfrm>
          <a:prstGeom prst="rect">
            <a:avLst/>
          </a:prstGeom>
        </p:spPr>
      </p:pic>
      <p:cxnSp>
        <p:nvCxnSpPr>
          <p:cNvPr id="45" name="Connecteur droit 44"/>
          <p:cNvCxnSpPr/>
          <p:nvPr/>
        </p:nvCxnSpPr>
        <p:spPr>
          <a:xfrm rot="10800000">
            <a:off x="9678391" y="1341912"/>
            <a:ext cx="419512" cy="334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rot="10800000">
            <a:off x="7202933" y="1341912"/>
            <a:ext cx="247546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2802688" y="1193798"/>
            <a:ext cx="4400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bg1"/>
                </a:solidFill>
              </a:rPr>
              <a:t>Accessoires interchangeables avec détection </a:t>
            </a:r>
          </a:p>
          <a:p>
            <a:r>
              <a:rPr lang="fr-FR" smtClean="0">
                <a:solidFill>
                  <a:schemeClr val="bg1"/>
                </a:solidFill>
              </a:rPr>
              <a:t>Automatique (rallonges)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4711607" y="1840131"/>
            <a:ext cx="271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bg1"/>
                </a:solidFill>
              </a:rPr>
              <a:t>Affichage led (verte/rouge)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54" name="Connecteur droit 53"/>
          <p:cNvCxnSpPr/>
          <p:nvPr/>
        </p:nvCxnSpPr>
        <p:spPr>
          <a:xfrm rot="10800000">
            <a:off x="8929093" y="2024799"/>
            <a:ext cx="749300" cy="482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>
            <a:endCxn id="53" idx="3"/>
          </p:cNvCxnSpPr>
          <p:nvPr/>
        </p:nvCxnSpPr>
        <p:spPr>
          <a:xfrm rot="10800000">
            <a:off x="7430494" y="2024798"/>
            <a:ext cx="148490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rot="10800000">
            <a:off x="5562600" y="3936999"/>
            <a:ext cx="749300" cy="667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rot="10800000" flipV="1">
            <a:off x="4038600" y="3936999"/>
            <a:ext cx="14986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1091113" y="3726933"/>
            <a:ext cx="2914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bg1"/>
                </a:solidFill>
              </a:rPr>
              <a:t>Vibreur et avertisseur sonore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63" name="Connecteur droit 62"/>
          <p:cNvCxnSpPr/>
          <p:nvPr/>
        </p:nvCxnSpPr>
        <p:spPr>
          <a:xfrm>
            <a:off x="9372600" y="2797042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10388600" y="3540679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/>
          <p:cNvSpPr txBox="1"/>
          <p:nvPr/>
        </p:nvSpPr>
        <p:spPr>
          <a:xfrm>
            <a:off x="11353800" y="3357601"/>
            <a:ext cx="1785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bg1"/>
                </a:solidFill>
              </a:rPr>
              <a:t>Bouton ON / OFF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68" name="Connecteur droit 67"/>
          <p:cNvCxnSpPr/>
          <p:nvPr/>
        </p:nvCxnSpPr>
        <p:spPr>
          <a:xfrm>
            <a:off x="8447974" y="4096265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9463974" y="4839902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/>
          <p:cNvSpPr txBox="1"/>
          <p:nvPr/>
        </p:nvSpPr>
        <p:spPr>
          <a:xfrm>
            <a:off x="10552461" y="4656824"/>
            <a:ext cx="24147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bg1"/>
                </a:solidFill>
              </a:rPr>
              <a:t>Poignée Ergonomique : </a:t>
            </a:r>
          </a:p>
          <a:p>
            <a:r>
              <a:rPr lang="fr-FR" smtClean="0">
                <a:solidFill>
                  <a:schemeClr val="bg1"/>
                </a:solidFill>
              </a:rPr>
              <a:t> Longueur : 200 mm</a:t>
            </a:r>
          </a:p>
          <a:p>
            <a:r>
              <a:rPr lang="fr-FR" smtClean="0">
                <a:solidFill>
                  <a:schemeClr val="bg1"/>
                </a:solidFill>
              </a:rPr>
              <a:t>Largeur : 37 mm</a:t>
            </a:r>
          </a:p>
          <a:p>
            <a:r>
              <a:rPr lang="fr-FR" smtClean="0">
                <a:solidFill>
                  <a:schemeClr val="bg1"/>
                </a:solidFill>
              </a:rPr>
              <a:t>- Poids : 365 grammes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71" name="Connecteur droit 70"/>
          <p:cNvCxnSpPr/>
          <p:nvPr/>
        </p:nvCxnSpPr>
        <p:spPr>
          <a:xfrm>
            <a:off x="6732512" y="6176326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7748512" y="6919963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/>
          <p:cNvSpPr txBox="1"/>
          <p:nvPr/>
        </p:nvSpPr>
        <p:spPr>
          <a:xfrm>
            <a:off x="8828012" y="6321386"/>
            <a:ext cx="3121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chemeClr val="bg1"/>
                </a:solidFill>
              </a:rPr>
              <a:t>Batterie Li-ion interchangeable </a:t>
            </a:r>
          </a:p>
          <a:p>
            <a:r>
              <a:rPr lang="fr-FR" smtClean="0">
                <a:solidFill>
                  <a:schemeClr val="bg1"/>
                </a:solidFill>
              </a:rPr>
              <a:t>- Autonomie : Jusqu’ à 6h</a:t>
            </a:r>
          </a:p>
          <a:p>
            <a:r>
              <a:rPr lang="fr-FR" smtClean="0">
                <a:solidFill>
                  <a:schemeClr val="bg1"/>
                </a:solidFill>
              </a:rPr>
              <a:t>- Temps de charge : 1h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12038744" y="7851441"/>
            <a:ext cx="3763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2500€ - 3500€ </a:t>
            </a:r>
          </a:p>
          <a:p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Dégressif en fonction de la quantité 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75" name="Image 74" descr="Picto BLUETOO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75" y="6695818"/>
            <a:ext cx="1724025" cy="1519864"/>
          </a:xfrm>
          <a:prstGeom prst="rect">
            <a:avLst/>
          </a:prstGeom>
        </p:spPr>
      </p:pic>
      <p:sp>
        <p:nvSpPr>
          <p:cNvPr id="76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5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33" name="Image 32" descr="Rallon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094" y="2464516"/>
            <a:ext cx="3585150" cy="47802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8001" y="1085382"/>
            <a:ext cx="15276000" cy="7580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3" grpId="0"/>
      <p:bldP spid="61" grpId="0"/>
      <p:bldP spid="67" grpId="0"/>
      <p:bldP spid="70" grpId="0"/>
      <p:bldP spid="73" grpId="0"/>
      <p:bldP spid="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PROBLÉMATIQUE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 Banc Actuel : Limites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26162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6162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9800" y="299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" name="Text 6"/>
          <p:cNvSpPr/>
          <p:nvPr/>
        </p:nvSpPr>
        <p:spPr>
          <a:xfrm>
            <a:off x="1574800" y="281940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de Test Excessif</a:t>
            </a:r>
            <a:endParaRPr lang="fr-FR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32258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2h25 par clé → Faible productivité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39370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39370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414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8050" y="43180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67667" y="63500"/>
                </a:moveTo>
                <a:cubicBezTo>
                  <a:pt x="67667" y="42232"/>
                  <a:pt x="79014" y="22579"/>
                  <a:pt x="97433" y="11944"/>
                </a:cubicBezTo>
                <a:cubicBezTo>
                  <a:pt x="115852" y="1310"/>
                  <a:pt x="138545" y="1310"/>
                  <a:pt x="156964" y="11944"/>
                </a:cubicBezTo>
                <a:cubicBezTo>
                  <a:pt x="175383" y="22579"/>
                  <a:pt x="186730" y="42232"/>
                  <a:pt x="186730" y="63500"/>
                </a:cubicBezTo>
                <a:cubicBezTo>
                  <a:pt x="186730" y="96356"/>
                  <a:pt x="160055" y="123031"/>
                  <a:pt x="127198" y="123031"/>
                </a:cubicBezTo>
                <a:cubicBezTo>
                  <a:pt x="94342" y="123031"/>
                  <a:pt x="67667" y="96356"/>
                  <a:pt x="67667" y="63500"/>
                </a:cubicBezTo>
                <a:close/>
                <a:moveTo>
                  <a:pt x="24011" y="239266"/>
                </a:moveTo>
                <a:cubicBezTo>
                  <a:pt x="24011" y="190401"/>
                  <a:pt x="63599" y="150813"/>
                  <a:pt x="112464" y="150813"/>
                </a:cubicBezTo>
                <a:lnTo>
                  <a:pt x="141932" y="150813"/>
                </a:lnTo>
                <a:cubicBezTo>
                  <a:pt x="190798" y="150813"/>
                  <a:pt x="230386" y="190401"/>
                  <a:pt x="230386" y="239266"/>
                </a:cubicBezTo>
                <a:cubicBezTo>
                  <a:pt x="230386" y="247402"/>
                  <a:pt x="223788" y="254000"/>
                  <a:pt x="215652" y="254000"/>
                </a:cubicBezTo>
                <a:lnTo>
                  <a:pt x="38745" y="254000"/>
                </a:lnTo>
                <a:cubicBezTo>
                  <a:pt x="30609" y="254000"/>
                  <a:pt x="24011" y="247402"/>
                  <a:pt x="24011" y="239266"/>
                </a:cubicBezTo>
                <a:close/>
                <a:moveTo>
                  <a:pt x="303758" y="61565"/>
                </a:moveTo>
                <a:cubicBezTo>
                  <a:pt x="308421" y="66229"/>
                  <a:pt x="308421" y="73769"/>
                  <a:pt x="303758" y="78383"/>
                </a:cubicBezTo>
                <a:lnTo>
                  <a:pt x="286941" y="95200"/>
                </a:lnTo>
                <a:lnTo>
                  <a:pt x="303758" y="112018"/>
                </a:lnTo>
                <a:cubicBezTo>
                  <a:pt x="308421" y="116681"/>
                  <a:pt x="308421" y="124222"/>
                  <a:pt x="303758" y="128836"/>
                </a:cubicBezTo>
                <a:cubicBezTo>
                  <a:pt x="299095" y="133449"/>
                  <a:pt x="291554" y="133499"/>
                  <a:pt x="286941" y="128836"/>
                </a:cubicBezTo>
                <a:lnTo>
                  <a:pt x="270123" y="112018"/>
                </a:lnTo>
                <a:lnTo>
                  <a:pt x="253305" y="128836"/>
                </a:lnTo>
                <a:cubicBezTo>
                  <a:pt x="248642" y="133499"/>
                  <a:pt x="241102" y="133499"/>
                  <a:pt x="236488" y="128836"/>
                </a:cubicBezTo>
                <a:cubicBezTo>
                  <a:pt x="231874" y="124172"/>
                  <a:pt x="231825" y="116632"/>
                  <a:pt x="236488" y="112018"/>
                </a:cubicBezTo>
                <a:lnTo>
                  <a:pt x="253305" y="95200"/>
                </a:lnTo>
                <a:lnTo>
                  <a:pt x="236488" y="78383"/>
                </a:lnTo>
                <a:cubicBezTo>
                  <a:pt x="231825" y="73720"/>
                  <a:pt x="231825" y="66179"/>
                  <a:pt x="236488" y="61565"/>
                </a:cubicBezTo>
                <a:cubicBezTo>
                  <a:pt x="241151" y="56952"/>
                  <a:pt x="248692" y="56902"/>
                  <a:pt x="253305" y="61565"/>
                </a:cubicBezTo>
                <a:lnTo>
                  <a:pt x="270123" y="78383"/>
                </a:lnTo>
                <a:lnTo>
                  <a:pt x="286941" y="61565"/>
                </a:lnTo>
                <a:cubicBezTo>
                  <a:pt x="291604" y="56902"/>
                  <a:pt x="299145" y="56902"/>
                  <a:pt x="303758" y="6156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4" name="Text 12"/>
          <p:cNvSpPr/>
          <p:nvPr/>
        </p:nvSpPr>
        <p:spPr>
          <a:xfrm>
            <a:off x="1574800" y="4140200"/>
            <a:ext cx="483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Dépendance Opérateur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1574800" y="45466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Répétabilité non optimale, variations inter-opérateurs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2578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52578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46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9800" y="5638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0" name="Text 18"/>
          <p:cNvSpPr/>
          <p:nvPr/>
        </p:nvSpPr>
        <p:spPr>
          <a:xfrm>
            <a:off x="1574800" y="5461000"/>
            <a:ext cx="368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Risques d'Erreurs</a:t>
            </a:r>
            <a:endParaRPr lang="fr-FR" sz="1600" dirty="0"/>
          </a:p>
        </p:txBody>
      </p:sp>
      <p:sp>
        <p:nvSpPr>
          <p:cNvPr id="21" name="Text 19"/>
          <p:cNvSpPr/>
          <p:nvPr/>
        </p:nvSpPr>
        <p:spPr>
          <a:xfrm>
            <a:off x="1574800" y="5867400"/>
            <a:ext cx="367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Lecture, saisie, positionnement manuels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65786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6578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78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71550" y="6959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54484" y="15875"/>
                </a:moveTo>
                <a:lnTo>
                  <a:pt x="158750" y="15875"/>
                </a:lnTo>
                <a:cubicBezTo>
                  <a:pt x="176262" y="15875"/>
                  <a:pt x="190500" y="30113"/>
                  <a:pt x="190500" y="476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36016" y="15875"/>
                </a:lnTo>
                <a:cubicBezTo>
                  <a:pt x="41473" y="6400"/>
                  <a:pt x="51743" y="0"/>
                  <a:pt x="63500" y="0"/>
                </a:cubicBezTo>
                <a:lnTo>
                  <a:pt x="127000" y="0"/>
                </a:lnTo>
                <a:cubicBezTo>
                  <a:pt x="138757" y="0"/>
                  <a:pt x="149027" y="6400"/>
                  <a:pt x="154484" y="15875"/>
                </a:cubicBezTo>
                <a:close/>
                <a:moveTo>
                  <a:pt x="123031" y="55563"/>
                </a:moveTo>
                <a:cubicBezTo>
                  <a:pt x="129629" y="55563"/>
                  <a:pt x="134938" y="50254"/>
                  <a:pt x="134938" y="43656"/>
                </a:cubicBezTo>
                <a:cubicBezTo>
                  <a:pt x="134938" y="37058"/>
                  <a:pt x="129629" y="31750"/>
                  <a:pt x="123031" y="31750"/>
                </a:cubicBezTo>
                <a:lnTo>
                  <a:pt x="67469" y="31750"/>
                </a:lnTo>
                <a:cubicBezTo>
                  <a:pt x="60871" y="31750"/>
                  <a:pt x="55563" y="37058"/>
                  <a:pt x="55563" y="43656"/>
                </a:cubicBezTo>
                <a:cubicBezTo>
                  <a:pt x="55563" y="50254"/>
                  <a:pt x="60871" y="55563"/>
                  <a:pt x="67469" y="55563"/>
                </a:cubicBezTo>
                <a:lnTo>
                  <a:pt x="123031" y="55563"/>
                </a:lnTo>
                <a:close/>
                <a:moveTo>
                  <a:pt x="63500" y="127000"/>
                </a:move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ubicBezTo>
                  <a:pt x="56387" y="142875"/>
                  <a:pt x="63500" y="135762"/>
                  <a:pt x="63500" y="127000"/>
                </a:cubicBezTo>
                <a:close/>
                <a:moveTo>
                  <a:pt x="79375" y="127000"/>
                </a:moveTo>
                <a:cubicBezTo>
                  <a:pt x="79375" y="133598"/>
                  <a:pt x="84683" y="138906"/>
                  <a:pt x="91281" y="138906"/>
                </a:cubicBezTo>
                <a:lnTo>
                  <a:pt x="146844" y="138906"/>
                </a:lnTo>
                <a:cubicBezTo>
                  <a:pt x="153442" y="138906"/>
                  <a:pt x="158750" y="133598"/>
                  <a:pt x="158750" y="127000"/>
                </a:cubicBezTo>
                <a:cubicBezTo>
                  <a:pt x="158750" y="120402"/>
                  <a:pt x="153442" y="115094"/>
                  <a:pt x="146844" y="115094"/>
                </a:cubicBezTo>
                <a:lnTo>
                  <a:pt x="91281" y="115094"/>
                </a:lnTo>
                <a:cubicBezTo>
                  <a:pt x="84683" y="115094"/>
                  <a:pt x="79375" y="120402"/>
                  <a:pt x="79375" y="127000"/>
                </a:cubicBezTo>
                <a:close/>
                <a:moveTo>
                  <a:pt x="79375" y="190500"/>
                </a:moveTo>
                <a:cubicBezTo>
                  <a:pt x="79375" y="197098"/>
                  <a:pt x="84683" y="202406"/>
                  <a:pt x="91281" y="202406"/>
                </a:cubicBezTo>
                <a:lnTo>
                  <a:pt x="146844" y="202406"/>
                </a:lnTo>
                <a:cubicBezTo>
                  <a:pt x="153442" y="202406"/>
                  <a:pt x="158750" y="197098"/>
                  <a:pt x="158750" y="190500"/>
                </a:cubicBezTo>
                <a:cubicBezTo>
                  <a:pt x="158750" y="183902"/>
                  <a:pt x="153442" y="178594"/>
                  <a:pt x="146844" y="178594"/>
                </a:cubicBezTo>
                <a:lnTo>
                  <a:pt x="91281" y="178594"/>
                </a:lnTo>
                <a:cubicBezTo>
                  <a:pt x="84683" y="178594"/>
                  <a:pt x="79375" y="183902"/>
                  <a:pt x="79375" y="190500"/>
                </a:cubicBezTo>
                <a:close/>
                <a:moveTo>
                  <a:pt x="47625" y="206375"/>
                </a:moveTo>
                <a:cubicBezTo>
                  <a:pt x="56387" y="206375"/>
                  <a:pt x="63500" y="199262"/>
                  <a:pt x="63500" y="190500"/>
                </a:cubicBezTo>
                <a:cubicBezTo>
                  <a:pt x="63500" y="181738"/>
                  <a:pt x="56387" y="174625"/>
                  <a:pt x="47625" y="174625"/>
                </a:cubicBezTo>
                <a:cubicBezTo>
                  <a:pt x="38863" y="174625"/>
                  <a:pt x="31750" y="181738"/>
                  <a:pt x="31750" y="190500"/>
                </a:cubicBezTo>
                <a:cubicBezTo>
                  <a:pt x="31750" y="199262"/>
                  <a:pt x="38863" y="206375"/>
                  <a:pt x="47625" y="20637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6" name="Text 24"/>
          <p:cNvSpPr/>
          <p:nvPr/>
        </p:nvSpPr>
        <p:spPr>
          <a:xfrm>
            <a:off x="1574800" y="6781800"/>
            <a:ext cx="351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Traçabilité Limitée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1574800" y="71882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Enregistrements partiels, suivi difficile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8504719" y="1689100"/>
            <a:ext cx="7020000" cy="4679950"/>
          </a:xfrm>
          <a:custGeom>
            <a:avLst/>
            <a:gdLst/>
            <a:ahLst/>
            <a:cxnLst/>
            <a:rect l="l" t="t" r="r" b="b"/>
            <a:pathLst>
              <a:path w="7454900" h="4686300">
                <a:moveTo>
                  <a:pt x="101599" y="0"/>
                </a:moveTo>
                <a:lnTo>
                  <a:pt x="7353301" y="0"/>
                </a:lnTo>
                <a:cubicBezTo>
                  <a:pt x="7409413" y="0"/>
                  <a:pt x="7454900" y="45487"/>
                  <a:pt x="7454900" y="101599"/>
                </a:cubicBezTo>
                <a:lnTo>
                  <a:pt x="7454900" y="4584701"/>
                </a:lnTo>
                <a:cubicBezTo>
                  <a:pt x="7454900" y="4640813"/>
                  <a:pt x="7409413" y="4686300"/>
                  <a:pt x="7353301" y="4686300"/>
                </a:cubicBezTo>
                <a:lnTo>
                  <a:pt x="101599" y="4686300"/>
                </a:lnTo>
                <a:cubicBezTo>
                  <a:pt x="45487" y="4686300"/>
                  <a:pt x="0" y="4640813"/>
                  <a:pt x="0" y="45847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pic>
        <p:nvPicPr>
          <p:cNvPr id="29" name="Image 0" descr="https://kimi-web-img.moonshot.cn/img/larsonsystems.com/a2e0428f4cf921eca0abd79f8a5e98451422b6c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18" y="1689100"/>
            <a:ext cx="7020000" cy="4674293"/>
          </a:xfrm>
          <a:prstGeom prst="roundRect">
            <a:avLst>
              <a:gd name="adj" fmla="val 2174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8286750" y="6584950"/>
            <a:ext cx="7454900" cy="2044700"/>
          </a:xfrm>
          <a:custGeom>
            <a:avLst/>
            <a:gdLst/>
            <a:ahLst/>
            <a:cxnLst/>
            <a:rect l="l" t="t" r="r" b="b"/>
            <a:pathLst>
              <a:path w="7454900" h="2044700">
                <a:moveTo>
                  <a:pt x="101601" y="0"/>
                </a:moveTo>
                <a:lnTo>
                  <a:pt x="7353299" y="0"/>
                </a:lnTo>
                <a:cubicBezTo>
                  <a:pt x="7409412" y="0"/>
                  <a:pt x="7454900" y="45488"/>
                  <a:pt x="7454900" y="101601"/>
                </a:cubicBezTo>
                <a:lnTo>
                  <a:pt x="7454900" y="1943099"/>
                </a:lnTo>
                <a:cubicBezTo>
                  <a:pt x="7454900" y="1999212"/>
                  <a:pt x="7409412" y="2044700"/>
                  <a:pt x="73532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83600" y="68453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 Actuelle</a:t>
            </a:r>
            <a:endParaRPr lang="fr-FR" sz="1600" dirty="0"/>
          </a:p>
        </p:txBody>
      </p:sp>
      <p:sp>
        <p:nvSpPr>
          <p:cNvPr id="32" name="Text 29"/>
          <p:cNvSpPr/>
          <p:nvPr/>
        </p:nvSpPr>
        <p:spPr>
          <a:xfrm>
            <a:off x="9161264" y="7404100"/>
            <a:ext cx="107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fr-FR" sz="48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fr-FR" sz="1600" dirty="0"/>
          </a:p>
        </p:txBody>
      </p:sp>
      <p:sp>
        <p:nvSpPr>
          <p:cNvPr id="33" name="Text 30"/>
          <p:cNvSpPr/>
          <p:nvPr/>
        </p:nvSpPr>
        <p:spPr>
          <a:xfrm>
            <a:off x="9262864" y="806450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clés/jour</a:t>
            </a:r>
            <a:endParaRPr lang="fr-FR" sz="1600" dirty="0"/>
          </a:p>
        </p:txBody>
      </p:sp>
      <p:sp>
        <p:nvSpPr>
          <p:cNvPr id="34" name="Shape 31"/>
          <p:cNvSpPr/>
          <p:nvPr/>
        </p:nvSpPr>
        <p:spPr>
          <a:xfrm>
            <a:off x="11670109" y="769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2"/>
          <p:cNvSpPr/>
          <p:nvPr/>
        </p:nvSpPr>
        <p:spPr>
          <a:xfrm>
            <a:off x="13476486" y="7404100"/>
            <a:ext cx="1384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fr-FR" sz="4800" b="1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</a:t>
            </a:r>
            <a:endParaRPr lang="fr-FR" sz="1600" dirty="0"/>
          </a:p>
        </p:txBody>
      </p:sp>
      <p:sp>
        <p:nvSpPr>
          <p:cNvPr id="36" name="Text 33"/>
          <p:cNvSpPr/>
          <p:nvPr/>
        </p:nvSpPr>
        <p:spPr>
          <a:xfrm>
            <a:off x="13578086" y="806450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objectif/jour</a:t>
            </a:r>
            <a:endParaRPr lang="fr-FR" sz="1600" dirty="0"/>
          </a:p>
        </p:txBody>
      </p:sp>
      <p:sp>
        <p:nvSpPr>
          <p:cNvPr id="38" name="Rectangle 37"/>
          <p:cNvSpPr/>
          <p:nvPr/>
        </p:nvSpPr>
        <p:spPr>
          <a:xfrm>
            <a:off x="8504720" y="1689100"/>
            <a:ext cx="7019999" cy="4674293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9" name="Image 38" descr="décomposition banc S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363" y="1177636"/>
            <a:ext cx="8288287" cy="5231240"/>
          </a:xfrm>
          <a:prstGeom prst="rect">
            <a:avLst/>
          </a:prstGeom>
        </p:spPr>
      </p:pic>
      <p:sp>
        <p:nvSpPr>
          <p:cNvPr id="40" name="ZoneTexte 39"/>
          <p:cNvSpPr txBox="1"/>
          <p:nvPr/>
        </p:nvSpPr>
        <p:spPr>
          <a:xfrm>
            <a:off x="8483600" y="4888468"/>
            <a:ext cx="141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Capteur VISA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14291750" y="137160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Support</a:t>
            </a:r>
          </a:p>
          <a:p>
            <a:r>
              <a:rPr lang="fr-FR" smtClean="0">
                <a:solidFill>
                  <a:srgbClr val="FF0000"/>
                </a:solidFill>
              </a:rPr>
              <a:t> torsion</a:t>
            </a:r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43" name="Connecteur droit avec flèche 42"/>
          <p:cNvCxnSpPr/>
          <p:nvPr/>
        </p:nvCxnSpPr>
        <p:spPr>
          <a:xfrm rot="16200000" flipH="1">
            <a:off x="9393822" y="2496843"/>
            <a:ext cx="596900" cy="4038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8221136" y="1694765"/>
            <a:ext cx="2083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Chariot transversal </a:t>
            </a:r>
          </a:p>
          <a:p>
            <a:r>
              <a:rPr lang="fr-FR" smtClean="0">
                <a:solidFill>
                  <a:srgbClr val="FF0000"/>
                </a:solidFill>
              </a:rPr>
              <a:t>pour le chargement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504720" y="4098635"/>
            <a:ext cx="4726371" cy="2264758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8" name="Image 47" descr="capteur vi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720" y="4054475"/>
            <a:ext cx="4598269" cy="2308918"/>
          </a:xfrm>
          <a:prstGeom prst="rect">
            <a:avLst/>
          </a:prstGeom>
        </p:spPr>
      </p:pic>
      <p:cxnSp>
        <p:nvCxnSpPr>
          <p:cNvPr id="50" name="Connecteur droit 49"/>
          <p:cNvCxnSpPr/>
          <p:nvPr/>
        </p:nvCxnSpPr>
        <p:spPr>
          <a:xfrm rot="10800000">
            <a:off x="10304591" y="4098635"/>
            <a:ext cx="806754" cy="31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rot="5400000" flipH="1" flipV="1">
            <a:off x="9997895" y="4239905"/>
            <a:ext cx="447965" cy="1654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>
          <a:xfrm>
            <a:off x="8809045" y="3729303"/>
            <a:ext cx="170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Corps d’épreuve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8328315" y="5248870"/>
            <a:ext cx="1310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Boitier </a:t>
            </a:r>
          </a:p>
          <a:p>
            <a:r>
              <a:rPr lang="fr-FR" smtClean="0">
                <a:solidFill>
                  <a:srgbClr val="FF0000"/>
                </a:solidFill>
              </a:rPr>
              <a:t>(traitement </a:t>
            </a:r>
          </a:p>
          <a:p>
            <a:r>
              <a:rPr lang="fr-FR" smtClean="0">
                <a:solidFill>
                  <a:srgbClr val="FF0000"/>
                </a:solidFill>
              </a:rPr>
              <a:t>du signal)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11995689" y="4655130"/>
            <a:ext cx="104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>
                <a:solidFill>
                  <a:srgbClr val="FF0000"/>
                </a:solidFill>
              </a:rPr>
              <a:t>Afficheur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57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91750" y="3839140"/>
            <a:ext cx="1221597" cy="2514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Ellipse 57"/>
          <p:cNvSpPr/>
          <p:nvPr/>
        </p:nvSpPr>
        <p:spPr>
          <a:xfrm>
            <a:off x="11097490" y="4279900"/>
            <a:ext cx="558764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0" name="Connecteur droit avec flèche 59"/>
          <p:cNvCxnSpPr/>
          <p:nvPr/>
        </p:nvCxnSpPr>
        <p:spPr>
          <a:xfrm>
            <a:off x="11628544" y="4412670"/>
            <a:ext cx="2663206" cy="6004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6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/>
      <p:bldP spid="41" grpId="0"/>
      <p:bldP spid="44" grpId="0"/>
      <p:bldP spid="47" grpId="0" animBg="1"/>
      <p:bldP spid="54" grpId="0"/>
      <p:bldP spid="55" grpId="0"/>
      <p:bldP spid="56" grpId="0"/>
      <p:bldP spid="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698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OBJECTIFS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14350" y="4254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Objectifs du Futur Banc Automatisé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244600"/>
            <a:ext cx="4902200" cy="3721100"/>
          </a:xfrm>
          <a:custGeom>
            <a:avLst/>
            <a:gdLst/>
            <a:ahLst/>
            <a:cxnLst/>
            <a:rect l="l" t="t" r="r" b="b"/>
            <a:pathLst>
              <a:path w="4902200" h="3721100">
                <a:moveTo>
                  <a:pt x="101586" y="0"/>
                </a:moveTo>
                <a:lnTo>
                  <a:pt x="4800614" y="0"/>
                </a:lnTo>
                <a:cubicBezTo>
                  <a:pt x="4856718" y="0"/>
                  <a:pt x="4902200" y="45482"/>
                  <a:pt x="4902200" y="101586"/>
                </a:cubicBezTo>
                <a:lnTo>
                  <a:pt x="4902200" y="3619514"/>
                </a:lnTo>
                <a:cubicBezTo>
                  <a:pt x="4902200" y="3675618"/>
                  <a:pt x="4856718" y="3721100"/>
                  <a:pt x="4800614" y="3721100"/>
                </a:cubicBezTo>
                <a:lnTo>
                  <a:pt x="101586" y="3721100"/>
                </a:lnTo>
                <a:cubicBezTo>
                  <a:pt x="45482" y="3721100"/>
                  <a:pt x="0" y="3675618"/>
                  <a:pt x="0" y="3619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050" y="15049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984250" y="1708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241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Gain de Temps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781050" y="2927350"/>
            <a:ext cx="4483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Réduire le temps de test de 2h25 à ~1h par clé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781050" y="3689350"/>
            <a:ext cx="4381500" cy="1016000"/>
          </a:xfrm>
          <a:custGeom>
            <a:avLst/>
            <a:gdLst/>
            <a:ahLst/>
            <a:cxnLst/>
            <a:rect l="l" t="t" r="r" b="b"/>
            <a:pathLst>
              <a:path w="4381500" h="1016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965200"/>
                </a:lnTo>
                <a:cubicBezTo>
                  <a:pt x="4381500" y="993237"/>
                  <a:pt x="4358737" y="1016000"/>
                  <a:pt x="43307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" y="384175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30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-70%</a:t>
            </a:r>
            <a:endParaRPr lang="fr-FR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42989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temps gagné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5685234" y="1244600"/>
            <a:ext cx="4902200" cy="3721100"/>
          </a:xfrm>
          <a:custGeom>
            <a:avLst/>
            <a:gdLst/>
            <a:ahLst/>
            <a:cxnLst/>
            <a:rect l="l" t="t" r="r" b="b"/>
            <a:pathLst>
              <a:path w="4902200" h="3721100">
                <a:moveTo>
                  <a:pt x="101586" y="0"/>
                </a:moveTo>
                <a:lnTo>
                  <a:pt x="4800614" y="0"/>
                </a:lnTo>
                <a:cubicBezTo>
                  <a:pt x="4856718" y="0"/>
                  <a:pt x="4902200" y="45482"/>
                  <a:pt x="4902200" y="101586"/>
                </a:cubicBezTo>
                <a:lnTo>
                  <a:pt x="4902200" y="3619514"/>
                </a:lnTo>
                <a:cubicBezTo>
                  <a:pt x="4902200" y="3675618"/>
                  <a:pt x="4856718" y="3721100"/>
                  <a:pt x="4800614" y="3721100"/>
                </a:cubicBezTo>
                <a:lnTo>
                  <a:pt x="101586" y="3721100"/>
                </a:lnTo>
                <a:cubicBezTo>
                  <a:pt x="45482" y="3721100"/>
                  <a:pt x="0" y="3675618"/>
                  <a:pt x="0" y="3619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5584" y="15049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9734" y="17081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2399" y="-4762"/>
                </a:moveTo>
                <a:cubicBezTo>
                  <a:pt x="138767" y="-8453"/>
                  <a:pt x="133469" y="-9942"/>
                  <a:pt x="128468" y="-8573"/>
                </a:cubicBezTo>
                <a:cubicBezTo>
                  <a:pt x="123468" y="-7203"/>
                  <a:pt x="119598" y="-3334"/>
                  <a:pt x="118348" y="1667"/>
                </a:cubicBezTo>
                <a:lnTo>
                  <a:pt x="109240" y="37505"/>
                </a:lnTo>
                <a:cubicBezTo>
                  <a:pt x="108585" y="40124"/>
                  <a:pt x="105906" y="41672"/>
                  <a:pt x="103346" y="40898"/>
                </a:cubicBezTo>
                <a:lnTo>
                  <a:pt x="67747" y="30897"/>
                </a:lnTo>
                <a:cubicBezTo>
                  <a:pt x="62746" y="29468"/>
                  <a:pt x="57388" y="30897"/>
                  <a:pt x="53757" y="34528"/>
                </a:cubicBezTo>
                <a:cubicBezTo>
                  <a:pt x="50125" y="38160"/>
                  <a:pt x="48697" y="43517"/>
                  <a:pt x="50125" y="48518"/>
                </a:cubicBezTo>
                <a:lnTo>
                  <a:pt x="60186" y="84118"/>
                </a:lnTo>
                <a:cubicBezTo>
                  <a:pt x="60900" y="86678"/>
                  <a:pt x="59353" y="89356"/>
                  <a:pt x="56793" y="90011"/>
                </a:cubicBezTo>
                <a:lnTo>
                  <a:pt x="20895" y="99120"/>
                </a:lnTo>
                <a:cubicBezTo>
                  <a:pt x="15895" y="100370"/>
                  <a:pt x="11966" y="104299"/>
                  <a:pt x="10597" y="109299"/>
                </a:cubicBezTo>
                <a:cubicBezTo>
                  <a:pt x="9227" y="114300"/>
                  <a:pt x="10716" y="119598"/>
                  <a:pt x="14407" y="123230"/>
                </a:cubicBezTo>
                <a:lnTo>
                  <a:pt x="40898" y="149007"/>
                </a:lnTo>
                <a:cubicBezTo>
                  <a:pt x="42803" y="150852"/>
                  <a:pt x="42803" y="153948"/>
                  <a:pt x="40898" y="155853"/>
                </a:cubicBezTo>
                <a:lnTo>
                  <a:pt x="14466" y="181630"/>
                </a:lnTo>
                <a:cubicBezTo>
                  <a:pt x="10775" y="185261"/>
                  <a:pt x="9287" y="190560"/>
                  <a:pt x="10656" y="195560"/>
                </a:cubicBezTo>
                <a:cubicBezTo>
                  <a:pt x="12025" y="200561"/>
                  <a:pt x="15954" y="204430"/>
                  <a:pt x="20955" y="205740"/>
                </a:cubicBezTo>
                <a:lnTo>
                  <a:pt x="56793" y="214848"/>
                </a:lnTo>
                <a:cubicBezTo>
                  <a:pt x="59412" y="215503"/>
                  <a:pt x="60960" y="218182"/>
                  <a:pt x="60186" y="220742"/>
                </a:cubicBezTo>
                <a:lnTo>
                  <a:pt x="50125" y="256282"/>
                </a:lnTo>
                <a:cubicBezTo>
                  <a:pt x="48697" y="261283"/>
                  <a:pt x="50125" y="266640"/>
                  <a:pt x="53757" y="270272"/>
                </a:cubicBezTo>
                <a:cubicBezTo>
                  <a:pt x="57388" y="273903"/>
                  <a:pt x="62746" y="275332"/>
                  <a:pt x="67747" y="273903"/>
                </a:cubicBezTo>
                <a:lnTo>
                  <a:pt x="103346" y="263843"/>
                </a:lnTo>
                <a:cubicBezTo>
                  <a:pt x="105906" y="263128"/>
                  <a:pt x="108585" y="264676"/>
                  <a:pt x="109240" y="267236"/>
                </a:cubicBezTo>
                <a:lnTo>
                  <a:pt x="118348" y="303074"/>
                </a:lnTo>
                <a:cubicBezTo>
                  <a:pt x="119598" y="308074"/>
                  <a:pt x="123527" y="312003"/>
                  <a:pt x="128528" y="313373"/>
                </a:cubicBezTo>
                <a:cubicBezTo>
                  <a:pt x="133529" y="314742"/>
                  <a:pt x="138827" y="313253"/>
                  <a:pt x="142458" y="309563"/>
                </a:cubicBezTo>
                <a:lnTo>
                  <a:pt x="168235" y="283071"/>
                </a:lnTo>
                <a:cubicBezTo>
                  <a:pt x="170081" y="281166"/>
                  <a:pt x="173176" y="281166"/>
                  <a:pt x="175081" y="283071"/>
                </a:cubicBezTo>
                <a:lnTo>
                  <a:pt x="200799" y="309563"/>
                </a:lnTo>
                <a:cubicBezTo>
                  <a:pt x="204430" y="313253"/>
                  <a:pt x="209729" y="314742"/>
                  <a:pt x="214729" y="313373"/>
                </a:cubicBezTo>
                <a:cubicBezTo>
                  <a:pt x="219730" y="312003"/>
                  <a:pt x="223599" y="308074"/>
                  <a:pt x="224909" y="303074"/>
                </a:cubicBezTo>
                <a:lnTo>
                  <a:pt x="234017" y="267295"/>
                </a:lnTo>
                <a:cubicBezTo>
                  <a:pt x="234672" y="264676"/>
                  <a:pt x="237351" y="263128"/>
                  <a:pt x="239911" y="263902"/>
                </a:cubicBezTo>
                <a:lnTo>
                  <a:pt x="275511" y="273963"/>
                </a:lnTo>
                <a:cubicBezTo>
                  <a:pt x="280511" y="275392"/>
                  <a:pt x="285869" y="273963"/>
                  <a:pt x="289500" y="270331"/>
                </a:cubicBezTo>
                <a:cubicBezTo>
                  <a:pt x="293132" y="266700"/>
                  <a:pt x="294561" y="261342"/>
                  <a:pt x="293132" y="256342"/>
                </a:cubicBezTo>
                <a:lnTo>
                  <a:pt x="283071" y="220742"/>
                </a:lnTo>
                <a:cubicBezTo>
                  <a:pt x="282357" y="218182"/>
                  <a:pt x="283905" y="215503"/>
                  <a:pt x="286464" y="214848"/>
                </a:cubicBezTo>
                <a:lnTo>
                  <a:pt x="322302" y="205740"/>
                </a:lnTo>
                <a:cubicBezTo>
                  <a:pt x="327303" y="204490"/>
                  <a:pt x="331232" y="200561"/>
                  <a:pt x="332601" y="195560"/>
                </a:cubicBezTo>
                <a:cubicBezTo>
                  <a:pt x="333970" y="190560"/>
                  <a:pt x="332482" y="185202"/>
                  <a:pt x="328791" y="181630"/>
                </a:cubicBezTo>
                <a:lnTo>
                  <a:pt x="302300" y="155853"/>
                </a:lnTo>
                <a:cubicBezTo>
                  <a:pt x="300395" y="154007"/>
                  <a:pt x="300395" y="150912"/>
                  <a:pt x="302300" y="149007"/>
                </a:cubicBezTo>
                <a:lnTo>
                  <a:pt x="328791" y="123230"/>
                </a:lnTo>
                <a:cubicBezTo>
                  <a:pt x="332482" y="119598"/>
                  <a:pt x="333970" y="114300"/>
                  <a:pt x="332601" y="109299"/>
                </a:cubicBezTo>
                <a:cubicBezTo>
                  <a:pt x="331232" y="104299"/>
                  <a:pt x="327303" y="100429"/>
                  <a:pt x="322302" y="99120"/>
                </a:cubicBezTo>
                <a:lnTo>
                  <a:pt x="286464" y="90011"/>
                </a:lnTo>
                <a:cubicBezTo>
                  <a:pt x="283845" y="89356"/>
                  <a:pt x="282297" y="86677"/>
                  <a:pt x="283071" y="84118"/>
                </a:cubicBezTo>
                <a:lnTo>
                  <a:pt x="293132" y="48518"/>
                </a:lnTo>
                <a:cubicBezTo>
                  <a:pt x="294561" y="43517"/>
                  <a:pt x="293132" y="38160"/>
                  <a:pt x="289500" y="34528"/>
                </a:cubicBezTo>
                <a:cubicBezTo>
                  <a:pt x="285869" y="30897"/>
                  <a:pt x="280511" y="29468"/>
                  <a:pt x="275511" y="30897"/>
                </a:cubicBezTo>
                <a:lnTo>
                  <a:pt x="239911" y="40957"/>
                </a:lnTo>
                <a:cubicBezTo>
                  <a:pt x="237351" y="41672"/>
                  <a:pt x="234672" y="40124"/>
                  <a:pt x="234017" y="37564"/>
                </a:cubicBezTo>
                <a:lnTo>
                  <a:pt x="224909" y="1667"/>
                </a:lnTo>
                <a:cubicBezTo>
                  <a:pt x="223659" y="-3334"/>
                  <a:pt x="219730" y="-7263"/>
                  <a:pt x="214729" y="-8632"/>
                </a:cubicBezTo>
                <a:cubicBezTo>
                  <a:pt x="209729" y="-10001"/>
                  <a:pt x="204430" y="-8513"/>
                  <a:pt x="200799" y="-4822"/>
                </a:cubicBezTo>
                <a:lnTo>
                  <a:pt x="175022" y="21729"/>
                </a:lnTo>
                <a:cubicBezTo>
                  <a:pt x="173176" y="23634"/>
                  <a:pt x="170081" y="23634"/>
                  <a:pt x="168176" y="21729"/>
                </a:cubicBezTo>
                <a:lnTo>
                  <a:pt x="142399" y="-476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5584" y="241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Conformité ISO</a:t>
            </a:r>
            <a:endParaRPr lang="fr-FR" sz="1600" dirty="0"/>
          </a:p>
        </p:txBody>
      </p:sp>
      <p:sp>
        <p:nvSpPr>
          <p:cNvPr id="16" name="Text 14"/>
          <p:cNvSpPr/>
          <p:nvPr/>
        </p:nvSpPr>
        <p:spPr>
          <a:xfrm>
            <a:off x="5945584" y="292735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Respect strict de la norme ISO 6789-1:2017</a:t>
            </a:r>
            <a:endParaRPr lang="fr-FR" sz="1600" dirty="0"/>
          </a:p>
        </p:txBody>
      </p:sp>
      <p:sp>
        <p:nvSpPr>
          <p:cNvPr id="17" name="Shape 15"/>
          <p:cNvSpPr/>
          <p:nvPr/>
        </p:nvSpPr>
        <p:spPr>
          <a:xfrm>
            <a:off x="5945584" y="37909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6040834" y="39433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6053534" y="42989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conforme</a:t>
            </a:r>
            <a:endParaRPr lang="fr-FR" sz="1600" dirty="0"/>
          </a:p>
        </p:txBody>
      </p:sp>
      <p:sp>
        <p:nvSpPr>
          <p:cNvPr id="20" name="Shape 18"/>
          <p:cNvSpPr/>
          <p:nvPr/>
        </p:nvSpPr>
        <p:spPr>
          <a:xfrm>
            <a:off x="10849967" y="1244600"/>
            <a:ext cx="4902200" cy="3721100"/>
          </a:xfrm>
          <a:custGeom>
            <a:avLst/>
            <a:gdLst/>
            <a:ahLst/>
            <a:cxnLst/>
            <a:rect l="l" t="t" r="r" b="b"/>
            <a:pathLst>
              <a:path w="4902200" h="3721100">
                <a:moveTo>
                  <a:pt x="101586" y="0"/>
                </a:moveTo>
                <a:lnTo>
                  <a:pt x="4800614" y="0"/>
                </a:lnTo>
                <a:cubicBezTo>
                  <a:pt x="4856718" y="0"/>
                  <a:pt x="4902200" y="45482"/>
                  <a:pt x="4902200" y="101586"/>
                </a:cubicBezTo>
                <a:lnTo>
                  <a:pt x="4902200" y="3619514"/>
                </a:lnTo>
                <a:cubicBezTo>
                  <a:pt x="4902200" y="3675618"/>
                  <a:pt x="4856718" y="3721100"/>
                  <a:pt x="4800614" y="3721100"/>
                </a:cubicBezTo>
                <a:lnTo>
                  <a:pt x="101586" y="3721100"/>
                </a:lnTo>
                <a:cubicBezTo>
                  <a:pt x="45482" y="3721100"/>
                  <a:pt x="0" y="3675618"/>
                  <a:pt x="0" y="3619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10317" y="15049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13517" y="1708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9973" y="44470"/>
                </a:moveTo>
                <a:lnTo>
                  <a:pt x="266700" y="50840"/>
                </a:lnTo>
                <a:lnTo>
                  <a:pt x="266700" y="19050"/>
                </a:lnTo>
                <a:cubicBezTo>
                  <a:pt x="266700" y="8513"/>
                  <a:pt x="275213" y="0"/>
                  <a:pt x="285750" y="0"/>
                </a:cubicBezTo>
                <a:cubicBezTo>
                  <a:pt x="296287" y="0"/>
                  <a:pt x="304800" y="8513"/>
                  <a:pt x="304800" y="19050"/>
                </a:cubicBezTo>
                <a:lnTo>
                  <a:pt x="304800" y="95250"/>
                </a:lnTo>
                <a:cubicBezTo>
                  <a:pt x="304800" y="105787"/>
                  <a:pt x="296287" y="114300"/>
                  <a:pt x="285750" y="114300"/>
                </a:cubicBezTo>
                <a:lnTo>
                  <a:pt x="209550" y="114300"/>
                </a:lnTo>
                <a:cubicBezTo>
                  <a:pt x="199013" y="114300"/>
                  <a:pt x="190500" y="105787"/>
                  <a:pt x="190500" y="95250"/>
                </a:cubicBezTo>
                <a:cubicBezTo>
                  <a:pt x="190500" y="84713"/>
                  <a:pt x="199013" y="76200"/>
                  <a:pt x="209550" y="76200"/>
                </a:cubicBezTo>
                <a:lnTo>
                  <a:pt x="238065" y="76200"/>
                </a:lnTo>
                <a:lnTo>
                  <a:pt x="233541" y="71914"/>
                </a:lnTo>
                <a:cubicBezTo>
                  <a:pt x="233422" y="71795"/>
                  <a:pt x="233303" y="71676"/>
                  <a:pt x="233184" y="71557"/>
                </a:cubicBezTo>
                <a:cubicBezTo>
                  <a:pt x="188535" y="26908"/>
                  <a:pt x="116205" y="26908"/>
                  <a:pt x="71557" y="71557"/>
                </a:cubicBezTo>
                <a:cubicBezTo>
                  <a:pt x="26908" y="116205"/>
                  <a:pt x="26908" y="188535"/>
                  <a:pt x="71557" y="233184"/>
                </a:cubicBezTo>
                <a:cubicBezTo>
                  <a:pt x="116205" y="277832"/>
                  <a:pt x="188535" y="277832"/>
                  <a:pt x="233184" y="233184"/>
                </a:cubicBezTo>
                <a:cubicBezTo>
                  <a:pt x="238065" y="228302"/>
                  <a:pt x="242411" y="223123"/>
                  <a:pt x="246221" y="217646"/>
                </a:cubicBezTo>
                <a:cubicBezTo>
                  <a:pt x="252234" y="209014"/>
                  <a:pt x="264140" y="206931"/>
                  <a:pt x="272772" y="212943"/>
                </a:cubicBezTo>
                <a:cubicBezTo>
                  <a:pt x="281404" y="218956"/>
                  <a:pt x="283488" y="230862"/>
                  <a:pt x="277475" y="239494"/>
                </a:cubicBezTo>
                <a:cubicBezTo>
                  <a:pt x="272415" y="246757"/>
                  <a:pt x="266640" y="253663"/>
                  <a:pt x="260152" y="260152"/>
                </a:cubicBezTo>
                <a:cubicBezTo>
                  <a:pt x="200620" y="319683"/>
                  <a:pt x="104120" y="319683"/>
                  <a:pt x="44648" y="260152"/>
                </a:cubicBezTo>
                <a:cubicBezTo>
                  <a:pt x="-14823" y="200620"/>
                  <a:pt x="-14883" y="104180"/>
                  <a:pt x="44648" y="44648"/>
                </a:cubicBezTo>
                <a:cubicBezTo>
                  <a:pt x="104120" y="-14823"/>
                  <a:pt x="200442" y="-14883"/>
                  <a:pt x="259973" y="4447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11110317" y="241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Répétabilité</a:t>
            </a:r>
            <a:endParaRPr lang="fr-FR" sz="1600" dirty="0"/>
          </a:p>
        </p:txBody>
      </p:sp>
      <p:sp>
        <p:nvSpPr>
          <p:cNvPr id="24" name="Text 22"/>
          <p:cNvSpPr/>
          <p:nvPr/>
        </p:nvSpPr>
        <p:spPr>
          <a:xfrm>
            <a:off x="11110317" y="292735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Mesures reproductibles, indépendantes de l'opérateur</a:t>
            </a:r>
            <a:endParaRPr lang="fr-FR" sz="1600" dirty="0"/>
          </a:p>
        </p:txBody>
      </p:sp>
      <p:sp>
        <p:nvSpPr>
          <p:cNvPr id="25" name="Shape 23"/>
          <p:cNvSpPr/>
          <p:nvPr/>
        </p:nvSpPr>
        <p:spPr>
          <a:xfrm>
            <a:off x="11110317" y="37909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11205567" y="39433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±0.5%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11218267" y="42989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précision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520700" y="5232400"/>
            <a:ext cx="4902200" cy="3822700"/>
          </a:xfrm>
          <a:custGeom>
            <a:avLst/>
            <a:gdLst/>
            <a:ahLst/>
            <a:cxnLst/>
            <a:rect l="l" t="t" r="r" b="b"/>
            <a:pathLst>
              <a:path w="4902200" h="3822700">
                <a:moveTo>
                  <a:pt x="101607" y="0"/>
                </a:moveTo>
                <a:lnTo>
                  <a:pt x="4800593" y="0"/>
                </a:lnTo>
                <a:cubicBezTo>
                  <a:pt x="4856709" y="0"/>
                  <a:pt x="4902200" y="45491"/>
                  <a:pt x="4902200" y="101607"/>
                </a:cubicBezTo>
                <a:lnTo>
                  <a:pt x="4902200" y="3721093"/>
                </a:lnTo>
                <a:cubicBezTo>
                  <a:pt x="4902200" y="3777209"/>
                  <a:pt x="4856709" y="3822700"/>
                  <a:pt x="48005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050" y="54927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2350" y="56959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781050" y="64071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Traçabilité</a:t>
            </a:r>
            <a:endParaRPr lang="fr-FR" sz="1600" dirty="0"/>
          </a:p>
        </p:txBody>
      </p:sp>
      <p:sp>
        <p:nvSpPr>
          <p:cNvPr id="32" name="Text 30"/>
          <p:cNvSpPr/>
          <p:nvPr/>
        </p:nvSpPr>
        <p:spPr>
          <a:xfrm>
            <a:off x="781050" y="6915150"/>
            <a:ext cx="4483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 automatiques avec horodatage complet</a:t>
            </a:r>
            <a:endParaRPr lang="fr-FR" sz="1600" dirty="0"/>
          </a:p>
        </p:txBody>
      </p:sp>
      <p:sp>
        <p:nvSpPr>
          <p:cNvPr id="33" name="Shape 31"/>
          <p:cNvSpPr/>
          <p:nvPr/>
        </p:nvSpPr>
        <p:spPr>
          <a:xfrm>
            <a:off x="781050" y="78803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876300" y="80327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fr-FR" sz="1600" dirty="0"/>
          </a:p>
        </p:txBody>
      </p:sp>
      <p:sp>
        <p:nvSpPr>
          <p:cNvPr id="35" name="Text 33"/>
          <p:cNvSpPr/>
          <p:nvPr/>
        </p:nvSpPr>
        <p:spPr>
          <a:xfrm>
            <a:off x="889000" y="83883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5685234" y="5232400"/>
            <a:ext cx="4902200" cy="3822700"/>
          </a:xfrm>
          <a:custGeom>
            <a:avLst/>
            <a:gdLst/>
            <a:ahLst/>
            <a:cxnLst/>
            <a:rect l="l" t="t" r="r" b="b"/>
            <a:pathLst>
              <a:path w="4902200" h="3822700">
                <a:moveTo>
                  <a:pt x="101607" y="0"/>
                </a:moveTo>
                <a:lnTo>
                  <a:pt x="4800593" y="0"/>
                </a:lnTo>
                <a:cubicBezTo>
                  <a:pt x="4856709" y="0"/>
                  <a:pt x="4902200" y="45491"/>
                  <a:pt x="4902200" y="101607"/>
                </a:cubicBezTo>
                <a:lnTo>
                  <a:pt x="4902200" y="3721093"/>
                </a:lnTo>
                <a:cubicBezTo>
                  <a:pt x="4902200" y="3777209"/>
                  <a:pt x="4856709" y="3822700"/>
                  <a:pt x="48005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5584" y="54927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9734" y="56959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76927" y="304800"/>
                </a:lnTo>
                <a:cubicBezTo>
                  <a:pt x="155377" y="279440"/>
                  <a:pt x="142875" y="246757"/>
                  <a:pt x="142875" y="212169"/>
                </a:cubicBezTo>
                <a:lnTo>
                  <a:pt x="142875" y="193655"/>
                </a:lnTo>
                <a:cubicBezTo>
                  <a:pt x="142875" y="189309"/>
                  <a:pt x="143470" y="185023"/>
                  <a:pt x="144601" y="180975"/>
                </a:cubicBezTo>
                <a:lnTo>
                  <a:pt x="115669" y="180975"/>
                </a:lnTo>
                <a:close/>
                <a:moveTo>
                  <a:pt x="265093" y="290810"/>
                </a:moveTo>
                <a:lnTo>
                  <a:pt x="257175" y="294561"/>
                </a:lnTo>
                <a:lnTo>
                  <a:pt x="257175" y="182582"/>
                </a:lnTo>
                <a:lnTo>
                  <a:pt x="314325" y="201632"/>
                </a:lnTo>
                <a:lnTo>
                  <a:pt x="314325" y="213300"/>
                </a:lnTo>
                <a:cubicBezTo>
                  <a:pt x="314325" y="246519"/>
                  <a:pt x="295156" y="276701"/>
                  <a:pt x="265093" y="290870"/>
                </a:cubicBezTo>
                <a:close/>
                <a:moveTo>
                  <a:pt x="251162" y="154484"/>
                </a:moveTo>
                <a:lnTo>
                  <a:pt x="184487" y="176689"/>
                </a:lnTo>
                <a:cubicBezTo>
                  <a:pt x="176689" y="179308"/>
                  <a:pt x="171450" y="186571"/>
                  <a:pt x="171450" y="194786"/>
                </a:cubicBezTo>
                <a:lnTo>
                  <a:pt x="171450" y="213300"/>
                </a:lnTo>
                <a:cubicBezTo>
                  <a:pt x="171450" y="257592"/>
                  <a:pt x="197048" y="297894"/>
                  <a:pt x="237053" y="316706"/>
                </a:cubicBezTo>
                <a:lnTo>
                  <a:pt x="248067" y="321885"/>
                </a:lnTo>
                <a:cubicBezTo>
                  <a:pt x="250924" y="323195"/>
                  <a:pt x="254020" y="323910"/>
                  <a:pt x="257115" y="323910"/>
                </a:cubicBezTo>
                <a:cubicBezTo>
                  <a:pt x="260211" y="323910"/>
                  <a:pt x="263366" y="323195"/>
                  <a:pt x="266164" y="321885"/>
                </a:cubicBezTo>
                <a:lnTo>
                  <a:pt x="277178" y="316706"/>
                </a:lnTo>
                <a:cubicBezTo>
                  <a:pt x="317302" y="297835"/>
                  <a:pt x="342900" y="257532"/>
                  <a:pt x="342900" y="213241"/>
                </a:cubicBezTo>
                <a:lnTo>
                  <a:pt x="342900" y="194727"/>
                </a:lnTo>
                <a:cubicBezTo>
                  <a:pt x="342900" y="186511"/>
                  <a:pt x="337661" y="179249"/>
                  <a:pt x="329863" y="176629"/>
                </a:cubicBezTo>
                <a:lnTo>
                  <a:pt x="263188" y="154424"/>
                </a:lnTo>
                <a:cubicBezTo>
                  <a:pt x="259259" y="153114"/>
                  <a:pt x="255032" y="153114"/>
                  <a:pt x="251162" y="154424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9" name="Text 37"/>
          <p:cNvSpPr/>
          <p:nvPr/>
        </p:nvSpPr>
        <p:spPr>
          <a:xfrm>
            <a:off x="5945584" y="64071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</a:t>
            </a:r>
            <a:endParaRPr lang="fr-FR" sz="1600" dirty="0"/>
          </a:p>
        </p:txBody>
      </p:sp>
      <p:sp>
        <p:nvSpPr>
          <p:cNvPr id="40" name="Text 38"/>
          <p:cNvSpPr/>
          <p:nvPr/>
        </p:nvSpPr>
        <p:spPr>
          <a:xfrm>
            <a:off x="5945584" y="6915150"/>
            <a:ext cx="4483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complète de l'opérateur et du matériel</a:t>
            </a:r>
            <a:endParaRPr lang="fr-FR" sz="1600" dirty="0"/>
          </a:p>
        </p:txBody>
      </p:sp>
      <p:sp>
        <p:nvSpPr>
          <p:cNvPr id="41" name="Shape 39"/>
          <p:cNvSpPr/>
          <p:nvPr/>
        </p:nvSpPr>
        <p:spPr>
          <a:xfrm>
            <a:off x="5945584" y="78803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040834" y="80327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</a:t>
            </a:r>
            <a:endParaRPr lang="fr-FR" sz="1600" dirty="0"/>
          </a:p>
        </p:txBody>
      </p:sp>
      <p:sp>
        <p:nvSpPr>
          <p:cNvPr id="43" name="Text 41"/>
          <p:cNvSpPr/>
          <p:nvPr/>
        </p:nvSpPr>
        <p:spPr>
          <a:xfrm>
            <a:off x="6053534" y="83883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</a:t>
            </a:r>
            <a:endParaRPr lang="fr-FR" sz="1600" dirty="0"/>
          </a:p>
        </p:txBody>
      </p:sp>
      <p:sp>
        <p:nvSpPr>
          <p:cNvPr id="44" name="Shape 42"/>
          <p:cNvSpPr/>
          <p:nvPr/>
        </p:nvSpPr>
        <p:spPr>
          <a:xfrm>
            <a:off x="10849967" y="5232400"/>
            <a:ext cx="4902200" cy="3822700"/>
          </a:xfrm>
          <a:custGeom>
            <a:avLst/>
            <a:gdLst/>
            <a:ahLst/>
            <a:cxnLst/>
            <a:rect l="l" t="t" r="r" b="b"/>
            <a:pathLst>
              <a:path w="4902200" h="3822700">
                <a:moveTo>
                  <a:pt x="101607" y="0"/>
                </a:moveTo>
                <a:lnTo>
                  <a:pt x="4800593" y="0"/>
                </a:lnTo>
                <a:cubicBezTo>
                  <a:pt x="4856709" y="0"/>
                  <a:pt x="4902200" y="45491"/>
                  <a:pt x="4902200" y="101607"/>
                </a:cubicBezTo>
                <a:lnTo>
                  <a:pt x="4902200" y="3721093"/>
                </a:lnTo>
                <a:cubicBezTo>
                  <a:pt x="4902200" y="3777209"/>
                  <a:pt x="4856709" y="3822700"/>
                  <a:pt x="48005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10317" y="54927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13517" y="5695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11110317" y="64071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</a:t>
            </a:r>
            <a:endParaRPr lang="fr-FR" sz="1600" dirty="0"/>
          </a:p>
        </p:txBody>
      </p:sp>
      <p:sp>
        <p:nvSpPr>
          <p:cNvPr id="48" name="Text 46"/>
          <p:cNvSpPr/>
          <p:nvPr/>
        </p:nvSpPr>
        <p:spPr>
          <a:xfrm>
            <a:off x="11110317" y="691515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Augmenter le nombre de clés traitées quotidiennement</a:t>
            </a:r>
            <a:endParaRPr lang="fr-FR" sz="1600" dirty="0"/>
          </a:p>
        </p:txBody>
      </p:sp>
      <p:sp>
        <p:nvSpPr>
          <p:cNvPr id="49" name="Shape 47"/>
          <p:cNvSpPr/>
          <p:nvPr/>
        </p:nvSpPr>
        <p:spPr>
          <a:xfrm>
            <a:off x="11110317" y="7778750"/>
            <a:ext cx="4381500" cy="1016000"/>
          </a:xfrm>
          <a:custGeom>
            <a:avLst/>
            <a:gdLst/>
            <a:ahLst/>
            <a:cxnLst/>
            <a:rect l="l" t="t" r="r" b="b"/>
            <a:pathLst>
              <a:path w="4381500" h="1016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965200"/>
                </a:lnTo>
                <a:cubicBezTo>
                  <a:pt x="4381500" y="993237"/>
                  <a:pt x="4358737" y="1016000"/>
                  <a:pt x="43307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Text 48"/>
          <p:cNvSpPr/>
          <p:nvPr/>
        </p:nvSpPr>
        <p:spPr>
          <a:xfrm>
            <a:off x="11167467" y="793115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30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x4</a:t>
            </a:r>
            <a:endParaRPr lang="fr-FR" sz="1600" dirty="0"/>
          </a:p>
        </p:txBody>
      </p:sp>
      <p:sp>
        <p:nvSpPr>
          <p:cNvPr id="51" name="Text 49"/>
          <p:cNvSpPr/>
          <p:nvPr/>
        </p:nvSpPr>
        <p:spPr>
          <a:xfrm>
            <a:off x="11218267" y="83883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</a:t>
            </a:r>
            <a:endParaRPr lang="fr-FR" sz="1600" dirty="0"/>
          </a:p>
        </p:txBody>
      </p:sp>
      <p:sp>
        <p:nvSpPr>
          <p:cNvPr id="52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7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650" y="1905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03. ARCHITECTURE MATÉRIELLE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1650" y="5461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 du Système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263650"/>
            <a:ext cx="8978900" cy="1231900"/>
          </a:xfrm>
          <a:custGeom>
            <a:avLst/>
            <a:gdLst/>
            <a:ahLst/>
            <a:cxnLst/>
            <a:rect l="l" t="t" r="r" b="b"/>
            <a:pathLst>
              <a:path w="8978900" h="1231900">
                <a:moveTo>
                  <a:pt x="101595" y="0"/>
                </a:moveTo>
                <a:lnTo>
                  <a:pt x="8877305" y="0"/>
                </a:lnTo>
                <a:cubicBezTo>
                  <a:pt x="8933414" y="0"/>
                  <a:pt x="8978900" y="45486"/>
                  <a:pt x="8978900" y="101595"/>
                </a:cubicBezTo>
                <a:lnTo>
                  <a:pt x="8978900" y="1130305"/>
                </a:lnTo>
                <a:cubicBezTo>
                  <a:pt x="8978900" y="1186414"/>
                  <a:pt x="8933414" y="1231900"/>
                  <a:pt x="88773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" y="142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09625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27150" y="1498600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Siemens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666750" y="2032000"/>
            <a:ext cx="876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Cœur du pilotage : gestion cycle, sécurités, communication PC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2660650"/>
            <a:ext cx="4406900" cy="1536700"/>
          </a:xfrm>
          <a:custGeom>
            <a:avLst/>
            <a:gdLst/>
            <a:ahLst/>
            <a:cxnLst/>
            <a:rect l="l" t="t" r="r" b="b"/>
            <a:pathLst>
              <a:path w="4406900" h="1536700">
                <a:moveTo>
                  <a:pt x="101607" y="0"/>
                </a:moveTo>
                <a:lnTo>
                  <a:pt x="4305293" y="0"/>
                </a:lnTo>
                <a:cubicBezTo>
                  <a:pt x="4361409" y="0"/>
                  <a:pt x="4406900" y="45491"/>
                  <a:pt x="4406900" y="101607"/>
                </a:cubicBezTo>
                <a:lnTo>
                  <a:pt x="4406900" y="1435093"/>
                </a:lnTo>
                <a:cubicBezTo>
                  <a:pt x="4406900" y="1491209"/>
                  <a:pt x="4361409" y="1536700"/>
                  <a:pt x="43052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6750" y="281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809625" y="2959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7109" y="4242"/>
                </a:moveTo>
                <a:cubicBezTo>
                  <a:pt x="88449" y="-2366"/>
                  <a:pt x="94298" y="-7144"/>
                  <a:pt x="101084" y="-7144"/>
                </a:cubicBezTo>
                <a:lnTo>
                  <a:pt x="127784" y="-7144"/>
                </a:lnTo>
                <a:cubicBezTo>
                  <a:pt x="134570" y="-7144"/>
                  <a:pt x="140419" y="-2366"/>
                  <a:pt x="141759" y="4242"/>
                </a:cubicBezTo>
                <a:lnTo>
                  <a:pt x="148233" y="35496"/>
                </a:lnTo>
                <a:cubicBezTo>
                  <a:pt x="154528" y="38174"/>
                  <a:pt x="160422" y="41612"/>
                  <a:pt x="165780" y="45675"/>
                </a:cubicBezTo>
                <a:lnTo>
                  <a:pt x="196051" y="35629"/>
                </a:lnTo>
                <a:cubicBezTo>
                  <a:pt x="202481" y="33486"/>
                  <a:pt x="209535" y="36165"/>
                  <a:pt x="212928" y="42059"/>
                </a:cubicBezTo>
                <a:lnTo>
                  <a:pt x="226278" y="65187"/>
                </a:lnTo>
                <a:cubicBezTo>
                  <a:pt x="229672" y="71080"/>
                  <a:pt x="228466" y="78492"/>
                  <a:pt x="223376" y="83001"/>
                </a:cubicBezTo>
                <a:lnTo>
                  <a:pt x="199579" y="104165"/>
                </a:lnTo>
                <a:cubicBezTo>
                  <a:pt x="199980" y="107469"/>
                  <a:pt x="200159" y="110862"/>
                  <a:pt x="200159" y="114300"/>
                </a:cubicBezTo>
                <a:cubicBezTo>
                  <a:pt x="200159" y="117738"/>
                  <a:pt x="199936" y="121131"/>
                  <a:pt x="199579" y="124435"/>
                </a:cubicBezTo>
                <a:lnTo>
                  <a:pt x="223421" y="145643"/>
                </a:lnTo>
                <a:cubicBezTo>
                  <a:pt x="228511" y="150153"/>
                  <a:pt x="229672" y="157609"/>
                  <a:pt x="226323" y="163458"/>
                </a:cubicBezTo>
                <a:lnTo>
                  <a:pt x="212973" y="186586"/>
                </a:lnTo>
                <a:cubicBezTo>
                  <a:pt x="209580" y="192435"/>
                  <a:pt x="202525" y="195158"/>
                  <a:pt x="196096" y="193015"/>
                </a:cubicBezTo>
                <a:lnTo>
                  <a:pt x="165824" y="182969"/>
                </a:lnTo>
                <a:cubicBezTo>
                  <a:pt x="160422" y="187032"/>
                  <a:pt x="154528" y="190426"/>
                  <a:pt x="148277" y="193149"/>
                </a:cubicBezTo>
                <a:lnTo>
                  <a:pt x="141848" y="224358"/>
                </a:lnTo>
                <a:cubicBezTo>
                  <a:pt x="140464" y="231011"/>
                  <a:pt x="134615" y="235744"/>
                  <a:pt x="127873" y="235744"/>
                </a:cubicBezTo>
                <a:lnTo>
                  <a:pt x="101173" y="235744"/>
                </a:lnTo>
                <a:cubicBezTo>
                  <a:pt x="94387" y="235744"/>
                  <a:pt x="88538" y="230966"/>
                  <a:pt x="87198" y="224358"/>
                </a:cubicBezTo>
                <a:lnTo>
                  <a:pt x="80769" y="193149"/>
                </a:lnTo>
                <a:cubicBezTo>
                  <a:pt x="74474" y="190470"/>
                  <a:pt x="68625" y="187032"/>
                  <a:pt x="63222" y="182969"/>
                </a:cubicBezTo>
                <a:lnTo>
                  <a:pt x="32817" y="193015"/>
                </a:lnTo>
                <a:cubicBezTo>
                  <a:pt x="26387" y="195158"/>
                  <a:pt x="19333" y="192479"/>
                  <a:pt x="15939" y="186586"/>
                </a:cubicBezTo>
                <a:lnTo>
                  <a:pt x="2590" y="163458"/>
                </a:lnTo>
                <a:cubicBezTo>
                  <a:pt x="-804" y="157564"/>
                  <a:pt x="402" y="150153"/>
                  <a:pt x="5492" y="145643"/>
                </a:cubicBezTo>
                <a:lnTo>
                  <a:pt x="29334" y="124435"/>
                </a:lnTo>
                <a:cubicBezTo>
                  <a:pt x="28932" y="121131"/>
                  <a:pt x="28754" y="117738"/>
                  <a:pt x="28754" y="114300"/>
                </a:cubicBezTo>
                <a:cubicBezTo>
                  <a:pt x="28754" y="110862"/>
                  <a:pt x="28977" y="107469"/>
                  <a:pt x="29334" y="104165"/>
                </a:cubicBezTo>
                <a:lnTo>
                  <a:pt x="5492" y="82957"/>
                </a:lnTo>
                <a:cubicBezTo>
                  <a:pt x="402" y="78447"/>
                  <a:pt x="-759" y="70991"/>
                  <a:pt x="2590" y="65142"/>
                </a:cubicBezTo>
                <a:lnTo>
                  <a:pt x="15939" y="42014"/>
                </a:lnTo>
                <a:cubicBezTo>
                  <a:pt x="19333" y="36121"/>
                  <a:pt x="26387" y="33442"/>
                  <a:pt x="32817" y="35585"/>
                </a:cubicBezTo>
                <a:lnTo>
                  <a:pt x="63088" y="45631"/>
                </a:lnTo>
                <a:cubicBezTo>
                  <a:pt x="68491" y="41568"/>
                  <a:pt x="74384" y="38174"/>
                  <a:pt x="80635" y="35451"/>
                </a:cubicBezTo>
                <a:lnTo>
                  <a:pt x="87109" y="4242"/>
                </a:lnTo>
                <a:close/>
                <a:moveTo>
                  <a:pt x="114434" y="150019"/>
                </a:moveTo>
                <a:cubicBezTo>
                  <a:pt x="127195" y="149971"/>
                  <a:pt x="138961" y="143119"/>
                  <a:pt x="145300" y="132043"/>
                </a:cubicBezTo>
                <a:cubicBezTo>
                  <a:pt x="151639" y="120968"/>
                  <a:pt x="151588" y="107352"/>
                  <a:pt x="145166" y="96325"/>
                </a:cubicBezTo>
                <a:cubicBezTo>
                  <a:pt x="138744" y="85297"/>
                  <a:pt x="126927" y="78533"/>
                  <a:pt x="114166" y="78581"/>
                </a:cubicBezTo>
                <a:cubicBezTo>
                  <a:pt x="101405" y="78629"/>
                  <a:pt x="89639" y="85481"/>
                  <a:pt x="83300" y="96557"/>
                </a:cubicBezTo>
                <a:cubicBezTo>
                  <a:pt x="76961" y="107632"/>
                  <a:pt x="77012" y="121248"/>
                  <a:pt x="83434" y="132275"/>
                </a:cubicBezTo>
                <a:cubicBezTo>
                  <a:pt x="89856" y="143303"/>
                  <a:pt x="101673" y="150067"/>
                  <a:pt x="114434" y="150019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7150" y="29210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Faible Couple</a:t>
            </a:r>
            <a:endParaRPr lang="fr-FR" sz="1600" dirty="0"/>
          </a:p>
        </p:txBody>
      </p:sp>
      <p:sp>
        <p:nvSpPr>
          <p:cNvPr id="13" name="Text 11"/>
          <p:cNvSpPr/>
          <p:nvPr/>
        </p:nvSpPr>
        <p:spPr>
          <a:xfrm>
            <a:off x="666750" y="3429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Plage : 4 - 40 Nm</a:t>
            </a:r>
            <a:endParaRPr lang="fr-FR" sz="1600" dirty="0"/>
          </a:p>
        </p:txBody>
      </p:sp>
      <p:sp>
        <p:nvSpPr>
          <p:cNvPr id="14" name="Text 12"/>
          <p:cNvSpPr/>
          <p:nvPr/>
        </p:nvSpPr>
        <p:spPr>
          <a:xfrm>
            <a:off x="666750" y="37846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Haute précision petite plage</a:t>
            </a:r>
            <a:endParaRPr lang="fr-FR" sz="1600" dirty="0"/>
          </a:p>
        </p:txBody>
      </p:sp>
      <p:sp>
        <p:nvSpPr>
          <p:cNvPr id="15" name="Shape 13"/>
          <p:cNvSpPr/>
          <p:nvPr/>
        </p:nvSpPr>
        <p:spPr>
          <a:xfrm>
            <a:off x="5080000" y="2660650"/>
            <a:ext cx="4406900" cy="1536700"/>
          </a:xfrm>
          <a:custGeom>
            <a:avLst/>
            <a:gdLst/>
            <a:ahLst/>
            <a:cxnLst/>
            <a:rect l="l" t="t" r="r" b="b"/>
            <a:pathLst>
              <a:path w="4406900" h="1536700">
                <a:moveTo>
                  <a:pt x="101607" y="0"/>
                </a:moveTo>
                <a:lnTo>
                  <a:pt x="4305293" y="0"/>
                </a:lnTo>
                <a:cubicBezTo>
                  <a:pt x="4361409" y="0"/>
                  <a:pt x="4406900" y="45491"/>
                  <a:pt x="4406900" y="101607"/>
                </a:cubicBezTo>
                <a:lnTo>
                  <a:pt x="4406900" y="1435093"/>
                </a:lnTo>
                <a:cubicBezTo>
                  <a:pt x="4406900" y="1491209"/>
                  <a:pt x="4361409" y="1536700"/>
                  <a:pt x="43052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8750" y="281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53050" y="2959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5899150" y="292100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Fort Couple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5238750" y="3429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Plage : 20 - 200 Nm</a:t>
            </a:r>
            <a:endParaRPr lang="fr-FR" sz="1600" dirty="0"/>
          </a:p>
        </p:txBody>
      </p:sp>
      <p:sp>
        <p:nvSpPr>
          <p:cNvPr id="20" name="Text 18"/>
          <p:cNvSpPr/>
          <p:nvPr/>
        </p:nvSpPr>
        <p:spPr>
          <a:xfrm>
            <a:off x="5238750" y="37846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Couples élevés</a:t>
            </a:r>
            <a:endParaRPr lang="fr-FR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362450"/>
            <a:ext cx="8978900" cy="1231900"/>
          </a:xfrm>
          <a:custGeom>
            <a:avLst/>
            <a:gdLst/>
            <a:ahLst/>
            <a:cxnLst/>
            <a:rect l="l" t="t" r="r" b="b"/>
            <a:pathLst>
              <a:path w="8978900" h="1231900">
                <a:moveTo>
                  <a:pt x="101595" y="0"/>
                </a:moveTo>
                <a:lnTo>
                  <a:pt x="8877305" y="0"/>
                </a:lnTo>
                <a:cubicBezTo>
                  <a:pt x="8933414" y="0"/>
                  <a:pt x="8978900" y="45486"/>
                  <a:pt x="8978900" y="101595"/>
                </a:cubicBezTo>
                <a:lnTo>
                  <a:pt x="8978900" y="1130305"/>
                </a:lnTo>
                <a:cubicBezTo>
                  <a:pt x="8978900" y="1186414"/>
                  <a:pt x="8933414" y="1231900"/>
                  <a:pt x="88773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6750" y="452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625" y="466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1327150" y="45974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Vérin Électrique</a:t>
            </a:r>
            <a:endParaRPr lang="fr-FR" sz="1600" dirty="0"/>
          </a:p>
        </p:txBody>
      </p:sp>
      <p:sp>
        <p:nvSpPr>
          <p:cNvPr id="25" name="Text 23"/>
          <p:cNvSpPr/>
          <p:nvPr/>
        </p:nvSpPr>
        <p:spPr>
          <a:xfrm>
            <a:off x="666750" y="5130800"/>
            <a:ext cx="876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Positionnement butée : 3 positions (AV, MIL, AR) avec fins de course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5759450"/>
            <a:ext cx="4406900" cy="1181100"/>
          </a:xfrm>
          <a:custGeom>
            <a:avLst/>
            <a:gdLst/>
            <a:ahLst/>
            <a:cxnLst/>
            <a:rect l="l" t="t" r="r" b="b"/>
            <a:pathLst>
              <a:path w="4406900" h="1181100">
                <a:moveTo>
                  <a:pt x="101598" y="0"/>
                </a:moveTo>
                <a:lnTo>
                  <a:pt x="4305302" y="0"/>
                </a:lnTo>
                <a:cubicBezTo>
                  <a:pt x="4361413" y="0"/>
                  <a:pt x="4406900" y="45487"/>
                  <a:pt x="4406900" y="101598"/>
                </a:cubicBezTo>
                <a:lnTo>
                  <a:pt x="4406900" y="1079502"/>
                </a:lnTo>
                <a:cubicBezTo>
                  <a:pt x="4406900" y="1135613"/>
                  <a:pt x="4361413" y="1181100"/>
                  <a:pt x="4305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6750" y="5918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625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9" name="Text 27"/>
          <p:cNvSpPr/>
          <p:nvPr/>
        </p:nvSpPr>
        <p:spPr>
          <a:xfrm>
            <a:off x="1327150" y="60198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 TOR</a:t>
            </a:r>
            <a:endParaRPr lang="fr-FR" sz="1600" dirty="0"/>
          </a:p>
        </p:txBody>
      </p:sp>
      <p:sp>
        <p:nvSpPr>
          <p:cNvPr id="30" name="Text 28"/>
          <p:cNvSpPr/>
          <p:nvPr/>
        </p:nvSpPr>
        <p:spPr>
          <a:xfrm>
            <a:off x="666750" y="65278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Capot, AU, présence clé, FDC, température</a:t>
            </a:r>
            <a:endParaRPr lang="fr-FR" sz="1600" dirty="0"/>
          </a:p>
        </p:txBody>
      </p:sp>
      <p:sp>
        <p:nvSpPr>
          <p:cNvPr id="31" name="Shape 29"/>
          <p:cNvSpPr/>
          <p:nvPr/>
        </p:nvSpPr>
        <p:spPr>
          <a:xfrm>
            <a:off x="5080000" y="5759450"/>
            <a:ext cx="4406900" cy="1181100"/>
          </a:xfrm>
          <a:custGeom>
            <a:avLst/>
            <a:gdLst/>
            <a:ahLst/>
            <a:cxnLst/>
            <a:rect l="l" t="t" r="r" b="b"/>
            <a:pathLst>
              <a:path w="4406900" h="1181100">
                <a:moveTo>
                  <a:pt x="101598" y="0"/>
                </a:moveTo>
                <a:lnTo>
                  <a:pt x="4305302" y="0"/>
                </a:lnTo>
                <a:cubicBezTo>
                  <a:pt x="4361413" y="0"/>
                  <a:pt x="4406900" y="45487"/>
                  <a:pt x="4406900" y="101598"/>
                </a:cubicBezTo>
                <a:lnTo>
                  <a:pt x="4406900" y="1079502"/>
                </a:lnTo>
                <a:cubicBezTo>
                  <a:pt x="4406900" y="1135613"/>
                  <a:pt x="4361413" y="1181100"/>
                  <a:pt x="4305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8750" y="5918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Shape 31"/>
          <p:cNvSpPr/>
          <p:nvPr/>
        </p:nvSpPr>
        <p:spPr>
          <a:xfrm>
            <a:off x="5381625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4" name="Text 32"/>
          <p:cNvSpPr/>
          <p:nvPr/>
        </p:nvSpPr>
        <p:spPr>
          <a:xfrm>
            <a:off x="5899150" y="6019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 Analogiques</a:t>
            </a:r>
            <a:endParaRPr lang="fr-FR" sz="1600" dirty="0"/>
          </a:p>
        </p:txBody>
      </p:sp>
      <p:sp>
        <p:nvSpPr>
          <p:cNvPr id="35" name="Text 33"/>
          <p:cNvSpPr/>
          <p:nvPr/>
        </p:nvSpPr>
        <p:spPr>
          <a:xfrm>
            <a:off x="5238750" y="65278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Couplemètres (0-10V)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9848850" y="2635250"/>
            <a:ext cx="5981700" cy="2882900"/>
          </a:xfrm>
          <a:custGeom>
            <a:avLst/>
            <a:gdLst/>
            <a:ahLst/>
            <a:cxnLst/>
            <a:rect l="l" t="t" r="r" b="b"/>
            <a:pathLst>
              <a:path w="5981700" h="5981700">
                <a:moveTo>
                  <a:pt x="101629" y="0"/>
                </a:moveTo>
                <a:lnTo>
                  <a:pt x="5880071" y="0"/>
                </a:lnTo>
                <a:cubicBezTo>
                  <a:pt x="5936199" y="0"/>
                  <a:pt x="5981700" y="45501"/>
                  <a:pt x="5981700" y="101629"/>
                </a:cubicBezTo>
                <a:lnTo>
                  <a:pt x="5981700" y="5880071"/>
                </a:lnTo>
                <a:cubicBezTo>
                  <a:pt x="5981700" y="5936199"/>
                  <a:pt x="5936199" y="5981700"/>
                  <a:pt x="5880071" y="5981700"/>
                </a:cubicBezTo>
                <a:lnTo>
                  <a:pt x="101629" y="5981700"/>
                </a:lnTo>
                <a:cubicBezTo>
                  <a:pt x="45501" y="5981700"/>
                  <a:pt x="0" y="5936199"/>
                  <a:pt x="0" y="5880071"/>
                </a:cubicBezTo>
                <a:lnTo>
                  <a:pt x="0" y="101629"/>
                </a:lnTo>
                <a:cubicBezTo>
                  <a:pt x="0" y="45538"/>
                  <a:pt x="45538" y="0"/>
                  <a:pt x="10162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48850" y="2635250"/>
            <a:ext cx="5981700" cy="1587500"/>
          </a:xfrm>
          <a:custGeom>
            <a:avLst/>
            <a:gdLst/>
            <a:ahLst/>
            <a:cxnLst/>
            <a:rect l="l" t="t" r="r" b="b"/>
            <a:pathLst>
              <a:path w="5981700" h="1587500">
                <a:moveTo>
                  <a:pt x="101600" y="0"/>
                </a:moveTo>
                <a:lnTo>
                  <a:pt x="5880100" y="0"/>
                </a:lnTo>
                <a:cubicBezTo>
                  <a:pt x="5936175" y="0"/>
                  <a:pt x="5981700" y="45525"/>
                  <a:pt x="5981700" y="101600"/>
                </a:cubicBezTo>
                <a:lnTo>
                  <a:pt x="5981700" y="1485900"/>
                </a:lnTo>
                <a:cubicBezTo>
                  <a:pt x="5981700" y="1541975"/>
                  <a:pt x="5936175" y="1587500"/>
                  <a:pt x="5880100" y="1587500"/>
                </a:cubicBezTo>
                <a:lnTo>
                  <a:pt x="101600" y="1587500"/>
                </a:lnTo>
                <a:cubicBezTo>
                  <a:pt x="45525" y="1587500"/>
                  <a:pt x="0" y="1541975"/>
                  <a:pt x="0" y="14859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77450" y="2870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0" name="Text 37"/>
          <p:cNvSpPr/>
          <p:nvPr/>
        </p:nvSpPr>
        <p:spPr>
          <a:xfrm>
            <a:off x="10591800" y="28448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fr-FR" sz="1600" dirty="0"/>
          </a:p>
        </p:txBody>
      </p:sp>
      <p:sp>
        <p:nvSpPr>
          <p:cNvPr id="41" name="Text 38"/>
          <p:cNvSpPr/>
          <p:nvPr/>
        </p:nvSpPr>
        <p:spPr>
          <a:xfrm>
            <a:off x="10058400" y="3352800"/>
            <a:ext cx="16196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TCP/IP</a:t>
            </a:r>
            <a:endParaRPr lang="fr-FR" sz="1600" dirty="0"/>
          </a:p>
        </p:txBody>
      </p:sp>
      <p:sp>
        <p:nvSpPr>
          <p:cNvPr id="42" name="Text 39"/>
          <p:cNvSpPr/>
          <p:nvPr/>
        </p:nvSpPr>
        <p:spPr>
          <a:xfrm>
            <a:off x="10058400" y="37592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Échange rapide données, supervision PC, génération rapports</a:t>
            </a:r>
            <a:endParaRPr lang="fr-FR" sz="1600" dirty="0"/>
          </a:p>
        </p:txBody>
      </p:sp>
      <p:sp>
        <p:nvSpPr>
          <p:cNvPr id="43" name="Shape 40"/>
          <p:cNvSpPr/>
          <p:nvPr/>
        </p:nvSpPr>
        <p:spPr>
          <a:xfrm>
            <a:off x="9848850" y="4387850"/>
            <a:ext cx="5981700" cy="1130300"/>
          </a:xfrm>
          <a:custGeom>
            <a:avLst/>
            <a:gdLst/>
            <a:ahLst/>
            <a:cxnLst/>
            <a:rect l="l" t="t" r="r" b="b"/>
            <a:pathLst>
              <a:path w="5981700" h="1130300">
                <a:moveTo>
                  <a:pt x="101603" y="0"/>
                </a:moveTo>
                <a:lnTo>
                  <a:pt x="5880097" y="0"/>
                </a:lnTo>
                <a:cubicBezTo>
                  <a:pt x="5936211" y="0"/>
                  <a:pt x="5981700" y="45489"/>
                  <a:pt x="5981700" y="101603"/>
                </a:cubicBezTo>
                <a:lnTo>
                  <a:pt x="5981700" y="1028697"/>
                </a:lnTo>
                <a:cubicBezTo>
                  <a:pt x="5981700" y="1084811"/>
                  <a:pt x="5936211" y="1130300"/>
                  <a:pt x="58800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007600" y="4572000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Alimentation Puissance</a:t>
            </a:r>
            <a:endParaRPr lang="fr-FR" sz="1600" dirty="0"/>
          </a:p>
        </p:txBody>
      </p:sp>
      <p:sp>
        <p:nvSpPr>
          <p:cNvPr id="45" name="Text 42"/>
          <p:cNvSpPr/>
          <p:nvPr/>
        </p:nvSpPr>
        <p:spPr>
          <a:xfrm>
            <a:off x="15080059" y="45466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230V</a:t>
            </a:r>
            <a:endParaRPr lang="fr-FR" sz="1600" dirty="0"/>
          </a:p>
        </p:txBody>
      </p:sp>
      <p:sp>
        <p:nvSpPr>
          <p:cNvPr id="46" name="Text 43"/>
          <p:cNvSpPr/>
          <p:nvPr/>
        </p:nvSpPr>
        <p:spPr>
          <a:xfrm>
            <a:off x="10007600" y="50292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Alimentation Commande</a:t>
            </a:r>
            <a:endParaRPr lang="fr-FR" sz="1600" dirty="0"/>
          </a:p>
        </p:txBody>
      </p:sp>
      <p:sp>
        <p:nvSpPr>
          <p:cNvPr id="47" name="Text 44"/>
          <p:cNvSpPr/>
          <p:nvPr/>
        </p:nvSpPr>
        <p:spPr>
          <a:xfrm>
            <a:off x="14849872" y="50038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24V DC</a:t>
            </a:r>
            <a:endParaRPr lang="fr-FR" sz="1600" dirty="0"/>
          </a:p>
        </p:txBody>
      </p:sp>
      <p:pic>
        <p:nvPicPr>
          <p:cNvPr id="48" name="Image 47" descr="Mini-vérins-électriques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7155872"/>
            <a:ext cx="2591345" cy="1622157"/>
          </a:xfrm>
          <a:prstGeom prst="rect">
            <a:avLst/>
          </a:prstGeom>
        </p:spPr>
      </p:pic>
      <p:pic>
        <p:nvPicPr>
          <p:cNvPr id="49" name="Image 48" descr="motoréducteur 4-40Nm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9704" y="7079100"/>
            <a:ext cx="2306971" cy="1892300"/>
          </a:xfrm>
          <a:prstGeom prst="rect">
            <a:avLst/>
          </a:prstGeom>
        </p:spPr>
      </p:pic>
      <p:pic>
        <p:nvPicPr>
          <p:cNvPr id="50" name="Image 49" descr="motoréducteur 20-200Nm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0738" y="7009825"/>
            <a:ext cx="2509837" cy="1983477"/>
          </a:xfrm>
          <a:prstGeom prst="rect">
            <a:avLst/>
          </a:prstGeom>
        </p:spPr>
      </p:pic>
      <p:pic>
        <p:nvPicPr>
          <p:cNvPr id="51" name="Image 50" descr="S7-300.png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0850" y="6057900"/>
            <a:ext cx="6915150" cy="3276600"/>
          </a:xfrm>
          <a:prstGeom prst="rect">
            <a:avLst/>
          </a:prstGeom>
        </p:spPr>
      </p:pic>
      <p:pic>
        <p:nvPicPr>
          <p:cNvPr id="52" name="Image 51" descr="Ethernet TCP_IP.png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4381" y="91281"/>
            <a:ext cx="2941637" cy="2941637"/>
          </a:xfrm>
          <a:prstGeom prst="rect">
            <a:avLst/>
          </a:prstGeom>
        </p:spPr>
      </p:pic>
      <p:sp>
        <p:nvSpPr>
          <p:cNvPr id="53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8</a:t>
            </a:r>
            <a:endParaRPr lang="fr-FR" sz="1400" dirty="0">
              <a:solidFill>
                <a:srgbClr val="E89F5B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01650" y="1054100"/>
            <a:ext cx="9278925" cy="7889677"/>
          </a:xfrm>
          <a:prstGeom prst="rect">
            <a:avLst/>
          </a:prstGeom>
          <a:solidFill>
            <a:srgbClr val="1A1D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Shape 40"/>
          <p:cNvSpPr/>
          <p:nvPr/>
        </p:nvSpPr>
        <p:spPr>
          <a:xfrm>
            <a:off x="1182688" y="13208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6122" y="30559"/>
                </a:moveTo>
                <a:lnTo>
                  <a:pt x="113903" y="30559"/>
                </a:lnTo>
                <a:lnTo>
                  <a:pt x="113903" y="47228"/>
                </a:lnTo>
                <a:lnTo>
                  <a:pt x="86122" y="47228"/>
                </a:lnTo>
                <a:lnTo>
                  <a:pt x="86122" y="30559"/>
                </a:lnTo>
                <a:close/>
                <a:moveTo>
                  <a:pt x="83344" y="11112"/>
                </a:moveTo>
                <a:cubicBezTo>
                  <a:pt x="74141" y="11112"/>
                  <a:pt x="66675" y="18579"/>
                  <a:pt x="66675" y="27781"/>
                </a:cubicBezTo>
                <a:lnTo>
                  <a:pt x="66675" y="50006"/>
                </a:lnTo>
                <a:cubicBezTo>
                  <a:pt x="66675" y="59209"/>
                  <a:pt x="74141" y="66675"/>
                  <a:pt x="83344" y="66675"/>
                </a:cubicBezTo>
                <a:lnTo>
                  <a:pt x="88900" y="66675"/>
                </a:lnTo>
                <a:lnTo>
                  <a:pt x="88900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44450" y="100013"/>
                </a:lnTo>
                <a:lnTo>
                  <a:pt x="44450" y="111125"/>
                </a:lnTo>
                <a:lnTo>
                  <a:pt x="38894" y="111125"/>
                </a:lnTo>
                <a:cubicBezTo>
                  <a:pt x="29691" y="111125"/>
                  <a:pt x="22225" y="118591"/>
                  <a:pt x="22225" y="127794"/>
                </a:cubicBezTo>
                <a:lnTo>
                  <a:pt x="22225" y="150019"/>
                </a:lnTo>
                <a:cubicBezTo>
                  <a:pt x="22225" y="159221"/>
                  <a:pt x="29691" y="166688"/>
                  <a:pt x="38894" y="166688"/>
                </a:cubicBezTo>
                <a:lnTo>
                  <a:pt x="72231" y="166688"/>
                </a:lnTo>
                <a:cubicBezTo>
                  <a:pt x="81434" y="166688"/>
                  <a:pt x="88900" y="159221"/>
                  <a:pt x="88900" y="150019"/>
                </a:cubicBezTo>
                <a:lnTo>
                  <a:pt x="88900" y="127794"/>
                </a:lnTo>
                <a:cubicBezTo>
                  <a:pt x="88900" y="118591"/>
                  <a:pt x="81434" y="111125"/>
                  <a:pt x="72231" y="111125"/>
                </a:cubicBezTo>
                <a:lnTo>
                  <a:pt x="66675" y="111125"/>
                </a:lnTo>
                <a:lnTo>
                  <a:pt x="66675" y="100013"/>
                </a:lnTo>
                <a:lnTo>
                  <a:pt x="133350" y="100013"/>
                </a:lnTo>
                <a:lnTo>
                  <a:pt x="133350" y="111125"/>
                </a:lnTo>
                <a:lnTo>
                  <a:pt x="127794" y="111125"/>
                </a:lnTo>
                <a:cubicBezTo>
                  <a:pt x="118591" y="111125"/>
                  <a:pt x="111125" y="118591"/>
                  <a:pt x="111125" y="127794"/>
                </a:cubicBezTo>
                <a:lnTo>
                  <a:pt x="111125" y="150019"/>
                </a:lnTo>
                <a:cubicBezTo>
                  <a:pt x="111125" y="159221"/>
                  <a:pt x="118591" y="166688"/>
                  <a:pt x="127794" y="166688"/>
                </a:cubicBezTo>
                <a:lnTo>
                  <a:pt x="161131" y="166688"/>
                </a:lnTo>
                <a:cubicBezTo>
                  <a:pt x="170334" y="166688"/>
                  <a:pt x="177800" y="159221"/>
                  <a:pt x="177800" y="150019"/>
                </a:cubicBezTo>
                <a:lnTo>
                  <a:pt x="177800" y="127794"/>
                </a:lnTo>
                <a:cubicBezTo>
                  <a:pt x="177800" y="118591"/>
                  <a:pt x="170334" y="111125"/>
                  <a:pt x="161131" y="111125"/>
                </a:cubicBezTo>
                <a:lnTo>
                  <a:pt x="155575" y="111125"/>
                </a:lnTo>
                <a:lnTo>
                  <a:pt x="155575" y="100013"/>
                </a:lnTo>
                <a:lnTo>
                  <a:pt x="188913" y="100013"/>
                </a:lnTo>
                <a:cubicBezTo>
                  <a:pt x="195059" y="100013"/>
                  <a:pt x="200025" y="95047"/>
                  <a:pt x="200025" y="88900"/>
                </a:cubicBezTo>
                <a:cubicBezTo>
                  <a:pt x="200025" y="82753"/>
                  <a:pt x="195059" y="77788"/>
                  <a:pt x="188913" y="77788"/>
                </a:cubicBezTo>
                <a:lnTo>
                  <a:pt x="111125" y="77788"/>
                </a:lnTo>
                <a:lnTo>
                  <a:pt x="111125" y="66675"/>
                </a:lnTo>
                <a:lnTo>
                  <a:pt x="116681" y="66675"/>
                </a:lnTo>
                <a:cubicBezTo>
                  <a:pt x="125884" y="66675"/>
                  <a:pt x="133350" y="59209"/>
                  <a:pt x="133350" y="50006"/>
                </a:cubicBezTo>
                <a:lnTo>
                  <a:pt x="133350" y="27781"/>
                </a:lnTo>
                <a:cubicBezTo>
                  <a:pt x="133350" y="18579"/>
                  <a:pt x="125884" y="11112"/>
                  <a:pt x="116681" y="11112"/>
                </a:cubicBezTo>
                <a:lnTo>
                  <a:pt x="83344" y="11112"/>
                </a:lnTo>
                <a:close/>
                <a:moveTo>
                  <a:pt x="155575" y="130572"/>
                </a:moveTo>
                <a:lnTo>
                  <a:pt x="158353" y="130572"/>
                </a:lnTo>
                <a:lnTo>
                  <a:pt x="158353" y="147241"/>
                </a:lnTo>
                <a:lnTo>
                  <a:pt x="130572" y="147241"/>
                </a:lnTo>
                <a:lnTo>
                  <a:pt x="130572" y="130572"/>
                </a:lnTo>
                <a:lnTo>
                  <a:pt x="155575" y="130572"/>
                </a:lnTo>
                <a:close/>
                <a:moveTo>
                  <a:pt x="66675" y="130572"/>
                </a:moveTo>
                <a:lnTo>
                  <a:pt x="69453" y="130572"/>
                </a:lnTo>
                <a:lnTo>
                  <a:pt x="69453" y="147241"/>
                </a:lnTo>
                <a:lnTo>
                  <a:pt x="41672" y="147241"/>
                </a:lnTo>
                <a:lnTo>
                  <a:pt x="41672" y="130572"/>
                </a:lnTo>
                <a:lnTo>
                  <a:pt x="66675" y="130572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56" name="Text 41"/>
          <p:cNvSpPr/>
          <p:nvPr/>
        </p:nvSpPr>
        <p:spPr>
          <a:xfrm>
            <a:off x="1498600" y="12827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Communication PC ↔ API</a:t>
            </a:r>
            <a:endParaRPr lang="fr-FR" sz="1600" dirty="0"/>
          </a:p>
        </p:txBody>
      </p:sp>
      <p:sp>
        <p:nvSpPr>
          <p:cNvPr id="57" name="Shape 42"/>
          <p:cNvSpPr/>
          <p:nvPr/>
        </p:nvSpPr>
        <p:spPr>
          <a:xfrm>
            <a:off x="1174750" y="1746250"/>
            <a:ext cx="7480300" cy="4368800"/>
          </a:xfrm>
          <a:prstGeom prst="roundRect">
            <a:avLst>
              <a:gd name="adj" fmla="val 2326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390650" y="1962150"/>
            <a:ext cx="7048500" cy="1257300"/>
          </a:xfrm>
          <a:prstGeom prst="roundRect">
            <a:avLst>
              <a:gd name="adj" fmla="val 8081"/>
            </a:avLst>
          </a:prstGeom>
          <a:solidFill>
            <a:srgbClr val="1C398E">
              <a:alpha val="30196"/>
            </a:srgbClr>
          </a:solidFill>
          <a:ln w="12700">
            <a:solidFill>
              <a:srgbClr val="2B7FFF">
                <a:alpha val="30196"/>
              </a:srgbClr>
            </a:solidFill>
            <a:prstDash val="solid"/>
          </a:ln>
        </p:spPr>
      </p:sp>
      <p:sp>
        <p:nvSpPr>
          <p:cNvPr id="59" name="Shape 44"/>
          <p:cNvSpPr/>
          <p:nvPr/>
        </p:nvSpPr>
        <p:spPr>
          <a:xfrm>
            <a:off x="1549400" y="2120900"/>
            <a:ext cx="406400" cy="406400"/>
          </a:xfrm>
          <a:prstGeom prst="roundRect">
            <a:avLst>
              <a:gd name="adj" fmla="val 125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60" name="Shape 45"/>
          <p:cNvSpPr/>
          <p:nvPr/>
        </p:nvSpPr>
        <p:spPr>
          <a:xfrm>
            <a:off x="1651000" y="2222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61" name="Text 46"/>
          <p:cNvSpPr/>
          <p:nvPr/>
        </p:nvSpPr>
        <p:spPr>
          <a:xfrm>
            <a:off x="2108200" y="21971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 Supervision (MAÎTRE)</a:t>
            </a:r>
            <a:endParaRPr lang="fr-FR" sz="1600" dirty="0"/>
          </a:p>
        </p:txBody>
      </p:sp>
      <p:sp>
        <p:nvSpPr>
          <p:cNvPr id="62" name="Shape 47"/>
          <p:cNvSpPr/>
          <p:nvPr/>
        </p:nvSpPr>
        <p:spPr>
          <a:xfrm>
            <a:off x="1577975" y="2641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27146" y="10984"/>
                </a:moveTo>
                <a:cubicBezTo>
                  <a:pt x="23455" y="8959"/>
                  <a:pt x="18990" y="9049"/>
                  <a:pt x="15359" y="11192"/>
                </a:cubicBezTo>
                <a:cubicBezTo>
                  <a:pt x="11728" y="13335"/>
                  <a:pt x="9525" y="17234"/>
                  <a:pt x="9525" y="21431"/>
                </a:cubicBezTo>
                <a:lnTo>
                  <a:pt x="9525" y="130969"/>
                </a:lnTo>
                <a:cubicBezTo>
                  <a:pt x="9525" y="135166"/>
                  <a:pt x="11757" y="139065"/>
                  <a:pt x="15359" y="141208"/>
                </a:cubicBezTo>
                <a:cubicBezTo>
                  <a:pt x="18961" y="143351"/>
                  <a:pt x="23455" y="143441"/>
                  <a:pt x="27146" y="141416"/>
                </a:cubicBezTo>
                <a:lnTo>
                  <a:pt x="127159" y="86648"/>
                </a:lnTo>
                <a:cubicBezTo>
                  <a:pt x="130969" y="84564"/>
                  <a:pt x="133350" y="80546"/>
                  <a:pt x="133350" y="76200"/>
                </a:cubicBezTo>
                <a:cubicBezTo>
                  <a:pt x="133350" y="71854"/>
                  <a:pt x="130969" y="67836"/>
                  <a:pt x="127159" y="65752"/>
                </a:cubicBezTo>
                <a:lnTo>
                  <a:pt x="27146" y="10984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3" name="Text 48"/>
          <p:cNvSpPr/>
          <p:nvPr/>
        </p:nvSpPr>
        <p:spPr>
          <a:xfrm>
            <a:off x="1790700" y="2628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Lancer cycles</a:t>
            </a:r>
            <a:endParaRPr lang="fr-FR" sz="1600" dirty="0"/>
          </a:p>
        </p:txBody>
      </p:sp>
      <p:sp>
        <p:nvSpPr>
          <p:cNvPr id="64" name="Shape 49"/>
          <p:cNvSpPr/>
          <p:nvPr/>
        </p:nvSpPr>
        <p:spPr>
          <a:xfrm>
            <a:off x="4949825" y="26416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5" name="Text 50"/>
          <p:cNvSpPr/>
          <p:nvPr/>
        </p:nvSpPr>
        <p:spPr>
          <a:xfrm>
            <a:off x="5181600" y="2628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Visualiser mesures</a:t>
            </a:r>
            <a:endParaRPr lang="fr-FR" sz="1600" dirty="0"/>
          </a:p>
        </p:txBody>
      </p:sp>
      <p:sp>
        <p:nvSpPr>
          <p:cNvPr id="66" name="Shape 51"/>
          <p:cNvSpPr/>
          <p:nvPr/>
        </p:nvSpPr>
        <p:spPr>
          <a:xfrm>
            <a:off x="1587500" y="28829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7" name="Text 52"/>
          <p:cNvSpPr/>
          <p:nvPr/>
        </p:nvSpPr>
        <p:spPr>
          <a:xfrm>
            <a:off x="1790700" y="28702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Générer rapports</a:t>
            </a:r>
            <a:endParaRPr lang="fr-FR" sz="1600" dirty="0"/>
          </a:p>
        </p:txBody>
      </p:sp>
      <p:sp>
        <p:nvSpPr>
          <p:cNvPr id="68" name="Shape 53"/>
          <p:cNvSpPr/>
          <p:nvPr/>
        </p:nvSpPr>
        <p:spPr>
          <a:xfrm>
            <a:off x="4940300" y="2882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69" name="Text 54"/>
          <p:cNvSpPr/>
          <p:nvPr/>
        </p:nvSpPr>
        <p:spPr>
          <a:xfrm>
            <a:off x="5181600" y="28702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Envoyer consignes</a:t>
            </a:r>
            <a:endParaRPr lang="fr-FR" sz="1600" dirty="0"/>
          </a:p>
        </p:txBody>
      </p:sp>
      <p:sp>
        <p:nvSpPr>
          <p:cNvPr id="70" name="Text 55"/>
          <p:cNvSpPr/>
          <p:nvPr/>
        </p:nvSpPr>
        <p:spPr>
          <a:xfrm>
            <a:off x="4372570" y="3594100"/>
            <a:ext cx="115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TCP/IP</a:t>
            </a:r>
            <a:endParaRPr lang="fr-FR" sz="1600" dirty="0"/>
          </a:p>
        </p:txBody>
      </p:sp>
      <p:sp>
        <p:nvSpPr>
          <p:cNvPr id="71" name="Text 56"/>
          <p:cNvSpPr/>
          <p:nvPr/>
        </p:nvSpPr>
        <p:spPr>
          <a:xfrm>
            <a:off x="3468291" y="3835400"/>
            <a:ext cx="850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← Données</a:t>
            </a:r>
            <a:endParaRPr lang="fr-FR" sz="1600" dirty="0"/>
          </a:p>
        </p:txBody>
      </p:sp>
      <p:sp>
        <p:nvSpPr>
          <p:cNvPr id="72" name="Shape 57"/>
          <p:cNvSpPr/>
          <p:nvPr/>
        </p:nvSpPr>
        <p:spPr>
          <a:xfrm>
            <a:off x="4348163" y="3917950"/>
            <a:ext cx="1016000" cy="25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7FFF"/>
              </a:gs>
              <a:gs pos="100000">
                <a:srgbClr val="FF6900"/>
              </a:gs>
            </a:gsLst>
            <a:lin ang="0" scaled="1"/>
          </a:gradFill>
          <a:ln/>
        </p:spPr>
      </p:sp>
      <p:sp>
        <p:nvSpPr>
          <p:cNvPr id="73" name="Text 58"/>
          <p:cNvSpPr/>
          <p:nvPr/>
        </p:nvSpPr>
        <p:spPr>
          <a:xfrm>
            <a:off x="5465763" y="3835400"/>
            <a:ext cx="97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Consignes →</a:t>
            </a:r>
            <a:endParaRPr lang="fr-FR" sz="1600" dirty="0"/>
          </a:p>
        </p:txBody>
      </p:sp>
      <p:sp>
        <p:nvSpPr>
          <p:cNvPr id="74" name="Text 59"/>
          <p:cNvSpPr/>
          <p:nvPr/>
        </p:nvSpPr>
        <p:spPr>
          <a:xfrm>
            <a:off x="3634383" y="4076700"/>
            <a:ext cx="264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Protocole Siemens S7 Communication</a:t>
            </a:r>
            <a:endParaRPr lang="fr-FR" sz="1600" dirty="0"/>
          </a:p>
        </p:txBody>
      </p:sp>
      <p:sp>
        <p:nvSpPr>
          <p:cNvPr id="75" name="Shape 60"/>
          <p:cNvSpPr/>
          <p:nvPr/>
        </p:nvSpPr>
        <p:spPr>
          <a:xfrm>
            <a:off x="1390650" y="4641850"/>
            <a:ext cx="7048500" cy="1257300"/>
          </a:xfrm>
          <a:prstGeom prst="roundRect">
            <a:avLst>
              <a:gd name="adj" fmla="val 8081"/>
            </a:avLst>
          </a:prstGeom>
          <a:solidFill>
            <a:srgbClr val="7E2A0C">
              <a:alpha val="30196"/>
            </a:srgbClr>
          </a:solidFill>
          <a:ln w="12700">
            <a:solidFill>
              <a:srgbClr val="FF6900">
                <a:alpha val="30196"/>
              </a:srgbClr>
            </a:solidFill>
            <a:prstDash val="solid"/>
          </a:ln>
        </p:spPr>
      </p:sp>
      <p:sp>
        <p:nvSpPr>
          <p:cNvPr id="76" name="Shape 61"/>
          <p:cNvSpPr/>
          <p:nvPr/>
        </p:nvSpPr>
        <p:spPr>
          <a:xfrm>
            <a:off x="1549400" y="4800600"/>
            <a:ext cx="406400" cy="406400"/>
          </a:xfrm>
          <a:prstGeom prst="roundRect">
            <a:avLst>
              <a:gd name="adj" fmla="val 12500"/>
            </a:avLst>
          </a:prstGeom>
          <a:solidFill>
            <a:srgbClr val="FF6900">
              <a:alpha val="20000"/>
            </a:srgbClr>
          </a:solidFill>
          <a:ln/>
        </p:spPr>
      </p:sp>
      <p:sp>
        <p:nvSpPr>
          <p:cNvPr id="77" name="Shape 62"/>
          <p:cNvSpPr/>
          <p:nvPr/>
        </p:nvSpPr>
        <p:spPr>
          <a:xfrm>
            <a:off x="1651000" y="4902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8" name="Text 63"/>
          <p:cNvSpPr/>
          <p:nvPr/>
        </p:nvSpPr>
        <p:spPr>
          <a:xfrm>
            <a:off x="2108200" y="48768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S7-300 (ESCLAVE)</a:t>
            </a:r>
            <a:endParaRPr lang="fr-FR" sz="1600" dirty="0"/>
          </a:p>
        </p:txBody>
      </p:sp>
      <p:sp>
        <p:nvSpPr>
          <p:cNvPr id="79" name="Shape 64"/>
          <p:cNvSpPr/>
          <p:nvPr/>
        </p:nvSpPr>
        <p:spPr>
          <a:xfrm>
            <a:off x="1568450" y="532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80" name="Text 65"/>
          <p:cNvSpPr/>
          <p:nvPr/>
        </p:nvSpPr>
        <p:spPr>
          <a:xfrm>
            <a:off x="1790700" y="5308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Piloter actionneurs</a:t>
            </a:r>
            <a:endParaRPr lang="fr-FR" sz="1600" dirty="0"/>
          </a:p>
        </p:txBody>
      </p:sp>
      <p:sp>
        <p:nvSpPr>
          <p:cNvPr id="81" name="Shape 66"/>
          <p:cNvSpPr/>
          <p:nvPr/>
        </p:nvSpPr>
        <p:spPr>
          <a:xfrm>
            <a:off x="4959350" y="5321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82" name="Text 67"/>
          <p:cNvSpPr/>
          <p:nvPr/>
        </p:nvSpPr>
        <p:spPr>
          <a:xfrm>
            <a:off x="5181600" y="53086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Gérer sécurités</a:t>
            </a:r>
            <a:endParaRPr lang="fr-FR" sz="1600" dirty="0"/>
          </a:p>
        </p:txBody>
      </p:sp>
      <p:sp>
        <p:nvSpPr>
          <p:cNvPr id="83" name="Shape 68"/>
          <p:cNvSpPr/>
          <p:nvPr/>
        </p:nvSpPr>
        <p:spPr>
          <a:xfrm>
            <a:off x="1568450" y="5562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84" name="Text 69"/>
          <p:cNvSpPr/>
          <p:nvPr/>
        </p:nvSpPr>
        <p:spPr>
          <a:xfrm>
            <a:off x="1790700" y="5549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 capteurs</a:t>
            </a:r>
            <a:endParaRPr lang="fr-FR" sz="1600" dirty="0"/>
          </a:p>
        </p:txBody>
      </p:sp>
      <p:sp>
        <p:nvSpPr>
          <p:cNvPr id="85" name="Shape 70"/>
          <p:cNvSpPr/>
          <p:nvPr/>
        </p:nvSpPr>
        <p:spPr>
          <a:xfrm>
            <a:off x="4959350" y="5562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86" name="Text 71"/>
          <p:cNvSpPr/>
          <p:nvPr/>
        </p:nvSpPr>
        <p:spPr>
          <a:xfrm>
            <a:off x="5181600" y="5549900"/>
            <a:ext cx="317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Traiter données</a:t>
            </a:r>
            <a:endParaRPr lang="fr-FR" sz="1600" dirty="0"/>
          </a:p>
        </p:txBody>
      </p:sp>
      <p:sp>
        <p:nvSpPr>
          <p:cNvPr id="87" name="Shape 72"/>
          <p:cNvSpPr/>
          <p:nvPr/>
        </p:nvSpPr>
        <p:spPr>
          <a:xfrm>
            <a:off x="1174750" y="6280150"/>
            <a:ext cx="7480300" cy="1816100"/>
          </a:xfrm>
          <a:prstGeom prst="roundRect">
            <a:avLst>
              <a:gd name="adj" fmla="val 559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1333500" y="6438900"/>
            <a:ext cx="723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Détail des Échanges</a:t>
            </a:r>
            <a:endParaRPr lang="fr-FR" sz="1600" dirty="0"/>
          </a:p>
        </p:txBody>
      </p:sp>
      <p:sp>
        <p:nvSpPr>
          <p:cNvPr id="89" name="Shape 74"/>
          <p:cNvSpPr/>
          <p:nvPr/>
        </p:nvSpPr>
        <p:spPr>
          <a:xfrm>
            <a:off x="1333500" y="6731000"/>
            <a:ext cx="3530600" cy="1206500"/>
          </a:xfrm>
          <a:prstGeom prst="roundRect">
            <a:avLst>
              <a:gd name="adj" fmla="val 4211"/>
            </a:avLst>
          </a:prstGeom>
          <a:solidFill>
            <a:srgbClr val="2B7FFF">
              <a:alpha val="10196"/>
            </a:srgbClr>
          </a:solidFill>
          <a:ln/>
        </p:spPr>
      </p:sp>
      <p:sp>
        <p:nvSpPr>
          <p:cNvPr id="90" name="Text 75"/>
          <p:cNvSpPr/>
          <p:nvPr/>
        </p:nvSpPr>
        <p:spPr>
          <a:xfrm>
            <a:off x="1435100" y="68326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51A2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 → API</a:t>
            </a:r>
            <a:endParaRPr lang="fr-FR" sz="1600" dirty="0"/>
          </a:p>
        </p:txBody>
      </p:sp>
      <p:sp>
        <p:nvSpPr>
          <p:cNvPr id="91" name="Text 76"/>
          <p:cNvSpPr/>
          <p:nvPr/>
        </p:nvSpPr>
        <p:spPr>
          <a:xfrm>
            <a:off x="1435100" y="70739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Programme (Vérif/Calib)</a:t>
            </a:r>
            <a:endParaRPr lang="fr-FR" sz="1600" dirty="0"/>
          </a:p>
        </p:txBody>
      </p:sp>
      <p:sp>
        <p:nvSpPr>
          <p:cNvPr id="92" name="Text 77"/>
          <p:cNvSpPr/>
          <p:nvPr/>
        </p:nvSpPr>
        <p:spPr>
          <a:xfrm>
            <a:off x="1435100" y="7350899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Plage de couple</a:t>
            </a:r>
            <a:endParaRPr lang="fr-FR" sz="1600" dirty="0"/>
          </a:p>
        </p:txBody>
      </p:sp>
      <p:sp>
        <p:nvSpPr>
          <p:cNvPr id="94" name="Text 79"/>
          <p:cNvSpPr/>
          <p:nvPr/>
        </p:nvSpPr>
        <p:spPr>
          <a:xfrm>
            <a:off x="1435100" y="7620686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Lancement cycle</a:t>
            </a:r>
            <a:endParaRPr lang="fr-FR" sz="1600" dirty="0"/>
          </a:p>
        </p:txBody>
      </p:sp>
      <p:sp>
        <p:nvSpPr>
          <p:cNvPr id="95" name="Shape 80"/>
          <p:cNvSpPr/>
          <p:nvPr/>
        </p:nvSpPr>
        <p:spPr>
          <a:xfrm>
            <a:off x="4965700" y="6731000"/>
            <a:ext cx="3530600" cy="1206500"/>
          </a:xfrm>
          <a:prstGeom prst="roundRect">
            <a:avLst>
              <a:gd name="adj" fmla="val 4211"/>
            </a:avLst>
          </a:prstGeom>
          <a:solidFill>
            <a:srgbClr val="FF6900">
              <a:alpha val="10196"/>
            </a:srgbClr>
          </a:solidFill>
          <a:ln/>
        </p:spPr>
      </p:sp>
      <p:sp>
        <p:nvSpPr>
          <p:cNvPr id="96" name="Text 81"/>
          <p:cNvSpPr/>
          <p:nvPr/>
        </p:nvSpPr>
        <p:spPr>
          <a:xfrm>
            <a:off x="5067300" y="68326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890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→ PC</a:t>
            </a:r>
            <a:endParaRPr lang="fr-FR" sz="1600" dirty="0"/>
          </a:p>
        </p:txBody>
      </p:sp>
      <p:sp>
        <p:nvSpPr>
          <p:cNvPr id="97" name="Text 82"/>
          <p:cNvSpPr/>
          <p:nvPr/>
        </p:nvSpPr>
        <p:spPr>
          <a:xfrm>
            <a:off x="5067300" y="70739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Mesures couple (Nm)</a:t>
            </a:r>
            <a:endParaRPr lang="fr-FR" sz="1600" dirty="0"/>
          </a:p>
        </p:txBody>
      </p:sp>
      <p:sp>
        <p:nvSpPr>
          <p:cNvPr id="98" name="Text 83"/>
          <p:cNvSpPr/>
          <p:nvPr/>
        </p:nvSpPr>
        <p:spPr>
          <a:xfrm>
            <a:off x="5067300" y="7375613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États du cycle</a:t>
            </a:r>
            <a:endParaRPr lang="fr-FR" sz="1600" dirty="0"/>
          </a:p>
        </p:txBody>
      </p:sp>
      <p:sp>
        <p:nvSpPr>
          <p:cNvPr id="100" name="Text 85"/>
          <p:cNvSpPr/>
          <p:nvPr/>
        </p:nvSpPr>
        <p:spPr>
          <a:xfrm>
            <a:off x="5067300" y="76454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Messages d'erreur</a:t>
            </a:r>
            <a:endParaRPr lang="fr-FR" sz="1600" dirty="0"/>
          </a:p>
        </p:txBody>
      </p:sp>
      <p:sp>
        <p:nvSpPr>
          <p:cNvPr id="101" name="Text 87"/>
          <p:cNvSpPr/>
          <p:nvPr/>
        </p:nvSpPr>
        <p:spPr>
          <a:xfrm>
            <a:off x="1371600" y="8255000"/>
            <a:ext cx="732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Logiciel : Siemens TIA Portal / STEP 7 Professional</a:t>
            </a:r>
            <a:endParaRPr lang="fr-FR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  <p:bldP spid="34" grpId="0" animBg="1"/>
      <p:bldP spid="35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54" grpId="0" animBg="1"/>
      <p:bldP spid="54" grpId="1" animBg="1"/>
      <p:bldP spid="56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0" grpId="0" animBg="1"/>
      <p:bldP spid="71" grpId="0" animBg="1"/>
      <p:bldP spid="73" grpId="0" animBg="1"/>
      <p:bldP spid="74" grpId="0" animBg="1"/>
      <p:bldP spid="78" grpId="0" animBg="1"/>
      <p:bldP spid="80" grpId="0" animBg="1"/>
      <p:bldP spid="82" grpId="0" animBg="1"/>
      <p:bldP spid="84" grpId="0" animBg="1"/>
      <p:bldP spid="86" grpId="0" animBg="1"/>
      <p:bldP spid="88" grpId="0" animBg="1"/>
      <p:bldP spid="90" grpId="0" animBg="1"/>
      <p:bldP spid="91" grpId="0" animBg="1"/>
      <p:bldP spid="92" grpId="0" animBg="1"/>
      <p:bldP spid="94" grpId="0" animBg="1"/>
      <p:bldP spid="96" grpId="0" animBg="1"/>
      <p:bldP spid="97" grpId="0" animBg="1"/>
      <p:bldP spid="98" grpId="0" animBg="1"/>
      <p:bldP spid="100" grpId="0" animBg="1"/>
      <p:bldP spid="1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ANALYSE FONCTIONNELLE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Décomposition Fonctionnelle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689100"/>
            <a:ext cx="15214600" cy="2209800"/>
          </a:xfrm>
          <a:custGeom>
            <a:avLst/>
            <a:gdLst/>
            <a:ahLst/>
            <a:cxnLst/>
            <a:rect l="l" t="t" r="r" b="b"/>
            <a:pathLst>
              <a:path w="15214600" h="2209800">
                <a:moveTo>
                  <a:pt x="101607" y="0"/>
                </a:moveTo>
                <a:lnTo>
                  <a:pt x="15112993" y="0"/>
                </a:lnTo>
                <a:cubicBezTo>
                  <a:pt x="15169109" y="0"/>
                  <a:pt x="15214600" y="45491"/>
                  <a:pt x="15214600" y="101607"/>
                </a:cubicBezTo>
                <a:lnTo>
                  <a:pt x="15214600" y="2108193"/>
                </a:lnTo>
                <a:cubicBezTo>
                  <a:pt x="15214600" y="2164309"/>
                  <a:pt x="15169109" y="2209800"/>
                  <a:pt x="15112993" y="2209800"/>
                </a:cubicBezTo>
                <a:lnTo>
                  <a:pt x="101607" y="2209800"/>
                </a:lnTo>
                <a:cubicBezTo>
                  <a:pt x="45491" y="2209800"/>
                  <a:pt x="0" y="2164309"/>
                  <a:pt x="0" y="21081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30000"/>
                </a:srgbClr>
              </a:gs>
              <a:gs pos="100000">
                <a:srgbClr val="E89F5B">
                  <a:alpha val="10000"/>
                </a:srgbClr>
              </a:gs>
            </a:gsLst>
            <a:lin ang="0" scaled="1"/>
          </a:gradFill>
          <a:ln w="25400">
            <a:solidFill>
              <a:srgbClr val="E89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7400" y="1955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701800" y="2114550"/>
            <a:ext cx="2552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 Globale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723900" y="2819400"/>
            <a:ext cx="14808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Assurer automatiquement la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vérification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la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calibration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d'une clé dynamométrique Mt Alpha V1+, dans des conditions sécurisées et conformes à la norme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fr-FR" sz="2000" b="1" dirty="0">
              <a:solidFill>
                <a:srgbClr val="E89F5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350" y="4171950"/>
            <a:ext cx="4902200" cy="4457700"/>
          </a:xfrm>
          <a:custGeom>
            <a:avLst/>
            <a:gdLst/>
            <a:ahLst/>
            <a:cxnLst/>
            <a:rect l="l" t="t" r="r" b="b"/>
            <a:pathLst>
              <a:path w="4902200" h="4457700">
                <a:moveTo>
                  <a:pt x="101591" y="0"/>
                </a:moveTo>
                <a:lnTo>
                  <a:pt x="4800609" y="0"/>
                </a:lnTo>
                <a:cubicBezTo>
                  <a:pt x="4856716" y="0"/>
                  <a:pt x="4902200" y="45484"/>
                  <a:pt x="4902200" y="101591"/>
                </a:cubicBezTo>
                <a:lnTo>
                  <a:pt x="4902200" y="4356109"/>
                </a:lnTo>
                <a:cubicBezTo>
                  <a:pt x="4902200" y="4412216"/>
                  <a:pt x="4856716" y="4457700"/>
                  <a:pt x="4800609" y="4457700"/>
                </a:cubicBezTo>
                <a:lnTo>
                  <a:pt x="101591" y="4457700"/>
                </a:lnTo>
                <a:cubicBezTo>
                  <a:pt x="45484" y="4457700"/>
                  <a:pt x="0" y="4412216"/>
                  <a:pt x="0" y="4356109"/>
                </a:cubicBezTo>
                <a:lnTo>
                  <a:pt x="0" y="101591"/>
                </a:lnTo>
                <a:cubicBezTo>
                  <a:pt x="0" y="45521"/>
                  <a:pt x="45521" y="0"/>
                  <a:pt x="1015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4700" y="4432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461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536700" y="4559300"/>
            <a:ext cx="243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Critiques</a:t>
            </a:r>
            <a:endParaRPr lang="fr-FR" sz="1600" dirty="0"/>
          </a:p>
        </p:txBody>
      </p:sp>
      <p:sp>
        <p:nvSpPr>
          <p:cNvPr id="13" name="Shape 11"/>
          <p:cNvSpPr/>
          <p:nvPr/>
        </p:nvSpPr>
        <p:spPr>
          <a:xfrm>
            <a:off x="774700" y="55118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01700" y="566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2700" y="56134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Sécuriser le banc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774700" y="65532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700" y="670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40" y="76200"/>
                </a:moveTo>
                <a:lnTo>
                  <a:pt x="193675" y="76200"/>
                </a:lnTo>
                <a:cubicBezTo>
                  <a:pt x="198953" y="76200"/>
                  <a:pt x="203200" y="71953"/>
                  <a:pt x="203200" y="66675"/>
                </a:cubicBezTo>
                <a:lnTo>
                  <a:pt x="203200" y="9525"/>
                </a:lnTo>
                <a:cubicBezTo>
                  <a:pt x="203200" y="5675"/>
                  <a:pt x="200898" y="2183"/>
                  <a:pt x="197326" y="714"/>
                </a:cubicBezTo>
                <a:cubicBezTo>
                  <a:pt x="193754" y="-754"/>
                  <a:pt x="189667" y="79"/>
                  <a:pt x="186928" y="2778"/>
                </a:cubicBezTo>
                <a:lnTo>
                  <a:pt x="166410" y="23336"/>
                </a:lnTo>
                <a:cubicBezTo>
                  <a:pt x="148828" y="8771"/>
                  <a:pt x="126206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ubicBezTo>
                  <a:pt x="31433" y="53777"/>
                  <a:pt x="63222" y="25400"/>
                  <a:pt x="101600" y="25400"/>
                </a:cubicBezTo>
                <a:cubicBezTo>
                  <a:pt x="119221" y="25400"/>
                  <a:pt x="135414" y="31353"/>
                  <a:pt x="148312" y="41394"/>
                </a:cubicBezTo>
                <a:lnTo>
                  <a:pt x="129778" y="59928"/>
                </a:lnTo>
                <a:cubicBezTo>
                  <a:pt x="127040" y="62667"/>
                  <a:pt x="126246" y="66754"/>
                  <a:pt x="127714" y="70326"/>
                </a:cubicBezTo>
                <a:cubicBezTo>
                  <a:pt x="129183" y="73898"/>
                  <a:pt x="132675" y="76200"/>
                  <a:pt x="136525" y="76200"/>
                </a:cubicBezTo>
                <a:lnTo>
                  <a:pt x="190540" y="76200"/>
                </a:lnTo>
                <a:close/>
                <a:moveTo>
                  <a:pt x="202208" y="116086"/>
                </a:moveTo>
                <a:cubicBezTo>
                  <a:pt x="203200" y="109141"/>
                  <a:pt x="198358" y="102711"/>
                  <a:pt x="191452" y="101719"/>
                </a:cubicBezTo>
                <a:cubicBezTo>
                  <a:pt x="184547" y="100727"/>
                  <a:pt x="178078" y="105569"/>
                  <a:pt x="177086" y="112474"/>
                </a:cubicBezTo>
                <a:cubicBezTo>
                  <a:pt x="171807" y="149384"/>
                  <a:pt x="140017" y="177760"/>
                  <a:pt x="101640" y="177760"/>
                </a:cubicBezTo>
                <a:cubicBezTo>
                  <a:pt x="84018" y="177760"/>
                  <a:pt x="67826" y="171807"/>
                  <a:pt x="54928" y="161766"/>
                </a:cubicBezTo>
                <a:lnTo>
                  <a:pt x="73422" y="143272"/>
                </a:lnTo>
                <a:cubicBezTo>
                  <a:pt x="76160" y="140533"/>
                  <a:pt x="76954" y="136446"/>
                  <a:pt x="75486" y="132874"/>
                </a:cubicBezTo>
                <a:cubicBezTo>
                  <a:pt x="74017" y="129302"/>
                  <a:pt x="70525" y="127000"/>
                  <a:pt x="66675" y="127000"/>
                </a:cubicBezTo>
                <a:lnTo>
                  <a:pt x="9525" y="127000"/>
                </a:lnTo>
                <a:cubicBezTo>
                  <a:pt x="4247" y="127000"/>
                  <a:pt x="0" y="131247"/>
                  <a:pt x="0" y="136525"/>
                </a:cubicBezTo>
                <a:lnTo>
                  <a:pt x="0" y="193675"/>
                </a:lnTo>
                <a:cubicBezTo>
                  <a:pt x="0" y="197525"/>
                  <a:pt x="2302" y="201017"/>
                  <a:pt x="5874" y="202486"/>
                </a:cubicBezTo>
                <a:cubicBezTo>
                  <a:pt x="9446" y="203954"/>
                  <a:pt x="13533" y="203121"/>
                  <a:pt x="16272" y="200422"/>
                </a:cubicBezTo>
                <a:lnTo>
                  <a:pt x="36830" y="179864"/>
                </a:lnTo>
                <a:cubicBezTo>
                  <a:pt x="54372" y="194429"/>
                  <a:pt x="76994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2700" y="6654800"/>
            <a:ext cx="18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Appliquer le couple</a:t>
            </a:r>
            <a:endParaRPr lang="fr-FR" sz="1600" dirty="0"/>
          </a:p>
        </p:txBody>
      </p:sp>
      <p:sp>
        <p:nvSpPr>
          <p:cNvPr id="19" name="Shape 17"/>
          <p:cNvSpPr/>
          <p:nvPr/>
        </p:nvSpPr>
        <p:spPr>
          <a:xfrm>
            <a:off x="774700" y="75946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000" y="7747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2987" y="204867"/>
                </a:moveTo>
                <a:cubicBezTo>
                  <a:pt x="75565" y="212288"/>
                  <a:pt x="63500" y="212288"/>
                  <a:pt x="56039" y="204867"/>
                </a:cubicBezTo>
                <a:lnTo>
                  <a:pt x="11152" y="159980"/>
                </a:lnTo>
                <a:cubicBezTo>
                  <a:pt x="3731" y="152559"/>
                  <a:pt x="3731" y="140494"/>
                  <a:pt x="11152" y="133033"/>
                </a:cubicBezTo>
                <a:lnTo>
                  <a:pt x="17899" y="126286"/>
                </a:lnTo>
                <a:lnTo>
                  <a:pt x="47069" y="155456"/>
                </a:lnTo>
                <a:cubicBezTo>
                  <a:pt x="50800" y="159187"/>
                  <a:pt x="56832" y="159187"/>
                  <a:pt x="60523" y="155456"/>
                </a:cubicBezTo>
                <a:cubicBezTo>
                  <a:pt x="64214" y="151725"/>
                  <a:pt x="64254" y="145693"/>
                  <a:pt x="60523" y="142002"/>
                </a:cubicBezTo>
                <a:lnTo>
                  <a:pt x="31353" y="112832"/>
                </a:lnTo>
                <a:lnTo>
                  <a:pt x="44807" y="99378"/>
                </a:lnTo>
                <a:lnTo>
                  <a:pt x="65008" y="119578"/>
                </a:lnTo>
                <a:cubicBezTo>
                  <a:pt x="68739" y="123309"/>
                  <a:pt x="74771" y="123309"/>
                  <a:pt x="78462" y="119578"/>
                </a:cubicBezTo>
                <a:cubicBezTo>
                  <a:pt x="82153" y="115848"/>
                  <a:pt x="82193" y="109815"/>
                  <a:pt x="78462" y="106124"/>
                </a:cubicBezTo>
                <a:lnTo>
                  <a:pt x="58261" y="85923"/>
                </a:lnTo>
                <a:lnTo>
                  <a:pt x="71715" y="72469"/>
                </a:lnTo>
                <a:lnTo>
                  <a:pt x="100886" y="101640"/>
                </a:lnTo>
                <a:cubicBezTo>
                  <a:pt x="104616" y="105370"/>
                  <a:pt x="110649" y="105370"/>
                  <a:pt x="114340" y="101640"/>
                </a:cubicBezTo>
                <a:cubicBezTo>
                  <a:pt x="118031" y="97909"/>
                  <a:pt x="118070" y="91877"/>
                  <a:pt x="114340" y="88186"/>
                </a:cubicBezTo>
                <a:lnTo>
                  <a:pt x="85169" y="59015"/>
                </a:lnTo>
                <a:lnTo>
                  <a:pt x="98623" y="45561"/>
                </a:lnTo>
                <a:lnTo>
                  <a:pt x="118824" y="65762"/>
                </a:lnTo>
                <a:cubicBezTo>
                  <a:pt x="122555" y="69493"/>
                  <a:pt x="128588" y="69493"/>
                  <a:pt x="132278" y="65762"/>
                </a:cubicBezTo>
                <a:cubicBezTo>
                  <a:pt x="135969" y="62032"/>
                  <a:pt x="136009" y="55999"/>
                  <a:pt x="132278" y="52308"/>
                </a:cubicBezTo>
                <a:lnTo>
                  <a:pt x="112078" y="32107"/>
                </a:lnTo>
                <a:lnTo>
                  <a:pt x="125532" y="18653"/>
                </a:lnTo>
                <a:lnTo>
                  <a:pt x="154702" y="47823"/>
                </a:lnTo>
                <a:cubicBezTo>
                  <a:pt x="158433" y="51554"/>
                  <a:pt x="164465" y="51554"/>
                  <a:pt x="168156" y="47823"/>
                </a:cubicBezTo>
                <a:cubicBezTo>
                  <a:pt x="171847" y="44093"/>
                  <a:pt x="171887" y="38060"/>
                  <a:pt x="168156" y="34369"/>
                </a:cubicBezTo>
                <a:lnTo>
                  <a:pt x="138986" y="5199"/>
                </a:lnTo>
                <a:lnTo>
                  <a:pt x="145733" y="-1548"/>
                </a:lnTo>
                <a:cubicBezTo>
                  <a:pt x="153154" y="-8969"/>
                  <a:pt x="165219" y="-8969"/>
                  <a:pt x="172680" y="-1548"/>
                </a:cubicBezTo>
                <a:lnTo>
                  <a:pt x="217686" y="43220"/>
                </a:lnTo>
                <a:cubicBezTo>
                  <a:pt x="225108" y="50641"/>
                  <a:pt x="225108" y="62706"/>
                  <a:pt x="217686" y="70168"/>
                </a:cubicBezTo>
                <a:lnTo>
                  <a:pt x="82987" y="204867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1" name="Text 19"/>
          <p:cNvSpPr/>
          <p:nvPr/>
        </p:nvSpPr>
        <p:spPr>
          <a:xfrm>
            <a:off x="1282700" y="7696200"/>
            <a:ext cx="168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Mesurer le couple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5678884" y="4171950"/>
            <a:ext cx="4902200" cy="4457700"/>
          </a:xfrm>
          <a:custGeom>
            <a:avLst/>
            <a:gdLst/>
            <a:ahLst/>
            <a:cxnLst/>
            <a:rect l="l" t="t" r="r" b="b"/>
            <a:pathLst>
              <a:path w="4902200" h="4457700">
                <a:moveTo>
                  <a:pt x="101591" y="0"/>
                </a:moveTo>
                <a:lnTo>
                  <a:pt x="4800609" y="0"/>
                </a:lnTo>
                <a:cubicBezTo>
                  <a:pt x="4856716" y="0"/>
                  <a:pt x="4902200" y="45484"/>
                  <a:pt x="4902200" y="101591"/>
                </a:cubicBezTo>
                <a:lnTo>
                  <a:pt x="4902200" y="4356109"/>
                </a:lnTo>
                <a:cubicBezTo>
                  <a:pt x="4902200" y="4412216"/>
                  <a:pt x="4856716" y="4457700"/>
                  <a:pt x="4800609" y="4457700"/>
                </a:cubicBezTo>
                <a:lnTo>
                  <a:pt x="101591" y="4457700"/>
                </a:lnTo>
                <a:cubicBezTo>
                  <a:pt x="45484" y="4457700"/>
                  <a:pt x="0" y="4412216"/>
                  <a:pt x="0" y="4356109"/>
                </a:cubicBezTo>
                <a:lnTo>
                  <a:pt x="0" y="101591"/>
                </a:lnTo>
                <a:cubicBezTo>
                  <a:pt x="0" y="45521"/>
                  <a:pt x="45521" y="0"/>
                  <a:pt x="1015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234" y="4432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1159" y="46101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6701234" y="4559300"/>
            <a:ext cx="26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Principales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939234" y="55118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066234" y="566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447234" y="561340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Vérifier la clé (ISO)</a:t>
            </a:r>
            <a:endParaRPr lang="fr-FR" sz="1600" dirty="0"/>
          </a:p>
        </p:txBody>
      </p:sp>
      <p:sp>
        <p:nvSpPr>
          <p:cNvPr id="29" name="Shape 27"/>
          <p:cNvSpPr/>
          <p:nvPr/>
        </p:nvSpPr>
        <p:spPr>
          <a:xfrm>
            <a:off x="5939234" y="65532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066234" y="670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25400"/>
                </a:moveTo>
                <a:cubicBezTo>
                  <a:pt x="5675" y="25400"/>
                  <a:pt x="0" y="31075"/>
                  <a:pt x="0" y="38100"/>
                </a:cubicBezTo>
                <a:cubicBezTo>
                  <a:pt x="0" y="45125"/>
                  <a:pt x="5675" y="50800"/>
                  <a:pt x="12700" y="50800"/>
                </a:cubicBezTo>
                <a:lnTo>
                  <a:pt x="47109" y="50800"/>
                </a:lnTo>
                <a:cubicBezTo>
                  <a:pt x="51991" y="62032"/>
                  <a:pt x="63182" y="69850"/>
                  <a:pt x="76200" y="69850"/>
                </a:cubicBezTo>
                <a:cubicBezTo>
                  <a:pt x="89218" y="69850"/>
                  <a:pt x="100409" y="62032"/>
                  <a:pt x="105291" y="50800"/>
                </a:cubicBezTo>
                <a:lnTo>
                  <a:pt x="190500" y="50800"/>
                </a:lnTo>
                <a:cubicBezTo>
                  <a:pt x="197525" y="50800"/>
                  <a:pt x="203200" y="45125"/>
                  <a:pt x="203200" y="38100"/>
                </a:cubicBezTo>
                <a:cubicBezTo>
                  <a:pt x="203200" y="31075"/>
                  <a:pt x="197525" y="25400"/>
                  <a:pt x="190500" y="25400"/>
                </a:cubicBezTo>
                <a:lnTo>
                  <a:pt x="105291" y="25400"/>
                </a:lnTo>
                <a:cubicBezTo>
                  <a:pt x="100409" y="14168"/>
                  <a:pt x="89218" y="6350"/>
                  <a:pt x="76200" y="6350"/>
                </a:cubicBezTo>
                <a:cubicBezTo>
                  <a:pt x="63182" y="6350"/>
                  <a:pt x="51991" y="14168"/>
                  <a:pt x="47109" y="25400"/>
                </a:cubicBezTo>
                <a:lnTo>
                  <a:pt x="12700" y="25400"/>
                </a:lnTo>
                <a:close/>
                <a:moveTo>
                  <a:pt x="12700" y="88900"/>
                </a:move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10609" y="114300"/>
                </a:lnTo>
                <a:cubicBezTo>
                  <a:pt x="115491" y="125532"/>
                  <a:pt x="126683" y="133350"/>
                  <a:pt x="139700" y="133350"/>
                </a:cubicBezTo>
                <a:cubicBezTo>
                  <a:pt x="152718" y="133350"/>
                  <a:pt x="163909" y="125532"/>
                  <a:pt x="168791" y="114300"/>
                </a:cubicBez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168791" y="88900"/>
                </a:lnTo>
                <a:cubicBezTo>
                  <a:pt x="163909" y="77668"/>
                  <a:pt x="152718" y="69850"/>
                  <a:pt x="139700" y="69850"/>
                </a:cubicBezTo>
                <a:cubicBezTo>
                  <a:pt x="126683" y="69850"/>
                  <a:pt x="115491" y="77668"/>
                  <a:pt x="110609" y="88900"/>
                </a:cubicBezTo>
                <a:lnTo>
                  <a:pt x="12700" y="88900"/>
                </a:lnTo>
                <a:close/>
                <a:moveTo>
                  <a:pt x="12700" y="152400"/>
                </a:moveTo>
                <a:cubicBezTo>
                  <a:pt x="5675" y="152400"/>
                  <a:pt x="0" y="158075"/>
                  <a:pt x="0" y="165100"/>
                </a:cubicBezTo>
                <a:cubicBezTo>
                  <a:pt x="0" y="172125"/>
                  <a:pt x="5675" y="177800"/>
                  <a:pt x="12700" y="177800"/>
                </a:cubicBezTo>
                <a:lnTo>
                  <a:pt x="34409" y="177800"/>
                </a:lnTo>
                <a:cubicBezTo>
                  <a:pt x="39291" y="189032"/>
                  <a:pt x="50483" y="196850"/>
                  <a:pt x="63500" y="196850"/>
                </a:cubicBezTo>
                <a:cubicBezTo>
                  <a:pt x="76518" y="196850"/>
                  <a:pt x="87709" y="189032"/>
                  <a:pt x="92591" y="177800"/>
                </a:cubicBez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ubicBezTo>
                  <a:pt x="203200" y="158075"/>
                  <a:pt x="197525" y="152400"/>
                  <a:pt x="190500" y="152400"/>
                </a:cubicBezTo>
                <a:lnTo>
                  <a:pt x="92591" y="152400"/>
                </a:lnTo>
                <a:cubicBezTo>
                  <a:pt x="87709" y="141168"/>
                  <a:pt x="76518" y="133350"/>
                  <a:pt x="63500" y="133350"/>
                </a:cubicBezTo>
                <a:cubicBezTo>
                  <a:pt x="50483" y="133350"/>
                  <a:pt x="39291" y="141168"/>
                  <a:pt x="34409" y="152400"/>
                </a:cubicBezTo>
                <a:lnTo>
                  <a:pt x="12700" y="15240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47234" y="6654800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Calibrer la clé (BT/Wifi)</a:t>
            </a:r>
            <a:endParaRPr lang="fr-FR" sz="1600" dirty="0"/>
          </a:p>
        </p:txBody>
      </p:sp>
      <p:sp>
        <p:nvSpPr>
          <p:cNvPr id="32" name="Shape 30"/>
          <p:cNvSpPr/>
          <p:nvPr/>
        </p:nvSpPr>
        <p:spPr>
          <a:xfrm>
            <a:off x="5939234" y="75946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6066234" y="774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50800" y="38100"/>
                </a:moveTo>
                <a:cubicBezTo>
                  <a:pt x="50800" y="31075"/>
                  <a:pt x="56475" y="25400"/>
                  <a:pt x="63500" y="25400"/>
                </a:cubicBezTo>
                <a:lnTo>
                  <a:pt x="139700" y="25400"/>
                </a:lnTo>
                <a:cubicBezTo>
                  <a:pt x="146725" y="25400"/>
                  <a:pt x="152400" y="31075"/>
                  <a:pt x="152400" y="38100"/>
                </a:cubicBezTo>
                <a:cubicBezTo>
                  <a:pt x="152400" y="45125"/>
                  <a:pt x="146725" y="50800"/>
                  <a:pt x="139700" y="50800"/>
                </a:cubicBezTo>
                <a:lnTo>
                  <a:pt x="63500" y="50800"/>
                </a:lnTo>
                <a:cubicBezTo>
                  <a:pt x="56475" y="50800"/>
                  <a:pt x="50800" y="45125"/>
                  <a:pt x="50800" y="38100"/>
                </a:cubicBezTo>
                <a:close/>
                <a:moveTo>
                  <a:pt x="63500" y="69850"/>
                </a:moveTo>
                <a:lnTo>
                  <a:pt x="114300" y="69850"/>
                </a:lnTo>
                <a:cubicBezTo>
                  <a:pt x="121325" y="69850"/>
                  <a:pt x="127000" y="75525"/>
                  <a:pt x="127000" y="82550"/>
                </a:cubicBezTo>
                <a:cubicBezTo>
                  <a:pt x="127000" y="89575"/>
                  <a:pt x="121325" y="95250"/>
                  <a:pt x="114300" y="95250"/>
                </a:cubicBezTo>
                <a:lnTo>
                  <a:pt x="63500" y="95250"/>
                </a:lnTo>
                <a:cubicBezTo>
                  <a:pt x="56475" y="95250"/>
                  <a:pt x="50800" y="89575"/>
                  <a:pt x="50800" y="82550"/>
                </a:cubicBezTo>
                <a:cubicBezTo>
                  <a:pt x="50800" y="75525"/>
                  <a:pt x="56475" y="69850"/>
                  <a:pt x="63500" y="69850"/>
                </a:cubicBezTo>
                <a:close/>
                <a:moveTo>
                  <a:pt x="63500" y="114300"/>
                </a:move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63500" y="139700"/>
                </a:lnTo>
                <a:cubicBezTo>
                  <a:pt x="56475" y="139700"/>
                  <a:pt x="50800" y="134025"/>
                  <a:pt x="50800" y="127000"/>
                </a:cubicBezTo>
                <a:cubicBezTo>
                  <a:pt x="50800" y="119975"/>
                  <a:pt x="56475" y="114300"/>
                  <a:pt x="63500" y="11430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6447234" y="7696200"/>
            <a:ext cx="200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Analyser les résultats</a:t>
            </a:r>
            <a:endParaRPr lang="fr-FR" sz="1600" dirty="0"/>
          </a:p>
        </p:txBody>
      </p:sp>
      <p:sp>
        <p:nvSpPr>
          <p:cNvPr id="35" name="Shape 33"/>
          <p:cNvSpPr/>
          <p:nvPr/>
        </p:nvSpPr>
        <p:spPr>
          <a:xfrm>
            <a:off x="10843617" y="4171950"/>
            <a:ext cx="4902200" cy="4457700"/>
          </a:xfrm>
          <a:custGeom>
            <a:avLst/>
            <a:gdLst/>
            <a:ahLst/>
            <a:cxnLst/>
            <a:rect l="l" t="t" r="r" b="b"/>
            <a:pathLst>
              <a:path w="4902200" h="4457700">
                <a:moveTo>
                  <a:pt x="101591" y="0"/>
                </a:moveTo>
                <a:lnTo>
                  <a:pt x="4800609" y="0"/>
                </a:lnTo>
                <a:cubicBezTo>
                  <a:pt x="4856716" y="0"/>
                  <a:pt x="4902200" y="45484"/>
                  <a:pt x="4902200" y="101591"/>
                </a:cubicBezTo>
                <a:lnTo>
                  <a:pt x="4902200" y="4356109"/>
                </a:lnTo>
                <a:cubicBezTo>
                  <a:pt x="4902200" y="4412216"/>
                  <a:pt x="4856716" y="4457700"/>
                  <a:pt x="4800609" y="4457700"/>
                </a:cubicBezTo>
                <a:lnTo>
                  <a:pt x="101591" y="4457700"/>
                </a:lnTo>
                <a:cubicBezTo>
                  <a:pt x="45484" y="4457700"/>
                  <a:pt x="0" y="4412216"/>
                  <a:pt x="0" y="4356109"/>
                </a:cubicBezTo>
                <a:lnTo>
                  <a:pt x="0" y="101591"/>
                </a:lnTo>
                <a:cubicBezTo>
                  <a:pt x="0" y="45521"/>
                  <a:pt x="45521" y="0"/>
                  <a:pt x="1015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03967" y="4432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81767" y="461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5094" y="170656"/>
                </a:moveTo>
                <a:lnTo>
                  <a:pt x="115094" y="138906"/>
                </a:lnTo>
                <a:lnTo>
                  <a:pt x="83344" y="138906"/>
                </a:lnTo>
                <a:cubicBezTo>
                  <a:pt x="76746" y="138906"/>
                  <a:pt x="71438" y="133598"/>
                  <a:pt x="71438" y="127000"/>
                </a:cubicBezTo>
                <a:cubicBezTo>
                  <a:pt x="71438" y="120402"/>
                  <a:pt x="76746" y="115094"/>
                  <a:pt x="83344" y="115094"/>
                </a:cubicBezTo>
                <a:lnTo>
                  <a:pt x="115094" y="115094"/>
                </a:lnTo>
                <a:lnTo>
                  <a:pt x="115094" y="83344"/>
                </a:lnTo>
                <a:cubicBezTo>
                  <a:pt x="115094" y="76746"/>
                  <a:pt x="120402" y="71438"/>
                  <a:pt x="127000" y="71438"/>
                </a:cubicBezTo>
                <a:cubicBezTo>
                  <a:pt x="133598" y="71438"/>
                  <a:pt x="138906" y="76746"/>
                  <a:pt x="138906" y="83344"/>
                </a:cubicBezTo>
                <a:lnTo>
                  <a:pt x="138906" y="115094"/>
                </a:lnTo>
                <a:lnTo>
                  <a:pt x="170656" y="115094"/>
                </a:lnTo>
                <a:cubicBezTo>
                  <a:pt x="177254" y="115094"/>
                  <a:pt x="182563" y="120402"/>
                  <a:pt x="182563" y="127000"/>
                </a:cubicBezTo>
                <a:cubicBezTo>
                  <a:pt x="182563" y="133598"/>
                  <a:pt x="177254" y="138906"/>
                  <a:pt x="170656" y="138906"/>
                </a:cubicBezTo>
                <a:lnTo>
                  <a:pt x="138906" y="138906"/>
                </a:lnTo>
                <a:lnTo>
                  <a:pt x="138906" y="170656"/>
                </a:lnTo>
                <a:cubicBezTo>
                  <a:pt x="138906" y="177254"/>
                  <a:pt x="133598" y="182563"/>
                  <a:pt x="127000" y="182563"/>
                </a:cubicBezTo>
                <a:cubicBezTo>
                  <a:pt x="120402" y="182563"/>
                  <a:pt x="115094" y="177254"/>
                  <a:pt x="115094" y="170656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11865967" y="45593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Complémentaires</a:t>
            </a:r>
            <a:endParaRPr lang="fr-FR" sz="1600" dirty="0"/>
          </a:p>
        </p:txBody>
      </p:sp>
      <p:sp>
        <p:nvSpPr>
          <p:cNvPr id="39" name="Shape 37"/>
          <p:cNvSpPr/>
          <p:nvPr/>
        </p:nvSpPr>
        <p:spPr>
          <a:xfrm>
            <a:off x="11103967" y="55118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30967" y="566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1" name="Text 39"/>
          <p:cNvSpPr/>
          <p:nvPr/>
        </p:nvSpPr>
        <p:spPr>
          <a:xfrm>
            <a:off x="11611967" y="56134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Communiquer avec PC</a:t>
            </a:r>
            <a:endParaRPr lang="fr-FR" sz="1600" dirty="0"/>
          </a:p>
        </p:txBody>
      </p:sp>
      <p:sp>
        <p:nvSpPr>
          <p:cNvPr id="42" name="Shape 40"/>
          <p:cNvSpPr/>
          <p:nvPr/>
        </p:nvSpPr>
        <p:spPr>
          <a:xfrm>
            <a:off x="11103967" y="65532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43667" y="670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4" name="Text 42"/>
          <p:cNvSpPr/>
          <p:nvPr/>
        </p:nvSpPr>
        <p:spPr>
          <a:xfrm>
            <a:off x="11611967" y="66548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Enregistrer mesures</a:t>
            </a:r>
            <a:endParaRPr lang="fr-FR" sz="1600" dirty="0"/>
          </a:p>
        </p:txBody>
      </p:sp>
      <p:sp>
        <p:nvSpPr>
          <p:cNvPr id="45" name="Shape 43"/>
          <p:cNvSpPr/>
          <p:nvPr/>
        </p:nvSpPr>
        <p:spPr>
          <a:xfrm>
            <a:off x="11103967" y="75946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Shape 44"/>
          <p:cNvSpPr/>
          <p:nvPr/>
        </p:nvSpPr>
        <p:spPr>
          <a:xfrm>
            <a:off x="11230967" y="774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7" name="Text 45"/>
          <p:cNvSpPr/>
          <p:nvPr/>
        </p:nvSpPr>
        <p:spPr>
          <a:xfrm>
            <a:off x="11611967" y="76962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Afficher informations</a:t>
            </a:r>
            <a:endParaRPr lang="fr-FR" sz="1600" dirty="0"/>
          </a:p>
        </p:txBody>
      </p:sp>
      <p:sp>
        <p:nvSpPr>
          <p:cNvPr id="48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9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SOUS-SYSTÈMES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Sous-systèmes Clés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7505700" cy="4305300"/>
          </a:xfrm>
          <a:custGeom>
            <a:avLst/>
            <a:gdLst/>
            <a:ahLst/>
            <a:cxnLst/>
            <a:rect l="l" t="t" r="r" b="b"/>
            <a:pathLst>
              <a:path w="7505700" h="4305300">
                <a:moveTo>
                  <a:pt x="101605" y="0"/>
                </a:moveTo>
                <a:lnTo>
                  <a:pt x="7404095" y="0"/>
                </a:lnTo>
                <a:cubicBezTo>
                  <a:pt x="7460210" y="0"/>
                  <a:pt x="7505700" y="45490"/>
                  <a:pt x="7505700" y="101605"/>
                </a:cubicBezTo>
                <a:lnTo>
                  <a:pt x="7505700" y="4203695"/>
                </a:lnTo>
                <a:cubicBezTo>
                  <a:pt x="7505700" y="4259810"/>
                  <a:pt x="7460210" y="4305300"/>
                  <a:pt x="7404095" y="4305300"/>
                </a:cubicBezTo>
                <a:lnTo>
                  <a:pt x="101605" y="4305300"/>
                </a:lnTo>
                <a:cubicBezTo>
                  <a:pt x="45490" y="4305300"/>
                  <a:pt x="0" y="4259810"/>
                  <a:pt x="0" y="4203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" y="1968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2710" y="48915"/>
                </a:moveTo>
                <a:cubicBezTo>
                  <a:pt x="256480" y="45145"/>
                  <a:pt x="262781" y="46087"/>
                  <a:pt x="264666" y="51048"/>
                </a:cubicBezTo>
                <a:cubicBezTo>
                  <a:pt x="268039" y="59829"/>
                  <a:pt x="269875" y="69404"/>
                  <a:pt x="269875" y="79375"/>
                </a:cubicBezTo>
                <a:cubicBezTo>
                  <a:pt x="269875" y="123230"/>
                  <a:pt x="234355" y="158750"/>
                  <a:pt x="190500" y="158750"/>
                </a:cubicBezTo>
                <a:cubicBezTo>
                  <a:pt x="181818" y="158750"/>
                  <a:pt x="173434" y="157361"/>
                  <a:pt x="165596" y="154781"/>
                </a:cubicBezTo>
                <a:lnTo>
                  <a:pt x="72876" y="247501"/>
                </a:lnTo>
                <a:cubicBezTo>
                  <a:pt x="58936" y="261441"/>
                  <a:pt x="36314" y="261441"/>
                  <a:pt x="22374" y="247501"/>
                </a:cubicBezTo>
                <a:cubicBezTo>
                  <a:pt x="8434" y="233561"/>
                  <a:pt x="8434" y="210939"/>
                  <a:pt x="22374" y="196999"/>
                </a:cubicBezTo>
                <a:lnTo>
                  <a:pt x="115094" y="104279"/>
                </a:lnTo>
                <a:cubicBezTo>
                  <a:pt x="112514" y="96441"/>
                  <a:pt x="111125" y="88106"/>
                  <a:pt x="111125" y="79375"/>
                </a:cubicBezTo>
                <a:cubicBezTo>
                  <a:pt x="111125" y="35520"/>
                  <a:pt x="146645" y="0"/>
                  <a:pt x="190500" y="0"/>
                </a:cubicBezTo>
                <a:cubicBezTo>
                  <a:pt x="200471" y="0"/>
                  <a:pt x="210046" y="1836"/>
                  <a:pt x="218827" y="5209"/>
                </a:cubicBezTo>
                <a:cubicBezTo>
                  <a:pt x="223788" y="7094"/>
                  <a:pt x="224681" y="13395"/>
                  <a:pt x="220960" y="17165"/>
                </a:cubicBezTo>
                <a:lnTo>
                  <a:pt x="176957" y="61168"/>
                </a:lnTo>
                <a:cubicBezTo>
                  <a:pt x="175468" y="62657"/>
                  <a:pt x="174625" y="64691"/>
                  <a:pt x="174625" y="66774"/>
                </a:cubicBezTo>
                <a:lnTo>
                  <a:pt x="174625" y="87313"/>
                </a:lnTo>
                <a:cubicBezTo>
                  <a:pt x="174625" y="91678"/>
                  <a:pt x="178197" y="95250"/>
                  <a:pt x="182563" y="95250"/>
                </a:cubicBezTo>
                <a:lnTo>
                  <a:pt x="203101" y="95250"/>
                </a:lnTo>
                <a:cubicBezTo>
                  <a:pt x="205184" y="95250"/>
                  <a:pt x="207218" y="94407"/>
                  <a:pt x="208707" y="92918"/>
                </a:cubicBezTo>
                <a:lnTo>
                  <a:pt x="252710" y="4891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1917700"/>
            <a:ext cx="143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</a:t>
            </a:r>
            <a:endParaRPr lang="fr-FR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717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2720975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Maintenir la clé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sans jeu</a:t>
            </a:r>
            <a:endParaRPr lang="fr-FR" sz="1600" b="1" dirty="0">
              <a:solidFill>
                <a:srgbClr val="E8E8E8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34131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3362325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Positionner la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butée</a:t>
            </a:r>
            <a:endParaRPr lang="fr-FR" sz="1600" b="1" dirty="0">
              <a:solidFill>
                <a:srgbClr val="E8E8E8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2000" y="40544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4003675"/>
            <a:ext cx="231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Limiter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efforts parasites</a:t>
            </a:r>
            <a:endParaRPr lang="fr-FR" sz="1600" b="1" dirty="0">
              <a:solidFill>
                <a:srgbClr val="E8E8E8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62000" y="46958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4645025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Gérer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positions vérin</a:t>
            </a:r>
            <a:endParaRPr lang="fr-FR" sz="1600" b="1" dirty="0">
              <a:solidFill>
                <a:srgbClr val="E8E8E8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3900" y="5219700"/>
            <a:ext cx="7086600" cy="457200"/>
          </a:xfrm>
          <a:custGeom>
            <a:avLst/>
            <a:gdLst/>
            <a:ahLst/>
            <a:cxnLst/>
            <a:rect l="l" t="t" r="r" b="b"/>
            <a:pathLst>
              <a:path w="7086600" h="457200">
                <a:moveTo>
                  <a:pt x="50799" y="0"/>
                </a:moveTo>
                <a:lnTo>
                  <a:pt x="7035801" y="0"/>
                </a:lnTo>
                <a:cubicBezTo>
                  <a:pt x="7063856" y="0"/>
                  <a:pt x="7086600" y="22744"/>
                  <a:pt x="7086600" y="50799"/>
                </a:cubicBezTo>
                <a:lnTo>
                  <a:pt x="7086600" y="406401"/>
                </a:lnTo>
                <a:cubicBezTo>
                  <a:pt x="7086600" y="434456"/>
                  <a:pt x="7063856" y="457200"/>
                  <a:pt x="70358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81050" y="5321300"/>
            <a:ext cx="697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Positions: </a:t>
            </a:r>
            <a:r>
              <a:rPr lang="fr-FR" sz="1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AV+AR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r>
              <a:rPr lang="fr-FR" sz="1400" dirty="0" err="1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r>
              <a:rPr lang="fr-FR" sz="14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r>
              <a:rPr lang="fr-FR" sz="1400" dirty="0" err="1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</a:t>
            </a:r>
            <a:endParaRPr lang="fr-FR" sz="1600" dirty="0"/>
          </a:p>
        </p:txBody>
      </p:sp>
      <p:sp>
        <p:nvSpPr>
          <p:cNvPr id="18" name="Shape 16"/>
          <p:cNvSpPr/>
          <p:nvPr/>
        </p:nvSpPr>
        <p:spPr>
          <a:xfrm>
            <a:off x="8235950" y="1581150"/>
            <a:ext cx="7505700" cy="4305300"/>
          </a:xfrm>
          <a:custGeom>
            <a:avLst/>
            <a:gdLst/>
            <a:ahLst/>
            <a:cxnLst/>
            <a:rect l="l" t="t" r="r" b="b"/>
            <a:pathLst>
              <a:path w="7505700" h="4305300">
                <a:moveTo>
                  <a:pt x="101605" y="0"/>
                </a:moveTo>
                <a:lnTo>
                  <a:pt x="7404095" y="0"/>
                </a:lnTo>
                <a:cubicBezTo>
                  <a:pt x="7460210" y="0"/>
                  <a:pt x="7505700" y="45490"/>
                  <a:pt x="7505700" y="101605"/>
                </a:cubicBezTo>
                <a:lnTo>
                  <a:pt x="7505700" y="4203695"/>
                </a:lnTo>
                <a:cubicBezTo>
                  <a:pt x="7505700" y="4259810"/>
                  <a:pt x="7460210" y="4305300"/>
                  <a:pt x="7404095" y="4305300"/>
                </a:cubicBezTo>
                <a:lnTo>
                  <a:pt x="101605" y="4305300"/>
                </a:lnTo>
                <a:cubicBezTo>
                  <a:pt x="45490" y="4305300"/>
                  <a:pt x="0" y="4259810"/>
                  <a:pt x="0" y="4203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55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1550" y="19685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9207500" y="19177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Motorisation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8445500" y="2573734"/>
            <a:ext cx="7086600" cy="812800"/>
          </a:xfrm>
          <a:custGeom>
            <a:avLst/>
            <a:gdLst/>
            <a:ahLst/>
            <a:cxnLst/>
            <a:rect l="l" t="t" r="r" b="b"/>
            <a:pathLst>
              <a:path w="7086600" h="812800">
                <a:moveTo>
                  <a:pt x="50800" y="0"/>
                </a:moveTo>
                <a:lnTo>
                  <a:pt x="7035800" y="0"/>
                </a:lnTo>
                <a:cubicBezTo>
                  <a:pt x="7063837" y="0"/>
                  <a:pt x="7086600" y="22763"/>
                  <a:pt x="7086600" y="50800"/>
                </a:cubicBezTo>
                <a:lnTo>
                  <a:pt x="7086600" y="762000"/>
                </a:lnTo>
                <a:cubicBezTo>
                  <a:pt x="7086600" y="790037"/>
                  <a:pt x="7063837" y="812800"/>
                  <a:pt x="7035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8547100" y="2675334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Faible Couple</a:t>
            </a:r>
            <a:endParaRPr lang="fr-FR" sz="1600" dirty="0"/>
          </a:p>
        </p:txBody>
      </p:sp>
      <p:sp>
        <p:nvSpPr>
          <p:cNvPr id="24" name="Text 22"/>
          <p:cNvSpPr/>
          <p:nvPr/>
        </p:nvSpPr>
        <p:spPr>
          <a:xfrm>
            <a:off x="8547100" y="3030934"/>
            <a:ext cx="697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4 - 40 Nm 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(BT/Wifi)</a:t>
            </a:r>
            <a:endParaRPr lang="fr-FR" sz="14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45500" y="3530402"/>
            <a:ext cx="7086600" cy="812800"/>
          </a:xfrm>
          <a:custGeom>
            <a:avLst/>
            <a:gdLst/>
            <a:ahLst/>
            <a:cxnLst/>
            <a:rect l="l" t="t" r="r" b="b"/>
            <a:pathLst>
              <a:path w="7086600" h="812800">
                <a:moveTo>
                  <a:pt x="50800" y="0"/>
                </a:moveTo>
                <a:lnTo>
                  <a:pt x="7035800" y="0"/>
                </a:lnTo>
                <a:cubicBezTo>
                  <a:pt x="7063837" y="0"/>
                  <a:pt x="7086600" y="22763"/>
                  <a:pt x="7086600" y="50800"/>
                </a:cubicBezTo>
                <a:lnTo>
                  <a:pt x="7086600" y="762000"/>
                </a:lnTo>
                <a:cubicBezTo>
                  <a:pt x="7086600" y="790037"/>
                  <a:pt x="7063837" y="812800"/>
                  <a:pt x="7035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8547100" y="3632002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 Couple BT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8547100" y="3974902"/>
            <a:ext cx="1150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40 - 200 Nm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8445500" y="4487069"/>
            <a:ext cx="7086600" cy="812800"/>
          </a:xfrm>
          <a:custGeom>
            <a:avLst/>
            <a:gdLst/>
            <a:ahLst/>
            <a:cxnLst/>
            <a:rect l="l" t="t" r="r" b="b"/>
            <a:pathLst>
              <a:path w="7086600" h="812800">
                <a:moveTo>
                  <a:pt x="50800" y="0"/>
                </a:moveTo>
                <a:lnTo>
                  <a:pt x="7035800" y="0"/>
                </a:lnTo>
                <a:cubicBezTo>
                  <a:pt x="7063837" y="0"/>
                  <a:pt x="7086600" y="22763"/>
                  <a:pt x="7086600" y="50800"/>
                </a:cubicBezTo>
                <a:lnTo>
                  <a:pt x="7086600" y="762000"/>
                </a:lnTo>
                <a:cubicBezTo>
                  <a:pt x="7086600" y="790037"/>
                  <a:pt x="7063837" y="812800"/>
                  <a:pt x="7035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8547100" y="4588669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 Couple Wifi</a:t>
            </a:r>
            <a:endParaRPr lang="fr-FR" sz="1600" dirty="0"/>
          </a:p>
        </p:txBody>
      </p:sp>
      <p:sp>
        <p:nvSpPr>
          <p:cNvPr id="30" name="Text 28"/>
          <p:cNvSpPr/>
          <p:nvPr/>
        </p:nvSpPr>
        <p:spPr>
          <a:xfrm>
            <a:off x="8547100" y="4931569"/>
            <a:ext cx="1148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20 - 200 Nm</a:t>
            </a:r>
            <a:endParaRPr lang="fr-FR" sz="1600" dirty="0"/>
          </a:p>
        </p:txBody>
      </p:sp>
      <p:sp>
        <p:nvSpPr>
          <p:cNvPr id="31" name="Shape 29"/>
          <p:cNvSpPr/>
          <p:nvPr/>
        </p:nvSpPr>
        <p:spPr>
          <a:xfrm>
            <a:off x="8493125" y="5461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8769350" y="54229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Montée progressive</a:t>
            </a:r>
            <a:endParaRPr lang="fr-FR" sz="1600" dirty="0"/>
          </a:p>
        </p:txBody>
      </p:sp>
      <p:sp>
        <p:nvSpPr>
          <p:cNvPr id="33" name="Shape 31"/>
          <p:cNvSpPr/>
          <p:nvPr/>
        </p:nvSpPr>
        <p:spPr>
          <a:xfrm>
            <a:off x="10561439" y="5461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1651" y="25941"/>
                </a:moveTo>
                <a:lnTo>
                  <a:pt x="155575" y="29656"/>
                </a:lnTo>
                <a:lnTo>
                  <a:pt x="155575" y="11112"/>
                </a:lnTo>
                <a:cubicBezTo>
                  <a:pt x="155575" y="4966"/>
                  <a:pt x="160541" y="0"/>
                  <a:pt x="166688" y="0"/>
                </a:cubicBezTo>
                <a:cubicBezTo>
                  <a:pt x="172834" y="0"/>
                  <a:pt x="177800" y="4966"/>
                  <a:pt x="177800" y="11112"/>
                </a:cubicBezTo>
                <a:lnTo>
                  <a:pt x="177800" y="55563"/>
                </a:lnTo>
                <a:cubicBezTo>
                  <a:pt x="177800" y="61709"/>
                  <a:pt x="172834" y="66675"/>
                  <a:pt x="166688" y="66675"/>
                </a:cubicBezTo>
                <a:lnTo>
                  <a:pt x="122238" y="66675"/>
                </a:lnTo>
                <a:cubicBezTo>
                  <a:pt x="116091" y="66675"/>
                  <a:pt x="111125" y="61709"/>
                  <a:pt x="111125" y="55563"/>
                </a:cubicBezTo>
                <a:cubicBezTo>
                  <a:pt x="111125" y="49416"/>
                  <a:pt x="116091" y="44450"/>
                  <a:pt x="122238" y="44450"/>
                </a:cubicBezTo>
                <a:lnTo>
                  <a:pt x="138872" y="44450"/>
                </a:lnTo>
                <a:lnTo>
                  <a:pt x="136232" y="41950"/>
                </a:lnTo>
                <a:cubicBezTo>
                  <a:pt x="136163" y="41880"/>
                  <a:pt x="136093" y="41811"/>
                  <a:pt x="136024" y="41741"/>
                </a:cubicBezTo>
                <a:cubicBezTo>
                  <a:pt x="109979" y="15696"/>
                  <a:pt x="67786" y="15696"/>
                  <a:pt x="41741" y="41741"/>
                </a:cubicBezTo>
                <a:cubicBezTo>
                  <a:pt x="15696" y="67786"/>
                  <a:pt x="15696" y="109979"/>
                  <a:pt x="41741" y="136024"/>
                </a:cubicBezTo>
                <a:cubicBezTo>
                  <a:pt x="67786" y="162069"/>
                  <a:pt x="109979" y="162069"/>
                  <a:pt x="136024" y="136024"/>
                </a:cubicBezTo>
                <a:cubicBezTo>
                  <a:pt x="138872" y="133176"/>
                  <a:pt x="141407" y="130155"/>
                  <a:pt x="143629" y="126960"/>
                </a:cubicBezTo>
                <a:cubicBezTo>
                  <a:pt x="147136" y="121925"/>
                  <a:pt x="154082" y="120710"/>
                  <a:pt x="159117" y="124217"/>
                </a:cubicBezTo>
                <a:cubicBezTo>
                  <a:pt x="164152" y="127724"/>
                  <a:pt x="165368" y="134670"/>
                  <a:pt x="161861" y="139705"/>
                </a:cubicBezTo>
                <a:cubicBezTo>
                  <a:pt x="158909" y="143942"/>
                  <a:pt x="155540" y="147970"/>
                  <a:pt x="151755" y="151755"/>
                </a:cubicBezTo>
                <a:cubicBezTo>
                  <a:pt x="117029" y="186482"/>
                  <a:pt x="60737" y="186482"/>
                  <a:pt x="26045" y="151755"/>
                </a:cubicBezTo>
                <a:cubicBezTo>
                  <a:pt x="-8647" y="117029"/>
                  <a:pt x="-8682" y="60771"/>
                  <a:pt x="26045" y="26045"/>
                </a:cubicBezTo>
                <a:cubicBezTo>
                  <a:pt x="60737" y="-8647"/>
                  <a:pt x="116924" y="-8682"/>
                  <a:pt x="151651" y="259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9889" y="54229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zéro</a:t>
            </a:r>
            <a:endParaRPr lang="fr-FR" sz="1600" dirty="0"/>
          </a:p>
        </p:txBody>
      </p:sp>
      <p:sp>
        <p:nvSpPr>
          <p:cNvPr id="35" name="Shape 33"/>
          <p:cNvSpPr/>
          <p:nvPr/>
        </p:nvSpPr>
        <p:spPr>
          <a:xfrm>
            <a:off x="514350" y="6102350"/>
            <a:ext cx="7505700" cy="2527300"/>
          </a:xfrm>
          <a:custGeom>
            <a:avLst/>
            <a:gdLst/>
            <a:ahLst/>
            <a:cxnLst/>
            <a:rect l="l" t="t" r="r" b="b"/>
            <a:pathLst>
              <a:path w="7505700" h="2527300">
                <a:moveTo>
                  <a:pt x="101597" y="0"/>
                </a:moveTo>
                <a:lnTo>
                  <a:pt x="7404103" y="0"/>
                </a:lnTo>
                <a:cubicBezTo>
                  <a:pt x="7460213" y="0"/>
                  <a:pt x="7505700" y="45487"/>
                  <a:pt x="7505700" y="101597"/>
                </a:cubicBezTo>
                <a:lnTo>
                  <a:pt x="7505700" y="2425703"/>
                </a:lnTo>
                <a:cubicBezTo>
                  <a:pt x="7505700" y="2481813"/>
                  <a:pt x="7460213" y="2527300"/>
                  <a:pt x="740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3900" y="631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Shape 35"/>
          <p:cNvSpPr/>
          <p:nvPr/>
        </p:nvSpPr>
        <p:spPr>
          <a:xfrm>
            <a:off x="917575" y="64897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496" y="219125"/>
                </a:moveTo>
                <a:cubicBezTo>
                  <a:pt x="2729" y="229939"/>
                  <a:pt x="12303" y="238125"/>
                  <a:pt x="23812" y="238125"/>
                </a:cubicBezTo>
                <a:lnTo>
                  <a:pt x="198438" y="238125"/>
                </a:lnTo>
                <a:cubicBezTo>
                  <a:pt x="211584" y="238125"/>
                  <a:pt x="222250" y="227459"/>
                  <a:pt x="222250" y="214313"/>
                </a:cubicBezTo>
                <a:lnTo>
                  <a:pt x="222250" y="166688"/>
                </a:lnTo>
                <a:cubicBezTo>
                  <a:pt x="222250" y="153541"/>
                  <a:pt x="211584" y="142875"/>
                  <a:pt x="198438" y="142875"/>
                </a:cubicBezTo>
                <a:lnTo>
                  <a:pt x="174625" y="142875"/>
                </a:lnTo>
                <a:lnTo>
                  <a:pt x="174625" y="178594"/>
                </a:lnTo>
                <a:cubicBezTo>
                  <a:pt x="174625" y="185192"/>
                  <a:pt x="169317" y="190500"/>
                  <a:pt x="162719" y="190500"/>
                </a:cubicBezTo>
                <a:cubicBezTo>
                  <a:pt x="156121" y="190500"/>
                  <a:pt x="150813" y="185192"/>
                  <a:pt x="150813" y="178594"/>
                </a:cubicBezTo>
                <a:lnTo>
                  <a:pt x="150813" y="142875"/>
                </a:lnTo>
                <a:lnTo>
                  <a:pt x="119063" y="142875"/>
                </a:lnTo>
                <a:lnTo>
                  <a:pt x="119063" y="178594"/>
                </a:lnTo>
                <a:cubicBezTo>
                  <a:pt x="119063" y="185192"/>
                  <a:pt x="113754" y="190500"/>
                  <a:pt x="107156" y="190500"/>
                </a:cubicBezTo>
                <a:cubicBezTo>
                  <a:pt x="100558" y="190500"/>
                  <a:pt x="95250" y="185192"/>
                  <a:pt x="95250" y="178594"/>
                </a:cubicBezTo>
                <a:lnTo>
                  <a:pt x="95250" y="142875"/>
                </a:lnTo>
                <a:lnTo>
                  <a:pt x="59531" y="142875"/>
                </a:lnTo>
                <a:cubicBezTo>
                  <a:pt x="52933" y="142875"/>
                  <a:pt x="47625" y="137567"/>
                  <a:pt x="47625" y="130969"/>
                </a:cubicBezTo>
                <a:cubicBezTo>
                  <a:pt x="47625" y="124371"/>
                  <a:pt x="52933" y="119063"/>
                  <a:pt x="59531" y="119063"/>
                </a:cubicBezTo>
                <a:lnTo>
                  <a:pt x="95250" y="119063"/>
                </a:lnTo>
                <a:lnTo>
                  <a:pt x="95250" y="87313"/>
                </a:lnTo>
                <a:lnTo>
                  <a:pt x="59531" y="87313"/>
                </a:lnTo>
                <a:cubicBezTo>
                  <a:pt x="52933" y="87313"/>
                  <a:pt x="47625" y="82004"/>
                  <a:pt x="47625" y="75406"/>
                </a:cubicBezTo>
                <a:cubicBezTo>
                  <a:pt x="47625" y="68808"/>
                  <a:pt x="52933" y="63500"/>
                  <a:pt x="59531" y="63500"/>
                </a:cubicBezTo>
                <a:lnTo>
                  <a:pt x="95250" y="63500"/>
                </a:lnTo>
                <a:lnTo>
                  <a:pt x="95250" y="39688"/>
                </a:lnTo>
                <a:cubicBezTo>
                  <a:pt x="95250" y="26541"/>
                  <a:pt x="84584" y="15875"/>
                  <a:pt x="71438" y="15875"/>
                </a:cubicBezTo>
                <a:lnTo>
                  <a:pt x="23812" y="15875"/>
                </a:lnTo>
                <a:cubicBezTo>
                  <a:pt x="10666" y="15875"/>
                  <a:pt x="0" y="26541"/>
                  <a:pt x="0" y="39688"/>
                </a:cubicBezTo>
                <a:lnTo>
                  <a:pt x="0" y="214313"/>
                </a:lnTo>
                <a:cubicBezTo>
                  <a:pt x="0" y="215950"/>
                  <a:pt x="149" y="217587"/>
                  <a:pt x="496" y="21912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1485900" y="64389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</a:t>
            </a:r>
            <a:endParaRPr lang="fr-FR" sz="1600" dirty="0"/>
          </a:p>
        </p:txBody>
      </p:sp>
      <p:sp>
        <p:nvSpPr>
          <p:cNvPr id="39" name="Shape 37"/>
          <p:cNvSpPr/>
          <p:nvPr/>
        </p:nvSpPr>
        <p:spPr>
          <a:xfrm>
            <a:off x="762000" y="71405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0" name="Text 38"/>
          <p:cNvSpPr/>
          <p:nvPr/>
        </p:nvSpPr>
        <p:spPr>
          <a:xfrm>
            <a:off x="1079500" y="7089775"/>
            <a:ext cx="227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Lire couple réel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(en Nm)</a:t>
            </a:r>
          </a:p>
        </p:txBody>
      </p:sp>
      <p:sp>
        <p:nvSpPr>
          <p:cNvPr id="41" name="Shape 39"/>
          <p:cNvSpPr/>
          <p:nvPr/>
        </p:nvSpPr>
        <p:spPr>
          <a:xfrm>
            <a:off x="762000" y="74771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1079500" y="7426325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Stabiliser 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mesure</a:t>
            </a:r>
            <a:endParaRPr lang="fr-FR" sz="16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62000" y="78136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4" name="Text 42"/>
          <p:cNvSpPr/>
          <p:nvPr/>
        </p:nvSpPr>
        <p:spPr>
          <a:xfrm>
            <a:off x="1079500" y="7762875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Détecter 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incohérences</a:t>
            </a:r>
            <a:endParaRPr lang="fr-FR" sz="16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2000" y="81502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6" name="Text 44"/>
          <p:cNvSpPr/>
          <p:nvPr/>
        </p:nvSpPr>
        <p:spPr>
          <a:xfrm>
            <a:off x="1079500" y="8099425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Stocker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les valeurs</a:t>
            </a:r>
            <a:endParaRPr lang="fr-FR" sz="16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235950" y="6102350"/>
            <a:ext cx="7505700" cy="2527300"/>
          </a:xfrm>
          <a:custGeom>
            <a:avLst/>
            <a:gdLst/>
            <a:ahLst/>
            <a:cxnLst/>
            <a:rect l="l" t="t" r="r" b="b"/>
            <a:pathLst>
              <a:path w="7505700" h="2527300">
                <a:moveTo>
                  <a:pt x="101597" y="0"/>
                </a:moveTo>
                <a:lnTo>
                  <a:pt x="7404103" y="0"/>
                </a:lnTo>
                <a:cubicBezTo>
                  <a:pt x="7460213" y="0"/>
                  <a:pt x="7505700" y="45487"/>
                  <a:pt x="7505700" y="101597"/>
                </a:cubicBezTo>
                <a:lnTo>
                  <a:pt x="7505700" y="2425703"/>
                </a:lnTo>
                <a:cubicBezTo>
                  <a:pt x="7505700" y="2481813"/>
                  <a:pt x="7460213" y="2527300"/>
                  <a:pt x="740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45500" y="631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9" name="Shape 47"/>
          <p:cNvSpPr/>
          <p:nvPr/>
        </p:nvSpPr>
        <p:spPr>
          <a:xfrm>
            <a:off x="8623300" y="648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50" name="Text 48"/>
          <p:cNvSpPr/>
          <p:nvPr/>
        </p:nvSpPr>
        <p:spPr>
          <a:xfrm>
            <a:off x="9207500" y="6438900"/>
            <a:ext cx="149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</a:t>
            </a:r>
            <a:endParaRPr lang="fr-FR" sz="1600" dirty="0"/>
          </a:p>
        </p:txBody>
      </p:sp>
      <p:sp>
        <p:nvSpPr>
          <p:cNvPr id="51" name="Shape 49"/>
          <p:cNvSpPr/>
          <p:nvPr/>
        </p:nvSpPr>
        <p:spPr>
          <a:xfrm>
            <a:off x="8483600" y="71405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2" name="Text 50"/>
          <p:cNvSpPr/>
          <p:nvPr/>
        </p:nvSpPr>
        <p:spPr>
          <a:xfrm>
            <a:off x="8801100" y="7089775"/>
            <a:ext cx="215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IHM 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opérateur intuitive</a:t>
            </a:r>
            <a:endParaRPr lang="fr-FR" sz="16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483600" y="74771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4" name="Text 52"/>
          <p:cNvSpPr/>
          <p:nvPr/>
        </p:nvSpPr>
        <p:spPr>
          <a:xfrm>
            <a:off x="8801100" y="74263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 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supervision</a:t>
            </a:r>
            <a:endParaRPr lang="fr-FR" sz="16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483600" y="78136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6" name="Text 54"/>
          <p:cNvSpPr/>
          <p:nvPr/>
        </p:nvSpPr>
        <p:spPr>
          <a:xfrm>
            <a:off x="8801100" y="7762875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Transmission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BT/Wifi</a:t>
            </a:r>
            <a:endParaRPr lang="fr-FR" sz="1600" b="1" dirty="0">
              <a:solidFill>
                <a:srgbClr val="E8E8E8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483600" y="81502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8" name="Text 56"/>
          <p:cNvSpPr/>
          <p:nvPr/>
        </p:nvSpPr>
        <p:spPr>
          <a:xfrm>
            <a:off x="8801100" y="8099425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 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automatiques</a:t>
            </a:r>
            <a:endParaRPr lang="fr-FR" sz="1600" dirty="0">
              <a:solidFill>
                <a:srgbClr val="7D8A9B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</p:txBody>
      </p:sp>
      <p:sp>
        <p:nvSpPr>
          <p:cNvPr id="59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10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Architecture API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fr-FR" sz="36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Automate &amp; Logigrammes</a:t>
            </a:r>
            <a:endParaRPr lang="fr-FR" sz="3600" dirty="0"/>
          </a:p>
        </p:txBody>
      </p:sp>
      <p:sp>
        <p:nvSpPr>
          <p:cNvPr id="59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11</a:t>
            </a:r>
            <a:endParaRPr lang="fr-FR" sz="1400" dirty="0">
              <a:solidFill>
                <a:srgbClr val="E89F5B"/>
              </a:solidFill>
            </a:endParaRPr>
          </a:p>
        </p:txBody>
      </p:sp>
      <p:sp>
        <p:nvSpPr>
          <p:cNvPr id="60" name="Shape 4"/>
          <p:cNvSpPr/>
          <p:nvPr/>
        </p:nvSpPr>
        <p:spPr>
          <a:xfrm>
            <a:off x="514350" y="1479550"/>
            <a:ext cx="6007100" cy="3530600"/>
          </a:xfrm>
          <a:prstGeom prst="roundRect">
            <a:avLst>
              <a:gd name="adj" fmla="val 2878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1" name="Shape 5"/>
          <p:cNvSpPr/>
          <p:nvPr/>
        </p:nvSpPr>
        <p:spPr>
          <a:xfrm>
            <a:off x="698500" y="1676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1119" y="8334"/>
                </a:moveTo>
                <a:cubicBezTo>
                  <a:pt x="61119" y="3716"/>
                  <a:pt x="57403" y="0"/>
                  <a:pt x="52784" y="0"/>
                </a:cubicBezTo>
                <a:cubicBezTo>
                  <a:pt x="48166" y="0"/>
                  <a:pt x="44450" y="3716"/>
                  <a:pt x="44450" y="8334"/>
                </a:cubicBezTo>
                <a:lnTo>
                  <a:pt x="44450" y="22225"/>
                </a:lnTo>
                <a:cubicBezTo>
                  <a:pt x="32192" y="22225"/>
                  <a:pt x="22225" y="32192"/>
                  <a:pt x="22225" y="44450"/>
                </a:cubicBezTo>
                <a:lnTo>
                  <a:pt x="8334" y="44450"/>
                </a:lnTo>
                <a:cubicBezTo>
                  <a:pt x="3716" y="44450"/>
                  <a:pt x="0" y="48166"/>
                  <a:pt x="0" y="52784"/>
                </a:cubicBezTo>
                <a:cubicBezTo>
                  <a:pt x="0" y="57403"/>
                  <a:pt x="3716" y="61119"/>
                  <a:pt x="8334" y="61119"/>
                </a:cubicBezTo>
                <a:lnTo>
                  <a:pt x="22225" y="61119"/>
                </a:lnTo>
                <a:lnTo>
                  <a:pt x="22225" y="80566"/>
                </a:lnTo>
                <a:lnTo>
                  <a:pt x="8334" y="80566"/>
                </a:lnTo>
                <a:cubicBezTo>
                  <a:pt x="3716" y="80566"/>
                  <a:pt x="0" y="84281"/>
                  <a:pt x="0" y="88900"/>
                </a:cubicBezTo>
                <a:cubicBezTo>
                  <a:pt x="0" y="93519"/>
                  <a:pt x="3716" y="97234"/>
                  <a:pt x="8334" y="97234"/>
                </a:cubicBezTo>
                <a:lnTo>
                  <a:pt x="22225" y="97234"/>
                </a:lnTo>
                <a:lnTo>
                  <a:pt x="22225" y="116681"/>
                </a:lnTo>
                <a:lnTo>
                  <a:pt x="8334" y="116681"/>
                </a:lnTo>
                <a:cubicBezTo>
                  <a:pt x="3716" y="116681"/>
                  <a:pt x="0" y="120397"/>
                  <a:pt x="0" y="125016"/>
                </a:cubicBezTo>
                <a:cubicBezTo>
                  <a:pt x="0" y="129634"/>
                  <a:pt x="3716" y="133350"/>
                  <a:pt x="8334" y="133350"/>
                </a:cubicBez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44450" y="169466"/>
                </a:lnTo>
                <a:cubicBezTo>
                  <a:pt x="44450" y="174084"/>
                  <a:pt x="48166" y="177800"/>
                  <a:pt x="52784" y="177800"/>
                </a:cubicBezTo>
                <a:cubicBezTo>
                  <a:pt x="57403" y="177800"/>
                  <a:pt x="61119" y="174084"/>
                  <a:pt x="61119" y="169466"/>
                </a:cubicBezTo>
                <a:lnTo>
                  <a:pt x="61119" y="155575"/>
                </a:lnTo>
                <a:lnTo>
                  <a:pt x="80566" y="155575"/>
                </a:lnTo>
                <a:lnTo>
                  <a:pt x="80566" y="169466"/>
                </a:lnTo>
                <a:cubicBezTo>
                  <a:pt x="80566" y="174084"/>
                  <a:pt x="84281" y="177800"/>
                  <a:pt x="88900" y="177800"/>
                </a:cubicBezTo>
                <a:cubicBezTo>
                  <a:pt x="93519" y="177800"/>
                  <a:pt x="97234" y="174084"/>
                  <a:pt x="97234" y="169466"/>
                </a:cubicBezTo>
                <a:lnTo>
                  <a:pt x="97234" y="155575"/>
                </a:lnTo>
                <a:lnTo>
                  <a:pt x="116681" y="155575"/>
                </a:lnTo>
                <a:lnTo>
                  <a:pt x="116681" y="169466"/>
                </a:lnTo>
                <a:cubicBezTo>
                  <a:pt x="116681" y="174084"/>
                  <a:pt x="120397" y="177800"/>
                  <a:pt x="125016" y="177800"/>
                </a:cubicBezTo>
                <a:cubicBezTo>
                  <a:pt x="129634" y="177800"/>
                  <a:pt x="133350" y="174084"/>
                  <a:pt x="133350" y="169466"/>
                </a:cubicBezTo>
                <a:lnTo>
                  <a:pt x="133350" y="155575"/>
                </a:lnTo>
                <a:cubicBezTo>
                  <a:pt x="145608" y="155575"/>
                  <a:pt x="155575" y="145608"/>
                  <a:pt x="155575" y="133350"/>
                </a:cubicBezTo>
                <a:lnTo>
                  <a:pt x="169466" y="133350"/>
                </a:lnTo>
                <a:cubicBezTo>
                  <a:pt x="174084" y="133350"/>
                  <a:pt x="177800" y="129634"/>
                  <a:pt x="177800" y="125016"/>
                </a:cubicBezTo>
                <a:cubicBezTo>
                  <a:pt x="177800" y="120397"/>
                  <a:pt x="174084" y="116681"/>
                  <a:pt x="169466" y="116681"/>
                </a:cubicBezTo>
                <a:lnTo>
                  <a:pt x="155575" y="116681"/>
                </a:lnTo>
                <a:lnTo>
                  <a:pt x="155575" y="97234"/>
                </a:lnTo>
                <a:lnTo>
                  <a:pt x="169466" y="97234"/>
                </a:lnTo>
                <a:cubicBezTo>
                  <a:pt x="174084" y="97234"/>
                  <a:pt x="177800" y="93519"/>
                  <a:pt x="177800" y="88900"/>
                </a:cubicBezTo>
                <a:cubicBezTo>
                  <a:pt x="177800" y="84281"/>
                  <a:pt x="174084" y="80566"/>
                  <a:pt x="169466" y="80566"/>
                </a:cubicBezTo>
                <a:lnTo>
                  <a:pt x="155575" y="80566"/>
                </a:lnTo>
                <a:lnTo>
                  <a:pt x="155575" y="61119"/>
                </a:lnTo>
                <a:lnTo>
                  <a:pt x="169466" y="61119"/>
                </a:lnTo>
                <a:cubicBezTo>
                  <a:pt x="174084" y="61119"/>
                  <a:pt x="177800" y="57403"/>
                  <a:pt x="177800" y="52784"/>
                </a:cubicBezTo>
                <a:cubicBezTo>
                  <a:pt x="177800" y="48166"/>
                  <a:pt x="174084" y="44450"/>
                  <a:pt x="169466" y="44450"/>
                </a:cubicBezTo>
                <a:lnTo>
                  <a:pt x="155575" y="44450"/>
                </a:lnTo>
                <a:cubicBezTo>
                  <a:pt x="155575" y="32192"/>
                  <a:pt x="145608" y="22225"/>
                  <a:pt x="133350" y="22225"/>
                </a:cubicBezTo>
                <a:lnTo>
                  <a:pt x="133350" y="8334"/>
                </a:lnTo>
                <a:cubicBezTo>
                  <a:pt x="133350" y="3716"/>
                  <a:pt x="129634" y="0"/>
                  <a:pt x="125016" y="0"/>
                </a:cubicBezTo>
                <a:cubicBezTo>
                  <a:pt x="120397" y="0"/>
                  <a:pt x="116681" y="3716"/>
                  <a:pt x="116681" y="8334"/>
                </a:cubicBezTo>
                <a:lnTo>
                  <a:pt x="116681" y="22225"/>
                </a:lnTo>
                <a:lnTo>
                  <a:pt x="97234" y="22225"/>
                </a:lnTo>
                <a:lnTo>
                  <a:pt x="97234" y="8334"/>
                </a:lnTo>
                <a:cubicBezTo>
                  <a:pt x="97234" y="3716"/>
                  <a:pt x="93519" y="0"/>
                  <a:pt x="88900" y="0"/>
                </a:cubicBezTo>
                <a:cubicBezTo>
                  <a:pt x="84281" y="0"/>
                  <a:pt x="80566" y="3716"/>
                  <a:pt x="80566" y="8334"/>
                </a:cubicBezTo>
                <a:lnTo>
                  <a:pt x="80566" y="22225"/>
                </a:lnTo>
                <a:lnTo>
                  <a:pt x="61119" y="22225"/>
                </a:lnTo>
                <a:lnTo>
                  <a:pt x="61119" y="8334"/>
                </a:lnTo>
                <a:close/>
                <a:moveTo>
                  <a:pt x="55563" y="44450"/>
                </a:moveTo>
                <a:lnTo>
                  <a:pt x="122238" y="44450"/>
                </a:lnTo>
                <a:cubicBezTo>
                  <a:pt x="128384" y="44450"/>
                  <a:pt x="133350" y="49416"/>
                  <a:pt x="133350" y="55563"/>
                </a:cubicBezTo>
                <a:lnTo>
                  <a:pt x="133350" y="122238"/>
                </a:lnTo>
                <a:cubicBezTo>
                  <a:pt x="133350" y="128384"/>
                  <a:pt x="128384" y="133350"/>
                  <a:pt x="122238" y="133350"/>
                </a:cubicBezTo>
                <a:lnTo>
                  <a:pt x="55563" y="133350"/>
                </a:lnTo>
                <a:cubicBezTo>
                  <a:pt x="49416" y="133350"/>
                  <a:pt x="44450" y="128384"/>
                  <a:pt x="44450" y="122238"/>
                </a:cubicBezTo>
                <a:lnTo>
                  <a:pt x="44450" y="55563"/>
                </a:lnTo>
                <a:cubicBezTo>
                  <a:pt x="44450" y="49416"/>
                  <a:pt x="49416" y="44450"/>
                  <a:pt x="55563" y="44450"/>
                </a:cubicBezTo>
                <a:close/>
                <a:moveTo>
                  <a:pt x="61119" y="61119"/>
                </a:moveTo>
                <a:lnTo>
                  <a:pt x="61119" y="116681"/>
                </a:lnTo>
                <a:lnTo>
                  <a:pt x="116681" y="116681"/>
                </a:lnTo>
                <a:lnTo>
                  <a:pt x="116681" y="61119"/>
                </a:lnTo>
                <a:lnTo>
                  <a:pt x="61119" y="61119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62" name="Text 6"/>
          <p:cNvSpPr/>
          <p:nvPr/>
        </p:nvSpPr>
        <p:spPr>
          <a:xfrm>
            <a:off x="1003300" y="1638300"/>
            <a:ext cx="544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Logiciels S7-300</a:t>
            </a:r>
            <a:endParaRPr lang="fr-FR" sz="1600" dirty="0"/>
          </a:p>
        </p:txBody>
      </p:sp>
      <p:sp>
        <p:nvSpPr>
          <p:cNvPr id="63" name="Shape 7"/>
          <p:cNvSpPr/>
          <p:nvPr/>
        </p:nvSpPr>
        <p:spPr>
          <a:xfrm>
            <a:off x="673100" y="19939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FB2C36">
              <a:alpha val="10196"/>
            </a:srgbClr>
          </a:solidFill>
          <a:ln/>
        </p:spPr>
      </p:sp>
      <p:sp>
        <p:nvSpPr>
          <p:cNvPr id="64" name="Shape 8"/>
          <p:cNvSpPr/>
          <p:nvPr/>
        </p:nvSpPr>
        <p:spPr>
          <a:xfrm>
            <a:off x="768350" y="2089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65" name="Text 9"/>
          <p:cNvSpPr/>
          <p:nvPr/>
        </p:nvSpPr>
        <p:spPr>
          <a:xfrm>
            <a:off x="1041400" y="20701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Sécurités</a:t>
            </a:r>
            <a:endParaRPr lang="fr-FR" sz="1600" dirty="0"/>
          </a:p>
        </p:txBody>
      </p:sp>
      <p:sp>
        <p:nvSpPr>
          <p:cNvPr id="66" name="Shape 10"/>
          <p:cNvSpPr/>
          <p:nvPr/>
        </p:nvSpPr>
        <p:spPr>
          <a:xfrm>
            <a:off x="673100" y="24130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2B7FFF">
              <a:alpha val="10196"/>
            </a:srgbClr>
          </a:solidFill>
          <a:ln/>
        </p:spPr>
      </p:sp>
      <p:sp>
        <p:nvSpPr>
          <p:cNvPr id="67" name="Shape 11"/>
          <p:cNvSpPr/>
          <p:nvPr/>
        </p:nvSpPr>
        <p:spPr>
          <a:xfrm>
            <a:off x="768350" y="2508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121027"/>
                </a:moveTo>
                <a:lnTo>
                  <a:pt x="121027" y="149602"/>
                </a:lnTo>
                <a:cubicBezTo>
                  <a:pt x="118289" y="152340"/>
                  <a:pt x="114211" y="153144"/>
                  <a:pt x="110639" y="151656"/>
                </a:cubicBezTo>
                <a:cubicBezTo>
                  <a:pt x="107067" y="150168"/>
                  <a:pt x="104775" y="146715"/>
                  <a:pt x="104775" y="142875"/>
                </a:cubicBezTo>
                <a:lnTo>
                  <a:pt x="104775" y="123825"/>
                </a:lnTo>
                <a:lnTo>
                  <a:pt x="9525" y="123825"/>
                </a:lnTo>
                <a:cubicBezTo>
                  <a:pt x="4256" y="123825"/>
                  <a:pt x="0" y="119569"/>
                  <a:pt x="0" y="114300"/>
                </a:cubicBezTo>
                <a:cubicBezTo>
                  <a:pt x="0" y="109031"/>
                  <a:pt x="4256" y="104775"/>
                  <a:pt x="9525" y="104775"/>
                </a:cubicBezTo>
                <a:lnTo>
                  <a:pt x="104775" y="104775"/>
                </a:lnTo>
                <a:lnTo>
                  <a:pt x="104775" y="85725"/>
                </a:lnTo>
                <a:cubicBezTo>
                  <a:pt x="104775" y="81885"/>
                  <a:pt x="107097" y="78403"/>
                  <a:pt x="110669" y="76914"/>
                </a:cubicBezTo>
                <a:cubicBezTo>
                  <a:pt x="114240" y="75426"/>
                  <a:pt x="118318" y="76260"/>
                  <a:pt x="121057" y="78968"/>
                </a:cubicBezTo>
                <a:lnTo>
                  <a:pt x="149632" y="107543"/>
                </a:lnTo>
                <a:cubicBezTo>
                  <a:pt x="153353" y="111264"/>
                  <a:pt x="153353" y="117306"/>
                  <a:pt x="149632" y="121027"/>
                </a:cubicBezTo>
                <a:close/>
                <a:moveTo>
                  <a:pt x="2798" y="44827"/>
                </a:moveTo>
                <a:cubicBezTo>
                  <a:pt x="-923" y="41106"/>
                  <a:pt x="-923" y="35064"/>
                  <a:pt x="2798" y="31343"/>
                </a:cubicBezTo>
                <a:lnTo>
                  <a:pt x="31373" y="2768"/>
                </a:lnTo>
                <a:cubicBezTo>
                  <a:pt x="34111" y="30"/>
                  <a:pt x="38189" y="-774"/>
                  <a:pt x="41761" y="714"/>
                </a:cubicBezTo>
                <a:cubicBezTo>
                  <a:pt x="45333" y="2203"/>
                  <a:pt x="47625" y="5685"/>
                  <a:pt x="47625" y="9525"/>
                </a:cubicBezTo>
                <a:lnTo>
                  <a:pt x="47625" y="28575"/>
                </a:lnTo>
                <a:lnTo>
                  <a:pt x="142875" y="28575"/>
                </a:lnTo>
                <a:cubicBezTo>
                  <a:pt x="148144" y="28575"/>
                  <a:pt x="152400" y="32831"/>
                  <a:pt x="152400" y="38100"/>
                </a:cubicBezTo>
                <a:cubicBezTo>
                  <a:pt x="152400" y="43369"/>
                  <a:pt x="148144" y="47625"/>
                  <a:pt x="142875" y="47625"/>
                </a:cubicBezTo>
                <a:lnTo>
                  <a:pt x="47625" y="47625"/>
                </a:lnTo>
                <a:lnTo>
                  <a:pt x="47625" y="66675"/>
                </a:lnTo>
                <a:cubicBezTo>
                  <a:pt x="47625" y="70515"/>
                  <a:pt x="45303" y="73997"/>
                  <a:pt x="41731" y="75486"/>
                </a:cubicBezTo>
                <a:cubicBezTo>
                  <a:pt x="38160" y="76974"/>
                  <a:pt x="34082" y="76140"/>
                  <a:pt x="31343" y="73432"/>
                </a:cubicBezTo>
                <a:lnTo>
                  <a:pt x="2768" y="44857"/>
                </a:ln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68" name="Text 12"/>
          <p:cNvSpPr/>
          <p:nvPr/>
        </p:nvSpPr>
        <p:spPr>
          <a:xfrm>
            <a:off x="1041400" y="2489200"/>
            <a:ext cx="96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Vérin</a:t>
            </a:r>
            <a:endParaRPr lang="fr-FR" sz="1600" dirty="0"/>
          </a:p>
        </p:txBody>
      </p:sp>
      <p:sp>
        <p:nvSpPr>
          <p:cNvPr id="69" name="Shape 13"/>
          <p:cNvSpPr/>
          <p:nvPr/>
        </p:nvSpPr>
        <p:spPr>
          <a:xfrm>
            <a:off x="673100" y="28321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FF6900">
              <a:alpha val="10196"/>
            </a:srgbClr>
          </a:solidFill>
          <a:ln/>
        </p:spPr>
      </p:sp>
      <p:sp>
        <p:nvSpPr>
          <p:cNvPr id="70" name="Shape 14"/>
          <p:cNvSpPr/>
          <p:nvPr/>
        </p:nvSpPr>
        <p:spPr>
          <a:xfrm>
            <a:off x="768350" y="292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FF8904"/>
          </a:solidFill>
          <a:ln/>
        </p:spPr>
      </p:sp>
      <p:sp>
        <p:nvSpPr>
          <p:cNvPr id="71" name="Text 15"/>
          <p:cNvSpPr/>
          <p:nvPr/>
        </p:nvSpPr>
        <p:spPr>
          <a:xfrm>
            <a:off x="1041400" y="29083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Moteurs</a:t>
            </a:r>
            <a:endParaRPr lang="fr-FR" sz="1600" dirty="0"/>
          </a:p>
        </p:txBody>
      </p:sp>
      <p:sp>
        <p:nvSpPr>
          <p:cNvPr id="72" name="Shape 16"/>
          <p:cNvSpPr/>
          <p:nvPr/>
        </p:nvSpPr>
        <p:spPr>
          <a:xfrm>
            <a:off x="673100" y="32512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00C950">
              <a:alpha val="10196"/>
            </a:srgbClr>
          </a:solidFill>
          <a:ln/>
        </p:spPr>
      </p:sp>
      <p:sp>
        <p:nvSpPr>
          <p:cNvPr id="73" name="Shape 17"/>
          <p:cNvSpPr/>
          <p:nvPr/>
        </p:nvSpPr>
        <p:spPr>
          <a:xfrm>
            <a:off x="768350" y="3346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28575"/>
                </a:moveTo>
                <a:cubicBezTo>
                  <a:pt x="19050" y="23306"/>
                  <a:pt x="23306" y="19050"/>
                  <a:pt x="28575" y="19050"/>
                </a:cubicBezTo>
                <a:lnTo>
                  <a:pt x="76200" y="19050"/>
                </a:lnTo>
                <a:cubicBezTo>
                  <a:pt x="81469" y="19050"/>
                  <a:pt x="85725" y="23306"/>
                  <a:pt x="85725" y="28575"/>
                </a:cubicBezTo>
                <a:lnTo>
                  <a:pt x="85725" y="114300"/>
                </a:lnTo>
                <a:lnTo>
                  <a:pt x="114300" y="114300"/>
                </a:lnTo>
                <a:lnTo>
                  <a:pt x="114300" y="76200"/>
                </a:lnTo>
                <a:cubicBezTo>
                  <a:pt x="114300" y="70931"/>
                  <a:pt x="118556" y="66675"/>
                  <a:pt x="123825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133350" y="85725"/>
                </a:lnTo>
                <a:lnTo>
                  <a:pt x="133350" y="123825"/>
                </a:lnTo>
                <a:cubicBezTo>
                  <a:pt x="133350" y="129094"/>
                  <a:pt x="129094" y="133350"/>
                  <a:pt x="123825" y="133350"/>
                </a:cubicBezTo>
                <a:lnTo>
                  <a:pt x="76200" y="133350"/>
                </a:lnTo>
                <a:cubicBezTo>
                  <a:pt x="70931" y="133350"/>
                  <a:pt x="66675" y="129094"/>
                  <a:pt x="66675" y="123825"/>
                </a:cubicBezTo>
                <a:lnTo>
                  <a:pt x="66675" y="38100"/>
                </a:lnTo>
                <a:lnTo>
                  <a:pt x="38100" y="38100"/>
                </a:lnTo>
                <a:lnTo>
                  <a:pt x="38100" y="76200"/>
                </a:lnTo>
                <a:cubicBezTo>
                  <a:pt x="38100" y="81469"/>
                  <a:pt x="33844" y="85725"/>
                  <a:pt x="2857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ubicBezTo>
                  <a:pt x="0" y="70931"/>
                  <a:pt x="4256" y="66675"/>
                  <a:pt x="9525" y="66675"/>
                </a:cubicBezTo>
                <a:lnTo>
                  <a:pt x="19050" y="66675"/>
                </a:lnTo>
                <a:lnTo>
                  <a:pt x="19050" y="28575"/>
                </a:ln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74" name="Text 18"/>
          <p:cNvSpPr/>
          <p:nvPr/>
        </p:nvSpPr>
        <p:spPr>
          <a:xfrm>
            <a:off x="1041400" y="3327400"/>
            <a:ext cx="113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Mesure</a:t>
            </a:r>
            <a:endParaRPr lang="fr-FR" sz="1600" dirty="0"/>
          </a:p>
        </p:txBody>
      </p:sp>
      <p:sp>
        <p:nvSpPr>
          <p:cNvPr id="75" name="Shape 19"/>
          <p:cNvSpPr/>
          <p:nvPr/>
        </p:nvSpPr>
        <p:spPr>
          <a:xfrm>
            <a:off x="673100" y="36703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AD46FF">
              <a:alpha val="10196"/>
            </a:srgbClr>
          </a:solidFill>
          <a:ln/>
        </p:spPr>
      </p:sp>
      <p:sp>
        <p:nvSpPr>
          <p:cNvPr id="76" name="Shape 20"/>
          <p:cNvSpPr/>
          <p:nvPr/>
        </p:nvSpPr>
        <p:spPr>
          <a:xfrm>
            <a:off x="768350" y="3765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27AFF"/>
          </a:solidFill>
          <a:ln/>
        </p:spPr>
      </p:sp>
      <p:sp>
        <p:nvSpPr>
          <p:cNvPr id="77" name="Text 21"/>
          <p:cNvSpPr/>
          <p:nvPr/>
        </p:nvSpPr>
        <p:spPr>
          <a:xfrm>
            <a:off x="1041400" y="3746500"/>
            <a:ext cx="86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ISO</a:t>
            </a:r>
            <a:endParaRPr lang="fr-FR" sz="1600" dirty="0"/>
          </a:p>
        </p:txBody>
      </p:sp>
      <p:sp>
        <p:nvSpPr>
          <p:cNvPr id="78" name="Shape 22"/>
          <p:cNvSpPr/>
          <p:nvPr/>
        </p:nvSpPr>
        <p:spPr>
          <a:xfrm>
            <a:off x="673100" y="40894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F0B100">
              <a:alpha val="10196"/>
            </a:srgbClr>
          </a:solidFill>
          <a:ln/>
        </p:spPr>
      </p:sp>
      <p:sp>
        <p:nvSpPr>
          <p:cNvPr id="79" name="Shape 23"/>
          <p:cNvSpPr/>
          <p:nvPr/>
        </p:nvSpPr>
        <p:spPr>
          <a:xfrm>
            <a:off x="768350" y="4184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80" name="Text 24"/>
          <p:cNvSpPr/>
          <p:nvPr/>
        </p:nvSpPr>
        <p:spPr>
          <a:xfrm>
            <a:off x="1041400" y="4165600"/>
            <a:ext cx="100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Cycle</a:t>
            </a:r>
            <a:endParaRPr lang="fr-FR" sz="1600" dirty="0"/>
          </a:p>
        </p:txBody>
      </p:sp>
      <p:sp>
        <p:nvSpPr>
          <p:cNvPr id="81" name="Shape 25"/>
          <p:cNvSpPr/>
          <p:nvPr/>
        </p:nvSpPr>
        <p:spPr>
          <a:xfrm>
            <a:off x="673100" y="4508500"/>
            <a:ext cx="5689600" cy="342900"/>
          </a:xfrm>
          <a:prstGeom prst="roundRect">
            <a:avLst>
              <a:gd name="adj" fmla="val 14815"/>
            </a:avLst>
          </a:prstGeom>
          <a:solidFill>
            <a:srgbClr val="00B8DB">
              <a:alpha val="10196"/>
            </a:srgbClr>
          </a:solidFill>
          <a:ln/>
        </p:spPr>
      </p:sp>
      <p:sp>
        <p:nvSpPr>
          <p:cNvPr id="82" name="Shape 26"/>
          <p:cNvSpPr/>
          <p:nvPr/>
        </p:nvSpPr>
        <p:spPr>
          <a:xfrm>
            <a:off x="758825" y="4603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00D3F2"/>
          </a:solidFill>
          <a:ln/>
        </p:spPr>
      </p:sp>
      <p:sp>
        <p:nvSpPr>
          <p:cNvPr id="83" name="Text 27"/>
          <p:cNvSpPr/>
          <p:nvPr/>
        </p:nvSpPr>
        <p:spPr>
          <a:xfrm>
            <a:off x="1041400" y="4584700"/>
            <a:ext cx="168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 Communication</a:t>
            </a:r>
            <a:endParaRPr lang="fr-FR" sz="1600" dirty="0"/>
          </a:p>
        </p:txBody>
      </p:sp>
      <p:sp>
        <p:nvSpPr>
          <p:cNvPr id="84" name="Shape 28"/>
          <p:cNvSpPr/>
          <p:nvPr/>
        </p:nvSpPr>
        <p:spPr>
          <a:xfrm>
            <a:off x="514350" y="5175250"/>
            <a:ext cx="60071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5" name="Shape 29"/>
          <p:cNvSpPr/>
          <p:nvPr/>
        </p:nvSpPr>
        <p:spPr>
          <a:xfrm>
            <a:off x="698500" y="5372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74536" y="52298"/>
                </a:moveTo>
                <a:lnTo>
                  <a:pt x="141198" y="85636"/>
                </a:lnTo>
                <a:cubicBezTo>
                  <a:pt x="138003" y="88831"/>
                  <a:pt x="133246" y="89768"/>
                  <a:pt x="129079" y="88032"/>
                </a:cubicBezTo>
                <a:cubicBezTo>
                  <a:pt x="124911" y="86296"/>
                  <a:pt x="122238" y="82267"/>
                  <a:pt x="122238" y="77788"/>
                </a:cubicBezTo>
                <a:lnTo>
                  <a:pt x="122238" y="55563"/>
                </a:lnTo>
                <a:lnTo>
                  <a:pt x="11112" y="55563"/>
                </a:lnTo>
                <a:cubicBezTo>
                  <a:pt x="4966" y="55563"/>
                  <a:pt x="0" y="50597"/>
                  <a:pt x="0" y="44450"/>
                </a:cubicBezTo>
                <a:cubicBezTo>
                  <a:pt x="0" y="38303"/>
                  <a:pt x="4966" y="33337"/>
                  <a:pt x="11112" y="33337"/>
                </a:cubicBezTo>
                <a:lnTo>
                  <a:pt x="122238" y="33337"/>
                </a:lnTo>
                <a:lnTo>
                  <a:pt x="122238" y="11112"/>
                </a:lnTo>
                <a:cubicBezTo>
                  <a:pt x="122238" y="6633"/>
                  <a:pt x="124946" y="2570"/>
                  <a:pt x="129113" y="833"/>
                </a:cubicBezTo>
                <a:cubicBezTo>
                  <a:pt x="133281" y="-903"/>
                  <a:pt x="138038" y="69"/>
                  <a:pt x="141233" y="3230"/>
                </a:cubicBezTo>
                <a:lnTo>
                  <a:pt x="174570" y="36567"/>
                </a:lnTo>
                <a:cubicBezTo>
                  <a:pt x="178911" y="40908"/>
                  <a:pt x="178911" y="47957"/>
                  <a:pt x="174570" y="52298"/>
                </a:cubicBezTo>
                <a:close/>
                <a:moveTo>
                  <a:pt x="36567" y="174536"/>
                </a:moveTo>
                <a:lnTo>
                  <a:pt x="3230" y="141198"/>
                </a:lnTo>
                <a:cubicBezTo>
                  <a:pt x="-1111" y="136857"/>
                  <a:pt x="-1111" y="129808"/>
                  <a:pt x="3230" y="125467"/>
                </a:cubicBezTo>
                <a:lnTo>
                  <a:pt x="36567" y="92130"/>
                </a:lnTo>
                <a:cubicBezTo>
                  <a:pt x="39762" y="88935"/>
                  <a:pt x="44519" y="87997"/>
                  <a:pt x="48687" y="89733"/>
                </a:cubicBezTo>
                <a:cubicBezTo>
                  <a:pt x="52854" y="91470"/>
                  <a:pt x="55563" y="95533"/>
                  <a:pt x="55563" y="100013"/>
                </a:cubicBezTo>
                <a:lnTo>
                  <a:pt x="55563" y="122238"/>
                </a:lnTo>
                <a:lnTo>
                  <a:pt x="166688" y="122238"/>
                </a:lnTo>
                <a:cubicBezTo>
                  <a:pt x="172834" y="122238"/>
                  <a:pt x="177800" y="127203"/>
                  <a:pt x="177800" y="133350"/>
                </a:cubicBezTo>
                <a:cubicBezTo>
                  <a:pt x="177800" y="139497"/>
                  <a:pt x="172834" y="144463"/>
                  <a:pt x="166688" y="144463"/>
                </a:cubicBezTo>
                <a:lnTo>
                  <a:pt x="55563" y="144463"/>
                </a:lnTo>
                <a:lnTo>
                  <a:pt x="55563" y="166688"/>
                </a:lnTo>
                <a:cubicBezTo>
                  <a:pt x="55563" y="171167"/>
                  <a:pt x="52854" y="175230"/>
                  <a:pt x="48687" y="176967"/>
                </a:cubicBezTo>
                <a:cubicBezTo>
                  <a:pt x="44519" y="178703"/>
                  <a:pt x="39762" y="177731"/>
                  <a:pt x="36567" y="174570"/>
                </a:cubicBez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86" name="Text 30"/>
          <p:cNvSpPr/>
          <p:nvPr/>
        </p:nvSpPr>
        <p:spPr>
          <a:xfrm>
            <a:off x="1003300" y="5334000"/>
            <a:ext cx="544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dirty="0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Entrées / Sorties API</a:t>
            </a:r>
            <a:endParaRPr lang="fr-FR" sz="1600" dirty="0"/>
          </a:p>
        </p:txBody>
      </p:sp>
      <p:sp>
        <p:nvSpPr>
          <p:cNvPr id="87" name="Text 31"/>
          <p:cNvSpPr/>
          <p:nvPr/>
        </p:nvSpPr>
        <p:spPr>
          <a:xfrm>
            <a:off x="673100" y="56896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Entrées TOR</a:t>
            </a:r>
            <a:endParaRPr lang="fr-FR" sz="1600" dirty="0"/>
          </a:p>
        </p:txBody>
      </p:sp>
      <p:sp>
        <p:nvSpPr>
          <p:cNvPr id="88" name="Text 32"/>
          <p:cNvSpPr/>
          <p:nvPr/>
        </p:nvSpPr>
        <p:spPr>
          <a:xfrm>
            <a:off x="673100" y="5930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</a:t>
            </a:r>
            <a:r>
              <a:rPr lang="fr-FR" sz="1200" dirty="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Stop</a:t>
            </a:r>
            <a:endParaRPr lang="fr-FR" sz="1600" dirty="0"/>
          </a:p>
        </p:txBody>
      </p:sp>
      <p:sp>
        <p:nvSpPr>
          <p:cNvPr id="89" name="Text 33"/>
          <p:cNvSpPr/>
          <p:nvPr/>
        </p:nvSpPr>
        <p:spPr>
          <a:xfrm>
            <a:off x="673100" y="6121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Capot</a:t>
            </a:r>
            <a:r>
              <a:rPr lang="fr-FR" sz="1200" dirty="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OK</a:t>
            </a:r>
            <a:endParaRPr lang="fr-FR" sz="1600" dirty="0"/>
          </a:p>
        </p:txBody>
      </p:sp>
      <p:sp>
        <p:nvSpPr>
          <p:cNvPr id="90" name="Text 34"/>
          <p:cNvSpPr/>
          <p:nvPr/>
        </p:nvSpPr>
        <p:spPr>
          <a:xfrm>
            <a:off x="673100" y="6311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Clé Présente</a:t>
            </a:r>
            <a:endParaRPr lang="fr-FR" sz="1600" dirty="0"/>
          </a:p>
        </p:txBody>
      </p:sp>
      <p:sp>
        <p:nvSpPr>
          <p:cNvPr id="91" name="Text 35"/>
          <p:cNvSpPr/>
          <p:nvPr/>
        </p:nvSpPr>
        <p:spPr>
          <a:xfrm>
            <a:off x="673100" y="6502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FDC</a:t>
            </a:r>
            <a:r>
              <a:rPr lang="fr-FR" sz="1200" dirty="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 / AR</a:t>
            </a:r>
            <a:endParaRPr lang="fr-FR" sz="1600" dirty="0"/>
          </a:p>
        </p:txBody>
      </p:sp>
      <p:sp>
        <p:nvSpPr>
          <p:cNvPr id="92" name="Text 36"/>
          <p:cNvSpPr/>
          <p:nvPr/>
        </p:nvSpPr>
        <p:spPr>
          <a:xfrm>
            <a:off x="3566120" y="56896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Sorties TOR</a:t>
            </a:r>
            <a:endParaRPr lang="fr-FR" sz="1600" dirty="0"/>
          </a:p>
        </p:txBody>
      </p:sp>
      <p:sp>
        <p:nvSpPr>
          <p:cNvPr id="93" name="Text 37"/>
          <p:cNvSpPr/>
          <p:nvPr/>
        </p:nvSpPr>
        <p:spPr>
          <a:xfrm>
            <a:off x="3566120" y="5930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Cmd</a:t>
            </a:r>
            <a:r>
              <a:rPr lang="fr-FR" sz="1200" dirty="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Vérin AV/AR</a:t>
            </a:r>
            <a:endParaRPr lang="fr-FR" sz="1600" dirty="0"/>
          </a:p>
        </p:txBody>
      </p:sp>
      <p:sp>
        <p:nvSpPr>
          <p:cNvPr id="94" name="Text 38"/>
          <p:cNvSpPr/>
          <p:nvPr/>
        </p:nvSpPr>
        <p:spPr>
          <a:xfrm>
            <a:off x="3566120" y="6121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Moteur</a:t>
            </a:r>
            <a:r>
              <a:rPr lang="fr-FR" sz="1200" dirty="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Faible</a:t>
            </a:r>
            <a:endParaRPr lang="fr-FR" sz="1600" dirty="0"/>
          </a:p>
        </p:txBody>
      </p:sp>
      <p:sp>
        <p:nvSpPr>
          <p:cNvPr id="95" name="Text 39"/>
          <p:cNvSpPr/>
          <p:nvPr/>
        </p:nvSpPr>
        <p:spPr>
          <a:xfrm>
            <a:off x="3566120" y="63119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Moteur</a:t>
            </a:r>
            <a:r>
              <a:rPr lang="fr-FR" sz="120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</a:t>
            </a:r>
            <a:endParaRPr lang="fr-FR" sz="1600" dirty="0"/>
          </a:p>
        </p:txBody>
      </p:sp>
      <p:sp>
        <p:nvSpPr>
          <p:cNvPr id="96" name="Text 40"/>
          <p:cNvSpPr/>
          <p:nvPr/>
        </p:nvSpPr>
        <p:spPr>
          <a:xfrm>
            <a:off x="3566120" y="6502400"/>
            <a:ext cx="287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Reset</a:t>
            </a:r>
            <a:r>
              <a:rPr lang="fr-FR" sz="1200" smtClean="0">
                <a:solidFill>
                  <a:srgbClr val="6A7282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Alarme</a:t>
            </a:r>
            <a:endParaRPr lang="fr-FR" sz="1600" dirty="0"/>
          </a:p>
        </p:txBody>
      </p:sp>
      <p:sp>
        <p:nvSpPr>
          <p:cNvPr id="97" name="Text 41"/>
          <p:cNvSpPr/>
          <p:nvPr/>
        </p:nvSpPr>
        <p:spPr>
          <a:xfrm>
            <a:off x="673100" y="6794500"/>
            <a:ext cx="576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Analogiques : Couple</a:t>
            </a:r>
            <a:r>
              <a:rPr lang="fr-FR" sz="1200" dirty="0" smtClean="0">
                <a:solidFill>
                  <a:srgbClr val="99A1AF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 (0-10V),Temp</a:t>
            </a:r>
            <a:r>
              <a:rPr lang="fr-FR" sz="1200" dirty="0" smtClean="0">
                <a:solidFill>
                  <a:srgbClr val="99A1AF"/>
                </a:solidFill>
                <a:latin typeface="Calibri"/>
                <a:ea typeface="Liter" pitchFamily="34" charset="-122"/>
                <a:cs typeface="Liter" pitchFamily="34" charset="-120"/>
              </a:rPr>
              <a:t>_</a:t>
            </a:r>
            <a:r>
              <a:rPr lang="fr-FR" sz="1200" dirty="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</a:t>
            </a:r>
            <a:endParaRPr lang="fr-FR" sz="1600" dirty="0"/>
          </a:p>
        </p:txBody>
      </p:sp>
      <p:sp>
        <p:nvSpPr>
          <p:cNvPr id="98" name="Shape 42"/>
          <p:cNvSpPr/>
          <p:nvPr/>
        </p:nvSpPr>
        <p:spPr>
          <a:xfrm>
            <a:off x="6751241" y="1511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27781"/>
                </a:moveTo>
                <a:cubicBezTo>
                  <a:pt x="0" y="18579"/>
                  <a:pt x="7466" y="11112"/>
                  <a:pt x="16669" y="11112"/>
                </a:cubicBezTo>
                <a:lnTo>
                  <a:pt x="50006" y="11112"/>
                </a:lnTo>
                <a:cubicBezTo>
                  <a:pt x="59209" y="11112"/>
                  <a:pt x="66675" y="18579"/>
                  <a:pt x="66675" y="27781"/>
                </a:cubicBezTo>
                <a:lnTo>
                  <a:pt x="66675" y="33337"/>
                </a:lnTo>
                <a:lnTo>
                  <a:pt x="111125" y="33337"/>
                </a:lnTo>
                <a:lnTo>
                  <a:pt x="111125" y="27781"/>
                </a:lnTo>
                <a:cubicBezTo>
                  <a:pt x="111125" y="18579"/>
                  <a:pt x="118591" y="11112"/>
                  <a:pt x="127794" y="11112"/>
                </a:cubicBezTo>
                <a:lnTo>
                  <a:pt x="161131" y="11112"/>
                </a:lnTo>
                <a:cubicBezTo>
                  <a:pt x="170334" y="11112"/>
                  <a:pt x="177800" y="18579"/>
                  <a:pt x="177800" y="27781"/>
                </a:cubicBezTo>
                <a:lnTo>
                  <a:pt x="177800" y="61119"/>
                </a:lnTo>
                <a:cubicBezTo>
                  <a:pt x="177800" y="70321"/>
                  <a:pt x="170334" y="77788"/>
                  <a:pt x="161131" y="77788"/>
                </a:cubicBezTo>
                <a:lnTo>
                  <a:pt x="127794" y="77788"/>
                </a:lnTo>
                <a:cubicBezTo>
                  <a:pt x="118591" y="77788"/>
                  <a:pt x="111125" y="70321"/>
                  <a:pt x="111125" y="61119"/>
                </a:cubicBezTo>
                <a:lnTo>
                  <a:pt x="111125" y="55563"/>
                </a:lnTo>
                <a:lnTo>
                  <a:pt x="66675" y="55563"/>
                </a:lnTo>
                <a:lnTo>
                  <a:pt x="66675" y="61119"/>
                </a:lnTo>
                <a:cubicBezTo>
                  <a:pt x="66675" y="63654"/>
                  <a:pt x="66085" y="66085"/>
                  <a:pt x="65078" y="68238"/>
                </a:cubicBezTo>
                <a:lnTo>
                  <a:pt x="88900" y="100013"/>
                </a:lnTo>
                <a:lnTo>
                  <a:pt x="116681" y="100013"/>
                </a:lnTo>
                <a:cubicBezTo>
                  <a:pt x="125884" y="100013"/>
                  <a:pt x="133350" y="107479"/>
                  <a:pt x="133350" y="116681"/>
                </a:cubicBezTo>
                <a:lnTo>
                  <a:pt x="133350" y="150019"/>
                </a:lnTo>
                <a:cubicBezTo>
                  <a:pt x="133350" y="159221"/>
                  <a:pt x="125884" y="166688"/>
                  <a:pt x="116681" y="166688"/>
                </a:cubicBezTo>
                <a:lnTo>
                  <a:pt x="83344" y="166688"/>
                </a:lnTo>
                <a:cubicBezTo>
                  <a:pt x="74141" y="166688"/>
                  <a:pt x="66675" y="159221"/>
                  <a:pt x="66675" y="150019"/>
                </a:cubicBezTo>
                <a:lnTo>
                  <a:pt x="66675" y="116681"/>
                </a:lnTo>
                <a:cubicBezTo>
                  <a:pt x="66675" y="114146"/>
                  <a:pt x="67265" y="111715"/>
                  <a:pt x="68272" y="109562"/>
                </a:cubicBezTo>
                <a:lnTo>
                  <a:pt x="44450" y="77788"/>
                </a:lnTo>
                <a:lnTo>
                  <a:pt x="16669" y="77788"/>
                </a:lnTo>
                <a:cubicBezTo>
                  <a:pt x="7466" y="77788"/>
                  <a:pt x="0" y="70321"/>
                  <a:pt x="0" y="61119"/>
                </a:cubicBezTo>
                <a:lnTo>
                  <a:pt x="0" y="27781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99" name="Text 43"/>
          <p:cNvSpPr/>
          <p:nvPr/>
        </p:nvSpPr>
        <p:spPr>
          <a:xfrm>
            <a:off x="7056041" y="1473200"/>
            <a:ext cx="877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Logigrammes Clés du Système</a:t>
            </a:r>
            <a:endParaRPr lang="fr-FR" sz="1600" dirty="0"/>
          </a:p>
        </p:txBody>
      </p:sp>
      <p:sp>
        <p:nvSpPr>
          <p:cNvPr id="106" name="Shape 49"/>
          <p:cNvSpPr/>
          <p:nvPr/>
        </p:nvSpPr>
        <p:spPr>
          <a:xfrm>
            <a:off x="6751240" y="1962149"/>
            <a:ext cx="4587279" cy="6673851"/>
          </a:xfrm>
          <a:prstGeom prst="roundRect">
            <a:avLst>
              <a:gd name="adj" fmla="val 727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07" name="Text 50"/>
          <p:cNvSpPr/>
          <p:nvPr/>
        </p:nvSpPr>
        <p:spPr>
          <a:xfrm>
            <a:off x="6909991" y="2146300"/>
            <a:ext cx="177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Vérification Sécurités</a:t>
            </a:r>
            <a:endParaRPr lang="fr-FR" sz="1600" dirty="0"/>
          </a:p>
        </p:txBody>
      </p:sp>
      <p:sp>
        <p:nvSpPr>
          <p:cNvPr id="108" name="Shape 51"/>
          <p:cNvSpPr/>
          <p:nvPr/>
        </p:nvSpPr>
        <p:spPr>
          <a:xfrm>
            <a:off x="10276086" y="2120900"/>
            <a:ext cx="736600" cy="241300"/>
          </a:xfrm>
          <a:prstGeom prst="roundRect">
            <a:avLst>
              <a:gd name="adj" fmla="val 21053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109" name="Text 52"/>
          <p:cNvSpPr/>
          <p:nvPr/>
        </p:nvSpPr>
        <p:spPr>
          <a:xfrm>
            <a:off x="10276086" y="2120900"/>
            <a:ext cx="812800" cy="2413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FFA2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Critique</a:t>
            </a:r>
            <a:endParaRPr lang="fr-FR" sz="1600" dirty="0"/>
          </a:p>
        </p:txBody>
      </p:sp>
      <p:sp>
        <p:nvSpPr>
          <p:cNvPr id="112" name="Shape 54"/>
          <p:cNvSpPr/>
          <p:nvPr/>
        </p:nvSpPr>
        <p:spPr>
          <a:xfrm>
            <a:off x="11497270" y="1962150"/>
            <a:ext cx="4339630" cy="6673850"/>
          </a:xfrm>
          <a:prstGeom prst="roundRect">
            <a:avLst>
              <a:gd name="adj" fmla="val 7273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3" name="Text 55"/>
          <p:cNvSpPr/>
          <p:nvPr/>
        </p:nvSpPr>
        <p:spPr>
          <a:xfrm>
            <a:off x="11497270" y="2146300"/>
            <a:ext cx="237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dirty="0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Sélection Moteur &amp; Pré-charge</a:t>
            </a:r>
            <a:endParaRPr lang="fr-FR" sz="1600" dirty="0"/>
          </a:p>
        </p:txBody>
      </p:sp>
      <p:sp>
        <p:nvSpPr>
          <p:cNvPr id="114" name="Shape 56"/>
          <p:cNvSpPr/>
          <p:nvPr/>
        </p:nvSpPr>
        <p:spPr>
          <a:xfrm>
            <a:off x="14834394" y="2120900"/>
            <a:ext cx="762000" cy="241300"/>
          </a:xfrm>
          <a:prstGeom prst="roundRect">
            <a:avLst>
              <a:gd name="adj" fmla="val 21053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115" name="Text 57"/>
          <p:cNvSpPr/>
          <p:nvPr/>
        </p:nvSpPr>
        <p:spPr>
          <a:xfrm>
            <a:off x="14834394" y="2120900"/>
            <a:ext cx="838200" cy="2413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8EC5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Moteurs</a:t>
            </a:r>
            <a:endParaRPr lang="fr-FR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63568" y="2336800"/>
            <a:ext cx="3340100" cy="6299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01346" y="2336800"/>
            <a:ext cx="3787540" cy="62700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SÉCURITÉS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Système de Sécurité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4064000" cy="1435100"/>
          </a:xfrm>
          <a:custGeom>
            <a:avLst/>
            <a:gdLst/>
            <a:ahLst/>
            <a:cxnLst/>
            <a:rect l="l" t="t" r="r" b="b"/>
            <a:pathLst>
              <a:path w="4064000" h="1435100">
                <a:moveTo>
                  <a:pt x="101605" y="0"/>
                </a:moveTo>
                <a:lnTo>
                  <a:pt x="3962395" y="0"/>
                </a:lnTo>
                <a:cubicBezTo>
                  <a:pt x="4018510" y="0"/>
                  <a:pt x="4064000" y="45490"/>
                  <a:pt x="4064000" y="101605"/>
                </a:cubicBezTo>
                <a:lnTo>
                  <a:pt x="4064000" y="1333495"/>
                </a:lnTo>
                <a:cubicBezTo>
                  <a:pt x="4064000" y="1389610"/>
                  <a:pt x="4018510" y="1435100"/>
                  <a:pt x="3962395" y="1435100"/>
                </a:cubicBezTo>
                <a:lnTo>
                  <a:pt x="101605" y="1435100"/>
                </a:lnTo>
                <a:cubicBezTo>
                  <a:pt x="45490" y="1435100"/>
                  <a:pt x="0" y="1389610"/>
                  <a:pt x="0" y="1333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E89F5B">
              <a:alpha val="10196"/>
            </a:srgbClr>
          </a:soli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100" y="17399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15975" y="187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14288"/>
                </a:moveTo>
                <a:cubicBezTo>
                  <a:pt x="128588" y="6385"/>
                  <a:pt x="122203" y="0"/>
                  <a:pt x="114300" y="0"/>
                </a:cubicBezTo>
                <a:cubicBezTo>
                  <a:pt x="106397" y="0"/>
                  <a:pt x="100013" y="6385"/>
                  <a:pt x="100013" y="14288"/>
                </a:cubicBezTo>
                <a:lnTo>
                  <a:pt x="100013" y="107156"/>
                </a:lnTo>
                <a:cubicBezTo>
                  <a:pt x="100013" y="111085"/>
                  <a:pt x="96798" y="114300"/>
                  <a:pt x="92869" y="114300"/>
                </a:cubicBezTo>
                <a:cubicBezTo>
                  <a:pt x="88940" y="114300"/>
                  <a:pt x="85725" y="111085"/>
                  <a:pt x="85725" y="107156"/>
                </a:cubicBezTo>
                <a:lnTo>
                  <a:pt x="85725" y="28575"/>
                </a:lnTo>
                <a:cubicBezTo>
                  <a:pt x="85725" y="20672"/>
                  <a:pt x="79340" y="14288"/>
                  <a:pt x="71438" y="14288"/>
                </a:cubicBezTo>
                <a:cubicBezTo>
                  <a:pt x="63535" y="14288"/>
                  <a:pt x="57150" y="20672"/>
                  <a:pt x="57150" y="28575"/>
                </a:cubicBezTo>
                <a:lnTo>
                  <a:pt x="57150" y="150019"/>
                </a:lnTo>
                <a:cubicBezTo>
                  <a:pt x="57150" y="150688"/>
                  <a:pt x="57150" y="151403"/>
                  <a:pt x="57195" y="152073"/>
                </a:cubicBezTo>
                <a:lnTo>
                  <a:pt x="30182" y="126355"/>
                </a:lnTo>
                <a:cubicBezTo>
                  <a:pt x="23039" y="119569"/>
                  <a:pt x="11743" y="119836"/>
                  <a:pt x="4911" y="126980"/>
                </a:cubicBezTo>
                <a:cubicBezTo>
                  <a:pt x="-1920" y="134124"/>
                  <a:pt x="-1607" y="145420"/>
                  <a:pt x="5536" y="152251"/>
                </a:cubicBezTo>
                <a:lnTo>
                  <a:pt x="55721" y="200025"/>
                </a:lnTo>
                <a:cubicBezTo>
                  <a:pt x="74965" y="218376"/>
                  <a:pt x="100548" y="228600"/>
                  <a:pt x="127159" y="228600"/>
                </a:cubicBezTo>
                <a:lnTo>
                  <a:pt x="135731" y="228600"/>
                </a:lnTo>
                <a:cubicBezTo>
                  <a:pt x="179130" y="228600"/>
                  <a:pt x="214313" y="193417"/>
                  <a:pt x="214313" y="150019"/>
                </a:cubicBezTo>
                <a:lnTo>
                  <a:pt x="214313" y="57150"/>
                </a:lnTo>
                <a:cubicBezTo>
                  <a:pt x="214313" y="49247"/>
                  <a:pt x="207928" y="42863"/>
                  <a:pt x="200025" y="42863"/>
                </a:cubicBezTo>
                <a:cubicBezTo>
                  <a:pt x="192122" y="42863"/>
                  <a:pt x="185738" y="49247"/>
                  <a:pt x="185738" y="57150"/>
                </a:cubicBezTo>
                <a:lnTo>
                  <a:pt x="185738" y="107156"/>
                </a:lnTo>
                <a:cubicBezTo>
                  <a:pt x="185738" y="111085"/>
                  <a:pt x="182523" y="114300"/>
                  <a:pt x="178594" y="114300"/>
                </a:cubicBezTo>
                <a:cubicBezTo>
                  <a:pt x="174665" y="114300"/>
                  <a:pt x="171450" y="111085"/>
                  <a:pt x="171450" y="107156"/>
                </a:cubicBezTo>
                <a:lnTo>
                  <a:pt x="171450" y="28575"/>
                </a:lnTo>
                <a:cubicBezTo>
                  <a:pt x="171450" y="20672"/>
                  <a:pt x="165065" y="14288"/>
                  <a:pt x="157163" y="14288"/>
                </a:cubicBezTo>
                <a:cubicBezTo>
                  <a:pt x="149260" y="14288"/>
                  <a:pt x="142875" y="20672"/>
                  <a:pt x="142875" y="28575"/>
                </a:cubicBezTo>
                <a:lnTo>
                  <a:pt x="142875" y="107156"/>
                </a:lnTo>
                <a:cubicBezTo>
                  <a:pt x="142875" y="111085"/>
                  <a:pt x="139660" y="114300"/>
                  <a:pt x="135731" y="114300"/>
                </a:cubicBezTo>
                <a:cubicBezTo>
                  <a:pt x="131802" y="114300"/>
                  <a:pt x="128588" y="111085"/>
                  <a:pt x="128588" y="107156"/>
                </a:cubicBezTo>
                <a:lnTo>
                  <a:pt x="128588" y="1428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282700" y="18415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Arrêt d'Urgence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673100" y="2349500"/>
            <a:ext cx="383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Coupure immédiate alimentation moteurs et vérin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4686300" y="1581150"/>
            <a:ext cx="4064000" cy="1435100"/>
          </a:xfrm>
          <a:custGeom>
            <a:avLst/>
            <a:gdLst/>
            <a:ahLst/>
            <a:cxnLst/>
            <a:rect l="l" t="t" r="r" b="b"/>
            <a:pathLst>
              <a:path w="4064000" h="1435100">
                <a:moveTo>
                  <a:pt x="101605" y="0"/>
                </a:moveTo>
                <a:lnTo>
                  <a:pt x="3962395" y="0"/>
                </a:lnTo>
                <a:cubicBezTo>
                  <a:pt x="4018510" y="0"/>
                  <a:pt x="4064000" y="45490"/>
                  <a:pt x="4064000" y="101605"/>
                </a:cubicBezTo>
                <a:lnTo>
                  <a:pt x="4064000" y="1333495"/>
                </a:lnTo>
                <a:cubicBezTo>
                  <a:pt x="4064000" y="1389610"/>
                  <a:pt x="4018510" y="1435100"/>
                  <a:pt x="3962395" y="1435100"/>
                </a:cubicBezTo>
                <a:lnTo>
                  <a:pt x="101605" y="1435100"/>
                </a:lnTo>
                <a:cubicBezTo>
                  <a:pt x="45490" y="1435100"/>
                  <a:pt x="0" y="1389610"/>
                  <a:pt x="0" y="1333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5050" y="17399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4987925" y="187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5454650" y="18415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de Protection</a:t>
            </a:r>
            <a:endParaRPr lang="fr-FR" sz="1600" dirty="0"/>
          </a:p>
        </p:txBody>
      </p:sp>
      <p:sp>
        <p:nvSpPr>
          <p:cNvPr id="13" name="Text 11"/>
          <p:cNvSpPr/>
          <p:nvPr/>
        </p:nvSpPr>
        <p:spPr>
          <a:xfrm>
            <a:off x="4845050" y="23495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Bloquage cycle si capot ouvert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3130550"/>
            <a:ext cx="4064000" cy="1181100"/>
          </a:xfrm>
          <a:custGeom>
            <a:avLst/>
            <a:gdLst/>
            <a:ahLst/>
            <a:cxnLst/>
            <a:rect l="l" t="t" r="r" b="b"/>
            <a:pathLst>
              <a:path w="4064000" h="1181100">
                <a:moveTo>
                  <a:pt x="101598" y="0"/>
                </a:moveTo>
                <a:lnTo>
                  <a:pt x="3962402" y="0"/>
                </a:lnTo>
                <a:cubicBezTo>
                  <a:pt x="4018513" y="0"/>
                  <a:pt x="4064000" y="45487"/>
                  <a:pt x="4064000" y="101598"/>
                </a:cubicBezTo>
                <a:lnTo>
                  <a:pt x="4064000" y="1079502"/>
                </a:lnTo>
                <a:cubicBezTo>
                  <a:pt x="4064000" y="1135613"/>
                  <a:pt x="4018513" y="1181100"/>
                  <a:pt x="3962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100" y="328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975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2700" y="3390900"/>
            <a:ext cx="138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Clé</a:t>
            </a:r>
            <a:endParaRPr lang="fr-FR" sz="1600" dirty="0"/>
          </a:p>
        </p:txBody>
      </p:sp>
      <p:sp>
        <p:nvSpPr>
          <p:cNvPr id="18" name="Text 16"/>
          <p:cNvSpPr/>
          <p:nvPr/>
        </p:nvSpPr>
        <p:spPr>
          <a:xfrm>
            <a:off x="673100" y="38989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Vérification présence clé avant démarrage</a:t>
            </a:r>
            <a:endParaRPr lang="fr-FR" sz="1600" dirty="0"/>
          </a:p>
        </p:txBody>
      </p:sp>
      <p:sp>
        <p:nvSpPr>
          <p:cNvPr id="19" name="Shape 17"/>
          <p:cNvSpPr/>
          <p:nvPr/>
        </p:nvSpPr>
        <p:spPr>
          <a:xfrm>
            <a:off x="4686300" y="3130550"/>
            <a:ext cx="4064000" cy="1181100"/>
          </a:xfrm>
          <a:custGeom>
            <a:avLst/>
            <a:gdLst/>
            <a:ahLst/>
            <a:cxnLst/>
            <a:rect l="l" t="t" r="r" b="b"/>
            <a:pathLst>
              <a:path w="4064000" h="1181100">
                <a:moveTo>
                  <a:pt x="101598" y="0"/>
                </a:moveTo>
                <a:lnTo>
                  <a:pt x="3962402" y="0"/>
                </a:lnTo>
                <a:cubicBezTo>
                  <a:pt x="4018513" y="0"/>
                  <a:pt x="4064000" y="45487"/>
                  <a:pt x="4064000" y="101598"/>
                </a:cubicBezTo>
                <a:lnTo>
                  <a:pt x="4064000" y="1079502"/>
                </a:lnTo>
                <a:cubicBezTo>
                  <a:pt x="4064000" y="1135613"/>
                  <a:pt x="4018513" y="1181100"/>
                  <a:pt x="3962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5050" y="328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7925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5454650" y="3390900"/>
            <a:ext cx="14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Fins de Course</a:t>
            </a:r>
            <a:endParaRPr lang="fr-FR" sz="1600" dirty="0"/>
          </a:p>
        </p:txBody>
      </p:sp>
      <p:sp>
        <p:nvSpPr>
          <p:cNvPr id="23" name="Text 21"/>
          <p:cNvSpPr/>
          <p:nvPr/>
        </p:nvSpPr>
        <p:spPr>
          <a:xfrm>
            <a:off x="4845050" y="38989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position vérin AV/AR</a:t>
            </a:r>
            <a:endParaRPr lang="fr-FR" sz="1600" dirty="0"/>
          </a:p>
        </p:txBody>
      </p:sp>
      <p:sp>
        <p:nvSpPr>
          <p:cNvPr id="24" name="Shape 22"/>
          <p:cNvSpPr/>
          <p:nvPr/>
        </p:nvSpPr>
        <p:spPr>
          <a:xfrm>
            <a:off x="514350" y="44259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2600" y="45847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95250" y="0"/>
                </a:moveTo>
                <a:cubicBezTo>
                  <a:pt x="63698" y="0"/>
                  <a:pt x="38100" y="25598"/>
                  <a:pt x="38100" y="57150"/>
                </a:cubicBezTo>
                <a:lnTo>
                  <a:pt x="38100" y="155198"/>
                </a:lnTo>
                <a:cubicBezTo>
                  <a:pt x="20538" y="170855"/>
                  <a:pt x="9525" y="193715"/>
                  <a:pt x="9525" y="219075"/>
                </a:cubicBezTo>
                <a:cubicBezTo>
                  <a:pt x="9525" y="266402"/>
                  <a:pt x="47923" y="304800"/>
                  <a:pt x="95250" y="304800"/>
                </a:cubicBezTo>
                <a:cubicBezTo>
                  <a:pt x="142577" y="304800"/>
                  <a:pt x="180975" y="266402"/>
                  <a:pt x="180975" y="219075"/>
                </a:cubicBezTo>
                <a:cubicBezTo>
                  <a:pt x="180975" y="193715"/>
                  <a:pt x="169962" y="170855"/>
                  <a:pt x="152400" y="155198"/>
                </a:cubicBezTo>
                <a:lnTo>
                  <a:pt x="152400" y="57150"/>
                </a:lnTo>
                <a:cubicBezTo>
                  <a:pt x="152400" y="25598"/>
                  <a:pt x="126802" y="0"/>
                  <a:pt x="95250" y="0"/>
                </a:cubicBezTo>
                <a:close/>
                <a:moveTo>
                  <a:pt x="133350" y="219075"/>
                </a:moveTo>
                <a:cubicBezTo>
                  <a:pt x="133350" y="240090"/>
                  <a:pt x="116265" y="257175"/>
                  <a:pt x="95250" y="257175"/>
                </a:cubicBezTo>
                <a:cubicBezTo>
                  <a:pt x="74235" y="257175"/>
                  <a:pt x="57150" y="240090"/>
                  <a:pt x="57150" y="219075"/>
                </a:cubicBezTo>
                <a:cubicBezTo>
                  <a:pt x="57150" y="203061"/>
                  <a:pt x="66973" y="189369"/>
                  <a:pt x="80962" y="183773"/>
                </a:cubicBezTo>
                <a:lnTo>
                  <a:pt x="80962" y="128588"/>
                </a:lnTo>
                <a:cubicBezTo>
                  <a:pt x="80962" y="120670"/>
                  <a:pt x="87332" y="114300"/>
                  <a:pt x="95250" y="114300"/>
                </a:cubicBezTo>
                <a:cubicBezTo>
                  <a:pt x="103168" y="114300"/>
                  <a:pt x="109537" y="120670"/>
                  <a:pt x="109537" y="128588"/>
                </a:cubicBezTo>
                <a:lnTo>
                  <a:pt x="109537" y="183773"/>
                </a:lnTo>
                <a:cubicBezTo>
                  <a:pt x="123527" y="189428"/>
                  <a:pt x="133350" y="203121"/>
                  <a:pt x="133350" y="21907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2300" y="49911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Température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628650" y="5346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continue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3295650" y="44259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5800" y="45847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0" name="Text 28"/>
          <p:cNvSpPr/>
          <p:nvPr/>
        </p:nvSpPr>
        <p:spPr>
          <a:xfrm>
            <a:off x="3403600" y="49911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Surcharge</a:t>
            </a:r>
            <a:endParaRPr lang="fr-FR" sz="1600" dirty="0"/>
          </a:p>
        </p:txBody>
      </p:sp>
      <p:sp>
        <p:nvSpPr>
          <p:cNvPr id="31" name="Text 29"/>
          <p:cNvSpPr/>
          <p:nvPr/>
        </p:nvSpPr>
        <p:spPr>
          <a:xfrm>
            <a:off x="3409950" y="5346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moteur</a:t>
            </a:r>
            <a:endParaRPr lang="fr-FR" sz="1600" dirty="0"/>
          </a:p>
        </p:txBody>
      </p:sp>
      <p:sp>
        <p:nvSpPr>
          <p:cNvPr id="32" name="Shape 30"/>
          <p:cNvSpPr/>
          <p:nvPr/>
        </p:nvSpPr>
        <p:spPr>
          <a:xfrm>
            <a:off x="6076950" y="44259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39000" y="45847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4" name="Text 32"/>
          <p:cNvSpPr/>
          <p:nvPr/>
        </p:nvSpPr>
        <p:spPr>
          <a:xfrm>
            <a:off x="6184900" y="49911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fr-FR" sz="1600" dirty="0"/>
          </a:p>
        </p:txBody>
      </p:sp>
      <p:sp>
        <p:nvSpPr>
          <p:cNvPr id="35" name="Text 33"/>
          <p:cNvSpPr/>
          <p:nvPr/>
        </p:nvSpPr>
        <p:spPr>
          <a:xfrm>
            <a:off x="6191250" y="5346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Liaison PC/API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514350" y="5873750"/>
            <a:ext cx="8229600" cy="1333500"/>
          </a:xfrm>
          <a:custGeom>
            <a:avLst/>
            <a:gdLst/>
            <a:ahLst/>
            <a:cxnLst/>
            <a:rect l="l" t="t" r="r" b="b"/>
            <a:pathLst>
              <a:path w="8229600" h="1333500">
                <a:moveTo>
                  <a:pt x="101599" y="0"/>
                </a:moveTo>
                <a:lnTo>
                  <a:pt x="8128001" y="0"/>
                </a:lnTo>
                <a:cubicBezTo>
                  <a:pt x="8184112" y="0"/>
                  <a:pt x="8229600" y="45488"/>
                  <a:pt x="8229600" y="101599"/>
                </a:cubicBezTo>
                <a:lnTo>
                  <a:pt x="8229600" y="1231901"/>
                </a:lnTo>
                <a:cubicBezTo>
                  <a:pt x="8229600" y="1288012"/>
                  <a:pt x="8184112" y="1333500"/>
                  <a:pt x="81280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950" y="6032500"/>
            <a:ext cx="802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Défauts</a:t>
            </a:r>
            <a:endParaRPr lang="fr-FR" sz="1600" dirty="0"/>
          </a:p>
        </p:txBody>
      </p:sp>
      <p:sp>
        <p:nvSpPr>
          <p:cNvPr id="38" name="Shape 36"/>
          <p:cNvSpPr/>
          <p:nvPr/>
        </p:nvSpPr>
        <p:spPr>
          <a:xfrm>
            <a:off x="673100" y="6565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9" name="Text 37"/>
          <p:cNvSpPr/>
          <p:nvPr/>
        </p:nvSpPr>
        <p:spPr>
          <a:xfrm>
            <a:off x="876300" y="6489700"/>
            <a:ext cx="259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ouvert → Arrêt immédiat</a:t>
            </a:r>
            <a:endParaRPr lang="fr-FR" sz="1600" dirty="0"/>
          </a:p>
        </p:txBody>
      </p:sp>
      <p:sp>
        <p:nvSpPr>
          <p:cNvPr id="40" name="Shape 38"/>
          <p:cNvSpPr/>
          <p:nvPr/>
        </p:nvSpPr>
        <p:spPr>
          <a:xfrm>
            <a:off x="4730750" y="6565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1" name="Text 39"/>
          <p:cNvSpPr/>
          <p:nvPr/>
        </p:nvSpPr>
        <p:spPr>
          <a:xfrm>
            <a:off x="4933950" y="64897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 activé → Coupure totale</a:t>
            </a:r>
            <a:endParaRPr lang="fr-FR" sz="1600" dirty="0"/>
          </a:p>
        </p:txBody>
      </p:sp>
      <p:sp>
        <p:nvSpPr>
          <p:cNvPr id="42" name="Shape 40"/>
          <p:cNvSpPr/>
          <p:nvPr/>
        </p:nvSpPr>
        <p:spPr>
          <a:xfrm>
            <a:off x="673100" y="6870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3" name="Text 41"/>
          <p:cNvSpPr/>
          <p:nvPr/>
        </p:nvSpPr>
        <p:spPr>
          <a:xfrm>
            <a:off x="876300" y="67945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 absente → Cycle bloqué</a:t>
            </a:r>
            <a:endParaRPr lang="fr-FR" sz="1600" dirty="0"/>
          </a:p>
        </p:txBody>
      </p:sp>
      <p:sp>
        <p:nvSpPr>
          <p:cNvPr id="44" name="Shape 42"/>
          <p:cNvSpPr/>
          <p:nvPr/>
        </p:nvSpPr>
        <p:spPr>
          <a:xfrm>
            <a:off x="4730750" y="6870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5" name="Text 43"/>
          <p:cNvSpPr/>
          <p:nvPr/>
        </p:nvSpPr>
        <p:spPr>
          <a:xfrm>
            <a:off x="4933950" y="67945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FDC incohérents → Arrêt + message</a:t>
            </a:r>
            <a:endParaRPr lang="fr-FR" sz="1600" dirty="0"/>
          </a:p>
        </p:txBody>
      </p:sp>
      <p:sp>
        <p:nvSpPr>
          <p:cNvPr id="46" name="Shape 44"/>
          <p:cNvSpPr/>
          <p:nvPr/>
        </p:nvSpPr>
        <p:spPr>
          <a:xfrm>
            <a:off x="9105900" y="2882900"/>
            <a:ext cx="6731000" cy="3416300"/>
          </a:xfrm>
          <a:custGeom>
            <a:avLst/>
            <a:gdLst/>
            <a:ahLst/>
            <a:cxnLst/>
            <a:rect l="l" t="t" r="r" b="b"/>
            <a:pathLst>
              <a:path w="6731000" h="6731000">
                <a:moveTo>
                  <a:pt x="101571" y="0"/>
                </a:moveTo>
                <a:lnTo>
                  <a:pt x="6629429" y="0"/>
                </a:lnTo>
                <a:cubicBezTo>
                  <a:pt x="6685525" y="0"/>
                  <a:pt x="6731000" y="45475"/>
                  <a:pt x="6731000" y="101571"/>
                </a:cubicBezTo>
                <a:lnTo>
                  <a:pt x="6731000" y="6629429"/>
                </a:lnTo>
                <a:cubicBezTo>
                  <a:pt x="6731000" y="6685525"/>
                  <a:pt x="6685525" y="6731000"/>
                  <a:pt x="6629429" y="6731000"/>
                </a:cubicBezTo>
                <a:lnTo>
                  <a:pt x="101571" y="6731000"/>
                </a:lnTo>
                <a:cubicBezTo>
                  <a:pt x="45475" y="6731000"/>
                  <a:pt x="0" y="6685525"/>
                  <a:pt x="0" y="6629429"/>
                </a:cubicBezTo>
                <a:lnTo>
                  <a:pt x="0" y="101571"/>
                </a:lnTo>
                <a:cubicBezTo>
                  <a:pt x="0" y="45512"/>
                  <a:pt x="45512" y="0"/>
                  <a:pt x="10157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105900" y="2882900"/>
            <a:ext cx="6731000" cy="3416300"/>
          </a:xfrm>
          <a:custGeom>
            <a:avLst/>
            <a:gdLst/>
            <a:ahLst/>
            <a:cxnLst/>
            <a:rect l="l" t="t" r="r" b="b"/>
            <a:pathLst>
              <a:path w="6731000" h="3416300">
                <a:moveTo>
                  <a:pt x="101601" y="0"/>
                </a:moveTo>
                <a:lnTo>
                  <a:pt x="6629399" y="0"/>
                </a:lnTo>
                <a:cubicBezTo>
                  <a:pt x="6685512" y="0"/>
                  <a:pt x="6731000" y="45488"/>
                  <a:pt x="6731000" y="101601"/>
                </a:cubicBezTo>
                <a:lnTo>
                  <a:pt x="6731000" y="3314699"/>
                </a:lnTo>
                <a:cubicBezTo>
                  <a:pt x="6731000" y="3370812"/>
                  <a:pt x="6685512" y="3416300"/>
                  <a:pt x="6629399" y="3416300"/>
                </a:cubicBezTo>
                <a:lnTo>
                  <a:pt x="101601" y="3416300"/>
                </a:lnTo>
                <a:cubicBezTo>
                  <a:pt x="45488" y="3416300"/>
                  <a:pt x="0" y="3370812"/>
                  <a:pt x="0" y="3314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58300" y="309245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 Sécurité</a:t>
            </a:r>
            <a:endParaRPr lang="fr-FR" sz="1600" dirty="0"/>
          </a:p>
        </p:txBody>
      </p:sp>
      <p:sp>
        <p:nvSpPr>
          <p:cNvPr id="50" name="Shape 47"/>
          <p:cNvSpPr/>
          <p:nvPr/>
        </p:nvSpPr>
        <p:spPr>
          <a:xfrm>
            <a:off x="9315450" y="3600450"/>
            <a:ext cx="6311900" cy="762000"/>
          </a:xfrm>
          <a:custGeom>
            <a:avLst/>
            <a:gdLst/>
            <a:ahLst/>
            <a:cxnLst/>
            <a:rect l="l" t="t" r="r" b="b"/>
            <a:pathLst>
              <a:path w="6311900" h="762000">
                <a:moveTo>
                  <a:pt x="50803" y="0"/>
                </a:moveTo>
                <a:lnTo>
                  <a:pt x="6261097" y="0"/>
                </a:lnTo>
                <a:cubicBezTo>
                  <a:pt x="6289155" y="0"/>
                  <a:pt x="6311900" y="22745"/>
                  <a:pt x="6311900" y="50803"/>
                </a:cubicBezTo>
                <a:lnTo>
                  <a:pt x="6311900" y="711197"/>
                </a:lnTo>
                <a:cubicBezTo>
                  <a:pt x="6311900" y="739255"/>
                  <a:pt x="6289155" y="762000"/>
                  <a:pt x="62610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Shape 48"/>
          <p:cNvSpPr/>
          <p:nvPr/>
        </p:nvSpPr>
        <p:spPr>
          <a:xfrm>
            <a:off x="9417050" y="37782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52" name="Shape 49"/>
          <p:cNvSpPr/>
          <p:nvPr/>
        </p:nvSpPr>
        <p:spPr>
          <a:xfrm>
            <a:off x="9534525" y="38925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Text 50"/>
          <p:cNvSpPr/>
          <p:nvPr/>
        </p:nvSpPr>
        <p:spPr>
          <a:xfrm>
            <a:off x="9975850" y="370205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1</a:t>
            </a:r>
            <a:endParaRPr lang="fr-FR" sz="1600" dirty="0"/>
          </a:p>
        </p:txBody>
      </p:sp>
      <p:sp>
        <p:nvSpPr>
          <p:cNvPr id="54" name="Text 51"/>
          <p:cNvSpPr/>
          <p:nvPr/>
        </p:nvSpPr>
        <p:spPr>
          <a:xfrm>
            <a:off x="9975850" y="400685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+ AU + Clé</a:t>
            </a:r>
            <a:endParaRPr lang="fr-FR" sz="1600" dirty="0"/>
          </a:p>
        </p:txBody>
      </p:sp>
      <p:sp>
        <p:nvSpPr>
          <p:cNvPr id="55" name="Shape 52"/>
          <p:cNvSpPr/>
          <p:nvPr/>
        </p:nvSpPr>
        <p:spPr>
          <a:xfrm>
            <a:off x="9315450" y="4464050"/>
            <a:ext cx="6311900" cy="762000"/>
          </a:xfrm>
          <a:custGeom>
            <a:avLst/>
            <a:gdLst/>
            <a:ahLst/>
            <a:cxnLst/>
            <a:rect l="l" t="t" r="r" b="b"/>
            <a:pathLst>
              <a:path w="6311900" h="762000">
                <a:moveTo>
                  <a:pt x="50803" y="0"/>
                </a:moveTo>
                <a:lnTo>
                  <a:pt x="6261097" y="0"/>
                </a:lnTo>
                <a:cubicBezTo>
                  <a:pt x="6289155" y="0"/>
                  <a:pt x="6311900" y="22745"/>
                  <a:pt x="6311900" y="50803"/>
                </a:cubicBezTo>
                <a:lnTo>
                  <a:pt x="6311900" y="711197"/>
                </a:lnTo>
                <a:cubicBezTo>
                  <a:pt x="6311900" y="739255"/>
                  <a:pt x="6289155" y="762000"/>
                  <a:pt x="62610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6" name="Shape 53"/>
          <p:cNvSpPr/>
          <p:nvPr/>
        </p:nvSpPr>
        <p:spPr>
          <a:xfrm>
            <a:off x="9417050" y="46418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7" name="Shape 54"/>
          <p:cNvSpPr/>
          <p:nvPr/>
        </p:nvSpPr>
        <p:spPr>
          <a:xfrm>
            <a:off x="9534525" y="47561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58" name="Text 55"/>
          <p:cNvSpPr/>
          <p:nvPr/>
        </p:nvSpPr>
        <p:spPr>
          <a:xfrm>
            <a:off x="9975850" y="456565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2</a:t>
            </a:r>
            <a:endParaRPr lang="fr-FR" sz="1600" dirty="0"/>
          </a:p>
        </p:txBody>
      </p:sp>
      <p:sp>
        <p:nvSpPr>
          <p:cNvPr id="59" name="Text 56"/>
          <p:cNvSpPr/>
          <p:nvPr/>
        </p:nvSpPr>
        <p:spPr>
          <a:xfrm>
            <a:off x="9975850" y="4870450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FDC + Température</a:t>
            </a:r>
            <a:endParaRPr lang="fr-FR" sz="1600" dirty="0"/>
          </a:p>
        </p:txBody>
      </p:sp>
      <p:sp>
        <p:nvSpPr>
          <p:cNvPr id="60" name="Shape 57"/>
          <p:cNvSpPr/>
          <p:nvPr/>
        </p:nvSpPr>
        <p:spPr>
          <a:xfrm>
            <a:off x="9315450" y="5327650"/>
            <a:ext cx="6311900" cy="762000"/>
          </a:xfrm>
          <a:custGeom>
            <a:avLst/>
            <a:gdLst/>
            <a:ahLst/>
            <a:cxnLst/>
            <a:rect l="l" t="t" r="r" b="b"/>
            <a:pathLst>
              <a:path w="6311900" h="762000">
                <a:moveTo>
                  <a:pt x="50803" y="0"/>
                </a:moveTo>
                <a:lnTo>
                  <a:pt x="6261097" y="0"/>
                </a:lnTo>
                <a:cubicBezTo>
                  <a:pt x="6289155" y="0"/>
                  <a:pt x="6311900" y="22745"/>
                  <a:pt x="6311900" y="50803"/>
                </a:cubicBezTo>
                <a:lnTo>
                  <a:pt x="6311900" y="711197"/>
                </a:lnTo>
                <a:cubicBezTo>
                  <a:pt x="6311900" y="739255"/>
                  <a:pt x="6289155" y="762000"/>
                  <a:pt x="62610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Shape 58"/>
          <p:cNvSpPr/>
          <p:nvPr/>
        </p:nvSpPr>
        <p:spPr>
          <a:xfrm>
            <a:off x="9417050" y="5505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62" name="Shape 59"/>
          <p:cNvSpPr/>
          <p:nvPr/>
        </p:nvSpPr>
        <p:spPr>
          <a:xfrm>
            <a:off x="9534525" y="56197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63" name="Text 60"/>
          <p:cNvSpPr/>
          <p:nvPr/>
        </p:nvSpPr>
        <p:spPr>
          <a:xfrm>
            <a:off x="9975850" y="542925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3</a:t>
            </a:r>
            <a:endParaRPr lang="fr-FR" sz="1600" dirty="0"/>
          </a:p>
        </p:txBody>
      </p:sp>
      <p:sp>
        <p:nvSpPr>
          <p:cNvPr id="64" name="Text 61"/>
          <p:cNvSpPr/>
          <p:nvPr/>
        </p:nvSpPr>
        <p:spPr>
          <a:xfrm>
            <a:off x="9975850" y="573405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Surcharge + Com</a:t>
            </a:r>
            <a:endParaRPr lang="fr-FR" sz="1600" dirty="0"/>
          </a:p>
        </p:txBody>
      </p:sp>
      <p:pic>
        <p:nvPicPr>
          <p:cNvPr id="65" name="Image 64" descr="BP AU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7318625"/>
            <a:ext cx="1717462" cy="1730375"/>
          </a:xfrm>
          <a:prstGeom prst="rect">
            <a:avLst/>
          </a:prstGeom>
        </p:spPr>
      </p:pic>
      <p:pic>
        <p:nvPicPr>
          <p:cNvPr id="66" name="Image 65" descr="capot de protection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50" y="7262945"/>
            <a:ext cx="2994025" cy="1799910"/>
          </a:xfrm>
          <a:prstGeom prst="rect">
            <a:avLst/>
          </a:prstGeom>
        </p:spPr>
      </p:pic>
      <p:pic>
        <p:nvPicPr>
          <p:cNvPr id="67" name="Image 66" descr="capt infra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450" y="6667500"/>
            <a:ext cx="3098800" cy="2289412"/>
          </a:xfrm>
          <a:prstGeom prst="rect">
            <a:avLst/>
          </a:prstGeom>
        </p:spPr>
      </p:pic>
      <p:pic>
        <p:nvPicPr>
          <p:cNvPr id="68" name="Image 67" descr="capt FDC.png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44945" y="6293760"/>
            <a:ext cx="2047298" cy="2663152"/>
          </a:xfrm>
          <a:prstGeom prst="rect">
            <a:avLst/>
          </a:prstGeom>
        </p:spPr>
      </p:pic>
      <p:sp>
        <p:nvSpPr>
          <p:cNvPr id="69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12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70" name="Image 69" descr="feu tricolore.png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8971" y="7237237"/>
            <a:ext cx="1258643" cy="1887965"/>
          </a:xfrm>
          <a:prstGeom prst="rect">
            <a:avLst/>
          </a:prstGeom>
        </p:spPr>
      </p:pic>
      <p:sp>
        <p:nvSpPr>
          <p:cNvPr id="71" name="Shape 22"/>
          <p:cNvSpPr/>
          <p:nvPr/>
        </p:nvSpPr>
        <p:spPr>
          <a:xfrm>
            <a:off x="9105900" y="14795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3" name="Text 24"/>
          <p:cNvSpPr/>
          <p:nvPr/>
        </p:nvSpPr>
        <p:spPr>
          <a:xfrm>
            <a:off x="9213850" y="20447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Hygrométrie</a:t>
            </a:r>
            <a:endParaRPr lang="fr-FR" sz="1600" dirty="0"/>
          </a:p>
        </p:txBody>
      </p:sp>
      <p:sp>
        <p:nvSpPr>
          <p:cNvPr id="74" name="Text 25"/>
          <p:cNvSpPr/>
          <p:nvPr/>
        </p:nvSpPr>
        <p:spPr>
          <a:xfrm>
            <a:off x="9220200" y="24003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continue</a:t>
            </a:r>
            <a:endParaRPr lang="fr-FR" sz="1600" dirty="0"/>
          </a:p>
        </p:txBody>
      </p:sp>
      <p:pic>
        <p:nvPicPr>
          <p:cNvPr id="76" name="Image 75" descr="hy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1646" y="1572547"/>
            <a:ext cx="426357" cy="426357"/>
          </a:xfrm>
          <a:prstGeom prst="rect">
            <a:avLst/>
          </a:prstGeom>
        </p:spPr>
      </p:pic>
      <p:sp>
        <p:nvSpPr>
          <p:cNvPr id="75" name="Shape 26"/>
          <p:cNvSpPr/>
          <p:nvPr/>
        </p:nvSpPr>
        <p:spPr>
          <a:xfrm>
            <a:off x="12125036" y="14795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8" name="Text 28"/>
          <p:cNvSpPr/>
          <p:nvPr/>
        </p:nvSpPr>
        <p:spPr>
          <a:xfrm>
            <a:off x="12232986" y="20447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Voyant Tricolore</a:t>
            </a:r>
            <a:endParaRPr lang="fr-FR" sz="1600" dirty="0"/>
          </a:p>
        </p:txBody>
      </p:sp>
      <p:sp>
        <p:nvSpPr>
          <p:cNvPr id="79" name="Text 29"/>
          <p:cNvSpPr/>
          <p:nvPr/>
        </p:nvSpPr>
        <p:spPr>
          <a:xfrm>
            <a:off x="12239336" y="24003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Signalisation des états</a:t>
            </a:r>
            <a:endParaRPr lang="fr-FR" sz="1600" dirty="0"/>
          </a:p>
        </p:txBody>
      </p:sp>
      <p:sp>
        <p:nvSpPr>
          <p:cNvPr id="82" name="Ellipse 81"/>
          <p:cNvSpPr/>
          <p:nvPr/>
        </p:nvSpPr>
        <p:spPr>
          <a:xfrm>
            <a:off x="13077536" y="1600200"/>
            <a:ext cx="228600" cy="228600"/>
          </a:xfrm>
          <a:prstGeom prst="ellipse">
            <a:avLst/>
          </a:prstGeom>
          <a:solidFill>
            <a:srgbClr val="00C80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Ellipse 82"/>
          <p:cNvSpPr/>
          <p:nvPr/>
        </p:nvSpPr>
        <p:spPr>
          <a:xfrm>
            <a:off x="13356936" y="1600200"/>
            <a:ext cx="228600" cy="228600"/>
          </a:xfrm>
          <a:prstGeom prst="ellipse">
            <a:avLst/>
          </a:prstGeom>
          <a:solidFill>
            <a:srgbClr val="FF960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Ellipse 83"/>
          <p:cNvSpPr/>
          <p:nvPr/>
        </p:nvSpPr>
        <p:spPr>
          <a:xfrm>
            <a:off x="13636336" y="1600200"/>
            <a:ext cx="228600" cy="228600"/>
          </a:xfrm>
          <a:prstGeom prst="ellipse">
            <a:avLst/>
          </a:prstGeom>
          <a:solidFill>
            <a:srgbClr val="C80000"/>
          </a:solidFill>
          <a:ln>
            <a:solidFill>
              <a:srgbClr val="50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9" grpId="0" animBg="1"/>
      <p:bldP spid="53" grpId="0" animBg="1"/>
      <p:bldP spid="54" grpId="0" animBg="1"/>
      <p:bldP spid="58" grpId="0" animBg="1"/>
      <p:bldP spid="59" grpId="0" animBg="1"/>
      <p:bldP spid="63" grpId="0" animBg="1"/>
      <p:bldP spid="64" grpId="0" animBg="1"/>
      <p:bldP spid="73" grpId="0" animBg="1"/>
      <p:bldP spid="74" grpId="0" animBg="1"/>
      <p:bldP spid="78" grpId="1" animBg="1"/>
      <p:bldP spid="79" grpId="1" animBg="1"/>
      <p:bldP spid="82" grpId="0" animBg="1"/>
      <p:bldP spid="83" grpId="0" animBg="1"/>
      <p:bldP spid="8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90" descr="picto point clé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966" y="640911"/>
            <a:ext cx="3484869" cy="36491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CYCLE AUTOMATIQUE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Cycle &amp; Modes de Fonctionnement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8229600" cy="3263900"/>
          </a:xfrm>
          <a:custGeom>
            <a:avLst/>
            <a:gdLst/>
            <a:ahLst/>
            <a:cxnLst/>
            <a:rect l="l" t="t" r="r" b="b"/>
            <a:pathLst>
              <a:path w="8229600" h="3263900">
                <a:moveTo>
                  <a:pt x="101605" y="0"/>
                </a:moveTo>
                <a:lnTo>
                  <a:pt x="8127995" y="0"/>
                </a:lnTo>
                <a:cubicBezTo>
                  <a:pt x="8184110" y="0"/>
                  <a:pt x="8229600" y="45490"/>
                  <a:pt x="8229600" y="101605"/>
                </a:cubicBezTo>
                <a:lnTo>
                  <a:pt x="8229600" y="3162295"/>
                </a:lnTo>
                <a:cubicBezTo>
                  <a:pt x="8229600" y="3218410"/>
                  <a:pt x="8184110" y="3263900"/>
                  <a:pt x="8127995" y="3263900"/>
                </a:cubicBezTo>
                <a:lnTo>
                  <a:pt x="101605" y="3263900"/>
                </a:lnTo>
                <a:cubicBezTo>
                  <a:pt x="45490" y="3263900"/>
                  <a:pt x="0" y="3218410"/>
                  <a:pt x="0" y="31622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E89F5B">
                  <a:alpha val="20000"/>
                </a:srgbClr>
              </a:gs>
            </a:gsLst>
            <a:lin ang="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1790700"/>
            <a:ext cx="792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Automatique - 11 Étapes</a:t>
            </a:r>
            <a:endParaRPr lang="fr-FR" sz="1600" dirty="0"/>
          </a:p>
        </p:txBody>
      </p:sp>
      <p:sp>
        <p:nvSpPr>
          <p:cNvPr id="6" name="Shape 4"/>
          <p:cNvSpPr/>
          <p:nvPr/>
        </p:nvSpPr>
        <p:spPr>
          <a:xfrm>
            <a:off x="723900" y="22987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fr-FR" sz="1600" dirty="0"/>
          </a:p>
        </p:txBody>
      </p:sp>
      <p:sp>
        <p:nvSpPr>
          <p:cNvPr id="9" name="Text 7"/>
          <p:cNvSpPr/>
          <p:nvPr/>
        </p:nvSpPr>
        <p:spPr>
          <a:xfrm>
            <a:off x="1231900" y="242570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Vérif. sécurités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3361134" y="22987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Shape 9"/>
          <p:cNvSpPr/>
          <p:nvPr/>
        </p:nvSpPr>
        <p:spPr>
          <a:xfrm>
            <a:off x="3462734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4634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fr-FR" sz="1600" dirty="0"/>
          </a:p>
        </p:txBody>
      </p:sp>
      <p:sp>
        <p:nvSpPr>
          <p:cNvPr id="13" name="Text 11"/>
          <p:cNvSpPr/>
          <p:nvPr/>
        </p:nvSpPr>
        <p:spPr>
          <a:xfrm>
            <a:off x="3869134" y="24257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clé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5998567" y="22987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00167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067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fr-FR" sz="1600" dirty="0"/>
          </a:p>
        </p:txBody>
      </p:sp>
      <p:sp>
        <p:nvSpPr>
          <p:cNvPr id="17" name="Text 15"/>
          <p:cNvSpPr/>
          <p:nvPr/>
        </p:nvSpPr>
        <p:spPr>
          <a:xfrm>
            <a:off x="6506567" y="24257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Positionnement</a:t>
            </a:r>
            <a:endParaRPr lang="fr-FR" sz="1600" dirty="0"/>
          </a:p>
        </p:txBody>
      </p:sp>
      <p:sp>
        <p:nvSpPr>
          <p:cNvPr id="18" name="Shape 16"/>
          <p:cNvSpPr/>
          <p:nvPr/>
        </p:nvSpPr>
        <p:spPr>
          <a:xfrm>
            <a:off x="723900" y="29083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7"/>
          <p:cNvSpPr/>
          <p:nvPr/>
        </p:nvSpPr>
        <p:spPr>
          <a:xfrm>
            <a:off x="825500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Text 18"/>
          <p:cNvSpPr/>
          <p:nvPr/>
        </p:nvSpPr>
        <p:spPr>
          <a:xfrm>
            <a:off x="787400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fr-FR" sz="1600" dirty="0"/>
          </a:p>
        </p:txBody>
      </p:sp>
      <p:sp>
        <p:nvSpPr>
          <p:cNvPr id="21" name="Text 19"/>
          <p:cNvSpPr/>
          <p:nvPr/>
        </p:nvSpPr>
        <p:spPr>
          <a:xfrm>
            <a:off x="1231900" y="30353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Sélection moteur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3361134" y="29083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3462734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3424634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fr-FR" sz="1600" dirty="0"/>
          </a:p>
        </p:txBody>
      </p:sp>
      <p:sp>
        <p:nvSpPr>
          <p:cNvPr id="25" name="Text 23"/>
          <p:cNvSpPr/>
          <p:nvPr/>
        </p:nvSpPr>
        <p:spPr>
          <a:xfrm>
            <a:off x="3869134" y="30353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Appli. couple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998567" y="29083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00167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067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fr-FR" sz="1600" dirty="0"/>
          </a:p>
        </p:txBody>
      </p:sp>
      <p:sp>
        <p:nvSpPr>
          <p:cNvPr id="29" name="Text 27"/>
          <p:cNvSpPr/>
          <p:nvPr/>
        </p:nvSpPr>
        <p:spPr>
          <a:xfrm>
            <a:off x="6506567" y="303530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Stabilisation</a:t>
            </a:r>
            <a:endParaRPr lang="fr-FR" sz="1600" dirty="0"/>
          </a:p>
        </p:txBody>
      </p:sp>
      <p:sp>
        <p:nvSpPr>
          <p:cNvPr id="30" name="Shape 28"/>
          <p:cNvSpPr/>
          <p:nvPr/>
        </p:nvSpPr>
        <p:spPr>
          <a:xfrm>
            <a:off x="723900" y="35179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8255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32" name="Text 30"/>
          <p:cNvSpPr/>
          <p:nvPr/>
        </p:nvSpPr>
        <p:spPr>
          <a:xfrm>
            <a:off x="787400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fr-FR" sz="1600" dirty="0"/>
          </a:p>
        </p:txBody>
      </p:sp>
      <p:sp>
        <p:nvSpPr>
          <p:cNvPr id="33" name="Text 31"/>
          <p:cNvSpPr/>
          <p:nvPr/>
        </p:nvSpPr>
        <p:spPr>
          <a:xfrm>
            <a:off x="1231900" y="36449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</a:t>
            </a:r>
            <a:endParaRPr lang="fr-FR" sz="1600" dirty="0"/>
          </a:p>
        </p:txBody>
      </p:sp>
      <p:sp>
        <p:nvSpPr>
          <p:cNvPr id="34" name="Shape 32"/>
          <p:cNvSpPr/>
          <p:nvPr/>
        </p:nvSpPr>
        <p:spPr>
          <a:xfrm>
            <a:off x="3361134" y="35179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3462734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36" name="Text 34"/>
          <p:cNvSpPr/>
          <p:nvPr/>
        </p:nvSpPr>
        <p:spPr>
          <a:xfrm>
            <a:off x="3424634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fr-FR" sz="1600" dirty="0"/>
          </a:p>
        </p:txBody>
      </p:sp>
      <p:sp>
        <p:nvSpPr>
          <p:cNvPr id="37" name="Text 35"/>
          <p:cNvSpPr/>
          <p:nvPr/>
        </p:nvSpPr>
        <p:spPr>
          <a:xfrm>
            <a:off x="3869134" y="3644900"/>
            <a:ext cx="138174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position</a:t>
            </a:r>
            <a:endParaRPr lang="fr-FR" sz="1600" dirty="0"/>
          </a:p>
        </p:txBody>
      </p:sp>
      <p:sp>
        <p:nvSpPr>
          <p:cNvPr id="38" name="Shape 36"/>
          <p:cNvSpPr/>
          <p:nvPr/>
        </p:nvSpPr>
        <p:spPr>
          <a:xfrm>
            <a:off x="5998567" y="35179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6100167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067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fr-FR" sz="1600" dirty="0"/>
          </a:p>
        </p:txBody>
      </p:sp>
      <p:sp>
        <p:nvSpPr>
          <p:cNvPr id="41" name="Text 39"/>
          <p:cNvSpPr/>
          <p:nvPr/>
        </p:nvSpPr>
        <p:spPr>
          <a:xfrm>
            <a:off x="6506567" y="3644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 ISO</a:t>
            </a:r>
            <a:endParaRPr lang="fr-FR" sz="1600" dirty="0"/>
          </a:p>
        </p:txBody>
      </p:sp>
      <p:sp>
        <p:nvSpPr>
          <p:cNvPr id="42" name="Shape 40"/>
          <p:cNvSpPr/>
          <p:nvPr/>
        </p:nvSpPr>
        <p:spPr>
          <a:xfrm>
            <a:off x="723900" y="4127500"/>
            <a:ext cx="5168900" cy="508000"/>
          </a:xfrm>
          <a:custGeom>
            <a:avLst/>
            <a:gdLst/>
            <a:ahLst/>
            <a:cxnLst/>
            <a:rect l="l" t="t" r="r" b="b"/>
            <a:pathLst>
              <a:path w="5168900" h="508000">
                <a:moveTo>
                  <a:pt x="50800" y="0"/>
                </a:moveTo>
                <a:lnTo>
                  <a:pt x="5118100" y="0"/>
                </a:lnTo>
                <a:cubicBezTo>
                  <a:pt x="5146137" y="0"/>
                  <a:pt x="5168900" y="22763"/>
                  <a:pt x="5168900" y="50800"/>
                </a:cubicBezTo>
                <a:lnTo>
                  <a:pt x="5168900" y="457200"/>
                </a:lnTo>
                <a:cubicBezTo>
                  <a:pt x="5168900" y="485237"/>
                  <a:pt x="5146137" y="508000"/>
                  <a:pt x="51181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825500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4" name="Text 42"/>
          <p:cNvSpPr/>
          <p:nvPr/>
        </p:nvSpPr>
        <p:spPr>
          <a:xfrm>
            <a:off x="787400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fr-FR" sz="1600" dirty="0"/>
          </a:p>
        </p:txBody>
      </p:sp>
      <p:sp>
        <p:nvSpPr>
          <p:cNvPr id="45" name="Text 43"/>
          <p:cNvSpPr/>
          <p:nvPr/>
        </p:nvSpPr>
        <p:spPr>
          <a:xfrm>
            <a:off x="1231900" y="425450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 rapport</a:t>
            </a:r>
            <a:endParaRPr lang="fr-FR" sz="1600" dirty="0"/>
          </a:p>
        </p:txBody>
      </p:sp>
      <p:sp>
        <p:nvSpPr>
          <p:cNvPr id="46" name="Shape 44"/>
          <p:cNvSpPr/>
          <p:nvPr/>
        </p:nvSpPr>
        <p:spPr>
          <a:xfrm>
            <a:off x="5998567" y="41275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5"/>
          <p:cNvSpPr/>
          <p:nvPr/>
        </p:nvSpPr>
        <p:spPr>
          <a:xfrm>
            <a:off x="6100167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8" name="Text 46"/>
          <p:cNvSpPr/>
          <p:nvPr/>
        </p:nvSpPr>
        <p:spPr>
          <a:xfrm>
            <a:off x="6062067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fr-FR" sz="1600" dirty="0"/>
          </a:p>
        </p:txBody>
      </p:sp>
      <p:sp>
        <p:nvSpPr>
          <p:cNvPr id="49" name="Text 47"/>
          <p:cNvSpPr/>
          <p:nvPr/>
        </p:nvSpPr>
        <p:spPr>
          <a:xfrm>
            <a:off x="6506567" y="4254500"/>
            <a:ext cx="78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 cycle</a:t>
            </a:r>
            <a:endParaRPr lang="fr-FR" sz="1600" dirty="0"/>
          </a:p>
        </p:txBody>
      </p:sp>
      <p:sp>
        <p:nvSpPr>
          <p:cNvPr id="50" name="Shape 48"/>
          <p:cNvSpPr/>
          <p:nvPr/>
        </p:nvSpPr>
        <p:spPr>
          <a:xfrm>
            <a:off x="514350" y="5010150"/>
            <a:ext cx="2628900" cy="1714500"/>
          </a:xfrm>
          <a:custGeom>
            <a:avLst/>
            <a:gdLst/>
            <a:ahLst/>
            <a:cxnLst/>
            <a:rect l="l" t="t" r="r" b="b"/>
            <a:pathLst>
              <a:path w="2628900" h="1714500">
                <a:moveTo>
                  <a:pt x="101601" y="0"/>
                </a:moveTo>
                <a:lnTo>
                  <a:pt x="2527299" y="0"/>
                </a:lnTo>
                <a:cubicBezTo>
                  <a:pt x="2583412" y="0"/>
                  <a:pt x="2628900" y="45488"/>
                  <a:pt x="2628900" y="101601"/>
                </a:cubicBezTo>
                <a:lnTo>
                  <a:pt x="2628900" y="1612899"/>
                </a:lnTo>
                <a:cubicBezTo>
                  <a:pt x="2628900" y="1669012"/>
                  <a:pt x="2583412" y="1714500"/>
                  <a:pt x="2527299" y="1714500"/>
                </a:cubicBezTo>
                <a:lnTo>
                  <a:pt x="101601" y="1714500"/>
                </a:lnTo>
                <a:cubicBezTo>
                  <a:pt x="45488" y="1714500"/>
                  <a:pt x="0" y="1669012"/>
                  <a:pt x="0" y="1612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2200" y="51689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Vérif. ISO</a:t>
            </a:r>
            <a:endParaRPr lang="fr-FR" sz="1600" dirty="0"/>
          </a:p>
        </p:txBody>
      </p:sp>
      <p:sp>
        <p:nvSpPr>
          <p:cNvPr id="53" name="Text 51"/>
          <p:cNvSpPr/>
          <p:nvPr/>
        </p:nvSpPr>
        <p:spPr>
          <a:xfrm>
            <a:off x="673100" y="55753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Position: MIL</a:t>
            </a:r>
            <a:endParaRPr lang="fr-FR" sz="1600" dirty="0"/>
          </a:p>
        </p:txBody>
      </p:sp>
      <p:sp>
        <p:nvSpPr>
          <p:cNvPr id="54" name="Text 52"/>
          <p:cNvSpPr/>
          <p:nvPr/>
        </p:nvSpPr>
        <p:spPr>
          <a:xfrm>
            <a:off x="673100" y="5930900"/>
            <a:ext cx="2463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mesures</a:t>
            </a:r>
            <a:endParaRPr lang="fr-FR" sz="1600" dirty="0"/>
          </a:p>
        </p:txBody>
      </p:sp>
      <p:sp>
        <p:nvSpPr>
          <p:cNvPr id="55" name="Text 53"/>
          <p:cNvSpPr/>
          <p:nvPr/>
        </p:nvSpPr>
        <p:spPr>
          <a:xfrm>
            <a:off x="673100" y="63754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· 60% · 100%</a:t>
            </a:r>
            <a:endParaRPr lang="fr-FR" sz="1600" dirty="0"/>
          </a:p>
        </p:txBody>
      </p:sp>
      <p:sp>
        <p:nvSpPr>
          <p:cNvPr id="56" name="Shape 54"/>
          <p:cNvSpPr/>
          <p:nvPr/>
        </p:nvSpPr>
        <p:spPr>
          <a:xfrm>
            <a:off x="3312517" y="5010150"/>
            <a:ext cx="2628900" cy="1714500"/>
          </a:xfrm>
          <a:custGeom>
            <a:avLst/>
            <a:gdLst/>
            <a:ahLst/>
            <a:cxnLst/>
            <a:rect l="l" t="t" r="r" b="b"/>
            <a:pathLst>
              <a:path w="2628900" h="1714500">
                <a:moveTo>
                  <a:pt x="101601" y="0"/>
                </a:moveTo>
                <a:lnTo>
                  <a:pt x="2527299" y="0"/>
                </a:lnTo>
                <a:cubicBezTo>
                  <a:pt x="2583412" y="0"/>
                  <a:pt x="2628900" y="45488"/>
                  <a:pt x="2628900" y="101601"/>
                </a:cubicBezTo>
                <a:lnTo>
                  <a:pt x="2628900" y="1612899"/>
                </a:lnTo>
                <a:cubicBezTo>
                  <a:pt x="2628900" y="1669012"/>
                  <a:pt x="2583412" y="1714500"/>
                  <a:pt x="2527299" y="1714500"/>
                </a:cubicBezTo>
                <a:lnTo>
                  <a:pt x="101601" y="1714500"/>
                </a:lnTo>
                <a:cubicBezTo>
                  <a:pt x="45488" y="1714500"/>
                  <a:pt x="0" y="1669012"/>
                  <a:pt x="0" y="1612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517" y="5194300"/>
            <a:ext cx="127000" cy="254000"/>
          </a:xfrm>
          <a:custGeom>
            <a:avLst/>
            <a:gdLst/>
            <a:ahLst/>
            <a:cxnLst/>
            <a:rect l="l" t="t" r="r" b="b"/>
            <a:pathLst>
              <a:path w="127000" h="254000">
                <a:moveTo>
                  <a:pt x="81806" y="128984"/>
                </a:moveTo>
                <a:lnTo>
                  <a:pt x="127744" y="77738"/>
                </a:lnTo>
                <a:lnTo>
                  <a:pt x="55364" y="0"/>
                </a:lnTo>
                <a:lnTo>
                  <a:pt x="55364" y="102344"/>
                </a:lnTo>
                <a:lnTo>
                  <a:pt x="12601" y="59630"/>
                </a:lnTo>
                <a:lnTo>
                  <a:pt x="-2977" y="75208"/>
                </a:lnTo>
                <a:lnTo>
                  <a:pt x="50651" y="128984"/>
                </a:lnTo>
                <a:lnTo>
                  <a:pt x="-2977" y="182761"/>
                </a:lnTo>
                <a:lnTo>
                  <a:pt x="12601" y="198338"/>
                </a:lnTo>
                <a:lnTo>
                  <a:pt x="55364" y="155625"/>
                </a:lnTo>
                <a:lnTo>
                  <a:pt x="56704" y="254000"/>
                </a:lnTo>
                <a:lnTo>
                  <a:pt x="130373" y="180280"/>
                </a:lnTo>
                <a:lnTo>
                  <a:pt x="81806" y="128984"/>
                </a:lnTo>
                <a:close/>
                <a:moveTo>
                  <a:pt x="102096" y="77887"/>
                </a:moveTo>
                <a:lnTo>
                  <a:pt x="77291" y="102691"/>
                </a:lnTo>
                <a:lnTo>
                  <a:pt x="77143" y="52933"/>
                </a:lnTo>
                <a:lnTo>
                  <a:pt x="102096" y="77887"/>
                </a:lnTo>
                <a:close/>
                <a:moveTo>
                  <a:pt x="77291" y="155277"/>
                </a:moveTo>
                <a:lnTo>
                  <a:pt x="102096" y="180082"/>
                </a:lnTo>
                <a:lnTo>
                  <a:pt x="77143" y="205036"/>
                </a:lnTo>
                <a:lnTo>
                  <a:pt x="77291" y="155277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8" name="Text 56"/>
          <p:cNvSpPr/>
          <p:nvPr/>
        </p:nvSpPr>
        <p:spPr>
          <a:xfrm>
            <a:off x="3890367" y="51689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Calib. BT</a:t>
            </a:r>
            <a:endParaRPr lang="fr-FR" sz="1600" dirty="0"/>
          </a:p>
        </p:txBody>
      </p:sp>
      <p:sp>
        <p:nvSpPr>
          <p:cNvPr id="59" name="Text 57"/>
          <p:cNvSpPr/>
          <p:nvPr/>
        </p:nvSpPr>
        <p:spPr>
          <a:xfrm>
            <a:off x="3471267" y="55753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Position: AV+AR</a:t>
            </a:r>
            <a:endParaRPr lang="fr-FR" sz="1600" dirty="0"/>
          </a:p>
        </p:txBody>
      </p:sp>
      <p:sp>
        <p:nvSpPr>
          <p:cNvPr id="60" name="Text 58"/>
          <p:cNvSpPr/>
          <p:nvPr/>
        </p:nvSpPr>
        <p:spPr>
          <a:xfrm>
            <a:off x="3471267" y="5930900"/>
            <a:ext cx="2463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mesures</a:t>
            </a:r>
            <a:endParaRPr lang="fr-FR" sz="1600" dirty="0"/>
          </a:p>
        </p:txBody>
      </p:sp>
      <p:sp>
        <p:nvSpPr>
          <p:cNvPr id="61" name="Text 59"/>
          <p:cNvSpPr/>
          <p:nvPr/>
        </p:nvSpPr>
        <p:spPr>
          <a:xfrm>
            <a:off x="3471267" y="63754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Nm · 24 Nm · 40 Nm</a:t>
            </a:r>
            <a:endParaRPr lang="fr-FR" sz="1600" dirty="0"/>
          </a:p>
        </p:txBody>
      </p:sp>
      <p:sp>
        <p:nvSpPr>
          <p:cNvPr id="62" name="Shape 60"/>
          <p:cNvSpPr/>
          <p:nvPr/>
        </p:nvSpPr>
        <p:spPr>
          <a:xfrm>
            <a:off x="6110684" y="5010150"/>
            <a:ext cx="2628900" cy="1714500"/>
          </a:xfrm>
          <a:custGeom>
            <a:avLst/>
            <a:gdLst/>
            <a:ahLst/>
            <a:cxnLst/>
            <a:rect l="l" t="t" r="r" b="b"/>
            <a:pathLst>
              <a:path w="2628900" h="1714500">
                <a:moveTo>
                  <a:pt x="101601" y="0"/>
                </a:moveTo>
                <a:lnTo>
                  <a:pt x="2527299" y="0"/>
                </a:lnTo>
                <a:cubicBezTo>
                  <a:pt x="2583412" y="0"/>
                  <a:pt x="2628900" y="45488"/>
                  <a:pt x="2628900" y="101601"/>
                </a:cubicBezTo>
                <a:lnTo>
                  <a:pt x="2628900" y="1612899"/>
                </a:lnTo>
                <a:cubicBezTo>
                  <a:pt x="2628900" y="1669012"/>
                  <a:pt x="2583412" y="1714500"/>
                  <a:pt x="2527299" y="1714500"/>
                </a:cubicBezTo>
                <a:lnTo>
                  <a:pt x="101601" y="1714500"/>
                </a:lnTo>
                <a:cubicBezTo>
                  <a:pt x="45488" y="1714500"/>
                  <a:pt x="0" y="1669012"/>
                  <a:pt x="0" y="1612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85309" y="5194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47625"/>
                </a:moveTo>
                <a:cubicBezTo>
                  <a:pt x="97780" y="47625"/>
                  <a:pt x="56952" y="65484"/>
                  <a:pt x="26938" y="94555"/>
                </a:cubicBezTo>
                <a:cubicBezTo>
                  <a:pt x="20638" y="100657"/>
                  <a:pt x="10567" y="100509"/>
                  <a:pt x="4514" y="94208"/>
                </a:cubicBezTo>
                <a:cubicBezTo>
                  <a:pt x="-1538" y="87908"/>
                  <a:pt x="-1439" y="77837"/>
                  <a:pt x="4862" y="71785"/>
                </a:cubicBezTo>
                <a:cubicBezTo>
                  <a:pt x="40531" y="37157"/>
                  <a:pt x="89247" y="15875"/>
                  <a:pt x="142875" y="15875"/>
                </a:cubicBezTo>
                <a:cubicBezTo>
                  <a:pt x="196503" y="15875"/>
                  <a:pt x="245219" y="37157"/>
                  <a:pt x="280938" y="71785"/>
                </a:cubicBezTo>
                <a:cubicBezTo>
                  <a:pt x="287238" y="77887"/>
                  <a:pt x="287387" y="87957"/>
                  <a:pt x="281285" y="94208"/>
                </a:cubicBezTo>
                <a:cubicBezTo>
                  <a:pt x="275183" y="100459"/>
                  <a:pt x="265113" y="100657"/>
                  <a:pt x="258862" y="94555"/>
                </a:cubicBezTo>
                <a:cubicBezTo>
                  <a:pt x="228798" y="65484"/>
                  <a:pt x="187970" y="47625"/>
                  <a:pt x="142875" y="47625"/>
                </a:cubicBezTo>
                <a:close/>
                <a:moveTo>
                  <a:pt x="119063" y="214313"/>
                </a:moveTo>
                <a:cubicBezTo>
                  <a:pt x="119063" y="201170"/>
                  <a:pt x="129733" y="190500"/>
                  <a:pt x="142875" y="190500"/>
                </a:cubicBezTo>
                <a:cubicBezTo>
                  <a:pt x="156017" y="190500"/>
                  <a:pt x="166688" y="201170"/>
                  <a:pt x="166688" y="214313"/>
                </a:cubicBezTo>
                <a:cubicBezTo>
                  <a:pt x="166688" y="227455"/>
                  <a:pt x="156017" y="238125"/>
                  <a:pt x="142875" y="238125"/>
                </a:cubicBezTo>
                <a:cubicBezTo>
                  <a:pt x="129733" y="238125"/>
                  <a:pt x="119063" y="227455"/>
                  <a:pt x="119063" y="214313"/>
                </a:cubicBezTo>
                <a:close/>
                <a:moveTo>
                  <a:pt x="83344" y="161826"/>
                </a:moveTo>
                <a:cubicBezTo>
                  <a:pt x="77539" y="168424"/>
                  <a:pt x="67518" y="169019"/>
                  <a:pt x="60920" y="163215"/>
                </a:cubicBezTo>
                <a:cubicBezTo>
                  <a:pt x="54322" y="157411"/>
                  <a:pt x="53727" y="147389"/>
                  <a:pt x="59531" y="140791"/>
                </a:cubicBezTo>
                <a:cubicBezTo>
                  <a:pt x="79871" y="117773"/>
                  <a:pt x="109686" y="103188"/>
                  <a:pt x="142875" y="103188"/>
                </a:cubicBezTo>
                <a:cubicBezTo>
                  <a:pt x="176064" y="103188"/>
                  <a:pt x="205879" y="117773"/>
                  <a:pt x="226219" y="140791"/>
                </a:cubicBezTo>
                <a:cubicBezTo>
                  <a:pt x="232023" y="147389"/>
                  <a:pt x="231378" y="157411"/>
                  <a:pt x="224830" y="163215"/>
                </a:cubicBezTo>
                <a:cubicBezTo>
                  <a:pt x="218281" y="169019"/>
                  <a:pt x="208211" y="168374"/>
                  <a:pt x="202406" y="161826"/>
                </a:cubicBezTo>
                <a:cubicBezTo>
                  <a:pt x="187821" y="145306"/>
                  <a:pt x="166588" y="134938"/>
                  <a:pt x="142875" y="134938"/>
                </a:cubicBezTo>
                <a:cubicBezTo>
                  <a:pt x="119162" y="134938"/>
                  <a:pt x="97929" y="145306"/>
                  <a:pt x="83344" y="16182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4" name="Text 62"/>
          <p:cNvSpPr/>
          <p:nvPr/>
        </p:nvSpPr>
        <p:spPr>
          <a:xfrm>
            <a:off x="6688534" y="5168900"/>
            <a:ext cx="107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Calib. Wifi</a:t>
            </a:r>
            <a:endParaRPr lang="fr-FR" sz="1600" dirty="0"/>
          </a:p>
        </p:txBody>
      </p:sp>
      <p:sp>
        <p:nvSpPr>
          <p:cNvPr id="65" name="Text 63"/>
          <p:cNvSpPr/>
          <p:nvPr/>
        </p:nvSpPr>
        <p:spPr>
          <a:xfrm>
            <a:off x="6269434" y="55753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Position: AV+AR</a:t>
            </a:r>
            <a:endParaRPr lang="fr-FR" sz="1600" dirty="0"/>
          </a:p>
        </p:txBody>
      </p:sp>
      <p:sp>
        <p:nvSpPr>
          <p:cNvPr id="66" name="Text 64"/>
          <p:cNvSpPr/>
          <p:nvPr/>
        </p:nvSpPr>
        <p:spPr>
          <a:xfrm>
            <a:off x="6269434" y="5930900"/>
            <a:ext cx="2463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mesures</a:t>
            </a:r>
            <a:endParaRPr lang="fr-FR" sz="1600" dirty="0"/>
          </a:p>
        </p:txBody>
      </p:sp>
      <p:sp>
        <p:nvSpPr>
          <p:cNvPr id="68" name="Shape 66"/>
          <p:cNvSpPr/>
          <p:nvPr/>
        </p:nvSpPr>
        <p:spPr>
          <a:xfrm>
            <a:off x="9220201" y="3035300"/>
            <a:ext cx="6238736" cy="2828925"/>
          </a:xfrm>
          <a:custGeom>
            <a:avLst/>
            <a:gdLst/>
            <a:ahLst/>
            <a:cxnLst/>
            <a:rect l="l" t="t" r="r" b="b"/>
            <a:pathLst>
              <a:path w="6731000" h="6731000">
                <a:moveTo>
                  <a:pt x="101571" y="0"/>
                </a:moveTo>
                <a:lnTo>
                  <a:pt x="6629429" y="0"/>
                </a:lnTo>
                <a:cubicBezTo>
                  <a:pt x="6685525" y="0"/>
                  <a:pt x="6731000" y="45475"/>
                  <a:pt x="6731000" y="101571"/>
                </a:cubicBezTo>
                <a:lnTo>
                  <a:pt x="6731000" y="6629429"/>
                </a:lnTo>
                <a:cubicBezTo>
                  <a:pt x="6731000" y="6685525"/>
                  <a:pt x="6685525" y="6731000"/>
                  <a:pt x="6629429" y="6731000"/>
                </a:cubicBezTo>
                <a:lnTo>
                  <a:pt x="101571" y="6731000"/>
                </a:lnTo>
                <a:cubicBezTo>
                  <a:pt x="45475" y="6731000"/>
                  <a:pt x="0" y="6685525"/>
                  <a:pt x="0" y="6629429"/>
                </a:cubicBezTo>
                <a:lnTo>
                  <a:pt x="0" y="101571"/>
                </a:lnTo>
                <a:cubicBezTo>
                  <a:pt x="0" y="45512"/>
                  <a:pt x="45512" y="0"/>
                  <a:pt x="10157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220201" y="3035300"/>
            <a:ext cx="6238736" cy="2828925"/>
          </a:xfrm>
          <a:custGeom>
            <a:avLst/>
            <a:gdLst/>
            <a:ahLst/>
            <a:cxnLst/>
            <a:rect l="l" t="t" r="r" b="b"/>
            <a:pathLst>
              <a:path w="6731000" h="3060700">
                <a:moveTo>
                  <a:pt x="101615" y="0"/>
                </a:moveTo>
                <a:lnTo>
                  <a:pt x="6629385" y="0"/>
                </a:lnTo>
                <a:cubicBezTo>
                  <a:pt x="6685505" y="0"/>
                  <a:pt x="6731000" y="45495"/>
                  <a:pt x="6731000" y="101615"/>
                </a:cubicBezTo>
                <a:lnTo>
                  <a:pt x="6731000" y="2959085"/>
                </a:lnTo>
                <a:cubicBezTo>
                  <a:pt x="6731000" y="3015205"/>
                  <a:pt x="6685505" y="3060700"/>
                  <a:pt x="6629385" y="3060700"/>
                </a:cubicBezTo>
                <a:lnTo>
                  <a:pt x="101615" y="3060700"/>
                </a:lnTo>
                <a:cubicBezTo>
                  <a:pt x="45495" y="3060700"/>
                  <a:pt x="0" y="3015205"/>
                  <a:pt x="0" y="29590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429750" y="3214113"/>
            <a:ext cx="6029186" cy="30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Clés</a:t>
            </a:r>
            <a:endParaRPr lang="fr-FR" sz="1600" dirty="0"/>
          </a:p>
        </p:txBody>
      </p:sp>
      <p:sp>
        <p:nvSpPr>
          <p:cNvPr id="72" name="Shape 69"/>
          <p:cNvSpPr/>
          <p:nvPr/>
        </p:nvSpPr>
        <p:spPr>
          <a:xfrm>
            <a:off x="9429750" y="35808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3" name="Shape 70"/>
          <p:cNvSpPr/>
          <p:nvPr/>
        </p:nvSpPr>
        <p:spPr>
          <a:xfrm>
            <a:off x="9556750" y="36746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74" name="Text 71"/>
          <p:cNvSpPr/>
          <p:nvPr/>
        </p:nvSpPr>
        <p:spPr>
          <a:xfrm>
            <a:off x="9886950" y="3655873"/>
            <a:ext cx="2356510" cy="268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zéro entre mesures</a:t>
            </a:r>
            <a:endParaRPr lang="fr-FR" sz="1600" dirty="0"/>
          </a:p>
        </p:txBody>
      </p:sp>
      <p:sp>
        <p:nvSpPr>
          <p:cNvPr id="75" name="Shape 72"/>
          <p:cNvSpPr/>
          <p:nvPr/>
        </p:nvSpPr>
        <p:spPr>
          <a:xfrm>
            <a:off x="9429750" y="41396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6" name="Shape 73"/>
          <p:cNvSpPr/>
          <p:nvPr/>
        </p:nvSpPr>
        <p:spPr>
          <a:xfrm>
            <a:off x="9556750" y="42334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77" name="Text 74"/>
          <p:cNvSpPr/>
          <p:nvPr/>
        </p:nvSpPr>
        <p:spPr>
          <a:xfrm>
            <a:off x="9886950" y="4214673"/>
            <a:ext cx="2001785" cy="220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Stabilisation obligatoire</a:t>
            </a:r>
            <a:endParaRPr lang="fr-FR" sz="1600" dirty="0"/>
          </a:p>
        </p:txBody>
      </p:sp>
      <p:sp>
        <p:nvSpPr>
          <p:cNvPr id="78" name="Shape 75"/>
          <p:cNvSpPr/>
          <p:nvPr/>
        </p:nvSpPr>
        <p:spPr>
          <a:xfrm>
            <a:off x="9429750" y="46984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9" name="Shape 76"/>
          <p:cNvSpPr/>
          <p:nvPr/>
        </p:nvSpPr>
        <p:spPr>
          <a:xfrm>
            <a:off x="9556750" y="47922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0" name="Text 77"/>
          <p:cNvSpPr/>
          <p:nvPr/>
        </p:nvSpPr>
        <p:spPr>
          <a:xfrm>
            <a:off x="9886949" y="4773473"/>
            <a:ext cx="2549893" cy="23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positions: AD, ARD, AG, ARG</a:t>
            </a:r>
            <a:endParaRPr lang="fr-FR" sz="1600" dirty="0"/>
          </a:p>
        </p:txBody>
      </p:sp>
      <p:sp>
        <p:nvSpPr>
          <p:cNvPr id="81" name="Shape 78"/>
          <p:cNvSpPr/>
          <p:nvPr/>
        </p:nvSpPr>
        <p:spPr>
          <a:xfrm>
            <a:off x="9429750" y="52572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2" name="Shape 79"/>
          <p:cNvSpPr/>
          <p:nvPr/>
        </p:nvSpPr>
        <p:spPr>
          <a:xfrm>
            <a:off x="9556750" y="53510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3" name="Text 80"/>
          <p:cNvSpPr/>
          <p:nvPr/>
        </p:nvSpPr>
        <p:spPr>
          <a:xfrm>
            <a:off x="9886950" y="5332273"/>
            <a:ext cx="2819647" cy="220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Décision conforme/non conforme</a:t>
            </a:r>
            <a:endParaRPr lang="fr-FR" sz="1600" dirty="0"/>
          </a:p>
        </p:txBody>
      </p:sp>
      <p:pic>
        <p:nvPicPr>
          <p:cNvPr id="85" name="Image 84" descr="certifi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54" y="5131249"/>
            <a:ext cx="273342" cy="392067"/>
          </a:xfrm>
          <a:prstGeom prst="rect">
            <a:avLst/>
          </a:prstGeom>
        </p:spPr>
      </p:pic>
      <p:pic>
        <p:nvPicPr>
          <p:cNvPr id="86" name="Image 85" descr="ISO 678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66" y="6724650"/>
            <a:ext cx="2478484" cy="2478484"/>
          </a:xfrm>
          <a:prstGeom prst="rect">
            <a:avLst/>
          </a:prstGeom>
        </p:spPr>
      </p:pic>
      <p:pic>
        <p:nvPicPr>
          <p:cNvPr id="1026" name="Picture 2" descr="R:\Partage_NonSauvegarde\LST\Photos Clé - Hamza\Clé Carbone retouchée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2782575">
            <a:off x="5705310" y="5763035"/>
            <a:ext cx="2701663" cy="4052087"/>
          </a:xfrm>
          <a:prstGeom prst="rect">
            <a:avLst/>
          </a:prstGeom>
          <a:noFill/>
        </p:spPr>
      </p:pic>
      <p:pic>
        <p:nvPicPr>
          <p:cNvPr id="1027" name="Picture 3" descr="R:\Partage_NonSauvegarde\LST\Photos Clé - Hamza\clé_seule_2_10cm_300dpi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rot="1951303">
            <a:off x="3641527" y="6497599"/>
            <a:ext cx="1621376" cy="2633663"/>
          </a:xfrm>
          <a:prstGeom prst="rect">
            <a:avLst/>
          </a:prstGeom>
          <a:noFill/>
        </p:spPr>
      </p:pic>
      <p:sp>
        <p:nvSpPr>
          <p:cNvPr id="92" name="Text 59"/>
          <p:cNvSpPr/>
          <p:nvPr/>
        </p:nvSpPr>
        <p:spPr>
          <a:xfrm>
            <a:off x="6263325" y="63754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Nm · 120 Nm · 200 Nm</a:t>
            </a:r>
            <a:endParaRPr lang="fr-FR" sz="1600" dirty="0"/>
          </a:p>
        </p:txBody>
      </p:sp>
      <p:sp>
        <p:nvSpPr>
          <p:cNvPr id="93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13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1" descr="esquisse banc fin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541" y="933450"/>
            <a:ext cx="12040918" cy="802727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14350" y="698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CYCLE AUTOMATIQUE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14350" y="4254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Objectifs du Futur Banc Automatisé</a:t>
            </a:r>
            <a:endParaRPr lang="fr-FR" sz="1600" dirty="0"/>
          </a:p>
        </p:txBody>
      </p:sp>
      <p:sp>
        <p:nvSpPr>
          <p:cNvPr id="53" name="Rectangle 52"/>
          <p:cNvSpPr/>
          <p:nvPr/>
        </p:nvSpPr>
        <p:spPr>
          <a:xfrm>
            <a:off x="2354921" y="7825842"/>
            <a:ext cx="7508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smtClean="0">
                <a:solidFill>
                  <a:schemeClr val="bg1"/>
                </a:solidFill>
              </a:rPr>
              <a:t>Schéma de principe du banc : côté 4-40 Nm à gauche, côté 20-200Nm à droite.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3408218" y="8360229"/>
            <a:ext cx="352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smtClean="0">
                <a:solidFill>
                  <a:schemeClr val="bg1"/>
                </a:solidFill>
              </a:rPr>
              <a:t>NB : image généré par un outil d’IA</a:t>
            </a:r>
            <a:endParaRPr lang="fr-FR" b="1" i="1" u="sng" dirty="0">
              <a:solidFill>
                <a:schemeClr val="bg1"/>
              </a:solidFill>
            </a:endParaRPr>
          </a:p>
        </p:txBody>
      </p:sp>
      <p:sp>
        <p:nvSpPr>
          <p:cNvPr id="55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14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698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06. BILAN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14350" y="4254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fr-FR" sz="36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Enveloppe Budgétaire &amp; Rentabilité</a:t>
            </a:r>
            <a:endParaRPr lang="fr-FR" sz="3600" dirty="0"/>
          </a:p>
        </p:txBody>
      </p:sp>
      <p:sp>
        <p:nvSpPr>
          <p:cNvPr id="55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15</a:t>
            </a:r>
            <a:endParaRPr lang="fr-FR" sz="1400" dirty="0">
              <a:solidFill>
                <a:srgbClr val="E89F5B"/>
              </a:solidFill>
            </a:endParaRPr>
          </a:p>
        </p:txBody>
      </p:sp>
      <p:sp>
        <p:nvSpPr>
          <p:cNvPr id="152" name="Shape 4"/>
          <p:cNvSpPr/>
          <p:nvPr/>
        </p:nvSpPr>
        <p:spPr>
          <a:xfrm>
            <a:off x="239713" y="110816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5455" y="66675"/>
                </a:moveTo>
                <a:cubicBezTo>
                  <a:pt x="35004" y="34553"/>
                  <a:pt x="64765" y="11112"/>
                  <a:pt x="100013" y="11112"/>
                </a:cubicBezTo>
                <a:lnTo>
                  <a:pt x="122238" y="11112"/>
                </a:lnTo>
                <a:cubicBezTo>
                  <a:pt x="128384" y="11112"/>
                  <a:pt x="133350" y="16078"/>
                  <a:pt x="133350" y="22225"/>
                </a:cubicBezTo>
                <a:cubicBezTo>
                  <a:pt x="133350" y="28372"/>
                  <a:pt x="128384" y="33337"/>
                  <a:pt x="122238" y="33337"/>
                </a:cubicBezTo>
                <a:lnTo>
                  <a:pt x="100013" y="33337"/>
                </a:lnTo>
                <a:cubicBezTo>
                  <a:pt x="77232" y="33337"/>
                  <a:pt x="57646" y="47054"/>
                  <a:pt x="49069" y="66675"/>
                </a:cubicBezTo>
                <a:lnTo>
                  <a:pt x="94456" y="66675"/>
                </a:lnTo>
                <a:cubicBezTo>
                  <a:pt x="99075" y="66675"/>
                  <a:pt x="102791" y="70391"/>
                  <a:pt x="102791" y="75009"/>
                </a:cubicBezTo>
                <a:cubicBezTo>
                  <a:pt x="102791" y="79628"/>
                  <a:pt x="99075" y="83344"/>
                  <a:pt x="94456" y="83344"/>
                </a:cubicBezTo>
                <a:lnTo>
                  <a:pt x="44728" y="83344"/>
                </a:lnTo>
                <a:cubicBezTo>
                  <a:pt x="44554" y="85184"/>
                  <a:pt x="44450" y="87025"/>
                  <a:pt x="44450" y="88900"/>
                </a:cubicBezTo>
                <a:cubicBezTo>
                  <a:pt x="44450" y="90775"/>
                  <a:pt x="44554" y="92616"/>
                  <a:pt x="44728" y="94456"/>
                </a:cubicBezTo>
                <a:lnTo>
                  <a:pt x="94456" y="94456"/>
                </a:lnTo>
                <a:cubicBezTo>
                  <a:pt x="99075" y="94456"/>
                  <a:pt x="102791" y="98172"/>
                  <a:pt x="102791" y="102791"/>
                </a:cubicBezTo>
                <a:cubicBezTo>
                  <a:pt x="102791" y="107409"/>
                  <a:pt x="99075" y="111125"/>
                  <a:pt x="94456" y="111125"/>
                </a:cubicBezTo>
                <a:lnTo>
                  <a:pt x="49069" y="111125"/>
                </a:lnTo>
                <a:cubicBezTo>
                  <a:pt x="57646" y="130746"/>
                  <a:pt x="77232" y="144463"/>
                  <a:pt x="100013" y="144463"/>
                </a:cubicBezTo>
                <a:lnTo>
                  <a:pt x="122238" y="144463"/>
                </a:lnTo>
                <a:cubicBezTo>
                  <a:pt x="128384" y="144463"/>
                  <a:pt x="133350" y="149428"/>
                  <a:pt x="133350" y="155575"/>
                </a:cubicBezTo>
                <a:cubicBezTo>
                  <a:pt x="133350" y="161722"/>
                  <a:pt x="128384" y="166688"/>
                  <a:pt x="122238" y="166688"/>
                </a:cubicBezTo>
                <a:lnTo>
                  <a:pt x="100013" y="166688"/>
                </a:lnTo>
                <a:cubicBezTo>
                  <a:pt x="64765" y="166688"/>
                  <a:pt x="35004" y="143247"/>
                  <a:pt x="25455" y="111125"/>
                </a:cubicBezTo>
                <a:lnTo>
                  <a:pt x="13891" y="111125"/>
                </a:lnTo>
                <a:cubicBezTo>
                  <a:pt x="9272" y="111125"/>
                  <a:pt x="5556" y="107409"/>
                  <a:pt x="5556" y="102791"/>
                </a:cubicBezTo>
                <a:cubicBezTo>
                  <a:pt x="5556" y="98172"/>
                  <a:pt x="9272" y="94456"/>
                  <a:pt x="13891" y="94456"/>
                </a:cubicBezTo>
                <a:lnTo>
                  <a:pt x="22433" y="94456"/>
                </a:lnTo>
                <a:cubicBezTo>
                  <a:pt x="22190" y="90810"/>
                  <a:pt x="22190" y="86990"/>
                  <a:pt x="22433" y="83344"/>
                </a:cubicBezTo>
                <a:lnTo>
                  <a:pt x="13891" y="83344"/>
                </a:lnTo>
                <a:cubicBezTo>
                  <a:pt x="9272" y="83344"/>
                  <a:pt x="5556" y="79628"/>
                  <a:pt x="5556" y="75009"/>
                </a:cubicBezTo>
                <a:cubicBezTo>
                  <a:pt x="5556" y="70391"/>
                  <a:pt x="9272" y="66675"/>
                  <a:pt x="13891" y="66675"/>
                </a:cubicBezTo>
                <a:lnTo>
                  <a:pt x="25455" y="66675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53" name="Text 5"/>
          <p:cNvSpPr/>
          <p:nvPr/>
        </p:nvSpPr>
        <p:spPr>
          <a:xfrm>
            <a:off x="533400" y="1070063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du Matériel</a:t>
            </a:r>
            <a:endParaRPr lang="fr-FR" sz="1600" dirty="0"/>
          </a:p>
        </p:txBody>
      </p:sp>
      <p:sp>
        <p:nvSpPr>
          <p:cNvPr id="154" name="Shape 6"/>
          <p:cNvSpPr/>
          <p:nvPr/>
        </p:nvSpPr>
        <p:spPr>
          <a:xfrm>
            <a:off x="209550" y="1482813"/>
            <a:ext cx="7480300" cy="3803650"/>
          </a:xfrm>
          <a:prstGeom prst="roundRect">
            <a:avLst>
              <a:gd name="adj" fmla="val 191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55" name="Text 7"/>
          <p:cNvSpPr/>
          <p:nvPr/>
        </p:nvSpPr>
        <p:spPr>
          <a:xfrm>
            <a:off x="368300" y="1641563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Motoréducteur faible couple</a:t>
            </a:r>
            <a:endParaRPr lang="fr-FR" sz="1600" dirty="0"/>
          </a:p>
        </p:txBody>
      </p:sp>
      <p:sp>
        <p:nvSpPr>
          <p:cNvPr id="156" name="Text 8"/>
          <p:cNvSpPr/>
          <p:nvPr/>
        </p:nvSpPr>
        <p:spPr>
          <a:xfrm>
            <a:off x="7102475" y="1641563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350 €</a:t>
            </a:r>
            <a:endParaRPr lang="fr-FR" sz="1600" dirty="0"/>
          </a:p>
        </p:txBody>
      </p:sp>
      <p:sp>
        <p:nvSpPr>
          <p:cNvPr id="157" name="Text 9"/>
          <p:cNvSpPr/>
          <p:nvPr/>
        </p:nvSpPr>
        <p:spPr>
          <a:xfrm>
            <a:off x="368300" y="1908263"/>
            <a:ext cx="184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Motoréducteur fort couple</a:t>
            </a:r>
            <a:endParaRPr lang="fr-FR" sz="1600" dirty="0"/>
          </a:p>
        </p:txBody>
      </p:sp>
      <p:sp>
        <p:nvSpPr>
          <p:cNvPr id="158" name="Text 10"/>
          <p:cNvSpPr/>
          <p:nvPr/>
        </p:nvSpPr>
        <p:spPr>
          <a:xfrm>
            <a:off x="7102673" y="1908263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450 €</a:t>
            </a:r>
            <a:endParaRPr lang="fr-FR" sz="1600" dirty="0"/>
          </a:p>
        </p:txBody>
      </p:sp>
      <p:sp>
        <p:nvSpPr>
          <p:cNvPr id="159" name="Text 11"/>
          <p:cNvSpPr/>
          <p:nvPr/>
        </p:nvSpPr>
        <p:spPr>
          <a:xfrm>
            <a:off x="368300" y="2174963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Variateurs de vitesse (×2)</a:t>
            </a:r>
            <a:endParaRPr lang="fr-FR" sz="1600" dirty="0"/>
          </a:p>
        </p:txBody>
      </p:sp>
      <p:sp>
        <p:nvSpPr>
          <p:cNvPr id="160" name="Text 12"/>
          <p:cNvSpPr/>
          <p:nvPr/>
        </p:nvSpPr>
        <p:spPr>
          <a:xfrm>
            <a:off x="7095133" y="2174963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500 €</a:t>
            </a:r>
            <a:endParaRPr lang="fr-FR" sz="1600" dirty="0"/>
          </a:p>
        </p:txBody>
      </p:sp>
      <p:sp>
        <p:nvSpPr>
          <p:cNvPr id="161" name="Text 13"/>
          <p:cNvSpPr/>
          <p:nvPr/>
        </p:nvSpPr>
        <p:spPr>
          <a:xfrm>
            <a:off x="368300" y="2441663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Vérin électrique / actionneur</a:t>
            </a:r>
            <a:endParaRPr lang="fr-FR" sz="1600" dirty="0"/>
          </a:p>
        </p:txBody>
      </p:sp>
      <p:sp>
        <p:nvSpPr>
          <p:cNvPr id="162" name="Text 14"/>
          <p:cNvSpPr/>
          <p:nvPr/>
        </p:nvSpPr>
        <p:spPr>
          <a:xfrm>
            <a:off x="7094339" y="2441663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200 €</a:t>
            </a:r>
            <a:endParaRPr lang="fr-FR" sz="1600" dirty="0"/>
          </a:p>
        </p:txBody>
      </p:sp>
      <p:sp>
        <p:nvSpPr>
          <p:cNvPr id="163" name="Text 15"/>
          <p:cNvSpPr/>
          <p:nvPr/>
        </p:nvSpPr>
        <p:spPr>
          <a:xfrm>
            <a:off x="368300" y="2708363"/>
            <a:ext cx="116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Glissière linéaire</a:t>
            </a:r>
            <a:endParaRPr lang="fr-FR" sz="1600" dirty="0"/>
          </a:p>
        </p:txBody>
      </p:sp>
      <p:sp>
        <p:nvSpPr>
          <p:cNvPr id="164" name="Text 16"/>
          <p:cNvSpPr/>
          <p:nvPr/>
        </p:nvSpPr>
        <p:spPr>
          <a:xfrm>
            <a:off x="7130653" y="2708363"/>
            <a:ext cx="48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120 €</a:t>
            </a:r>
            <a:endParaRPr lang="fr-FR" sz="1600" dirty="0"/>
          </a:p>
        </p:txBody>
      </p:sp>
      <p:sp>
        <p:nvSpPr>
          <p:cNvPr id="165" name="Text 17"/>
          <p:cNvSpPr/>
          <p:nvPr/>
        </p:nvSpPr>
        <p:spPr>
          <a:xfrm>
            <a:off x="368300" y="2975063"/>
            <a:ext cx="275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 fin de course (×2)</a:t>
            </a:r>
            <a:endParaRPr lang="fr-FR" sz="1600" dirty="0"/>
          </a:p>
        </p:txBody>
      </p:sp>
      <p:sp>
        <p:nvSpPr>
          <p:cNvPr id="166" name="Text 18"/>
          <p:cNvSpPr/>
          <p:nvPr/>
        </p:nvSpPr>
        <p:spPr>
          <a:xfrm>
            <a:off x="7217909" y="2975063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60 €</a:t>
            </a:r>
            <a:endParaRPr lang="fr-FR" sz="1600" dirty="0"/>
          </a:p>
        </p:txBody>
      </p:sp>
      <p:sp>
        <p:nvSpPr>
          <p:cNvPr id="167" name="Text 19"/>
          <p:cNvSpPr/>
          <p:nvPr/>
        </p:nvSpPr>
        <p:spPr>
          <a:xfrm>
            <a:off x="368300" y="4168537"/>
            <a:ext cx="2139950" cy="203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Relais,borniers,câblage (1 lot)</a:t>
            </a:r>
            <a:endParaRPr lang="fr-FR" sz="1600" dirty="0"/>
          </a:p>
        </p:txBody>
      </p:sp>
      <p:sp>
        <p:nvSpPr>
          <p:cNvPr id="168" name="Text 20"/>
          <p:cNvSpPr/>
          <p:nvPr/>
        </p:nvSpPr>
        <p:spPr>
          <a:xfrm>
            <a:off x="7114832" y="416853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200 €</a:t>
            </a:r>
            <a:endParaRPr lang="fr-FR" sz="1600" dirty="0"/>
          </a:p>
        </p:txBody>
      </p:sp>
      <p:sp>
        <p:nvSpPr>
          <p:cNvPr id="169" name="Text 21"/>
          <p:cNvSpPr/>
          <p:nvPr/>
        </p:nvSpPr>
        <p:spPr>
          <a:xfrm>
            <a:off x="368300" y="4422881"/>
            <a:ext cx="243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Adaptateurs clés BT / WiFi (1 lot)</a:t>
            </a:r>
            <a:endParaRPr lang="fr-FR" sz="1600" dirty="0"/>
          </a:p>
        </p:txBody>
      </p:sp>
      <p:sp>
        <p:nvSpPr>
          <p:cNvPr id="170" name="Text 22"/>
          <p:cNvSpPr/>
          <p:nvPr/>
        </p:nvSpPr>
        <p:spPr>
          <a:xfrm>
            <a:off x="7131447" y="4422881"/>
            <a:ext cx="46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150 €</a:t>
            </a:r>
            <a:endParaRPr lang="fr-FR" sz="1600" dirty="0"/>
          </a:p>
        </p:txBody>
      </p:sp>
      <p:sp>
        <p:nvSpPr>
          <p:cNvPr id="171" name="Shape 23"/>
          <p:cNvSpPr/>
          <p:nvPr/>
        </p:nvSpPr>
        <p:spPr>
          <a:xfrm>
            <a:off x="368300" y="4721331"/>
            <a:ext cx="71628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172" name="Text 24"/>
          <p:cNvSpPr/>
          <p:nvPr/>
        </p:nvSpPr>
        <p:spPr>
          <a:xfrm>
            <a:off x="368300" y="4911831"/>
            <a:ext cx="143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Sous-total  Matériel</a:t>
            </a:r>
            <a:endParaRPr lang="fr-FR" sz="1600" dirty="0"/>
          </a:p>
        </p:txBody>
      </p:sp>
      <p:sp>
        <p:nvSpPr>
          <p:cNvPr id="173" name="Text 25"/>
          <p:cNvSpPr/>
          <p:nvPr/>
        </p:nvSpPr>
        <p:spPr>
          <a:xfrm>
            <a:off x="6691908" y="4829281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2 360 €</a:t>
            </a:r>
            <a:endParaRPr lang="fr-FR" sz="1600" dirty="0"/>
          </a:p>
        </p:txBody>
      </p:sp>
      <p:sp>
        <p:nvSpPr>
          <p:cNvPr id="174" name="Shape 26"/>
          <p:cNvSpPr/>
          <p:nvPr/>
        </p:nvSpPr>
        <p:spPr>
          <a:xfrm>
            <a:off x="209550" y="557856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40295" y="0"/>
                </a:moveTo>
                <a:cubicBezTo>
                  <a:pt x="146963" y="0"/>
                  <a:pt x="153353" y="2639"/>
                  <a:pt x="158041" y="7362"/>
                </a:cubicBezTo>
                <a:lnTo>
                  <a:pt x="170438" y="19759"/>
                </a:lnTo>
                <a:cubicBezTo>
                  <a:pt x="175161" y="24448"/>
                  <a:pt x="177800" y="30837"/>
                  <a:pt x="177800" y="37505"/>
                </a:cubicBezTo>
                <a:cubicBezTo>
                  <a:pt x="177800" y="44172"/>
                  <a:pt x="175161" y="50562"/>
                  <a:pt x="170438" y="55250"/>
                </a:cubicBezTo>
                <a:lnTo>
                  <a:pt x="154846" y="70842"/>
                </a:lnTo>
                <a:lnTo>
                  <a:pt x="106958" y="22954"/>
                </a:lnTo>
                <a:lnTo>
                  <a:pt x="122550" y="7362"/>
                </a:lnTo>
                <a:cubicBezTo>
                  <a:pt x="127238" y="2639"/>
                  <a:pt x="133628" y="0"/>
                  <a:pt x="140295" y="0"/>
                </a:cubicBezTo>
                <a:close/>
                <a:moveTo>
                  <a:pt x="20454" y="109423"/>
                </a:moveTo>
                <a:lnTo>
                  <a:pt x="95186" y="34727"/>
                </a:lnTo>
                <a:lnTo>
                  <a:pt x="143073" y="82614"/>
                </a:lnTo>
                <a:lnTo>
                  <a:pt x="68377" y="157346"/>
                </a:lnTo>
                <a:cubicBezTo>
                  <a:pt x="64661" y="161062"/>
                  <a:pt x="60008" y="163770"/>
                  <a:pt x="54937" y="165194"/>
                </a:cubicBezTo>
                <a:lnTo>
                  <a:pt x="10557" y="177487"/>
                </a:lnTo>
                <a:cubicBezTo>
                  <a:pt x="7675" y="178286"/>
                  <a:pt x="4549" y="177487"/>
                  <a:pt x="2431" y="175334"/>
                </a:cubicBezTo>
                <a:cubicBezTo>
                  <a:pt x="313" y="173181"/>
                  <a:pt x="-521" y="170091"/>
                  <a:pt x="278" y="167208"/>
                </a:cubicBezTo>
                <a:lnTo>
                  <a:pt x="12640" y="122863"/>
                </a:lnTo>
                <a:cubicBezTo>
                  <a:pt x="14064" y="117793"/>
                  <a:pt x="16738" y="113174"/>
                  <a:pt x="20489" y="109423"/>
                </a:cubicBezTo>
                <a:close/>
                <a:moveTo>
                  <a:pt x="78274" y="28059"/>
                </a:moveTo>
                <a:lnTo>
                  <a:pt x="28059" y="78274"/>
                </a:lnTo>
                <a:lnTo>
                  <a:pt x="4063" y="54278"/>
                </a:lnTo>
                <a:cubicBezTo>
                  <a:pt x="-1354" y="48860"/>
                  <a:pt x="-1354" y="40074"/>
                  <a:pt x="4063" y="34622"/>
                </a:cubicBezTo>
                <a:lnTo>
                  <a:pt x="34622" y="4063"/>
                </a:lnTo>
                <a:cubicBezTo>
                  <a:pt x="40040" y="-1354"/>
                  <a:pt x="48826" y="-1354"/>
                  <a:pt x="54278" y="4063"/>
                </a:cubicBezTo>
                <a:lnTo>
                  <a:pt x="56326" y="6112"/>
                </a:lnTo>
                <a:lnTo>
                  <a:pt x="36775" y="25663"/>
                </a:lnTo>
                <a:cubicBezTo>
                  <a:pt x="34067" y="28372"/>
                  <a:pt x="34067" y="32782"/>
                  <a:pt x="36775" y="35491"/>
                </a:cubicBezTo>
                <a:cubicBezTo>
                  <a:pt x="39484" y="38199"/>
                  <a:pt x="43894" y="38199"/>
                  <a:pt x="46603" y="35491"/>
                </a:cubicBezTo>
                <a:lnTo>
                  <a:pt x="66154" y="15939"/>
                </a:lnTo>
                <a:lnTo>
                  <a:pt x="78274" y="28059"/>
                </a:lnTo>
                <a:close/>
                <a:moveTo>
                  <a:pt x="149741" y="99526"/>
                </a:moveTo>
                <a:lnTo>
                  <a:pt x="161861" y="111646"/>
                </a:lnTo>
                <a:lnTo>
                  <a:pt x="142309" y="131197"/>
                </a:lnTo>
                <a:cubicBezTo>
                  <a:pt x="139601" y="133906"/>
                  <a:pt x="139601" y="138316"/>
                  <a:pt x="142309" y="141025"/>
                </a:cubicBezTo>
                <a:cubicBezTo>
                  <a:pt x="145018" y="143733"/>
                  <a:pt x="149428" y="143733"/>
                  <a:pt x="152137" y="141025"/>
                </a:cubicBezTo>
                <a:lnTo>
                  <a:pt x="171688" y="121474"/>
                </a:lnTo>
                <a:lnTo>
                  <a:pt x="173737" y="123522"/>
                </a:lnTo>
                <a:cubicBezTo>
                  <a:pt x="179154" y="128940"/>
                  <a:pt x="179154" y="137726"/>
                  <a:pt x="173737" y="143178"/>
                </a:cubicBezTo>
                <a:lnTo>
                  <a:pt x="143178" y="173737"/>
                </a:lnTo>
                <a:cubicBezTo>
                  <a:pt x="137760" y="179154"/>
                  <a:pt x="128974" y="179154"/>
                  <a:pt x="123522" y="173737"/>
                </a:cubicBezTo>
                <a:lnTo>
                  <a:pt x="99526" y="149741"/>
                </a:lnTo>
                <a:lnTo>
                  <a:pt x="149741" y="99526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75" name="Text 27"/>
          <p:cNvSpPr/>
          <p:nvPr/>
        </p:nvSpPr>
        <p:spPr>
          <a:xfrm>
            <a:off x="514350" y="5540463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des Études</a:t>
            </a:r>
            <a:endParaRPr lang="fr-FR" sz="1600" dirty="0"/>
          </a:p>
        </p:txBody>
      </p:sp>
      <p:sp>
        <p:nvSpPr>
          <p:cNvPr id="176" name="Shape 28"/>
          <p:cNvSpPr/>
          <p:nvPr/>
        </p:nvSpPr>
        <p:spPr>
          <a:xfrm>
            <a:off x="190500" y="5953213"/>
            <a:ext cx="7480300" cy="2494187"/>
          </a:xfrm>
          <a:prstGeom prst="roundRect">
            <a:avLst>
              <a:gd name="adj" fmla="val 473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7" name="Text 29"/>
          <p:cNvSpPr/>
          <p:nvPr/>
        </p:nvSpPr>
        <p:spPr>
          <a:xfrm>
            <a:off x="349250" y="6111963"/>
            <a:ext cx="166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Étude mécanique (20h)</a:t>
            </a:r>
            <a:endParaRPr lang="fr-FR" sz="1600" dirty="0"/>
          </a:p>
        </p:txBody>
      </p:sp>
      <p:sp>
        <p:nvSpPr>
          <p:cNvPr id="178" name="Text 30"/>
          <p:cNvSpPr/>
          <p:nvPr/>
        </p:nvSpPr>
        <p:spPr>
          <a:xfrm>
            <a:off x="7085608" y="6111963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550 €</a:t>
            </a:r>
            <a:endParaRPr lang="fr-FR" sz="1600" dirty="0"/>
          </a:p>
        </p:txBody>
      </p:sp>
      <p:sp>
        <p:nvSpPr>
          <p:cNvPr id="179" name="Text 31"/>
          <p:cNvSpPr/>
          <p:nvPr/>
        </p:nvSpPr>
        <p:spPr>
          <a:xfrm>
            <a:off x="349250" y="6378663"/>
            <a:ext cx="154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Étude électrique (15h)</a:t>
            </a:r>
            <a:endParaRPr lang="fr-FR" sz="1600" dirty="0"/>
          </a:p>
        </p:txBody>
      </p:sp>
      <p:sp>
        <p:nvSpPr>
          <p:cNvPr id="180" name="Text 32"/>
          <p:cNvSpPr/>
          <p:nvPr/>
        </p:nvSpPr>
        <p:spPr>
          <a:xfrm>
            <a:off x="6886377" y="6378663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412,50 €</a:t>
            </a:r>
            <a:endParaRPr lang="fr-FR" sz="1600" dirty="0"/>
          </a:p>
        </p:txBody>
      </p:sp>
      <p:sp>
        <p:nvSpPr>
          <p:cNvPr id="181" name="Text 33"/>
          <p:cNvSpPr/>
          <p:nvPr/>
        </p:nvSpPr>
        <p:spPr>
          <a:xfrm>
            <a:off x="349250" y="7152000"/>
            <a:ext cx="245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Programmation automatisme (30h)</a:t>
            </a:r>
            <a:endParaRPr lang="fr-FR" sz="1600" dirty="0"/>
          </a:p>
        </p:txBody>
      </p:sp>
      <p:sp>
        <p:nvSpPr>
          <p:cNvPr id="182" name="Text 34"/>
          <p:cNvSpPr/>
          <p:nvPr/>
        </p:nvSpPr>
        <p:spPr>
          <a:xfrm>
            <a:off x="7088386" y="7152000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825 €</a:t>
            </a:r>
            <a:endParaRPr lang="fr-FR" sz="1600" dirty="0"/>
          </a:p>
        </p:txBody>
      </p:sp>
      <p:sp>
        <p:nvSpPr>
          <p:cNvPr id="183" name="Text 35"/>
          <p:cNvSpPr/>
          <p:nvPr/>
        </p:nvSpPr>
        <p:spPr>
          <a:xfrm>
            <a:off x="349250" y="7418700"/>
            <a:ext cx="215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Développement IHM / PC (15h)</a:t>
            </a:r>
            <a:endParaRPr lang="fr-FR" sz="1600" dirty="0"/>
          </a:p>
        </p:txBody>
      </p:sp>
      <p:sp>
        <p:nvSpPr>
          <p:cNvPr id="184" name="Text 36"/>
          <p:cNvSpPr/>
          <p:nvPr/>
        </p:nvSpPr>
        <p:spPr>
          <a:xfrm>
            <a:off x="6886377" y="74187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412,50 €</a:t>
            </a:r>
            <a:endParaRPr lang="fr-FR" sz="1600" dirty="0"/>
          </a:p>
        </p:txBody>
      </p:sp>
      <p:sp>
        <p:nvSpPr>
          <p:cNvPr id="185" name="Text 37"/>
          <p:cNvSpPr/>
          <p:nvPr/>
        </p:nvSpPr>
        <p:spPr>
          <a:xfrm>
            <a:off x="349250" y="7685400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Mise au point et essais (15h)</a:t>
            </a:r>
            <a:endParaRPr lang="fr-FR" sz="1600" dirty="0"/>
          </a:p>
        </p:txBody>
      </p:sp>
      <p:sp>
        <p:nvSpPr>
          <p:cNvPr id="186" name="Text 38"/>
          <p:cNvSpPr/>
          <p:nvPr/>
        </p:nvSpPr>
        <p:spPr>
          <a:xfrm>
            <a:off x="6886377" y="7685400"/>
            <a:ext cx="69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412,50 €</a:t>
            </a:r>
            <a:endParaRPr lang="fr-FR" sz="1600" dirty="0"/>
          </a:p>
        </p:txBody>
      </p:sp>
      <p:sp>
        <p:nvSpPr>
          <p:cNvPr id="187" name="Shape 39"/>
          <p:cNvSpPr/>
          <p:nvPr/>
        </p:nvSpPr>
        <p:spPr>
          <a:xfrm>
            <a:off x="349250" y="7983850"/>
            <a:ext cx="71628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188" name="Text 40"/>
          <p:cNvSpPr/>
          <p:nvPr/>
        </p:nvSpPr>
        <p:spPr>
          <a:xfrm>
            <a:off x="349250" y="8174350"/>
            <a:ext cx="134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Sous-total  Études</a:t>
            </a:r>
            <a:endParaRPr lang="fr-FR" sz="1600" dirty="0"/>
          </a:p>
        </p:txBody>
      </p:sp>
      <p:sp>
        <p:nvSpPr>
          <p:cNvPr id="189" name="Text 41"/>
          <p:cNvSpPr/>
          <p:nvPr/>
        </p:nvSpPr>
        <p:spPr>
          <a:xfrm>
            <a:off x="6729413" y="8091800"/>
            <a:ext cx="9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5 088€</a:t>
            </a:r>
            <a:endParaRPr lang="fr-FR" sz="1600" dirty="0"/>
          </a:p>
        </p:txBody>
      </p:sp>
      <p:sp>
        <p:nvSpPr>
          <p:cNvPr id="190" name="Shape 42"/>
          <p:cNvSpPr/>
          <p:nvPr/>
        </p:nvSpPr>
        <p:spPr>
          <a:xfrm>
            <a:off x="7956550" y="1076413"/>
            <a:ext cx="7480300" cy="1930400"/>
          </a:xfrm>
          <a:prstGeom prst="roundRect">
            <a:avLst>
              <a:gd name="adj" fmla="val 7895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91" name="Text 43"/>
          <p:cNvSpPr/>
          <p:nvPr/>
        </p:nvSpPr>
        <p:spPr>
          <a:xfrm>
            <a:off x="8172450" y="1336763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Général du Projet</a:t>
            </a:r>
            <a:endParaRPr lang="fr-FR" sz="1600" dirty="0"/>
          </a:p>
        </p:txBody>
      </p:sp>
      <p:sp>
        <p:nvSpPr>
          <p:cNvPr id="192" name="Text 44"/>
          <p:cNvSpPr/>
          <p:nvPr/>
        </p:nvSpPr>
        <p:spPr>
          <a:xfrm>
            <a:off x="8026400" y="1692363"/>
            <a:ext cx="7340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fr-FR" sz="60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7 448 €</a:t>
            </a:r>
            <a:endParaRPr lang="fr-FR" sz="1600" dirty="0"/>
          </a:p>
        </p:txBody>
      </p:sp>
      <p:sp>
        <p:nvSpPr>
          <p:cNvPr id="193" name="Text 45"/>
          <p:cNvSpPr/>
          <p:nvPr/>
        </p:nvSpPr>
        <p:spPr>
          <a:xfrm>
            <a:off x="8178800" y="2555963"/>
            <a:ext cx="703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Matériel 2 360 € + Études 5 088 €</a:t>
            </a:r>
            <a:endParaRPr lang="fr-FR" sz="1600" dirty="0"/>
          </a:p>
        </p:txBody>
      </p:sp>
      <p:sp>
        <p:nvSpPr>
          <p:cNvPr id="194" name="Shape 46"/>
          <p:cNvSpPr/>
          <p:nvPr/>
        </p:nvSpPr>
        <p:spPr>
          <a:xfrm>
            <a:off x="7975600" y="320366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95" name="Text 47"/>
          <p:cNvSpPr/>
          <p:nvPr/>
        </p:nvSpPr>
        <p:spPr>
          <a:xfrm>
            <a:off x="8280400" y="3165563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sur Investissement</a:t>
            </a:r>
            <a:endParaRPr lang="fr-FR" sz="1600" dirty="0"/>
          </a:p>
        </p:txBody>
      </p:sp>
      <p:sp>
        <p:nvSpPr>
          <p:cNvPr id="196" name="Shape 48"/>
          <p:cNvSpPr/>
          <p:nvPr/>
        </p:nvSpPr>
        <p:spPr>
          <a:xfrm>
            <a:off x="7956550" y="3578313"/>
            <a:ext cx="7480300" cy="4140200"/>
          </a:xfrm>
          <a:prstGeom prst="roundRect">
            <a:avLst>
              <a:gd name="adj" fmla="val 2454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97" name="Text 49"/>
          <p:cNvSpPr/>
          <p:nvPr/>
        </p:nvSpPr>
        <p:spPr>
          <a:xfrm>
            <a:off x="8128000" y="3787863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actuel</a:t>
            </a:r>
            <a:endParaRPr lang="fr-FR" sz="1600" dirty="0"/>
          </a:p>
        </p:txBody>
      </p:sp>
      <p:sp>
        <p:nvSpPr>
          <p:cNvPr id="198" name="Text 50"/>
          <p:cNvSpPr/>
          <p:nvPr/>
        </p:nvSpPr>
        <p:spPr>
          <a:xfrm>
            <a:off x="8089900" y="3978363"/>
            <a:ext cx="3606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2400" b="1" smtClean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2h25</a:t>
            </a:r>
            <a:endParaRPr lang="fr-FR" sz="1600" dirty="0"/>
          </a:p>
        </p:txBody>
      </p:sp>
      <p:sp>
        <p:nvSpPr>
          <p:cNvPr id="199" name="Text 51"/>
          <p:cNvSpPr/>
          <p:nvPr/>
        </p:nvSpPr>
        <p:spPr>
          <a:xfrm>
            <a:off x="8128000" y="4372063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 clé</a:t>
            </a:r>
            <a:endParaRPr lang="fr-FR" sz="1600" dirty="0"/>
          </a:p>
        </p:txBody>
      </p:sp>
      <p:sp>
        <p:nvSpPr>
          <p:cNvPr id="200" name="Text 52"/>
          <p:cNvSpPr/>
          <p:nvPr/>
        </p:nvSpPr>
        <p:spPr>
          <a:xfrm>
            <a:off x="11734800" y="3787863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objectif</a:t>
            </a:r>
            <a:endParaRPr lang="fr-FR" sz="1600" dirty="0"/>
          </a:p>
        </p:txBody>
      </p:sp>
      <p:sp>
        <p:nvSpPr>
          <p:cNvPr id="201" name="Text 53"/>
          <p:cNvSpPr/>
          <p:nvPr/>
        </p:nvSpPr>
        <p:spPr>
          <a:xfrm>
            <a:off x="11696700" y="3978363"/>
            <a:ext cx="3606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2400" b="1" dirty="0" smtClean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~1h </a:t>
            </a:r>
            <a:endParaRPr lang="fr-FR" sz="1600" dirty="0"/>
          </a:p>
        </p:txBody>
      </p:sp>
      <p:sp>
        <p:nvSpPr>
          <p:cNvPr id="202" name="Text 54"/>
          <p:cNvSpPr/>
          <p:nvPr/>
        </p:nvSpPr>
        <p:spPr>
          <a:xfrm>
            <a:off x="11734800" y="4372063"/>
            <a:ext cx="353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 clé</a:t>
            </a:r>
            <a:endParaRPr lang="fr-FR" sz="1600" dirty="0"/>
          </a:p>
        </p:txBody>
      </p:sp>
      <p:sp>
        <p:nvSpPr>
          <p:cNvPr id="203" name="Shape 55"/>
          <p:cNvSpPr/>
          <p:nvPr/>
        </p:nvSpPr>
        <p:spPr>
          <a:xfrm>
            <a:off x="8166100" y="4772113"/>
            <a:ext cx="7061200" cy="12700"/>
          </a:xfrm>
          <a:prstGeom prst="roundRect">
            <a:avLst>
              <a:gd name="adj" fmla="val 0"/>
            </a:avLst>
          </a:prstGeom>
          <a:solidFill>
            <a:srgbClr val="364153"/>
          </a:solidFill>
          <a:ln/>
        </p:spPr>
      </p:sp>
      <p:sp>
        <p:nvSpPr>
          <p:cNvPr id="204" name="Text 56"/>
          <p:cNvSpPr/>
          <p:nvPr/>
        </p:nvSpPr>
        <p:spPr>
          <a:xfrm>
            <a:off x="8166100" y="4930863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 par clé</a:t>
            </a:r>
            <a:endParaRPr lang="fr-FR" sz="1600" dirty="0"/>
          </a:p>
        </p:txBody>
      </p:sp>
      <p:sp>
        <p:nvSpPr>
          <p:cNvPr id="205" name="Text 57"/>
          <p:cNvSpPr/>
          <p:nvPr/>
        </p:nvSpPr>
        <p:spPr>
          <a:xfrm>
            <a:off x="14734183" y="4930863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~60 €</a:t>
            </a:r>
            <a:endParaRPr lang="fr-FR" sz="1600" dirty="0"/>
          </a:p>
        </p:txBody>
      </p:sp>
      <p:sp>
        <p:nvSpPr>
          <p:cNvPr id="206" name="Text 58"/>
          <p:cNvSpPr/>
          <p:nvPr/>
        </p:nvSpPr>
        <p:spPr>
          <a:xfrm>
            <a:off x="8166100" y="5286463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 traitées/an</a:t>
            </a:r>
            <a:endParaRPr lang="fr-FR" sz="1600" dirty="0"/>
          </a:p>
        </p:txBody>
      </p:sp>
      <p:sp>
        <p:nvSpPr>
          <p:cNvPr id="207" name="Text 59"/>
          <p:cNvSpPr/>
          <p:nvPr/>
        </p:nvSpPr>
        <p:spPr>
          <a:xfrm>
            <a:off x="14815344" y="5286463"/>
            <a:ext cx="49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~100</a:t>
            </a:r>
            <a:endParaRPr lang="fr-FR" sz="1600" dirty="0"/>
          </a:p>
        </p:txBody>
      </p:sp>
      <p:sp>
        <p:nvSpPr>
          <p:cNvPr id="208" name="Text 60"/>
          <p:cNvSpPr/>
          <p:nvPr/>
        </p:nvSpPr>
        <p:spPr>
          <a:xfrm>
            <a:off x="8166100" y="5642063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Économie annuelle</a:t>
            </a:r>
            <a:endParaRPr lang="fr-FR" sz="1600" dirty="0"/>
          </a:p>
        </p:txBody>
      </p:sp>
      <p:sp>
        <p:nvSpPr>
          <p:cNvPr id="209" name="Text 61"/>
          <p:cNvSpPr/>
          <p:nvPr/>
        </p:nvSpPr>
        <p:spPr>
          <a:xfrm>
            <a:off x="14456966" y="5642063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~6 000 €</a:t>
            </a:r>
            <a:endParaRPr lang="fr-FR" sz="1600" dirty="0"/>
          </a:p>
        </p:txBody>
      </p:sp>
      <p:sp>
        <p:nvSpPr>
          <p:cNvPr id="210" name="Text 62"/>
          <p:cNvSpPr/>
          <p:nvPr/>
        </p:nvSpPr>
        <p:spPr>
          <a:xfrm>
            <a:off x="8166100" y="5997663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actuel/clé</a:t>
            </a:r>
            <a:endParaRPr lang="fr-FR" sz="1600" dirty="0"/>
          </a:p>
        </p:txBody>
      </p:sp>
      <p:sp>
        <p:nvSpPr>
          <p:cNvPr id="211" name="Text 63"/>
          <p:cNvSpPr/>
          <p:nvPr/>
        </p:nvSpPr>
        <p:spPr>
          <a:xfrm>
            <a:off x="14567694" y="5997663"/>
            <a:ext cx="74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89,38 €</a:t>
            </a:r>
            <a:endParaRPr lang="fr-FR" sz="1600" dirty="0"/>
          </a:p>
        </p:txBody>
      </p:sp>
      <p:sp>
        <p:nvSpPr>
          <p:cNvPr id="212" name="Text 64"/>
          <p:cNvSpPr/>
          <p:nvPr/>
        </p:nvSpPr>
        <p:spPr>
          <a:xfrm>
            <a:off x="8166100" y="6353263"/>
            <a:ext cx="118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Coût futur/clé</a:t>
            </a:r>
            <a:endParaRPr lang="fr-FR" sz="1600" dirty="0"/>
          </a:p>
        </p:txBody>
      </p:sp>
      <p:sp>
        <p:nvSpPr>
          <p:cNvPr id="213" name="Text 65"/>
          <p:cNvSpPr/>
          <p:nvPr/>
        </p:nvSpPr>
        <p:spPr>
          <a:xfrm>
            <a:off x="14573448" y="6353263"/>
            <a:ext cx="73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smtClean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34,38 €</a:t>
            </a:r>
            <a:endParaRPr lang="fr-FR" sz="1600" dirty="0"/>
          </a:p>
        </p:txBody>
      </p:sp>
      <p:sp>
        <p:nvSpPr>
          <p:cNvPr id="214" name="Shape 66"/>
          <p:cNvSpPr/>
          <p:nvPr/>
        </p:nvSpPr>
        <p:spPr>
          <a:xfrm>
            <a:off x="8166100" y="6759663"/>
            <a:ext cx="7061200" cy="749300"/>
          </a:xfrm>
          <a:prstGeom prst="roundRect">
            <a:avLst>
              <a:gd name="adj" fmla="val 13559"/>
            </a:avLst>
          </a:prstGeom>
          <a:solidFill>
            <a:srgbClr val="00C950">
              <a:alpha val="10196"/>
            </a:srgbClr>
          </a:solidFill>
          <a:ln/>
        </p:spPr>
      </p:sp>
      <p:sp>
        <p:nvSpPr>
          <p:cNvPr id="215" name="Text 67"/>
          <p:cNvSpPr/>
          <p:nvPr/>
        </p:nvSpPr>
        <p:spPr>
          <a:xfrm>
            <a:off x="8274050" y="6912063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b="1" dirty="0" smtClean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Amortissement en moins d'1 an</a:t>
            </a:r>
            <a:endParaRPr lang="fr-FR" sz="1600" dirty="0"/>
          </a:p>
        </p:txBody>
      </p:sp>
      <p:sp>
        <p:nvSpPr>
          <p:cNvPr id="216" name="Text 68"/>
          <p:cNvSpPr/>
          <p:nvPr/>
        </p:nvSpPr>
        <p:spPr>
          <a:xfrm>
            <a:off x="8280400" y="7166063"/>
            <a:ext cx="683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smtClean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 économiquement rentable</a:t>
            </a:r>
            <a:endParaRPr lang="fr-FR" sz="1600" dirty="0"/>
          </a:p>
        </p:txBody>
      </p:sp>
      <p:sp>
        <p:nvSpPr>
          <p:cNvPr id="217" name="Shape 71"/>
          <p:cNvSpPr/>
          <p:nvPr/>
        </p:nvSpPr>
        <p:spPr>
          <a:xfrm>
            <a:off x="8115300" y="8807450"/>
            <a:ext cx="3479800" cy="0"/>
          </a:xfrm>
          <a:prstGeom prst="roundRect">
            <a:avLst>
              <a:gd name="adj" fmla="val 0"/>
            </a:avLst>
          </a:prstGeom>
          <a:solidFill>
            <a:srgbClr val="FB2C36">
              <a:alpha val="30196"/>
            </a:srgbClr>
          </a:solidFill>
          <a:ln/>
        </p:spPr>
      </p:sp>
      <p:sp>
        <p:nvSpPr>
          <p:cNvPr id="218" name="Shape 74"/>
          <p:cNvSpPr/>
          <p:nvPr/>
        </p:nvSpPr>
        <p:spPr>
          <a:xfrm>
            <a:off x="11798300" y="8807450"/>
            <a:ext cx="3479800" cy="0"/>
          </a:xfrm>
          <a:prstGeom prst="roundRect">
            <a:avLst>
              <a:gd name="adj" fmla="val 0"/>
            </a:avLst>
          </a:prstGeom>
          <a:solidFill>
            <a:srgbClr val="00C950">
              <a:alpha val="30196"/>
            </a:srgbClr>
          </a:solidFill>
          <a:ln/>
        </p:spPr>
      </p:sp>
      <p:sp>
        <p:nvSpPr>
          <p:cNvPr id="220" name="Text 17"/>
          <p:cNvSpPr/>
          <p:nvPr/>
        </p:nvSpPr>
        <p:spPr>
          <a:xfrm>
            <a:off x="368300" y="3222713"/>
            <a:ext cx="275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 de température</a:t>
            </a:r>
            <a:endParaRPr lang="fr-FR" sz="1600" dirty="0"/>
          </a:p>
        </p:txBody>
      </p:sp>
      <p:sp>
        <p:nvSpPr>
          <p:cNvPr id="221" name="Text 17"/>
          <p:cNvSpPr/>
          <p:nvPr/>
        </p:nvSpPr>
        <p:spPr>
          <a:xfrm>
            <a:off x="361264" y="3458349"/>
            <a:ext cx="275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Arrêt d’urgence</a:t>
            </a:r>
            <a:endParaRPr lang="fr-FR" sz="1600" dirty="0"/>
          </a:p>
        </p:txBody>
      </p:sp>
      <p:sp>
        <p:nvSpPr>
          <p:cNvPr id="222" name="Text 17"/>
          <p:cNvSpPr/>
          <p:nvPr/>
        </p:nvSpPr>
        <p:spPr>
          <a:xfrm>
            <a:off x="361264" y="3685920"/>
            <a:ext cx="275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 sécurité capot</a:t>
            </a:r>
            <a:endParaRPr lang="fr-FR" sz="1600" dirty="0"/>
          </a:p>
        </p:txBody>
      </p:sp>
      <p:sp>
        <p:nvSpPr>
          <p:cNvPr id="223" name="Text 17"/>
          <p:cNvSpPr/>
          <p:nvPr/>
        </p:nvSpPr>
        <p:spPr>
          <a:xfrm>
            <a:off x="373621" y="3916253"/>
            <a:ext cx="275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Coffret électrique</a:t>
            </a:r>
            <a:endParaRPr lang="fr-FR" sz="1600" dirty="0"/>
          </a:p>
        </p:txBody>
      </p:sp>
      <p:sp>
        <p:nvSpPr>
          <p:cNvPr id="224" name="Text 18"/>
          <p:cNvSpPr/>
          <p:nvPr/>
        </p:nvSpPr>
        <p:spPr>
          <a:xfrm>
            <a:off x="7219497" y="3215677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80 €</a:t>
            </a:r>
            <a:endParaRPr lang="fr-FR" sz="1600" dirty="0"/>
          </a:p>
        </p:txBody>
      </p:sp>
      <p:sp>
        <p:nvSpPr>
          <p:cNvPr id="225" name="Text 18"/>
          <p:cNvSpPr/>
          <p:nvPr/>
        </p:nvSpPr>
        <p:spPr>
          <a:xfrm>
            <a:off x="7216917" y="3437241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40 €</a:t>
            </a:r>
            <a:endParaRPr lang="fr-FR" sz="1600" dirty="0"/>
          </a:p>
        </p:txBody>
      </p:sp>
      <p:sp>
        <p:nvSpPr>
          <p:cNvPr id="226" name="Text 18"/>
          <p:cNvSpPr/>
          <p:nvPr/>
        </p:nvSpPr>
        <p:spPr>
          <a:xfrm>
            <a:off x="7216917" y="3659148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60 €</a:t>
            </a:r>
            <a:endParaRPr lang="fr-FR" sz="1600" dirty="0"/>
          </a:p>
        </p:txBody>
      </p:sp>
      <p:sp>
        <p:nvSpPr>
          <p:cNvPr id="227" name="Text 18"/>
          <p:cNvSpPr/>
          <p:nvPr/>
        </p:nvSpPr>
        <p:spPr>
          <a:xfrm>
            <a:off x="7155132" y="3919859"/>
            <a:ext cx="50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150 €</a:t>
            </a:r>
            <a:endParaRPr lang="fr-FR" sz="1600" dirty="0"/>
          </a:p>
        </p:txBody>
      </p:sp>
      <p:sp>
        <p:nvSpPr>
          <p:cNvPr id="230" name="Text 31"/>
          <p:cNvSpPr/>
          <p:nvPr/>
        </p:nvSpPr>
        <p:spPr>
          <a:xfrm>
            <a:off x="353366" y="6642276"/>
            <a:ext cx="19961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Fabrication mécanique (30h)</a:t>
            </a:r>
            <a:endParaRPr lang="fr-FR" sz="1600" dirty="0"/>
          </a:p>
        </p:txBody>
      </p:sp>
      <p:sp>
        <p:nvSpPr>
          <p:cNvPr id="232" name="Text 31"/>
          <p:cNvSpPr/>
          <p:nvPr/>
        </p:nvSpPr>
        <p:spPr>
          <a:xfrm>
            <a:off x="365722" y="6901773"/>
            <a:ext cx="2434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smtClean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Fabrication automatisme (30h)</a:t>
            </a:r>
            <a:endParaRPr lang="fr-FR" sz="1600" dirty="0"/>
          </a:p>
        </p:txBody>
      </p:sp>
      <p:sp>
        <p:nvSpPr>
          <p:cNvPr id="234" name="Text 34"/>
          <p:cNvSpPr/>
          <p:nvPr/>
        </p:nvSpPr>
        <p:spPr>
          <a:xfrm>
            <a:off x="7078535" y="6642276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825 €</a:t>
            </a:r>
            <a:endParaRPr lang="fr-FR" sz="1600" dirty="0"/>
          </a:p>
        </p:txBody>
      </p:sp>
      <p:sp>
        <p:nvSpPr>
          <p:cNvPr id="235" name="Text 34"/>
          <p:cNvSpPr/>
          <p:nvPr/>
        </p:nvSpPr>
        <p:spPr>
          <a:xfrm>
            <a:off x="7085228" y="6901773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b="1" smtClean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825 €</a:t>
            </a:r>
            <a:endParaRPr lang="fr-FR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06. BILAN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Bilan &amp; Compétences Développées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7480300" cy="3822700"/>
          </a:xfrm>
          <a:custGeom>
            <a:avLst/>
            <a:gdLst/>
            <a:ahLst/>
            <a:cxnLst/>
            <a:rect l="l" t="t" r="r" b="b"/>
            <a:pathLst>
              <a:path w="7480300" h="3822700">
                <a:moveTo>
                  <a:pt x="101607" y="0"/>
                </a:moveTo>
                <a:lnTo>
                  <a:pt x="7378693" y="0"/>
                </a:lnTo>
                <a:cubicBezTo>
                  <a:pt x="7434809" y="0"/>
                  <a:pt x="7480300" y="45491"/>
                  <a:pt x="7480300" y="101607"/>
                </a:cubicBezTo>
                <a:lnTo>
                  <a:pt x="7480300" y="3721093"/>
                </a:lnTo>
                <a:cubicBezTo>
                  <a:pt x="7480300" y="3777209"/>
                  <a:pt x="7434809" y="3822700"/>
                  <a:pt x="73786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69950" y="19685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191770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Techniques</a:t>
            </a:r>
            <a:endParaRPr lang="fr-FR" sz="1600" dirty="0"/>
          </a:p>
        </p:txBody>
      </p:sp>
      <p:sp>
        <p:nvSpPr>
          <p:cNvPr id="8" name="Shape 6"/>
          <p:cNvSpPr/>
          <p:nvPr/>
        </p:nvSpPr>
        <p:spPr>
          <a:xfrm>
            <a:off x="723900" y="255270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50800" y="0"/>
                </a:moveTo>
                <a:lnTo>
                  <a:pt x="7010400" y="0"/>
                </a:lnTo>
                <a:cubicBezTo>
                  <a:pt x="7038437" y="0"/>
                  <a:pt x="7061200" y="22763"/>
                  <a:pt x="7061200" y="50800"/>
                </a:cubicBezTo>
                <a:lnTo>
                  <a:pt x="7061200" y="762000"/>
                </a:lnTo>
                <a:cubicBezTo>
                  <a:pt x="7061200" y="790037"/>
                  <a:pt x="7038437" y="812800"/>
                  <a:pt x="7010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Shape 7"/>
          <p:cNvSpPr/>
          <p:nvPr/>
        </p:nvSpPr>
        <p:spPr>
          <a:xfrm>
            <a:off x="850900" y="270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6543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Automatisme</a:t>
            </a:r>
            <a:endParaRPr lang="fr-FR" sz="1600" dirty="0"/>
          </a:p>
        </p:txBody>
      </p:sp>
      <p:sp>
        <p:nvSpPr>
          <p:cNvPr id="11" name="Text 9"/>
          <p:cNvSpPr/>
          <p:nvPr/>
        </p:nvSpPr>
        <p:spPr>
          <a:xfrm>
            <a:off x="825500" y="30099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industriel, sécurités, système automatisé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346710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50800" y="0"/>
                </a:moveTo>
                <a:lnTo>
                  <a:pt x="7010400" y="0"/>
                </a:lnTo>
                <a:cubicBezTo>
                  <a:pt x="7038437" y="0"/>
                  <a:pt x="7061200" y="22763"/>
                  <a:pt x="7061200" y="50800"/>
                </a:cubicBezTo>
                <a:lnTo>
                  <a:pt x="7061200" y="762000"/>
                </a:lnTo>
                <a:cubicBezTo>
                  <a:pt x="7061200" y="790037"/>
                  <a:pt x="7038437" y="812800"/>
                  <a:pt x="7010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" y="36195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2987" y="204867"/>
                </a:moveTo>
                <a:cubicBezTo>
                  <a:pt x="75565" y="212288"/>
                  <a:pt x="63500" y="212288"/>
                  <a:pt x="56039" y="204867"/>
                </a:cubicBezTo>
                <a:lnTo>
                  <a:pt x="11152" y="159980"/>
                </a:lnTo>
                <a:cubicBezTo>
                  <a:pt x="3731" y="152559"/>
                  <a:pt x="3731" y="140494"/>
                  <a:pt x="11152" y="133033"/>
                </a:cubicBezTo>
                <a:lnTo>
                  <a:pt x="17899" y="126286"/>
                </a:lnTo>
                <a:lnTo>
                  <a:pt x="47069" y="155456"/>
                </a:lnTo>
                <a:cubicBezTo>
                  <a:pt x="50800" y="159187"/>
                  <a:pt x="56832" y="159187"/>
                  <a:pt x="60523" y="155456"/>
                </a:cubicBezTo>
                <a:cubicBezTo>
                  <a:pt x="64214" y="151725"/>
                  <a:pt x="64254" y="145693"/>
                  <a:pt x="60523" y="142002"/>
                </a:cubicBezTo>
                <a:lnTo>
                  <a:pt x="31353" y="112832"/>
                </a:lnTo>
                <a:lnTo>
                  <a:pt x="44807" y="99378"/>
                </a:lnTo>
                <a:lnTo>
                  <a:pt x="65008" y="119578"/>
                </a:lnTo>
                <a:cubicBezTo>
                  <a:pt x="68739" y="123309"/>
                  <a:pt x="74771" y="123309"/>
                  <a:pt x="78462" y="119578"/>
                </a:cubicBezTo>
                <a:cubicBezTo>
                  <a:pt x="82153" y="115848"/>
                  <a:pt x="82193" y="109815"/>
                  <a:pt x="78462" y="106124"/>
                </a:cubicBezTo>
                <a:lnTo>
                  <a:pt x="58261" y="85923"/>
                </a:lnTo>
                <a:lnTo>
                  <a:pt x="71715" y="72469"/>
                </a:lnTo>
                <a:lnTo>
                  <a:pt x="100886" y="101640"/>
                </a:lnTo>
                <a:cubicBezTo>
                  <a:pt x="104616" y="105370"/>
                  <a:pt x="110649" y="105370"/>
                  <a:pt x="114340" y="101640"/>
                </a:cubicBezTo>
                <a:cubicBezTo>
                  <a:pt x="118031" y="97909"/>
                  <a:pt x="118070" y="91877"/>
                  <a:pt x="114340" y="88186"/>
                </a:cubicBezTo>
                <a:lnTo>
                  <a:pt x="85169" y="59015"/>
                </a:lnTo>
                <a:lnTo>
                  <a:pt x="98623" y="45561"/>
                </a:lnTo>
                <a:lnTo>
                  <a:pt x="118824" y="65762"/>
                </a:lnTo>
                <a:cubicBezTo>
                  <a:pt x="122555" y="69493"/>
                  <a:pt x="128588" y="69493"/>
                  <a:pt x="132278" y="65762"/>
                </a:cubicBezTo>
                <a:cubicBezTo>
                  <a:pt x="135969" y="62032"/>
                  <a:pt x="136009" y="55999"/>
                  <a:pt x="132278" y="52308"/>
                </a:cubicBezTo>
                <a:lnTo>
                  <a:pt x="112078" y="32107"/>
                </a:lnTo>
                <a:lnTo>
                  <a:pt x="125532" y="18653"/>
                </a:lnTo>
                <a:lnTo>
                  <a:pt x="154702" y="47823"/>
                </a:lnTo>
                <a:cubicBezTo>
                  <a:pt x="158433" y="51554"/>
                  <a:pt x="164465" y="51554"/>
                  <a:pt x="168156" y="47823"/>
                </a:cubicBezTo>
                <a:cubicBezTo>
                  <a:pt x="171847" y="44093"/>
                  <a:pt x="171887" y="38060"/>
                  <a:pt x="168156" y="34369"/>
                </a:cubicBezTo>
                <a:lnTo>
                  <a:pt x="138986" y="5199"/>
                </a:lnTo>
                <a:lnTo>
                  <a:pt x="145733" y="-1548"/>
                </a:lnTo>
                <a:cubicBezTo>
                  <a:pt x="153154" y="-8969"/>
                  <a:pt x="165219" y="-8969"/>
                  <a:pt x="172680" y="-1548"/>
                </a:cubicBezTo>
                <a:lnTo>
                  <a:pt x="217686" y="43220"/>
                </a:lnTo>
                <a:cubicBezTo>
                  <a:pt x="225108" y="50641"/>
                  <a:pt x="225108" y="62706"/>
                  <a:pt x="217686" y="70168"/>
                </a:cubicBezTo>
                <a:lnTo>
                  <a:pt x="82987" y="204867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35687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Métrologie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825500" y="39243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Norme ISO 6789-1:2017, précision couple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723900" y="438150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50800" y="0"/>
                </a:moveTo>
                <a:lnTo>
                  <a:pt x="7010400" y="0"/>
                </a:lnTo>
                <a:cubicBezTo>
                  <a:pt x="7038437" y="0"/>
                  <a:pt x="7061200" y="22763"/>
                  <a:pt x="7061200" y="50800"/>
                </a:cubicBezTo>
                <a:lnTo>
                  <a:pt x="7061200" y="762000"/>
                </a:lnTo>
                <a:cubicBezTo>
                  <a:pt x="7061200" y="790037"/>
                  <a:pt x="7038437" y="812800"/>
                  <a:pt x="7010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900" y="4533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44831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825500" y="48387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Structuration besoin → fonctions techniques</a:t>
            </a:r>
            <a:endParaRPr lang="fr-FR" sz="1600" dirty="0"/>
          </a:p>
        </p:txBody>
      </p:sp>
      <p:sp>
        <p:nvSpPr>
          <p:cNvPr id="20" name="Shape 18"/>
          <p:cNvSpPr/>
          <p:nvPr/>
        </p:nvSpPr>
        <p:spPr>
          <a:xfrm>
            <a:off x="514350" y="5568950"/>
            <a:ext cx="7480300" cy="2197100"/>
          </a:xfrm>
          <a:custGeom>
            <a:avLst/>
            <a:gdLst/>
            <a:ahLst/>
            <a:cxnLst/>
            <a:rect l="l" t="t" r="r" b="b"/>
            <a:pathLst>
              <a:path w="7480300" h="2197100">
                <a:moveTo>
                  <a:pt x="101594" y="0"/>
                </a:moveTo>
                <a:lnTo>
                  <a:pt x="7378706" y="0"/>
                </a:lnTo>
                <a:cubicBezTo>
                  <a:pt x="7434815" y="0"/>
                  <a:pt x="7480300" y="45485"/>
                  <a:pt x="7480300" y="101594"/>
                </a:cubicBezTo>
                <a:lnTo>
                  <a:pt x="7480300" y="2095506"/>
                </a:lnTo>
                <a:cubicBezTo>
                  <a:pt x="7480300" y="2151615"/>
                  <a:pt x="7434815" y="2197100"/>
                  <a:pt x="7378706" y="2197100"/>
                </a:cubicBezTo>
                <a:lnTo>
                  <a:pt x="101594" y="2197100"/>
                </a:lnTo>
                <a:cubicBezTo>
                  <a:pt x="45485" y="2197100"/>
                  <a:pt x="0" y="2151615"/>
                  <a:pt x="0" y="20955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" y="577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9950" y="59563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1485900" y="59055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Transversales</a:t>
            </a:r>
            <a:endParaRPr lang="fr-FR" sz="1600" dirty="0"/>
          </a:p>
        </p:txBody>
      </p:sp>
      <p:sp>
        <p:nvSpPr>
          <p:cNvPr id="24" name="Shape 22"/>
          <p:cNvSpPr/>
          <p:nvPr/>
        </p:nvSpPr>
        <p:spPr>
          <a:xfrm>
            <a:off x="723900" y="65405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5500" y="66675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53975" y="50800"/>
                </a:moveTo>
                <a:cubicBezTo>
                  <a:pt x="53975" y="24515"/>
                  <a:pt x="75315" y="3175"/>
                  <a:pt x="101600" y="3175"/>
                </a:cubicBezTo>
                <a:cubicBezTo>
                  <a:pt x="127885" y="3175"/>
                  <a:pt x="149225" y="24515"/>
                  <a:pt x="149225" y="50800"/>
                </a:cubicBezTo>
                <a:cubicBezTo>
                  <a:pt x="149225" y="77085"/>
                  <a:pt x="127885" y="98425"/>
                  <a:pt x="101600" y="98425"/>
                </a:cubicBezTo>
                <a:cubicBezTo>
                  <a:pt x="75315" y="98425"/>
                  <a:pt x="53975" y="77085"/>
                  <a:pt x="53975" y="50800"/>
                </a:cubicBezTo>
                <a:close/>
                <a:moveTo>
                  <a:pt x="19050" y="191413"/>
                </a:moveTo>
                <a:cubicBezTo>
                  <a:pt x="19050" y="152321"/>
                  <a:pt x="50721" y="120650"/>
                  <a:pt x="89813" y="120650"/>
                </a:cubicBezTo>
                <a:lnTo>
                  <a:pt x="113387" y="120650"/>
                </a:lnTo>
                <a:cubicBezTo>
                  <a:pt x="152479" y="120650"/>
                  <a:pt x="184150" y="152321"/>
                  <a:pt x="184150" y="191413"/>
                </a:cubicBezTo>
                <a:cubicBezTo>
                  <a:pt x="184150" y="197922"/>
                  <a:pt x="178872" y="203200"/>
                  <a:pt x="172363" y="203200"/>
                </a:cubicBezTo>
                <a:lnTo>
                  <a:pt x="30837" y="203200"/>
                </a:lnTo>
                <a:cubicBezTo>
                  <a:pt x="24328" y="203200"/>
                  <a:pt x="19050" y="197922"/>
                  <a:pt x="19050" y="191413"/>
                </a:cubicBezTo>
                <a:close/>
                <a:moveTo>
                  <a:pt x="243046" y="52665"/>
                </a:moveTo>
                <a:lnTo>
                  <a:pt x="211296" y="103465"/>
                </a:lnTo>
                <a:cubicBezTo>
                  <a:pt x="209629" y="106124"/>
                  <a:pt x="206772" y="107791"/>
                  <a:pt x="203637" y="107950"/>
                </a:cubicBezTo>
                <a:cubicBezTo>
                  <a:pt x="200501" y="108109"/>
                  <a:pt x="197485" y="106680"/>
                  <a:pt x="195620" y="104140"/>
                </a:cubicBezTo>
                <a:lnTo>
                  <a:pt x="176570" y="78740"/>
                </a:lnTo>
                <a:cubicBezTo>
                  <a:pt x="173395" y="74533"/>
                  <a:pt x="174268" y="68580"/>
                  <a:pt x="178475" y="65405"/>
                </a:cubicBezTo>
                <a:cubicBezTo>
                  <a:pt x="182682" y="62230"/>
                  <a:pt x="188635" y="63103"/>
                  <a:pt x="191810" y="67310"/>
                </a:cubicBezTo>
                <a:lnTo>
                  <a:pt x="202525" y="81598"/>
                </a:lnTo>
                <a:lnTo>
                  <a:pt x="226893" y="42585"/>
                </a:lnTo>
                <a:cubicBezTo>
                  <a:pt x="229672" y="38140"/>
                  <a:pt x="235545" y="36751"/>
                  <a:pt x="240030" y="39568"/>
                </a:cubicBezTo>
                <a:cubicBezTo>
                  <a:pt x="244515" y="42386"/>
                  <a:pt x="245864" y="48220"/>
                  <a:pt x="243046" y="5270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664210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Autonomie</a:t>
            </a:r>
            <a:endParaRPr lang="fr-FR" sz="1600" dirty="0"/>
          </a:p>
        </p:txBody>
      </p:sp>
      <p:sp>
        <p:nvSpPr>
          <p:cNvPr id="27" name="Shape 25"/>
          <p:cNvSpPr/>
          <p:nvPr/>
        </p:nvSpPr>
        <p:spPr>
          <a:xfrm>
            <a:off x="4305300" y="65405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2300" y="6667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102" y="14407"/>
                </a:moveTo>
                <a:cubicBezTo>
                  <a:pt x="57428" y="17423"/>
                  <a:pt x="58460" y="23376"/>
                  <a:pt x="55443" y="27662"/>
                </a:cubicBezTo>
                <a:lnTo>
                  <a:pt x="33218" y="59412"/>
                </a:lnTo>
                <a:cubicBezTo>
                  <a:pt x="31591" y="61714"/>
                  <a:pt x="29051" y="63182"/>
                  <a:pt x="26233" y="63421"/>
                </a:cubicBezTo>
                <a:cubicBezTo>
                  <a:pt x="23416" y="63659"/>
                  <a:pt x="20638" y="62706"/>
                  <a:pt x="18653" y="60722"/>
                </a:cubicBezTo>
                <a:lnTo>
                  <a:pt x="2778" y="44847"/>
                </a:lnTo>
                <a:cubicBezTo>
                  <a:pt x="-913" y="41116"/>
                  <a:pt x="-913" y="35084"/>
                  <a:pt x="2778" y="31353"/>
                </a:cubicBezTo>
                <a:cubicBezTo>
                  <a:pt x="6469" y="27622"/>
                  <a:pt x="12541" y="27662"/>
                  <a:pt x="16272" y="31353"/>
                </a:cubicBezTo>
                <a:lnTo>
                  <a:pt x="24130" y="39211"/>
                </a:lnTo>
                <a:lnTo>
                  <a:pt x="39846" y="16748"/>
                </a:lnTo>
                <a:cubicBezTo>
                  <a:pt x="42863" y="12422"/>
                  <a:pt x="48816" y="11390"/>
                  <a:pt x="53102" y="14407"/>
                </a:cubicBezTo>
                <a:close/>
                <a:moveTo>
                  <a:pt x="53102" y="77907"/>
                </a:moveTo>
                <a:cubicBezTo>
                  <a:pt x="57428" y="80923"/>
                  <a:pt x="58460" y="86876"/>
                  <a:pt x="55443" y="91162"/>
                </a:cubicBezTo>
                <a:lnTo>
                  <a:pt x="33218" y="122912"/>
                </a:lnTo>
                <a:cubicBezTo>
                  <a:pt x="31591" y="125214"/>
                  <a:pt x="29051" y="126683"/>
                  <a:pt x="26233" y="126921"/>
                </a:cubicBezTo>
                <a:cubicBezTo>
                  <a:pt x="23416" y="127159"/>
                  <a:pt x="20638" y="126206"/>
                  <a:pt x="18653" y="124222"/>
                </a:cubicBezTo>
                <a:lnTo>
                  <a:pt x="2778" y="108347"/>
                </a:lnTo>
                <a:cubicBezTo>
                  <a:pt x="-953" y="104616"/>
                  <a:pt x="-953" y="98584"/>
                  <a:pt x="2778" y="94893"/>
                </a:cubicBezTo>
                <a:cubicBezTo>
                  <a:pt x="6509" y="91202"/>
                  <a:pt x="12541" y="91162"/>
                  <a:pt x="16232" y="94893"/>
                </a:cubicBezTo>
                <a:lnTo>
                  <a:pt x="24090" y="102751"/>
                </a:lnTo>
                <a:lnTo>
                  <a:pt x="39807" y="80288"/>
                </a:lnTo>
                <a:cubicBezTo>
                  <a:pt x="42823" y="75962"/>
                  <a:pt x="48776" y="74930"/>
                  <a:pt x="53062" y="77946"/>
                </a:cubicBezTo>
                <a:close/>
                <a:moveTo>
                  <a:pt x="88900" y="38100"/>
                </a:moveTo>
                <a:cubicBezTo>
                  <a:pt x="88900" y="31075"/>
                  <a:pt x="94575" y="25400"/>
                  <a:pt x="101600" y="25400"/>
                </a:cubicBezTo>
                <a:lnTo>
                  <a:pt x="190500" y="25400"/>
                </a:lnTo>
                <a:cubicBezTo>
                  <a:pt x="197525" y="25400"/>
                  <a:pt x="203200" y="31075"/>
                  <a:pt x="203200" y="38100"/>
                </a:cubicBezTo>
                <a:cubicBezTo>
                  <a:pt x="203200" y="45125"/>
                  <a:pt x="197525" y="50800"/>
                  <a:pt x="190500" y="50800"/>
                </a:cubicBezTo>
                <a:lnTo>
                  <a:pt x="101600" y="50800"/>
                </a:lnTo>
                <a:cubicBezTo>
                  <a:pt x="94575" y="50800"/>
                  <a:pt x="88900" y="45125"/>
                  <a:pt x="88900" y="38100"/>
                </a:cubicBezTo>
                <a:close/>
                <a:moveTo>
                  <a:pt x="88900" y="101600"/>
                </a:moveTo>
                <a:cubicBezTo>
                  <a:pt x="88900" y="94575"/>
                  <a:pt x="94575" y="88900"/>
                  <a:pt x="101600" y="88900"/>
                </a:cubicBezTo>
                <a:lnTo>
                  <a:pt x="190500" y="88900"/>
                </a:lnTo>
                <a:cubicBezTo>
                  <a:pt x="197525" y="88900"/>
                  <a:pt x="203200" y="94575"/>
                  <a:pt x="203200" y="101600"/>
                </a:cubicBezTo>
                <a:cubicBezTo>
                  <a:pt x="203200" y="108625"/>
                  <a:pt x="197525" y="114300"/>
                  <a:pt x="190500" y="114300"/>
                </a:cubicBezTo>
                <a:lnTo>
                  <a:pt x="101600" y="114300"/>
                </a:lnTo>
                <a:cubicBezTo>
                  <a:pt x="94575" y="114300"/>
                  <a:pt x="88900" y="108625"/>
                  <a:pt x="88900" y="101600"/>
                </a:cubicBezTo>
                <a:close/>
                <a:moveTo>
                  <a:pt x="63500" y="165100"/>
                </a:moveTo>
                <a:cubicBezTo>
                  <a:pt x="63500" y="158075"/>
                  <a:pt x="69175" y="152400"/>
                  <a:pt x="76200" y="152400"/>
                </a:cubicBezTo>
                <a:lnTo>
                  <a:pt x="190500" y="152400"/>
                </a:lnTo>
                <a:cubicBezTo>
                  <a:pt x="197525" y="152400"/>
                  <a:pt x="203200" y="158075"/>
                  <a:pt x="203200" y="165100"/>
                </a:cubicBezTo>
                <a:cubicBezTo>
                  <a:pt x="203200" y="172125"/>
                  <a:pt x="197525" y="177800"/>
                  <a:pt x="190500" y="177800"/>
                </a:cubicBezTo>
                <a:lnTo>
                  <a:pt x="76200" y="177800"/>
                </a:lnTo>
                <a:cubicBezTo>
                  <a:pt x="69175" y="177800"/>
                  <a:pt x="63500" y="172125"/>
                  <a:pt x="63500" y="165100"/>
                </a:cubicBezTo>
                <a:close/>
                <a:moveTo>
                  <a:pt x="25400" y="149225"/>
                </a:moveTo>
                <a:cubicBezTo>
                  <a:pt x="34162" y="149225"/>
                  <a:pt x="41275" y="156338"/>
                  <a:pt x="41275" y="165100"/>
                </a:cubicBezTo>
                <a:cubicBezTo>
                  <a:pt x="41275" y="173862"/>
                  <a:pt x="34162" y="180975"/>
                  <a:pt x="25400" y="180975"/>
                </a:cubicBezTo>
                <a:cubicBezTo>
                  <a:pt x="16638" y="180975"/>
                  <a:pt x="9525" y="173862"/>
                  <a:pt x="9525" y="165100"/>
                </a:cubicBezTo>
                <a:cubicBezTo>
                  <a:pt x="9525" y="156338"/>
                  <a:pt x="16638" y="149225"/>
                  <a:pt x="25400" y="14922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4762500" y="6642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Rigueur</a:t>
            </a:r>
            <a:endParaRPr lang="fr-FR" sz="1600" dirty="0"/>
          </a:p>
        </p:txBody>
      </p:sp>
      <p:sp>
        <p:nvSpPr>
          <p:cNvPr id="30" name="Shape 28"/>
          <p:cNvSpPr/>
          <p:nvPr/>
        </p:nvSpPr>
        <p:spPr>
          <a:xfrm>
            <a:off x="723900" y="70993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838200" y="72263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57150"/>
                </a:moveTo>
                <a:cubicBezTo>
                  <a:pt x="152400" y="95726"/>
                  <a:pt x="118269" y="127000"/>
                  <a:pt x="76200" y="127000"/>
                </a:cubicBezTo>
                <a:cubicBezTo>
                  <a:pt x="65603" y="127000"/>
                  <a:pt x="55523" y="125016"/>
                  <a:pt x="46355" y="121444"/>
                </a:cubicBezTo>
                <a:lnTo>
                  <a:pt x="13970" y="138589"/>
                </a:lnTo>
                <a:cubicBezTo>
                  <a:pt x="10279" y="140533"/>
                  <a:pt x="5755" y="139859"/>
                  <a:pt x="2778" y="136922"/>
                </a:cubicBezTo>
                <a:cubicBezTo>
                  <a:pt x="-198" y="133985"/>
                  <a:pt x="-873" y="129421"/>
                  <a:pt x="1111" y="125730"/>
                </a:cubicBezTo>
                <a:lnTo>
                  <a:pt x="15240" y="99060"/>
                </a:lnTo>
                <a:cubicBezTo>
                  <a:pt x="5675" y="87392"/>
                  <a:pt x="0" y="72866"/>
                  <a:pt x="0" y="57150"/>
                </a:cubicBezTo>
                <a:cubicBezTo>
                  <a:pt x="0" y="18574"/>
                  <a:pt x="34131" y="-12700"/>
                  <a:pt x="76200" y="-12700"/>
                </a:cubicBezTo>
                <a:cubicBezTo>
                  <a:pt x="118269" y="-12700"/>
                  <a:pt x="152400" y="18574"/>
                  <a:pt x="152400" y="57150"/>
                </a:cubicBezTo>
                <a:close/>
                <a:moveTo>
                  <a:pt x="152400" y="203200"/>
                </a:moveTo>
                <a:cubicBezTo>
                  <a:pt x="115054" y="203200"/>
                  <a:pt x="83979" y="178554"/>
                  <a:pt x="77470" y="146050"/>
                </a:cubicBezTo>
                <a:cubicBezTo>
                  <a:pt x="125095" y="145455"/>
                  <a:pt x="166489" y="111562"/>
                  <a:pt x="171053" y="65603"/>
                </a:cubicBezTo>
                <a:cubicBezTo>
                  <a:pt x="204113" y="73223"/>
                  <a:pt x="228600" y="100648"/>
                  <a:pt x="228600" y="133350"/>
                </a:cubicBezTo>
                <a:cubicBezTo>
                  <a:pt x="228600" y="149066"/>
                  <a:pt x="222925" y="163592"/>
                  <a:pt x="213360" y="175260"/>
                </a:cubicBezTo>
                <a:lnTo>
                  <a:pt x="227489" y="201930"/>
                </a:lnTo>
                <a:cubicBezTo>
                  <a:pt x="229433" y="205621"/>
                  <a:pt x="228759" y="210145"/>
                  <a:pt x="225822" y="213122"/>
                </a:cubicBezTo>
                <a:cubicBezTo>
                  <a:pt x="222885" y="216098"/>
                  <a:pt x="218321" y="216773"/>
                  <a:pt x="214630" y="214789"/>
                </a:cubicBezTo>
                <a:lnTo>
                  <a:pt x="182245" y="197644"/>
                </a:lnTo>
                <a:cubicBezTo>
                  <a:pt x="173077" y="201216"/>
                  <a:pt x="162997" y="203200"/>
                  <a:pt x="152400" y="20320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1181100" y="72009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fr-FR" sz="1600" dirty="0"/>
          </a:p>
        </p:txBody>
      </p:sp>
      <p:sp>
        <p:nvSpPr>
          <p:cNvPr id="33" name="Shape 31"/>
          <p:cNvSpPr/>
          <p:nvPr/>
        </p:nvSpPr>
        <p:spPr>
          <a:xfrm>
            <a:off x="4305300" y="70993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4457700" y="72263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4762500" y="72009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Résolution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8356600" y="3365500"/>
            <a:ext cx="7480300" cy="2501900"/>
          </a:xfrm>
          <a:custGeom>
            <a:avLst/>
            <a:gdLst/>
            <a:ahLst/>
            <a:cxnLst/>
            <a:rect l="l" t="t" r="r" b="b"/>
            <a:pathLst>
              <a:path w="7480300" h="7480300">
                <a:moveTo>
                  <a:pt x="101582" y="0"/>
                </a:moveTo>
                <a:lnTo>
                  <a:pt x="7378718" y="0"/>
                </a:lnTo>
                <a:cubicBezTo>
                  <a:pt x="7434820" y="0"/>
                  <a:pt x="7480300" y="45480"/>
                  <a:pt x="7480300" y="101582"/>
                </a:cubicBezTo>
                <a:lnTo>
                  <a:pt x="7480300" y="7378718"/>
                </a:lnTo>
                <a:cubicBezTo>
                  <a:pt x="7480300" y="7434820"/>
                  <a:pt x="7434820" y="7480300"/>
                  <a:pt x="7378718" y="7480300"/>
                </a:cubicBezTo>
                <a:lnTo>
                  <a:pt x="101582" y="7480300"/>
                </a:lnTo>
                <a:cubicBezTo>
                  <a:pt x="45480" y="7480300"/>
                  <a:pt x="0" y="7434820"/>
                  <a:pt x="0" y="7378718"/>
                </a:cubicBezTo>
                <a:lnTo>
                  <a:pt x="0" y="101582"/>
                </a:lnTo>
                <a:cubicBezTo>
                  <a:pt x="0" y="45518"/>
                  <a:pt x="45518" y="0"/>
                  <a:pt x="1015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56600" y="3365500"/>
            <a:ext cx="7480300" cy="2501900"/>
          </a:xfrm>
          <a:custGeom>
            <a:avLst/>
            <a:gdLst/>
            <a:ahLst/>
            <a:cxnLst/>
            <a:rect l="l" t="t" r="r" b="b"/>
            <a:pathLst>
              <a:path w="7480300" h="2501900">
                <a:moveTo>
                  <a:pt x="101602" y="0"/>
                </a:moveTo>
                <a:lnTo>
                  <a:pt x="7378698" y="0"/>
                </a:lnTo>
                <a:cubicBezTo>
                  <a:pt x="7434811" y="0"/>
                  <a:pt x="7480300" y="45489"/>
                  <a:pt x="7480300" y="101602"/>
                </a:cubicBezTo>
                <a:lnTo>
                  <a:pt x="7480300" y="2400298"/>
                </a:lnTo>
                <a:cubicBezTo>
                  <a:pt x="7480300" y="2456411"/>
                  <a:pt x="7434811" y="2501900"/>
                  <a:pt x="7378698" y="2501900"/>
                </a:cubicBezTo>
                <a:lnTo>
                  <a:pt x="101602" y="2501900"/>
                </a:lnTo>
                <a:cubicBezTo>
                  <a:pt x="45489" y="2501900"/>
                  <a:pt x="0" y="2456411"/>
                  <a:pt x="0" y="2400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09000" y="357505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de l'Étude</a:t>
            </a:r>
            <a:endParaRPr lang="fr-FR" sz="1600" dirty="0"/>
          </a:p>
        </p:txBody>
      </p:sp>
      <p:sp>
        <p:nvSpPr>
          <p:cNvPr id="40" name="Shape 37"/>
          <p:cNvSpPr/>
          <p:nvPr/>
        </p:nvSpPr>
        <p:spPr>
          <a:xfrm>
            <a:off x="8566150" y="408305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50799" y="0"/>
                </a:moveTo>
                <a:lnTo>
                  <a:pt x="7010401" y="0"/>
                </a:lnTo>
                <a:cubicBezTo>
                  <a:pt x="7038456" y="0"/>
                  <a:pt x="7061200" y="22744"/>
                  <a:pt x="7061200" y="50799"/>
                </a:cubicBezTo>
                <a:lnTo>
                  <a:pt x="7061200" y="406401"/>
                </a:lnTo>
                <a:cubicBezTo>
                  <a:pt x="7061200" y="434456"/>
                  <a:pt x="7038456" y="457200"/>
                  <a:pt x="7010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8"/>
          <p:cNvSpPr/>
          <p:nvPr/>
        </p:nvSpPr>
        <p:spPr>
          <a:xfrm>
            <a:off x="8693150" y="42354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2" name="Text 39"/>
          <p:cNvSpPr/>
          <p:nvPr/>
        </p:nvSpPr>
        <p:spPr>
          <a:xfrm>
            <a:off x="9023350" y="4184650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conception uniquement</a:t>
            </a:r>
            <a:endParaRPr lang="fr-FR" sz="1600" dirty="0"/>
          </a:p>
        </p:txBody>
      </p:sp>
      <p:sp>
        <p:nvSpPr>
          <p:cNvPr id="43" name="Shape 40"/>
          <p:cNvSpPr/>
          <p:nvPr/>
        </p:nvSpPr>
        <p:spPr>
          <a:xfrm>
            <a:off x="8566150" y="464185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50799" y="0"/>
                </a:moveTo>
                <a:lnTo>
                  <a:pt x="7010401" y="0"/>
                </a:lnTo>
                <a:cubicBezTo>
                  <a:pt x="7038456" y="0"/>
                  <a:pt x="7061200" y="22744"/>
                  <a:pt x="7061200" y="50799"/>
                </a:cubicBezTo>
                <a:lnTo>
                  <a:pt x="7061200" y="406401"/>
                </a:lnTo>
                <a:cubicBezTo>
                  <a:pt x="7061200" y="434456"/>
                  <a:pt x="7038456" y="457200"/>
                  <a:pt x="7010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1"/>
          <p:cNvSpPr/>
          <p:nvPr/>
        </p:nvSpPr>
        <p:spPr>
          <a:xfrm>
            <a:off x="8693150" y="47942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5" name="Text 42"/>
          <p:cNvSpPr/>
          <p:nvPr/>
        </p:nvSpPr>
        <p:spPr>
          <a:xfrm>
            <a:off x="9023350" y="474345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Programmation automate à venir</a:t>
            </a:r>
            <a:endParaRPr lang="fr-FR" sz="1600" dirty="0"/>
          </a:p>
        </p:txBody>
      </p:sp>
      <p:sp>
        <p:nvSpPr>
          <p:cNvPr id="46" name="Shape 43"/>
          <p:cNvSpPr/>
          <p:nvPr/>
        </p:nvSpPr>
        <p:spPr>
          <a:xfrm>
            <a:off x="8566150" y="520065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50799" y="0"/>
                </a:moveTo>
                <a:lnTo>
                  <a:pt x="7010401" y="0"/>
                </a:lnTo>
                <a:cubicBezTo>
                  <a:pt x="7038456" y="0"/>
                  <a:pt x="7061200" y="22744"/>
                  <a:pt x="7061200" y="50799"/>
                </a:cubicBezTo>
                <a:lnTo>
                  <a:pt x="7061200" y="406401"/>
                </a:lnTo>
                <a:cubicBezTo>
                  <a:pt x="7061200" y="434456"/>
                  <a:pt x="7038456" y="457200"/>
                  <a:pt x="7010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4"/>
          <p:cNvSpPr/>
          <p:nvPr/>
        </p:nvSpPr>
        <p:spPr>
          <a:xfrm>
            <a:off x="8693150" y="53530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8" name="Text 45"/>
          <p:cNvSpPr/>
          <p:nvPr/>
        </p:nvSpPr>
        <p:spPr>
          <a:xfrm>
            <a:off x="9023350" y="530225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industrielle future</a:t>
            </a:r>
            <a:endParaRPr lang="fr-FR" sz="1600" dirty="0"/>
          </a:p>
        </p:txBody>
      </p:sp>
      <p:sp>
        <p:nvSpPr>
          <p:cNvPr id="52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16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ga-tech.com/bb8e0f13845f04cc3db574b572091c2e8b80cd4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44" b="4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927850" y="400050"/>
            <a:ext cx="2400300" cy="685800"/>
          </a:xfrm>
          <a:custGeom>
            <a:avLst/>
            <a:gdLst/>
            <a:ahLst/>
            <a:cxnLst/>
            <a:rect l="l" t="t" r="r" b="b"/>
            <a:pathLst>
              <a:path w="2400300" h="685800">
                <a:moveTo>
                  <a:pt x="342900" y="0"/>
                </a:moveTo>
                <a:lnTo>
                  <a:pt x="2057400" y="0"/>
                </a:lnTo>
                <a:cubicBezTo>
                  <a:pt x="2246652" y="0"/>
                  <a:pt x="2400300" y="153648"/>
                  <a:pt x="2400300" y="342900"/>
                </a:cubicBezTo>
                <a:lnTo>
                  <a:pt x="2400300" y="342900"/>
                </a:lnTo>
                <a:cubicBezTo>
                  <a:pt x="2400300" y="532152"/>
                  <a:pt x="2246652" y="685800"/>
                  <a:pt x="2057400" y="685800"/>
                </a:cubicBezTo>
                <a:lnTo>
                  <a:pt x="342900" y="685800"/>
                </a:lnTo>
                <a:cubicBezTo>
                  <a:pt x="153648" y="685800"/>
                  <a:pt x="0" y="532152"/>
                  <a:pt x="0" y="342900"/>
                </a:cubicBezTo>
                <a:lnTo>
                  <a:pt x="0" y="342900"/>
                </a:lnTo>
                <a:cubicBezTo>
                  <a:pt x="0" y="153648"/>
                  <a:pt x="153648" y="0"/>
                  <a:pt x="3429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 w="25400">
            <a:solidFill>
              <a:srgbClr val="E89F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88200" y="565150"/>
            <a:ext cx="187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kern="0" spc="18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fr-FR" sz="1600" dirty="0"/>
          </a:p>
        </p:txBody>
      </p:sp>
      <p:sp>
        <p:nvSpPr>
          <p:cNvPr id="6" name="Text 3"/>
          <p:cNvSpPr/>
          <p:nvPr/>
        </p:nvSpPr>
        <p:spPr>
          <a:xfrm>
            <a:off x="5678289" y="1403350"/>
            <a:ext cx="4902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48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Une Expérience</a:t>
            </a:r>
          </a:p>
          <a:p>
            <a:pPr algn="ctr">
              <a:lnSpc>
                <a:spcPct val="100000"/>
              </a:lnSpc>
            </a:pPr>
            <a:r>
              <a:rPr lang="fr-FR" sz="4800" b="1" dirty="0" smtClean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Enrichissante</a:t>
            </a:r>
            <a:endParaRPr lang="fr-FR" sz="4800" b="1" dirty="0">
              <a:solidFill>
                <a:srgbClr val="4A6C8C"/>
              </a:solidFill>
              <a:latin typeface="Hedvig Letters Sans" pitchFamily="34" charset="0"/>
              <a:ea typeface="Hedvig Letters Sans" pitchFamily="34" charset="-122"/>
              <a:cs typeface="Hedvig Letters Sans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374900" y="3638550"/>
            <a:ext cx="11506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 stage a permis de poser les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bases solides 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pour le développement d'un banc de calibration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moderne, fiable et conforme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aux normes internationales.</a:t>
            </a:r>
            <a:endParaRPr lang="fr-FR" sz="1600" dirty="0"/>
          </a:p>
        </p:txBody>
      </p:sp>
      <p:sp>
        <p:nvSpPr>
          <p:cNvPr id="8" name="Text 5"/>
          <p:cNvSpPr/>
          <p:nvPr/>
        </p:nvSpPr>
        <p:spPr>
          <a:xfrm>
            <a:off x="2381250" y="4654550"/>
            <a:ext cx="11493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fr-FR" sz="18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expérience qui a renforcé mon projet professionnel dans </a:t>
            </a:r>
            <a:r>
              <a:rPr lang="fr-FR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l'automatisme industriel </a:t>
            </a:r>
            <a:r>
              <a:rPr lang="fr-FR" sz="18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m'a permis de gagner en </a:t>
            </a:r>
            <a:r>
              <a:rPr lang="fr-FR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compétences, autonomie et </a:t>
            </a:r>
            <a:r>
              <a:rPr lang="fr-FR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confiance</a:t>
            </a:r>
            <a:r>
              <a:rPr lang="fr-FR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</a:p>
        </p:txBody>
      </p:sp>
      <p:sp>
        <p:nvSpPr>
          <p:cNvPr id="9" name="Shape 6"/>
          <p:cNvSpPr/>
          <p:nvPr/>
        </p:nvSpPr>
        <p:spPr>
          <a:xfrm>
            <a:off x="4060230" y="5803900"/>
            <a:ext cx="2501900" cy="1460500"/>
          </a:xfrm>
          <a:custGeom>
            <a:avLst/>
            <a:gdLst/>
            <a:ahLst/>
            <a:cxnLst/>
            <a:rect l="l" t="t" r="r" b="b"/>
            <a:pathLst>
              <a:path w="2501900" h="1460500">
                <a:moveTo>
                  <a:pt x="101607" y="0"/>
                </a:moveTo>
                <a:lnTo>
                  <a:pt x="2400293" y="0"/>
                </a:lnTo>
                <a:cubicBezTo>
                  <a:pt x="2456409" y="0"/>
                  <a:pt x="2501900" y="45491"/>
                  <a:pt x="2501900" y="101607"/>
                </a:cubicBezTo>
                <a:lnTo>
                  <a:pt x="2501900" y="1358893"/>
                </a:lnTo>
                <a:cubicBezTo>
                  <a:pt x="2501900" y="1415009"/>
                  <a:pt x="2456409" y="1460500"/>
                  <a:pt x="24002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2863" y="6013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1" name="Text 8"/>
          <p:cNvSpPr/>
          <p:nvPr/>
        </p:nvSpPr>
        <p:spPr>
          <a:xfrm>
            <a:off x="4218980" y="649605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fr-FR" sz="1600" dirty="0"/>
          </a:p>
        </p:txBody>
      </p:sp>
      <p:sp>
        <p:nvSpPr>
          <p:cNvPr id="12" name="Text 9"/>
          <p:cNvSpPr/>
          <p:nvPr/>
        </p:nvSpPr>
        <p:spPr>
          <a:xfrm>
            <a:off x="4225330" y="680085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Complète et structurée</a:t>
            </a:r>
            <a:endParaRPr lang="fr-FR" sz="1600" dirty="0"/>
          </a:p>
        </p:txBody>
      </p:sp>
      <p:sp>
        <p:nvSpPr>
          <p:cNvPr id="13" name="Shape 10"/>
          <p:cNvSpPr/>
          <p:nvPr/>
        </p:nvSpPr>
        <p:spPr>
          <a:xfrm>
            <a:off x="6877844" y="5803900"/>
            <a:ext cx="2501900" cy="1460500"/>
          </a:xfrm>
          <a:custGeom>
            <a:avLst/>
            <a:gdLst/>
            <a:ahLst/>
            <a:cxnLst/>
            <a:rect l="l" t="t" r="r" b="b"/>
            <a:pathLst>
              <a:path w="2501900" h="1460500">
                <a:moveTo>
                  <a:pt x="101607" y="0"/>
                </a:moveTo>
                <a:lnTo>
                  <a:pt x="2400293" y="0"/>
                </a:lnTo>
                <a:cubicBezTo>
                  <a:pt x="2456409" y="0"/>
                  <a:pt x="2501900" y="45491"/>
                  <a:pt x="2501900" y="101607"/>
                </a:cubicBezTo>
                <a:lnTo>
                  <a:pt x="2501900" y="1358893"/>
                </a:lnTo>
                <a:cubicBezTo>
                  <a:pt x="2501900" y="1415009"/>
                  <a:pt x="2456409" y="1460500"/>
                  <a:pt x="24002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40477" y="6013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5" name="Text 12"/>
          <p:cNvSpPr/>
          <p:nvPr/>
        </p:nvSpPr>
        <p:spPr>
          <a:xfrm>
            <a:off x="7036594" y="649605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Intégrées</a:t>
            </a:r>
            <a:endParaRPr lang="fr-FR" sz="1600" dirty="0"/>
          </a:p>
        </p:txBody>
      </p:sp>
      <p:sp>
        <p:nvSpPr>
          <p:cNvPr id="16" name="Text 13"/>
          <p:cNvSpPr/>
          <p:nvPr/>
        </p:nvSpPr>
        <p:spPr>
          <a:xfrm>
            <a:off x="7042944" y="680085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Multi-niveaux</a:t>
            </a:r>
            <a:endParaRPr lang="fr-FR" sz="1600" dirty="0"/>
          </a:p>
        </p:txBody>
      </p:sp>
      <p:sp>
        <p:nvSpPr>
          <p:cNvPr id="17" name="Shape 14"/>
          <p:cNvSpPr/>
          <p:nvPr/>
        </p:nvSpPr>
        <p:spPr>
          <a:xfrm>
            <a:off x="9695458" y="5803900"/>
            <a:ext cx="2501900" cy="1460500"/>
          </a:xfrm>
          <a:custGeom>
            <a:avLst/>
            <a:gdLst/>
            <a:ahLst/>
            <a:cxnLst/>
            <a:rect l="l" t="t" r="r" b="b"/>
            <a:pathLst>
              <a:path w="2501900" h="1460500">
                <a:moveTo>
                  <a:pt x="101607" y="0"/>
                </a:moveTo>
                <a:lnTo>
                  <a:pt x="2400293" y="0"/>
                </a:lnTo>
                <a:cubicBezTo>
                  <a:pt x="2456409" y="0"/>
                  <a:pt x="2501900" y="45491"/>
                  <a:pt x="2501900" y="101607"/>
                </a:cubicBezTo>
                <a:lnTo>
                  <a:pt x="2501900" y="1358893"/>
                </a:lnTo>
                <a:cubicBezTo>
                  <a:pt x="2501900" y="1415009"/>
                  <a:pt x="2456409" y="1460500"/>
                  <a:pt x="24002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758091" y="6013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9" name="Text 16"/>
          <p:cNvSpPr/>
          <p:nvPr/>
        </p:nvSpPr>
        <p:spPr>
          <a:xfrm>
            <a:off x="9854208" y="649605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Automatique</a:t>
            </a:r>
            <a:endParaRPr lang="fr-FR" sz="1600" dirty="0"/>
          </a:p>
        </p:txBody>
      </p:sp>
      <p:sp>
        <p:nvSpPr>
          <p:cNvPr id="20" name="Text 17"/>
          <p:cNvSpPr/>
          <p:nvPr/>
        </p:nvSpPr>
        <p:spPr>
          <a:xfrm>
            <a:off x="9860558" y="680085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étapes définies</a:t>
            </a:r>
            <a:endParaRPr lang="fr-FR" sz="1600" dirty="0"/>
          </a:p>
        </p:txBody>
      </p:sp>
      <p:sp>
        <p:nvSpPr>
          <p:cNvPr id="21" name="Shape 18"/>
          <p:cNvSpPr/>
          <p:nvPr/>
        </p:nvSpPr>
        <p:spPr>
          <a:xfrm>
            <a:off x="6323409" y="7683500"/>
            <a:ext cx="3606800" cy="12700"/>
          </a:xfrm>
          <a:custGeom>
            <a:avLst/>
            <a:gdLst/>
            <a:ahLst/>
            <a:cxnLst/>
            <a:rect l="l" t="t" r="r" b="b"/>
            <a:pathLst>
              <a:path w="3606800" h="12700">
                <a:moveTo>
                  <a:pt x="0" y="0"/>
                </a:moveTo>
                <a:lnTo>
                  <a:pt x="3606800" y="0"/>
                </a:lnTo>
                <a:lnTo>
                  <a:pt x="3606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259909" y="7994650"/>
            <a:ext cx="373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pour votre attention</a:t>
            </a:r>
            <a:endParaRPr lang="fr-FR" sz="1600" dirty="0"/>
          </a:p>
        </p:txBody>
      </p:sp>
      <p:sp>
        <p:nvSpPr>
          <p:cNvPr id="23" name="Text 20"/>
          <p:cNvSpPr/>
          <p:nvPr/>
        </p:nvSpPr>
        <p:spPr>
          <a:xfrm>
            <a:off x="6272609" y="8451850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Hamza Moussa | Stage ONE-TOO | 2026</a:t>
            </a:r>
            <a:endParaRPr lang="fr-FR" sz="1600" dirty="0"/>
          </a:p>
        </p:txBody>
      </p:sp>
      <p:sp>
        <p:nvSpPr>
          <p:cNvPr id="24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smtClean="0">
                <a:solidFill>
                  <a:srgbClr val="E89F5B"/>
                </a:solidFill>
              </a:rPr>
              <a:t>17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9911</TotalTime>
  <Words>1383</Words>
  <Application>Microsoft Office PowerPoint</Application>
  <PresentationFormat>Personnalisé</PresentationFormat>
  <Paragraphs>440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Liter</vt:lpstr>
      <vt:lpstr>Calibri</vt:lpstr>
      <vt:lpstr>Hedvig Letters Sans</vt:lpstr>
      <vt:lpstr>Custom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Moonshot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Stage</dc:title>
  <dc:subject>Soutenance Stage - Banc de Calibration Automatisé</dc:subject>
  <dc:creator>sspoto</dc:creator>
  <cp:lastModifiedBy>sspoto</cp:lastModifiedBy>
  <cp:revision>618</cp:revision>
  <dcterms:created xsi:type="dcterms:W3CDTF">2026-04-16T12:52:59Z</dcterms:created>
  <dcterms:modified xsi:type="dcterms:W3CDTF">2026-04-24T09:56:17Z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{"Label":"Soutenance Stage - Banc de Calibration Automatisé","ContentProducer":"001191110108MACG2KBH8F10000","ProduceID":"","ReservedCode1":"","ContentPropagator":"001191110108MACG2KBH8F20000","PropagateID":"","ReservedCode2":""}</vt:lpwstr>
  </property>
</Properties>
</file>